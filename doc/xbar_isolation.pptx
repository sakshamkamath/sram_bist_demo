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clicks, one card each. Card 1: each cut register cell holds the payload plus one valid bit (req on the A channel, rvalid on the R channel); Update drives it for one TCK cycle (a step) and the subordinate-side cuts grant during every step. Card 2 (freeze and look) follows from the RTL: with isol_en the cuts drive gnt/rvalid = 0 to managers and req = 0 to subordinates and Capture loads the cut inputs, but it was not exercised in simulation, and the cut full flags are cleared on entry. Card 3: the JTAG address map is used only while XcnctIsolation is selected; outside isolation the register follows the hard-wired CrocAddrMap, so it cannot repair a chip at run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clicks. Croc mapping: managers 0-3 = user, debug, core data, core instruction; subordinates 0-4 = error, peripherals, user/VAD, SRAM bank 0, SRAM bank 1. Isolation instruction = XcnctIsolation on the obi_jtag TAP: the cuts and the crossbar run on TCK, managers get no gnt/rvalid, subordinates no req. Chain (1284 bits TDI to TDO): address-map register, then the manager-side cuts, then the subordinate-side cuts; drawn simplified here. Each cut holds an A cell and an R cell, each payload plus one valid bit. In practice one scan does Capture + Shift + Update together: it reads the last step and loads the next. The JTAG register also holds a default index per manager (where unmapped addresses go), verified in simulation but left off the slide. tb_croc_chip +obi_jtag_test: 23 of 23 checks pass (18 isolation + 5 sub access, see the sub access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clicks. Simplified: two cut registers, each a valid bit plus a 3-bit payload. In the RTL (spill_register_flushable_mod) the shift stage is {valid_q, a_data_q}, the update stage is b_data_q plus valid_upd_q, and the step is step_q, set by Update-DR for the next TCK cycle. Each OBI cut has an A cell (request: valid = req) and an R cell (response: valid = rvalid). Subordinate-side A cells never drive req to the real subordinate, manager-side R cells never drive rvalid to the real manager. The cells sample their inputs in the step cycle; Capture-DR keeps that sample (or loads the live inputs if no step happened since the last Update). In Croc the chain is 1284 bits from chip TDI to TDO: the address-map register and 9 cuts, so each scan takes about 1,300 TCK cycles.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clicks. Each cut register's scan cell holds the payload plus one valid bit (req on the A channel, rvalid on the R channel). Update-DR starts a step: for exactly one TCK cycle the cells drive their valid bit into the crossbar, and the subordinate-side cuts drive gnt = 1. The crossbar runs on the same TCK, so its arbiter, ID FIFO and in-flight counter see one handshake per step. The cells sample their inputs in the step cycle; Capture-DR keeps that sample. Toward the real managers gnt and rvalid stay 0, toward the real subordinates req stays 0, and the cut full flags are cleared on entry, so nothing is replayed on exit. gnt itself is not captured: it is proven by the response, which the crossbar only returns for a granted request.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clicks. Instruction XcnctSubAccess on the obi_jtag TAP (JtagSubAccess = 1 in obi_xbar): the same isolation and scan chain as XcnctIsolation, plus one access engine (obi_cut_sub_access) per subordinate-side cut. A Shift-DR + Update-DR with the A cell valid bit set toggles a TCK flop; a 2-flop synchroniser carries the toggle into the subordinate's clock, where the engine raises req with the A cell payload (stable until the next Update), holds it until gnt, waits for rvalid and stores the reply. done is synchronised back to TCK; the next Capture-DR loads the reply into the cut's R cell and Shift-DR reads it out. The testbench waits 20 TCK in Run-Test/Idle between the two scans. tb_croc_chip +obi_jtag_test: write 0x5AB1C0DE to SRAM bank 0, read it back, the error subordinate answers err = 1, each transaction reaches its subordinate exactly once, and after leaving isolation the value is read over the normal debug path (5 extra checks, 23 in total). Area: +2.32 kGE vs isolation only (13,109 um2: ~215 flops, ~15 synchronisers, reply muxes).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clicks: checks, then cost. 23 checks = 1 chain + 8 request routes + 8 responses + 1 leak monitor + 5 sub access. Area (Yosys, IHP 130 nm, 1 GE = NAND2X1 = 5.65 um2): obi_jtag_top block incl. JTAG wrapper and TAP 141,119 um2 (25.0 kGE); NORMAL obi_xbar_multicut 93,812 um2 (16.6 kGE); difference 47,306 um2 = 8.4 kGE for isolation. Of that: extra flops ~1.5 kGE (mostly the 288-bit address-map shadow register), scan muxes ~4.6 kGE, JTAG control (TAP, IR, 288-bit address-map shift register, clock mux) 2.3 kGE. Dropping the JTAG-loadable address map would save roughly 2.5-3 kGE. Sub access (JtagSubAccess = 1): block 154,227 um2, +13,109 um2 = +2.3 kGE more (access engines, synchronisers, reply muxes); total +10.7 kGE.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cells + SRAM macros, IO pads excluded. 1 GE = NAND2X1 = 5.65 um2. Each March BIST controller is counted in the memory it tests. Our design: the VAD 512x32 SRAM macros are black boxes in its Yosys run; their liberty area (2 x 79,720 um2, from the NORMAL technology library) is added. Original Croc: NORMAL/yosys/reports/croc_area.rpt; our design: yosys/reports/croc_dft_sub_area.rpt (JtagSubAccess = 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SRAM banks: BIST controller 0.93 kGE + 0.09 kGE interface logic in the bank wrapper. VAD frame SRAMs: BIST controller only, relative to the 512x32 macro. OBI isolation: scan cuts + JTAG control minus the plain cuts the original already had (60,415 um2); relative to the original crossbar + cuts (27.6 kGE). Of the 10.7 kGE: isolation 8.4 (scan muxes ~4.6, JTAG control ~2.3, extra flops ~1.5, mostly the 288-bit address-map shadow register) and sub access 2.3 (access engines, synchronisers, reply muxes). VAD +1.9 kGE: SRAM debug access and observability registers in the VAD wrapper (the BIST uses the macro's own BIST port, so hooking it up costs no extra muxes). Core + peripherals: SoC control registers for MBIST (+0.3 kGE) and synthesis noise. Chip = Original Croc, 148.8 kGE, standard cells + SRAM macros, IO pads excluded. 1 GE = NAND2X1 = 5.65 um2.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 not implemented. Differences to the isolation map: the remap is active in normal operation, it is set from a register (soc_ctrl), not over JTAG isolation, and it only changes the target index of the two memory rules (two control bits: bank A bad, bank B bad). The missing half maps to the error subordinate rather than aliasing onto the good bank, so a stray access is reported instead of overwriting live data. Sequence: reset, run March BIST, read the status, set the remap, then load and start a program linked for half the RAM. Hardware cost is a two-bit register and a few muxes on the index fields, about 0.1 kGE. A finer-grained alternative uses the failing word addresses that the BIST already logs to replace single words with spare flip-flops, keeping the full RAM.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p:nvPr/>
        </p:nvSpPr>
        <p:spPr>
          <a:xfrm>
            <a:off x="285750" y="100012"/>
            <a:ext cx="8572500" cy="357187"/>
          </a:xfrm>
          <a:prstGeom prst="rect">
            <a:avLst/>
          </a:prstGeom>
          <a:noFill/>
          <a:ln>
            <a:noFill/>
          </a:ln>
        </p:spPr>
        <p:txBody>
          <a:bodyPr rtlCol="0" anchor="ctr" wrap="square" lIns="0" rIns="0" tIns="0" bIns="0"/>
          <a:lstStyle/>
          <a:p>
            <a:pPr algn="l"/>
            <a:r>
              <a:rPr sz="1800" b="1">
                <a:solidFill>
                  <a:srgbClr val="12343B"/>
                </a:solidFill>
                <a:latin typeface="Calibri"/>
              </a:rPr>
              <a:t>How crossbar isolation helps debugging</a:t>
            </a:r>
          </a:p>
        </p:txBody>
      </p:sp>
      <p:sp>
        <p:nvSpPr>
          <p:cNvPr id="3" name="Subtitle"/>
          <p:cNvSpPr/>
          <p:nvPr/>
        </p:nvSpPr>
        <p:spPr>
          <a:xfrm>
            <a:off x="285750" y="471487"/>
            <a:ext cx="8572500" cy="242887"/>
          </a:xfrm>
          <a:prstGeom prst="rect">
            <a:avLst/>
          </a:prstGeom>
          <a:noFill/>
          <a:ln>
            <a:noFill/>
          </a:ln>
        </p:spPr>
        <p:txBody>
          <a:bodyPr rtlCol="0" anchor="ctr" wrap="square" lIns="0" rIns="0" tIns="0" bIns="0"/>
          <a:lstStyle/>
          <a:p>
            <a:pPr algn="l"/>
            <a:r>
              <a:rPr sz="1012" b="0">
                <a:solidFill>
                  <a:srgbClr val="9E9E9E"/>
                </a:solidFill>
                <a:latin typeface="Calibri"/>
              </a:rPr>
              <a:t>JTAG instructions wrap the OBI crossbar in scan registers (4 manager-side cuts, 5 subordinate-side cuts, a loadable address map); sub access also reads and writes the subordinates.</a:t>
            </a:r>
          </a:p>
        </p:txBody>
      </p:sp>
      <p:sp>
        <p:nvSpPr>
          <p:cNvPr id="4" name="Card 1"/>
          <p:cNvSpPr/>
          <p:nvPr/>
        </p:nvSpPr>
        <p:spPr>
          <a:xfrm>
            <a:off x="285750" y="800100"/>
            <a:ext cx="4214812" cy="1685925"/>
          </a:xfrm>
          <a:prstGeom prst="roundRect">
            <a:avLst>
              <a:gd name="adj" fmla="val 4237"/>
            </a:avLst>
          </a:prstGeom>
          <a:solidFill>
            <a:srgbClr val="FFFFFF"/>
          </a:solidFill>
          <a:ln w="19050">
            <a:solidFill>
              <a:srgbClr val="9E9E9E"/>
            </a:solidFill>
          </a:ln>
        </p:spPr>
        <p:txBody>
          <a:bodyPr rtlCol="0" anchor="ctr" wrap="square" lIns="28575" rIns="28575" tIns="28575" bIns="28575"/>
          <a:lstStyle/>
          <a:p>
            <a:pPr algn="ctr"/>
          </a:p>
        </p:txBody>
      </p:sp>
      <p:sp>
        <p:nvSpPr>
          <p:cNvPr id="5" name="Card 1 num"/>
          <p:cNvSpPr/>
          <p:nvPr/>
        </p:nvSpPr>
        <p:spPr>
          <a:xfrm>
            <a:off x="414337" y="914400"/>
            <a:ext cx="314325" cy="314325"/>
          </a:xfrm>
          <a:prstGeom prst="ellipse">
            <a:avLst/>
          </a:prstGeom>
          <a:solidFill>
            <a:srgbClr val="00897B"/>
          </a:solidFill>
          <a:ln>
            <a:noFill/>
          </a:ln>
        </p:spPr>
        <p:txBody>
          <a:bodyPr rtlCol="0" anchor="ctr" wrap="square" lIns="0" rIns="0" tIns="0" bIns="0"/>
          <a:lstStyle/>
          <a:p>
            <a:pPr algn="ctr"/>
            <a:r>
              <a:rPr sz="1237" b="1">
                <a:solidFill>
                  <a:srgbClr val="FFFFFF"/>
                </a:solidFill>
                <a:latin typeface="Calibri"/>
              </a:rPr>
              <a:t>1</a:t>
            </a:r>
          </a:p>
        </p:txBody>
      </p:sp>
      <p:sp>
        <p:nvSpPr>
          <p:cNvPr id="6" name="Card 1 head"/>
          <p:cNvSpPr/>
          <p:nvPr/>
        </p:nvSpPr>
        <p:spPr>
          <a:xfrm>
            <a:off x="828675" y="914400"/>
            <a:ext cx="2143125" cy="314325"/>
          </a:xfrm>
          <a:prstGeom prst="rect">
            <a:avLst/>
          </a:prstGeom>
          <a:noFill/>
          <a:ln>
            <a:noFill/>
          </a:ln>
        </p:spPr>
        <p:txBody>
          <a:bodyPr rtlCol="0" anchor="ctr" wrap="square" lIns="0" rIns="0" tIns="0" bIns="0"/>
          <a:lstStyle/>
          <a:p>
            <a:pPr algn="l"/>
            <a:r>
              <a:rPr sz="1350" b="1">
                <a:solidFill>
                  <a:srgbClr val="12343B"/>
                </a:solidFill>
                <a:latin typeface="Calibri"/>
              </a:rPr>
              <a:t>Is it the crossbar?</a:t>
            </a:r>
          </a:p>
        </p:txBody>
      </p:sp>
      <p:sp>
        <p:nvSpPr>
          <p:cNvPr id="7" name="Card 1 tag"/>
          <p:cNvSpPr/>
          <p:nvPr/>
        </p:nvSpPr>
        <p:spPr>
          <a:xfrm>
            <a:off x="2743200" y="971550"/>
            <a:ext cx="1643062" cy="200025"/>
          </a:xfrm>
          <a:prstGeom prst="roundRect">
            <a:avLst>
              <a:gd name="adj" fmla="val 15000"/>
            </a:avLst>
          </a:prstGeom>
          <a:solidFill>
            <a:srgbClr val="2E7D32"/>
          </a:solidFill>
          <a:ln>
            <a:noFill/>
          </a:ln>
        </p:spPr>
        <p:txBody>
          <a:bodyPr rtlCol="0" anchor="ctr" wrap="square" lIns="0" rIns="0" tIns="0" bIns="0"/>
          <a:lstStyle/>
          <a:p>
            <a:pPr algn="ctr"/>
            <a:r>
              <a:rPr sz="843" b="1">
                <a:solidFill>
                  <a:srgbClr val="FFFFFF"/>
                </a:solidFill>
                <a:latin typeface="Calibri"/>
              </a:rPr>
              <a:t>Verified: 8 transfers</a:t>
            </a:r>
          </a:p>
        </p:txBody>
      </p:sp>
      <p:sp>
        <p:nvSpPr>
          <p:cNvPr id="8" name="Card 1 do"/>
          <p:cNvSpPr/>
          <p:nvPr/>
        </p:nvSpPr>
        <p:spPr>
          <a:xfrm>
            <a:off x="414337" y="1300162"/>
            <a:ext cx="3957637" cy="600075"/>
          </a:xfrm>
          <a:prstGeom prst="rect">
            <a:avLst/>
          </a:prstGeom>
          <a:noFill/>
          <a:ln>
            <a:noFill/>
          </a:ln>
        </p:spPr>
        <p:txBody>
          <a:bodyPr rtlCol="0" anchor="t" wrap="square" lIns="0" rIns="0" tIns="0" bIns="0"/>
          <a:lstStyle/>
          <a:p>
            <a:pPr algn="l"/>
            <a:r>
              <a:rPr sz="843" b="1">
                <a:solidFill>
                  <a:srgbClr val="00897B"/>
                </a:solidFill>
                <a:latin typeface="Calibri"/>
              </a:rPr>
              <a:t>What you do</a:t>
            </a:r>
          </a:p>
          <a:p>
            <a:pPr algn="l"/>
            <a:r>
              <a:rPr sz="956" b="0">
                <a:solidFill>
                  <a:srgbClr val="12343B"/>
                </a:solidFill>
                <a:latin typeface="Calibri"/>
              </a:rPr>
              <a:t>Send a real transfer through the crossbar from JTAG: req + payload in at any manager, rvalid + response back from the subordinate side. No core, software or memory has to work.</a:t>
            </a:r>
          </a:p>
        </p:txBody>
      </p:sp>
      <p:sp>
        <p:nvSpPr>
          <p:cNvPr id="9" name="Card 1 tells"/>
          <p:cNvSpPr/>
          <p:nvPr/>
        </p:nvSpPr>
        <p:spPr>
          <a:xfrm>
            <a:off x="414337" y="1914525"/>
            <a:ext cx="3957637" cy="528637"/>
          </a:xfrm>
          <a:prstGeom prst="rect">
            <a:avLst/>
          </a:prstGeom>
          <a:noFill/>
          <a:ln>
            <a:noFill/>
          </a:ln>
        </p:spPr>
        <p:txBody>
          <a:bodyPr rtlCol="0" anchor="t" wrap="square" lIns="0" rIns="0" tIns="0" bIns="0"/>
          <a:lstStyle/>
          <a:p>
            <a:pPr algn="l"/>
            <a:r>
              <a:rPr sz="843" b="1">
                <a:solidFill>
                  <a:srgbClr val="93005F"/>
                </a:solidFill>
                <a:latin typeface="Calibri"/>
              </a:rPr>
              <a:t>What it tells you</a:t>
            </a:r>
          </a:p>
          <a:p>
            <a:pPr algn="l"/>
            <a:r>
              <a:rPr sz="956" b="0">
                <a:solidFill>
                  <a:srgbClr val="12343B"/>
                </a:solidFill>
                <a:latin typeface="Calibri"/>
              </a:rPr>
              <a:t>Separates a decode / arbitration / response-routing bug in the crossbar from a fault outside it.</a:t>
            </a:r>
          </a:p>
        </p:txBody>
      </p:sp>
      <p:sp>
        <p:nvSpPr>
          <p:cNvPr id="10" name="Card 2"/>
          <p:cNvSpPr/>
          <p:nvPr/>
        </p:nvSpPr>
        <p:spPr>
          <a:xfrm>
            <a:off x="4643437" y="800100"/>
            <a:ext cx="4214812" cy="1685925"/>
          </a:xfrm>
          <a:prstGeom prst="roundRect">
            <a:avLst>
              <a:gd name="adj" fmla="val 4237"/>
            </a:avLst>
          </a:prstGeom>
          <a:solidFill>
            <a:srgbClr val="FFFFFF"/>
          </a:solidFill>
          <a:ln w="19050">
            <a:solidFill>
              <a:srgbClr val="9E9E9E"/>
            </a:solidFill>
          </a:ln>
        </p:spPr>
        <p:txBody>
          <a:bodyPr rtlCol="0" anchor="ctr" wrap="square" lIns="28575" rIns="28575" tIns="28575" bIns="28575"/>
          <a:lstStyle/>
          <a:p>
            <a:pPr algn="ctr"/>
          </a:p>
        </p:txBody>
      </p:sp>
      <p:sp>
        <p:nvSpPr>
          <p:cNvPr id="11" name="Card 2 num"/>
          <p:cNvSpPr/>
          <p:nvPr/>
        </p:nvSpPr>
        <p:spPr>
          <a:xfrm>
            <a:off x="4772025" y="914400"/>
            <a:ext cx="314325" cy="314325"/>
          </a:xfrm>
          <a:prstGeom prst="ellipse">
            <a:avLst/>
          </a:prstGeom>
          <a:solidFill>
            <a:srgbClr val="00897B"/>
          </a:solidFill>
          <a:ln>
            <a:noFill/>
          </a:ln>
        </p:spPr>
        <p:txBody>
          <a:bodyPr rtlCol="0" anchor="ctr" wrap="square" lIns="0" rIns="0" tIns="0" bIns="0"/>
          <a:lstStyle/>
          <a:p>
            <a:pPr algn="ctr"/>
            <a:r>
              <a:rPr sz="1237" b="1">
                <a:solidFill>
                  <a:srgbClr val="FFFFFF"/>
                </a:solidFill>
                <a:latin typeface="Calibri"/>
              </a:rPr>
              <a:t>2</a:t>
            </a:r>
          </a:p>
        </p:txBody>
      </p:sp>
      <p:sp>
        <p:nvSpPr>
          <p:cNvPr id="12" name="Card 2 head"/>
          <p:cNvSpPr/>
          <p:nvPr/>
        </p:nvSpPr>
        <p:spPr>
          <a:xfrm>
            <a:off x="5186362" y="914400"/>
            <a:ext cx="2143125" cy="314325"/>
          </a:xfrm>
          <a:prstGeom prst="rect">
            <a:avLst/>
          </a:prstGeom>
          <a:noFill/>
          <a:ln>
            <a:noFill/>
          </a:ln>
        </p:spPr>
        <p:txBody>
          <a:bodyPr rtlCol="0" anchor="ctr" wrap="square" lIns="0" rIns="0" tIns="0" bIns="0"/>
          <a:lstStyle/>
          <a:p>
            <a:pPr algn="l"/>
            <a:r>
              <a:rPr sz="1350" b="1">
                <a:solidFill>
                  <a:srgbClr val="12343B"/>
                </a:solidFill>
                <a:latin typeface="Calibri"/>
              </a:rPr>
              <a:t>Freeze and look</a:t>
            </a:r>
          </a:p>
        </p:txBody>
      </p:sp>
      <p:sp>
        <p:nvSpPr>
          <p:cNvPr id="13" name="Card 2 tag"/>
          <p:cNvSpPr/>
          <p:nvPr/>
        </p:nvSpPr>
        <p:spPr>
          <a:xfrm>
            <a:off x="7100887" y="971550"/>
            <a:ext cx="1643062" cy="200025"/>
          </a:xfrm>
          <a:prstGeom prst="roundRect">
            <a:avLst>
              <a:gd name="adj" fmla="val 15000"/>
            </a:avLst>
          </a:prstGeom>
          <a:solidFill>
            <a:srgbClr val="E39B2D"/>
          </a:solidFill>
          <a:ln>
            <a:noFill/>
          </a:ln>
        </p:spPr>
        <p:txBody>
          <a:bodyPr rtlCol="0" anchor="ctr" wrap="square" lIns="0" rIns="0" tIns="0" bIns="0"/>
          <a:lstStyle/>
          <a:p>
            <a:pPr algn="ctr"/>
            <a:r>
              <a:rPr sz="843" b="1">
                <a:solidFill>
                  <a:srgbClr val="FFFFFF"/>
                </a:solidFill>
                <a:latin typeface="Calibri"/>
              </a:rPr>
              <a:t>Not yet tested in sim</a:t>
            </a:r>
          </a:p>
        </p:txBody>
      </p:sp>
      <p:sp>
        <p:nvSpPr>
          <p:cNvPr id="14" name="Card 2 do"/>
          <p:cNvSpPr/>
          <p:nvPr/>
        </p:nvSpPr>
        <p:spPr>
          <a:xfrm>
            <a:off x="4772025" y="1300162"/>
            <a:ext cx="3957637" cy="600075"/>
          </a:xfrm>
          <a:prstGeom prst="rect">
            <a:avLst/>
          </a:prstGeom>
          <a:noFill/>
          <a:ln>
            <a:noFill/>
          </a:ln>
        </p:spPr>
        <p:txBody>
          <a:bodyPr rtlCol="0" anchor="t" wrap="square" lIns="0" rIns="0" tIns="0" bIns="0"/>
          <a:lstStyle/>
          <a:p>
            <a:pPr algn="l"/>
            <a:r>
              <a:rPr sz="843" b="1">
                <a:solidFill>
                  <a:srgbClr val="00897B"/>
                </a:solidFill>
                <a:latin typeface="Calibri"/>
              </a:rPr>
              <a:t>What you do</a:t>
            </a:r>
          </a:p>
          <a:p>
            <a:pPr algn="l"/>
            <a:r>
              <a:rPr sz="956" b="0">
                <a:solidFill>
                  <a:srgbClr val="12343B"/>
                </a:solidFill>
                <a:latin typeface="Calibri"/>
              </a:rPr>
              <a:t>Entering isolation stalls every manager (no gnt, no rvalid) and keeps req away from every subordinate. Capture snapshots payload + valid at all 9 boundaries.</a:t>
            </a:r>
          </a:p>
        </p:txBody>
      </p:sp>
      <p:sp>
        <p:nvSpPr>
          <p:cNvPr id="15" name="Card 2 tells"/>
          <p:cNvSpPr/>
          <p:nvPr/>
        </p:nvSpPr>
        <p:spPr>
          <a:xfrm>
            <a:off x="4772025" y="1914525"/>
            <a:ext cx="3957637" cy="528637"/>
          </a:xfrm>
          <a:prstGeom prst="rect">
            <a:avLst/>
          </a:prstGeom>
          <a:noFill/>
          <a:ln>
            <a:noFill/>
          </a:ln>
        </p:spPr>
        <p:txBody>
          <a:bodyPr rtlCol="0" anchor="t" wrap="square" lIns="0" rIns="0" tIns="0" bIns="0"/>
          <a:lstStyle/>
          <a:p>
            <a:pPr algn="l"/>
            <a:r>
              <a:rPr sz="843" b="1">
                <a:solidFill>
                  <a:srgbClr val="93005F"/>
                </a:solidFill>
                <a:latin typeface="Calibri"/>
              </a:rPr>
              <a:t>What it tells you</a:t>
            </a:r>
          </a:p>
          <a:p>
            <a:pPr algn="l"/>
            <a:r>
              <a:rPr sz="956" b="0">
                <a:solidFill>
                  <a:srgbClr val="12343B"/>
                </a:solidFill>
                <a:latin typeface="Calibri"/>
              </a:rPr>
              <a:t>After a hang: which request was waiting at each port. Transfers in flight are dropped on entry.</a:t>
            </a:r>
          </a:p>
        </p:txBody>
      </p:sp>
      <p:sp>
        <p:nvSpPr>
          <p:cNvPr id="16" name="Card 3"/>
          <p:cNvSpPr/>
          <p:nvPr/>
        </p:nvSpPr>
        <p:spPr>
          <a:xfrm>
            <a:off x="285750" y="2600325"/>
            <a:ext cx="4214812" cy="1685925"/>
          </a:xfrm>
          <a:prstGeom prst="roundRect">
            <a:avLst>
              <a:gd name="adj" fmla="val 4237"/>
            </a:avLst>
          </a:prstGeom>
          <a:solidFill>
            <a:srgbClr val="FFFFFF"/>
          </a:solidFill>
          <a:ln w="19050">
            <a:solidFill>
              <a:srgbClr val="9E9E9E"/>
            </a:solidFill>
          </a:ln>
        </p:spPr>
        <p:txBody>
          <a:bodyPr rtlCol="0" anchor="ctr" wrap="square" lIns="28575" rIns="28575" tIns="28575" bIns="28575"/>
          <a:lstStyle/>
          <a:p>
            <a:pPr algn="ctr"/>
          </a:p>
        </p:txBody>
      </p:sp>
      <p:sp>
        <p:nvSpPr>
          <p:cNvPr id="17" name="Card 3 num"/>
          <p:cNvSpPr/>
          <p:nvPr/>
        </p:nvSpPr>
        <p:spPr>
          <a:xfrm>
            <a:off x="414337" y="2714625"/>
            <a:ext cx="314325" cy="314325"/>
          </a:xfrm>
          <a:prstGeom prst="ellipse">
            <a:avLst/>
          </a:prstGeom>
          <a:solidFill>
            <a:srgbClr val="00897B"/>
          </a:solidFill>
          <a:ln>
            <a:noFill/>
          </a:ln>
        </p:spPr>
        <p:txBody>
          <a:bodyPr rtlCol="0" anchor="ctr" wrap="square" lIns="0" rIns="0" tIns="0" bIns="0"/>
          <a:lstStyle/>
          <a:p>
            <a:pPr algn="ctr"/>
            <a:r>
              <a:rPr sz="1237" b="1">
                <a:solidFill>
                  <a:srgbClr val="FFFFFF"/>
                </a:solidFill>
                <a:latin typeface="Calibri"/>
              </a:rPr>
              <a:t>3</a:t>
            </a:r>
          </a:p>
        </p:txBody>
      </p:sp>
      <p:sp>
        <p:nvSpPr>
          <p:cNvPr id="18" name="Card 3 head"/>
          <p:cNvSpPr/>
          <p:nvPr/>
        </p:nvSpPr>
        <p:spPr>
          <a:xfrm>
            <a:off x="828675" y="2714625"/>
            <a:ext cx="2143125" cy="314325"/>
          </a:xfrm>
          <a:prstGeom prst="rect">
            <a:avLst/>
          </a:prstGeom>
          <a:noFill/>
          <a:ln>
            <a:noFill/>
          </a:ln>
        </p:spPr>
        <p:txBody>
          <a:bodyPr rtlCol="0" anchor="ctr" wrap="square" lIns="0" rIns="0" tIns="0" bIns="0"/>
          <a:lstStyle/>
          <a:p>
            <a:pPr algn="l"/>
            <a:r>
              <a:rPr sz="1350" b="1">
                <a:solidFill>
                  <a:srgbClr val="12343B"/>
                </a:solidFill>
                <a:latin typeface="Calibri"/>
              </a:rPr>
              <a:t>What-if address map</a:t>
            </a:r>
          </a:p>
        </p:txBody>
      </p:sp>
      <p:sp>
        <p:nvSpPr>
          <p:cNvPr id="19" name="Card 3 tag"/>
          <p:cNvSpPr/>
          <p:nvPr/>
        </p:nvSpPr>
        <p:spPr>
          <a:xfrm>
            <a:off x="2743200" y="2771775"/>
            <a:ext cx="1643062" cy="200025"/>
          </a:xfrm>
          <a:prstGeom prst="roundRect">
            <a:avLst>
              <a:gd name="adj" fmla="val 15000"/>
            </a:avLst>
          </a:prstGeom>
          <a:solidFill>
            <a:srgbClr val="2E7D32"/>
          </a:solidFill>
          <a:ln>
            <a:noFill/>
          </a:ln>
        </p:spPr>
        <p:txBody>
          <a:bodyPr rtlCol="0" anchor="ctr" wrap="square" lIns="0" rIns="0" tIns="0" bIns="0"/>
          <a:lstStyle/>
          <a:p>
            <a:pPr algn="ctr"/>
            <a:r>
              <a:rPr sz="843" b="1">
                <a:solidFill>
                  <a:srgbClr val="FFFFFF"/>
                </a:solidFill>
                <a:latin typeface="Calibri"/>
              </a:rPr>
              <a:t>Verified: banks swapped</a:t>
            </a:r>
          </a:p>
        </p:txBody>
      </p:sp>
      <p:sp>
        <p:nvSpPr>
          <p:cNvPr id="20" name="Card 3 do"/>
          <p:cNvSpPr/>
          <p:nvPr/>
        </p:nvSpPr>
        <p:spPr>
          <a:xfrm>
            <a:off x="414337" y="3100387"/>
            <a:ext cx="3957637" cy="600075"/>
          </a:xfrm>
          <a:prstGeom prst="rect">
            <a:avLst/>
          </a:prstGeom>
          <a:noFill/>
          <a:ln>
            <a:noFill/>
          </a:ln>
        </p:spPr>
        <p:txBody>
          <a:bodyPr rtlCol="0" anchor="t" wrap="square" lIns="0" rIns="0" tIns="0" bIns="0"/>
          <a:lstStyle/>
          <a:p>
            <a:pPr algn="l"/>
            <a:r>
              <a:rPr sz="843" b="1">
                <a:solidFill>
                  <a:srgbClr val="00897B"/>
                </a:solidFill>
                <a:latin typeface="Calibri"/>
              </a:rPr>
              <a:t>What you do</a:t>
            </a:r>
          </a:p>
          <a:p>
            <a:pPr algn="l"/>
            <a:r>
              <a:rPr sz="956" b="0">
                <a:solidFill>
                  <a:srgbClr val="12343B"/>
                </a:solidFill>
                <a:latin typeface="Calibri"/>
              </a:rPr>
              <a:t>Load a different address map from JTAG, then re-run the routing test.</a:t>
            </a:r>
          </a:p>
        </p:txBody>
      </p:sp>
      <p:sp>
        <p:nvSpPr>
          <p:cNvPr id="21" name="Card 3 tells"/>
          <p:cNvSpPr/>
          <p:nvPr/>
        </p:nvSpPr>
        <p:spPr>
          <a:xfrm>
            <a:off x="414337" y="3714750"/>
            <a:ext cx="3957637" cy="528637"/>
          </a:xfrm>
          <a:prstGeom prst="rect">
            <a:avLst/>
          </a:prstGeom>
          <a:noFill/>
          <a:ln>
            <a:noFill/>
          </a:ln>
        </p:spPr>
        <p:txBody>
          <a:bodyPr rtlCol="0" anchor="t" wrap="square" lIns="0" rIns="0" tIns="0" bIns="0"/>
          <a:lstStyle/>
          <a:p>
            <a:pPr algn="l"/>
            <a:r>
              <a:rPr sz="843" b="1">
                <a:solidFill>
                  <a:srgbClr val="93005F"/>
                </a:solidFill>
                <a:latin typeface="Calibri"/>
              </a:rPr>
              <a:t>What it tells you</a:t>
            </a:r>
          </a:p>
          <a:p>
            <a:pPr algn="l"/>
            <a:r>
              <a:rPr sz="956" b="0">
                <a:solidFill>
                  <a:srgbClr val="12343B"/>
                </a:solidFill>
                <a:latin typeface="Calibri"/>
              </a:rPr>
              <a:t>Checks a suspected decode bug, or a remap (e.g. swap two memory ranges), without new silicon. Only while isolated.</a:t>
            </a:r>
          </a:p>
        </p:txBody>
      </p:sp>
      <p:sp>
        <p:nvSpPr>
          <p:cNvPr id="22" name="Card 4"/>
          <p:cNvSpPr/>
          <p:nvPr/>
        </p:nvSpPr>
        <p:spPr>
          <a:xfrm>
            <a:off x="4643437" y="2600325"/>
            <a:ext cx="4214812" cy="1685925"/>
          </a:xfrm>
          <a:prstGeom prst="roundRect">
            <a:avLst>
              <a:gd name="adj" fmla="val 4237"/>
            </a:avLst>
          </a:prstGeom>
          <a:solidFill>
            <a:srgbClr val="FFFFFF"/>
          </a:solidFill>
          <a:ln w="19050">
            <a:solidFill>
              <a:srgbClr val="9E9E9E"/>
            </a:solidFill>
          </a:ln>
        </p:spPr>
        <p:txBody>
          <a:bodyPr rtlCol="0" anchor="ctr" wrap="square" lIns="28575" rIns="28575" tIns="28575" bIns="28575"/>
          <a:lstStyle/>
          <a:p>
            <a:pPr algn="ctr"/>
          </a:p>
        </p:txBody>
      </p:sp>
      <p:sp>
        <p:nvSpPr>
          <p:cNvPr id="23" name="Card 4 num"/>
          <p:cNvSpPr/>
          <p:nvPr/>
        </p:nvSpPr>
        <p:spPr>
          <a:xfrm>
            <a:off x="4772025" y="2714625"/>
            <a:ext cx="314325" cy="314325"/>
          </a:xfrm>
          <a:prstGeom prst="ellipse">
            <a:avLst/>
          </a:prstGeom>
          <a:solidFill>
            <a:srgbClr val="00897B"/>
          </a:solidFill>
          <a:ln>
            <a:noFill/>
          </a:ln>
        </p:spPr>
        <p:txBody>
          <a:bodyPr rtlCol="0" anchor="ctr" wrap="square" lIns="0" rIns="0" tIns="0" bIns="0"/>
          <a:lstStyle/>
          <a:p>
            <a:pPr algn="ctr"/>
            <a:r>
              <a:rPr sz="1237" b="1">
                <a:solidFill>
                  <a:srgbClr val="FFFFFF"/>
                </a:solidFill>
                <a:latin typeface="Calibri"/>
              </a:rPr>
              <a:t>4</a:t>
            </a:r>
          </a:p>
        </p:txBody>
      </p:sp>
      <p:sp>
        <p:nvSpPr>
          <p:cNvPr id="24" name="Card 4 head"/>
          <p:cNvSpPr/>
          <p:nvPr/>
        </p:nvSpPr>
        <p:spPr>
          <a:xfrm>
            <a:off x="5186362" y="2714625"/>
            <a:ext cx="2143125" cy="314325"/>
          </a:xfrm>
          <a:prstGeom prst="rect">
            <a:avLst/>
          </a:prstGeom>
          <a:noFill/>
          <a:ln>
            <a:noFill/>
          </a:ln>
        </p:spPr>
        <p:txBody>
          <a:bodyPr rtlCol="0" anchor="ctr" wrap="square" lIns="0" rIns="0" tIns="0" bIns="0"/>
          <a:lstStyle/>
          <a:p>
            <a:pPr algn="l"/>
            <a:r>
              <a:rPr sz="1350" b="1">
                <a:solidFill>
                  <a:srgbClr val="12343B"/>
                </a:solidFill>
                <a:latin typeface="Calibri"/>
              </a:rPr>
              <a:t>Clean exit</a:t>
            </a:r>
          </a:p>
        </p:txBody>
      </p:sp>
      <p:sp>
        <p:nvSpPr>
          <p:cNvPr id="25" name="Card 4 tag"/>
          <p:cNvSpPr/>
          <p:nvPr/>
        </p:nvSpPr>
        <p:spPr>
          <a:xfrm>
            <a:off x="7100887" y="2771775"/>
            <a:ext cx="1643062" cy="200025"/>
          </a:xfrm>
          <a:prstGeom prst="roundRect">
            <a:avLst>
              <a:gd name="adj" fmla="val 15000"/>
            </a:avLst>
          </a:prstGeom>
          <a:solidFill>
            <a:srgbClr val="2E7D32"/>
          </a:solidFill>
          <a:ln>
            <a:noFill/>
          </a:ln>
        </p:spPr>
        <p:txBody>
          <a:bodyPr rtlCol="0" anchor="ctr" wrap="square" lIns="0" rIns="0" tIns="0" bIns="0"/>
          <a:lstStyle/>
          <a:p>
            <a:pPr algn="ctr"/>
            <a:r>
              <a:rPr sz="843" b="1">
                <a:solidFill>
                  <a:srgbClr val="FFFFFF"/>
                </a:solidFill>
                <a:latin typeface="Calibri"/>
              </a:rPr>
              <a:t>Verified: read-back + program run</a:t>
            </a:r>
          </a:p>
        </p:txBody>
      </p:sp>
      <p:sp>
        <p:nvSpPr>
          <p:cNvPr id="26" name="Card 4 do"/>
          <p:cNvSpPr/>
          <p:nvPr/>
        </p:nvSpPr>
        <p:spPr>
          <a:xfrm>
            <a:off x="4772025" y="3100387"/>
            <a:ext cx="3957637" cy="600075"/>
          </a:xfrm>
          <a:prstGeom prst="rect">
            <a:avLst/>
          </a:prstGeom>
          <a:noFill/>
          <a:ln>
            <a:noFill/>
          </a:ln>
        </p:spPr>
        <p:txBody>
          <a:bodyPr rtlCol="0" anchor="t" wrap="square" lIns="0" rIns="0" tIns="0" bIns="0"/>
          <a:lstStyle/>
          <a:p>
            <a:pPr algn="l"/>
            <a:r>
              <a:rPr sz="843" b="1">
                <a:solidFill>
                  <a:srgbClr val="00897B"/>
                </a:solidFill>
                <a:latin typeface="Calibri"/>
              </a:rPr>
              <a:t>What you do</a:t>
            </a:r>
          </a:p>
          <a:p>
            <a:pPr algn="l"/>
            <a:r>
              <a:rPr sz="956" b="0">
                <a:solidFill>
                  <a:srgbClr val="12343B"/>
                </a:solidFill>
                <a:latin typeface="Calibri"/>
              </a:rPr>
              <a:t>BYPASS (or TAP reset) puts the cuts and crossbar back on the system clock, clears the cuts and restores the hard-wired map.</a:t>
            </a:r>
          </a:p>
        </p:txBody>
      </p:sp>
      <p:sp>
        <p:nvSpPr>
          <p:cNvPr id="27" name="Card 4 tells"/>
          <p:cNvSpPr/>
          <p:nvPr/>
        </p:nvSpPr>
        <p:spPr>
          <a:xfrm>
            <a:off x="4772025" y="3714750"/>
            <a:ext cx="3957637" cy="528637"/>
          </a:xfrm>
          <a:prstGeom prst="rect">
            <a:avLst/>
          </a:prstGeom>
          <a:noFill/>
          <a:ln>
            <a:noFill/>
          </a:ln>
        </p:spPr>
        <p:txBody>
          <a:bodyPr rtlCol="0" anchor="t" wrap="square" lIns="0" rIns="0" tIns="0" bIns="0"/>
          <a:lstStyle/>
          <a:p>
            <a:pPr algn="l"/>
            <a:r>
              <a:rPr sz="843" b="1">
                <a:solidFill>
                  <a:srgbClr val="93005F"/>
                </a:solidFill>
                <a:latin typeface="Calibri"/>
              </a:rPr>
              <a:t>What it tells you</a:t>
            </a:r>
          </a:p>
          <a:p>
            <a:pPr algn="l"/>
            <a:r>
              <a:rPr sz="956" b="0">
                <a:solidFill>
                  <a:srgbClr val="12343B"/>
                </a:solidFill>
                <a:latin typeface="Calibri"/>
              </a:rPr>
              <a:t>The debug session leaves no trace: the core boots and runs afterwards.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2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2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25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25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25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25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25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25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25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25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25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25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25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250"/>
                                        <p:tgtEl>
                                          <p:spTgt spid="2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250"/>
                                        <p:tgtEl>
                                          <p:spTgt spid="2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25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250"/>
                                        <p:tgtEl>
                                          <p:spTgt spid="2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250"/>
                                        <p:tgtEl>
                                          <p:spTgt spid="2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250"/>
                                        <p:tgtEl>
                                          <p:spTgt spid="2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250"/>
                                        <p:tgtEl>
                                          <p:spTgt spid="26"/>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2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p:nvPr/>
        </p:nvSpPr>
        <p:spPr>
          <a:xfrm>
            <a:off x="285750" y="100012"/>
            <a:ext cx="8572500" cy="357187"/>
          </a:xfrm>
          <a:prstGeom prst="rect">
            <a:avLst/>
          </a:prstGeom>
          <a:noFill/>
          <a:ln>
            <a:noFill/>
          </a:ln>
        </p:spPr>
        <p:txBody>
          <a:bodyPr rtlCol="0" anchor="ctr" wrap="square" lIns="0" rIns="0" tIns="0" bIns="0"/>
          <a:lstStyle/>
          <a:p>
            <a:pPr algn="l"/>
            <a:r>
              <a:rPr sz="1800" b="1">
                <a:solidFill>
                  <a:srgbClr val="12343B"/>
                </a:solidFill>
                <a:latin typeface="Calibri"/>
              </a:rPr>
              <a:t>Crossbar isolation in action</a:t>
            </a:r>
          </a:p>
        </p:txBody>
      </p:sp>
      <p:sp>
        <p:nvSpPr>
          <p:cNvPr id="3" name="Xbar"/>
          <p:cNvSpPr/>
          <p:nvPr/>
        </p:nvSpPr>
        <p:spPr>
          <a:xfrm>
            <a:off x="2143125" y="857250"/>
            <a:ext cx="3000375" cy="3357562"/>
          </a:xfrm>
          <a:prstGeom prst="roundRect">
            <a:avLst>
              <a:gd name="adj" fmla="val 2380"/>
            </a:avLst>
          </a:prstGeom>
          <a:solidFill>
            <a:srgbClr val="F4F8FB"/>
          </a:solidFill>
          <a:ln w="25400">
            <a:solidFill>
              <a:srgbClr val="1E5A8C"/>
            </a:solidFill>
          </a:ln>
        </p:spPr>
        <p:txBody>
          <a:bodyPr rtlCol="0" anchor="b" wrap="square" lIns="100012" rIns="100012" tIns="100012" bIns="100012"/>
          <a:lstStyle/>
          <a:p>
            <a:pPr algn="ctr"/>
            <a:r>
              <a:rPr sz="1350" b="1">
                <a:solidFill>
                  <a:srgbClr val="1E5A8C"/>
                </a:solidFill>
                <a:latin typeface="Calibri"/>
              </a:rPr>
              <a:t>Crossbar</a:t>
            </a:r>
          </a:p>
          <a:p>
            <a:pPr algn="ctr"/>
            <a:r>
              <a:rPr sz="900" b="0">
                <a:solidFill>
                  <a:srgbClr val="1E5A8C"/>
                </a:solidFill>
                <a:latin typeface="Calibri"/>
              </a:rPr>
              <a:t>routes each request by its address</a:t>
            </a:r>
          </a:p>
        </p:txBody>
      </p:sp>
      <p:sp>
        <p:nvSpPr>
          <p:cNvPr id="4" name="Mgr 0"/>
          <p:cNvSpPr/>
          <p:nvPr/>
        </p:nvSpPr>
        <p:spPr>
          <a:xfrm>
            <a:off x="285750" y="1000125"/>
            <a:ext cx="1214437" cy="528637"/>
          </a:xfrm>
          <a:prstGeom prst="roundRect">
            <a:avLst>
              <a:gd name="adj" fmla="val 13513"/>
            </a:avLst>
          </a:prstGeom>
          <a:solidFill>
            <a:srgbClr val="EDE7F6"/>
          </a:solidFill>
          <a:ln w="19050">
            <a:solidFill>
              <a:srgbClr val="93005F"/>
            </a:solidFill>
          </a:ln>
        </p:spPr>
        <p:txBody>
          <a:bodyPr rtlCol="0" anchor="ctr" wrap="square" lIns="28575" rIns="28575" tIns="28575" bIns="28575"/>
          <a:lstStyle/>
          <a:p>
            <a:pPr algn="ctr"/>
            <a:r>
              <a:rPr sz="1068" b="1">
                <a:solidFill>
                  <a:srgbClr val="12343B"/>
                </a:solidFill>
                <a:latin typeface="Calibri"/>
              </a:rPr>
              <a:t>Manager 0</a:t>
            </a:r>
          </a:p>
        </p:txBody>
      </p:sp>
      <p:sp>
        <p:nvSpPr>
          <p:cNvPr id="5" name="Mgr cut 0"/>
          <p:cNvSpPr/>
          <p:nvPr/>
        </p:nvSpPr>
        <p:spPr>
          <a:xfrm>
            <a:off x="1585912" y="971550"/>
            <a:ext cx="214312" cy="585787"/>
          </a:xfrm>
          <a:prstGeom prst="rect">
            <a:avLst/>
          </a:prstGeom>
          <a:solidFill>
            <a:srgbClr val="FFFFFF"/>
          </a:solidFill>
          <a:ln w="19050">
            <a:solidFill>
              <a:srgbClr val="00897B"/>
            </a:solidFill>
          </a:ln>
        </p:spPr>
        <p:txBody>
          <a:bodyPr rtlCol="0" anchor="ctr" wrap="square" lIns="28575" rIns="28575" tIns="28575" bIns="28575"/>
          <a:lstStyle/>
          <a:p>
            <a:pPr algn="ctr"/>
          </a:p>
        </p:txBody>
      </p:sp>
      <p:cxnSp>
        <p:nvCxnSpPr>
          <p:cNvPr id="6" name="Mgr 0 link"/>
          <p:cNvCxnSpPr/>
          <p:nvPr/>
        </p:nvCxnSpPr>
        <p:spPr>
          <a:xfrm>
            <a:off x="1500187" y="1264443"/>
            <a:ext cx="85725" cy="0"/>
          </a:xfrm>
          <a:prstGeom prst="line">
            <a:avLst/>
          </a:prstGeom>
          <a:ln w="19050">
            <a:solidFill>
              <a:srgbClr val="9E9E9E"/>
            </a:solidFill>
          </a:ln>
        </p:spPr>
      </p:cxnSp>
      <p:cxnSp>
        <p:nvCxnSpPr>
          <p:cNvPr id="7" name="Mgr 0 xlink"/>
          <p:cNvCxnSpPr/>
          <p:nvPr/>
        </p:nvCxnSpPr>
        <p:spPr>
          <a:xfrm>
            <a:off x="1800225" y="1264443"/>
            <a:ext cx="342900" cy="0"/>
          </a:xfrm>
          <a:prstGeom prst="line">
            <a:avLst/>
          </a:prstGeom>
          <a:ln w="19050">
            <a:solidFill>
              <a:srgbClr val="9E9E9E"/>
            </a:solidFill>
          </a:ln>
        </p:spPr>
      </p:cxnSp>
      <p:sp>
        <p:nvSpPr>
          <p:cNvPr id="8" name="Mgr 1"/>
          <p:cNvSpPr/>
          <p:nvPr/>
        </p:nvSpPr>
        <p:spPr>
          <a:xfrm>
            <a:off x="285750" y="1800225"/>
            <a:ext cx="1214437" cy="528637"/>
          </a:xfrm>
          <a:prstGeom prst="roundRect">
            <a:avLst>
              <a:gd name="adj" fmla="val 13513"/>
            </a:avLst>
          </a:prstGeom>
          <a:solidFill>
            <a:srgbClr val="EDE7F6"/>
          </a:solidFill>
          <a:ln w="19050">
            <a:solidFill>
              <a:srgbClr val="93005F"/>
            </a:solidFill>
          </a:ln>
        </p:spPr>
        <p:txBody>
          <a:bodyPr rtlCol="0" anchor="ctr" wrap="square" lIns="28575" rIns="28575" tIns="28575" bIns="28575"/>
          <a:lstStyle/>
          <a:p>
            <a:pPr algn="ctr"/>
            <a:r>
              <a:rPr sz="1068" b="1">
                <a:solidFill>
                  <a:srgbClr val="12343B"/>
                </a:solidFill>
                <a:latin typeface="Calibri"/>
              </a:rPr>
              <a:t>Manager 1</a:t>
            </a:r>
          </a:p>
        </p:txBody>
      </p:sp>
      <p:sp>
        <p:nvSpPr>
          <p:cNvPr id="9" name="Mgr cut 1"/>
          <p:cNvSpPr/>
          <p:nvPr/>
        </p:nvSpPr>
        <p:spPr>
          <a:xfrm>
            <a:off x="1585912" y="1771650"/>
            <a:ext cx="214312" cy="585787"/>
          </a:xfrm>
          <a:prstGeom prst="rect">
            <a:avLst/>
          </a:prstGeom>
          <a:solidFill>
            <a:srgbClr val="FFFFFF"/>
          </a:solidFill>
          <a:ln w="19050">
            <a:solidFill>
              <a:srgbClr val="00897B"/>
            </a:solidFill>
          </a:ln>
        </p:spPr>
        <p:txBody>
          <a:bodyPr rtlCol="0" anchor="ctr" wrap="square" lIns="28575" rIns="28575" tIns="28575" bIns="28575"/>
          <a:lstStyle/>
          <a:p>
            <a:pPr algn="ctr"/>
          </a:p>
        </p:txBody>
      </p:sp>
      <p:cxnSp>
        <p:nvCxnSpPr>
          <p:cNvPr id="10" name="Mgr 1 link"/>
          <p:cNvCxnSpPr/>
          <p:nvPr/>
        </p:nvCxnSpPr>
        <p:spPr>
          <a:xfrm>
            <a:off x="1500187" y="2064543"/>
            <a:ext cx="85725" cy="0"/>
          </a:xfrm>
          <a:prstGeom prst="line">
            <a:avLst/>
          </a:prstGeom>
          <a:ln w="19050">
            <a:solidFill>
              <a:srgbClr val="9E9E9E"/>
            </a:solidFill>
          </a:ln>
        </p:spPr>
      </p:cxnSp>
      <p:cxnSp>
        <p:nvCxnSpPr>
          <p:cNvPr id="11" name="Mgr 1 xlink"/>
          <p:cNvCxnSpPr/>
          <p:nvPr/>
        </p:nvCxnSpPr>
        <p:spPr>
          <a:xfrm>
            <a:off x="1800225" y="2064543"/>
            <a:ext cx="342900" cy="0"/>
          </a:xfrm>
          <a:prstGeom prst="line">
            <a:avLst/>
          </a:prstGeom>
          <a:ln w="19050">
            <a:solidFill>
              <a:srgbClr val="9E9E9E"/>
            </a:solidFill>
          </a:ln>
        </p:spPr>
      </p:cxnSp>
      <p:sp>
        <p:nvSpPr>
          <p:cNvPr id="12" name="Mgr 2"/>
          <p:cNvSpPr/>
          <p:nvPr/>
        </p:nvSpPr>
        <p:spPr>
          <a:xfrm>
            <a:off x="285750" y="2600325"/>
            <a:ext cx="1214437" cy="528637"/>
          </a:xfrm>
          <a:prstGeom prst="roundRect">
            <a:avLst>
              <a:gd name="adj" fmla="val 13513"/>
            </a:avLst>
          </a:prstGeom>
          <a:solidFill>
            <a:srgbClr val="EDE7F6"/>
          </a:solidFill>
          <a:ln w="19050">
            <a:solidFill>
              <a:srgbClr val="93005F"/>
            </a:solidFill>
          </a:ln>
        </p:spPr>
        <p:txBody>
          <a:bodyPr rtlCol="0" anchor="ctr" wrap="square" lIns="28575" rIns="28575" tIns="28575" bIns="28575"/>
          <a:lstStyle/>
          <a:p>
            <a:pPr algn="ctr"/>
            <a:r>
              <a:rPr sz="1068" b="1">
                <a:solidFill>
                  <a:srgbClr val="12343B"/>
                </a:solidFill>
                <a:latin typeface="Calibri"/>
              </a:rPr>
              <a:t>Manager 2</a:t>
            </a:r>
          </a:p>
        </p:txBody>
      </p:sp>
      <p:sp>
        <p:nvSpPr>
          <p:cNvPr id="13" name="Mgr cut 2"/>
          <p:cNvSpPr/>
          <p:nvPr/>
        </p:nvSpPr>
        <p:spPr>
          <a:xfrm>
            <a:off x="1585912" y="2571750"/>
            <a:ext cx="214312" cy="585787"/>
          </a:xfrm>
          <a:prstGeom prst="rect">
            <a:avLst/>
          </a:prstGeom>
          <a:solidFill>
            <a:srgbClr val="FFFFFF"/>
          </a:solidFill>
          <a:ln w="19050">
            <a:solidFill>
              <a:srgbClr val="00897B"/>
            </a:solidFill>
          </a:ln>
        </p:spPr>
        <p:txBody>
          <a:bodyPr rtlCol="0" anchor="ctr" wrap="square" lIns="28575" rIns="28575" tIns="28575" bIns="28575"/>
          <a:lstStyle/>
          <a:p>
            <a:pPr algn="ctr"/>
          </a:p>
        </p:txBody>
      </p:sp>
      <p:cxnSp>
        <p:nvCxnSpPr>
          <p:cNvPr id="14" name="Mgr 2 link"/>
          <p:cNvCxnSpPr/>
          <p:nvPr/>
        </p:nvCxnSpPr>
        <p:spPr>
          <a:xfrm>
            <a:off x="1500187" y="2864643"/>
            <a:ext cx="85725" cy="0"/>
          </a:xfrm>
          <a:prstGeom prst="line">
            <a:avLst/>
          </a:prstGeom>
          <a:ln w="19050">
            <a:solidFill>
              <a:srgbClr val="9E9E9E"/>
            </a:solidFill>
          </a:ln>
        </p:spPr>
      </p:cxnSp>
      <p:cxnSp>
        <p:nvCxnSpPr>
          <p:cNvPr id="15" name="Mgr 2 xlink"/>
          <p:cNvCxnSpPr/>
          <p:nvPr/>
        </p:nvCxnSpPr>
        <p:spPr>
          <a:xfrm>
            <a:off x="1800225" y="2864643"/>
            <a:ext cx="342900" cy="0"/>
          </a:xfrm>
          <a:prstGeom prst="line">
            <a:avLst/>
          </a:prstGeom>
          <a:ln w="19050">
            <a:solidFill>
              <a:srgbClr val="9E9E9E"/>
            </a:solidFill>
          </a:ln>
        </p:spPr>
      </p:cxnSp>
      <p:sp>
        <p:nvSpPr>
          <p:cNvPr id="16" name="Mgr 3"/>
          <p:cNvSpPr/>
          <p:nvPr/>
        </p:nvSpPr>
        <p:spPr>
          <a:xfrm>
            <a:off x="285750" y="3400425"/>
            <a:ext cx="1214437" cy="528637"/>
          </a:xfrm>
          <a:prstGeom prst="roundRect">
            <a:avLst>
              <a:gd name="adj" fmla="val 13513"/>
            </a:avLst>
          </a:prstGeom>
          <a:solidFill>
            <a:srgbClr val="EDE7F6"/>
          </a:solidFill>
          <a:ln w="19050">
            <a:solidFill>
              <a:srgbClr val="93005F"/>
            </a:solidFill>
          </a:ln>
        </p:spPr>
        <p:txBody>
          <a:bodyPr rtlCol="0" anchor="ctr" wrap="square" lIns="28575" rIns="28575" tIns="28575" bIns="28575"/>
          <a:lstStyle/>
          <a:p>
            <a:pPr algn="ctr"/>
            <a:r>
              <a:rPr sz="1068" b="1">
                <a:solidFill>
                  <a:srgbClr val="12343B"/>
                </a:solidFill>
                <a:latin typeface="Calibri"/>
              </a:rPr>
              <a:t>Manager 3</a:t>
            </a:r>
          </a:p>
        </p:txBody>
      </p:sp>
      <p:sp>
        <p:nvSpPr>
          <p:cNvPr id="17" name="Mgr cut 3"/>
          <p:cNvSpPr/>
          <p:nvPr/>
        </p:nvSpPr>
        <p:spPr>
          <a:xfrm>
            <a:off x="1585912" y="3371850"/>
            <a:ext cx="214312" cy="585787"/>
          </a:xfrm>
          <a:prstGeom prst="rect">
            <a:avLst/>
          </a:prstGeom>
          <a:solidFill>
            <a:srgbClr val="FFFFFF"/>
          </a:solidFill>
          <a:ln w="19050">
            <a:solidFill>
              <a:srgbClr val="00897B"/>
            </a:solidFill>
          </a:ln>
        </p:spPr>
        <p:txBody>
          <a:bodyPr rtlCol="0" anchor="ctr" wrap="square" lIns="28575" rIns="28575" tIns="28575" bIns="28575"/>
          <a:lstStyle/>
          <a:p>
            <a:pPr algn="ctr"/>
          </a:p>
        </p:txBody>
      </p:sp>
      <p:cxnSp>
        <p:nvCxnSpPr>
          <p:cNvPr id="18" name="Mgr 3 link"/>
          <p:cNvCxnSpPr/>
          <p:nvPr/>
        </p:nvCxnSpPr>
        <p:spPr>
          <a:xfrm>
            <a:off x="1500187" y="3664743"/>
            <a:ext cx="85725" cy="0"/>
          </a:xfrm>
          <a:prstGeom prst="line">
            <a:avLst/>
          </a:prstGeom>
          <a:ln w="19050">
            <a:solidFill>
              <a:srgbClr val="9E9E9E"/>
            </a:solidFill>
          </a:ln>
        </p:spPr>
      </p:cxnSp>
      <p:cxnSp>
        <p:nvCxnSpPr>
          <p:cNvPr id="19" name="Mgr 3 xlink"/>
          <p:cNvCxnSpPr/>
          <p:nvPr/>
        </p:nvCxnSpPr>
        <p:spPr>
          <a:xfrm>
            <a:off x="1800225" y="3664743"/>
            <a:ext cx="342900" cy="0"/>
          </a:xfrm>
          <a:prstGeom prst="line">
            <a:avLst/>
          </a:prstGeom>
          <a:ln w="19050">
            <a:solidFill>
              <a:srgbClr val="9E9E9E"/>
            </a:solidFill>
          </a:ln>
        </p:spPr>
      </p:cxnSp>
      <p:sp>
        <p:nvSpPr>
          <p:cNvPr id="20" name="Sub 0"/>
          <p:cNvSpPr/>
          <p:nvPr/>
        </p:nvSpPr>
        <p:spPr>
          <a:xfrm>
            <a:off x="5529262" y="942975"/>
            <a:ext cx="1285875" cy="471487"/>
          </a:xfrm>
          <a:prstGeom prst="roundRect">
            <a:avLst>
              <a:gd name="adj" fmla="val 15000"/>
            </a:avLst>
          </a:prstGeom>
          <a:solidFill>
            <a:srgbClr val="E3F2FD"/>
          </a:solidFill>
          <a:ln w="19050">
            <a:solidFill>
              <a:srgbClr val="1E5A8C"/>
            </a:solidFill>
          </a:ln>
        </p:spPr>
        <p:txBody>
          <a:bodyPr rtlCol="0" anchor="ctr" wrap="square" lIns="28575" rIns="28575" tIns="28575" bIns="28575"/>
          <a:lstStyle/>
          <a:p>
            <a:pPr algn="ctr"/>
            <a:r>
              <a:rPr sz="1012" b="1">
                <a:solidFill>
                  <a:srgbClr val="12343B"/>
                </a:solidFill>
                <a:latin typeface="Calibri"/>
              </a:rPr>
              <a:t>Sub 0</a:t>
            </a:r>
          </a:p>
        </p:txBody>
      </p:sp>
      <p:sp>
        <p:nvSpPr>
          <p:cNvPr id="21" name="Sub cut 0"/>
          <p:cNvSpPr/>
          <p:nvPr/>
        </p:nvSpPr>
        <p:spPr>
          <a:xfrm>
            <a:off x="5229225" y="914400"/>
            <a:ext cx="214312" cy="528637"/>
          </a:xfrm>
          <a:prstGeom prst="rect">
            <a:avLst/>
          </a:prstGeom>
          <a:solidFill>
            <a:srgbClr val="FFFFFF"/>
          </a:solidFill>
          <a:ln w="19050">
            <a:solidFill>
              <a:srgbClr val="00897B"/>
            </a:solidFill>
          </a:ln>
        </p:spPr>
        <p:txBody>
          <a:bodyPr rtlCol="0" anchor="ctr" wrap="square" lIns="28575" rIns="28575" tIns="28575" bIns="28575"/>
          <a:lstStyle/>
          <a:p>
            <a:pPr algn="ctr"/>
          </a:p>
        </p:txBody>
      </p:sp>
      <p:cxnSp>
        <p:nvCxnSpPr>
          <p:cNvPr id="22" name="Sub 0 xlink"/>
          <p:cNvCxnSpPr/>
          <p:nvPr/>
        </p:nvCxnSpPr>
        <p:spPr>
          <a:xfrm>
            <a:off x="5143500" y="1178718"/>
            <a:ext cx="85725" cy="0"/>
          </a:xfrm>
          <a:prstGeom prst="line">
            <a:avLst/>
          </a:prstGeom>
          <a:ln w="19050">
            <a:solidFill>
              <a:srgbClr val="9E9E9E"/>
            </a:solidFill>
          </a:ln>
        </p:spPr>
      </p:cxnSp>
      <p:cxnSp>
        <p:nvCxnSpPr>
          <p:cNvPr id="23" name="Sub 0 link"/>
          <p:cNvCxnSpPr/>
          <p:nvPr/>
        </p:nvCxnSpPr>
        <p:spPr>
          <a:xfrm>
            <a:off x="5443537" y="1178718"/>
            <a:ext cx="85725" cy="0"/>
          </a:xfrm>
          <a:prstGeom prst="line">
            <a:avLst/>
          </a:prstGeom>
          <a:ln w="19050">
            <a:solidFill>
              <a:srgbClr val="9E9E9E"/>
            </a:solidFill>
          </a:ln>
        </p:spPr>
      </p:cxnSp>
      <p:sp>
        <p:nvSpPr>
          <p:cNvPr id="24" name="Sub 1"/>
          <p:cNvSpPr/>
          <p:nvPr/>
        </p:nvSpPr>
        <p:spPr>
          <a:xfrm>
            <a:off x="5529262" y="1614487"/>
            <a:ext cx="1285875" cy="471487"/>
          </a:xfrm>
          <a:prstGeom prst="roundRect">
            <a:avLst>
              <a:gd name="adj" fmla="val 15000"/>
            </a:avLst>
          </a:prstGeom>
          <a:solidFill>
            <a:srgbClr val="E3F2FD"/>
          </a:solidFill>
          <a:ln w="19050">
            <a:solidFill>
              <a:srgbClr val="1E5A8C"/>
            </a:solidFill>
          </a:ln>
        </p:spPr>
        <p:txBody>
          <a:bodyPr rtlCol="0" anchor="ctr" wrap="square" lIns="28575" rIns="28575" tIns="28575" bIns="28575"/>
          <a:lstStyle/>
          <a:p>
            <a:pPr algn="ctr"/>
            <a:r>
              <a:rPr sz="1012" b="1">
                <a:solidFill>
                  <a:srgbClr val="12343B"/>
                </a:solidFill>
                <a:latin typeface="Calibri"/>
              </a:rPr>
              <a:t>Sub 1</a:t>
            </a:r>
          </a:p>
        </p:txBody>
      </p:sp>
      <p:sp>
        <p:nvSpPr>
          <p:cNvPr id="25" name="Sub cut 1"/>
          <p:cNvSpPr/>
          <p:nvPr/>
        </p:nvSpPr>
        <p:spPr>
          <a:xfrm>
            <a:off x="5229225" y="1585912"/>
            <a:ext cx="214312" cy="528637"/>
          </a:xfrm>
          <a:prstGeom prst="rect">
            <a:avLst/>
          </a:prstGeom>
          <a:solidFill>
            <a:srgbClr val="FFFFFF"/>
          </a:solidFill>
          <a:ln w="19050">
            <a:solidFill>
              <a:srgbClr val="00897B"/>
            </a:solidFill>
          </a:ln>
        </p:spPr>
        <p:txBody>
          <a:bodyPr rtlCol="0" anchor="ctr" wrap="square" lIns="28575" rIns="28575" tIns="28575" bIns="28575"/>
          <a:lstStyle/>
          <a:p>
            <a:pPr algn="ctr"/>
          </a:p>
        </p:txBody>
      </p:sp>
      <p:cxnSp>
        <p:nvCxnSpPr>
          <p:cNvPr id="26" name="Sub 1 xlink"/>
          <p:cNvCxnSpPr/>
          <p:nvPr/>
        </p:nvCxnSpPr>
        <p:spPr>
          <a:xfrm>
            <a:off x="5143500" y="1850231"/>
            <a:ext cx="85725" cy="0"/>
          </a:xfrm>
          <a:prstGeom prst="line">
            <a:avLst/>
          </a:prstGeom>
          <a:ln w="19050">
            <a:solidFill>
              <a:srgbClr val="9E9E9E"/>
            </a:solidFill>
          </a:ln>
        </p:spPr>
      </p:cxnSp>
      <p:cxnSp>
        <p:nvCxnSpPr>
          <p:cNvPr id="27" name="Sub 1 link"/>
          <p:cNvCxnSpPr/>
          <p:nvPr/>
        </p:nvCxnSpPr>
        <p:spPr>
          <a:xfrm>
            <a:off x="5443537" y="1850231"/>
            <a:ext cx="85725" cy="0"/>
          </a:xfrm>
          <a:prstGeom prst="line">
            <a:avLst/>
          </a:prstGeom>
          <a:ln w="19050">
            <a:solidFill>
              <a:srgbClr val="9E9E9E"/>
            </a:solidFill>
          </a:ln>
        </p:spPr>
      </p:cxnSp>
      <p:sp>
        <p:nvSpPr>
          <p:cNvPr id="28" name="Sub 2"/>
          <p:cNvSpPr/>
          <p:nvPr/>
        </p:nvSpPr>
        <p:spPr>
          <a:xfrm>
            <a:off x="5529262" y="2286000"/>
            <a:ext cx="1285875" cy="471487"/>
          </a:xfrm>
          <a:prstGeom prst="roundRect">
            <a:avLst>
              <a:gd name="adj" fmla="val 15000"/>
            </a:avLst>
          </a:prstGeom>
          <a:solidFill>
            <a:srgbClr val="E3F2FD"/>
          </a:solidFill>
          <a:ln w="19050">
            <a:solidFill>
              <a:srgbClr val="1E5A8C"/>
            </a:solidFill>
          </a:ln>
        </p:spPr>
        <p:txBody>
          <a:bodyPr rtlCol="0" anchor="ctr" wrap="square" lIns="28575" rIns="28575" tIns="28575" bIns="28575"/>
          <a:lstStyle/>
          <a:p>
            <a:pPr algn="ctr"/>
            <a:r>
              <a:rPr sz="1012" b="1">
                <a:solidFill>
                  <a:srgbClr val="12343B"/>
                </a:solidFill>
                <a:latin typeface="Calibri"/>
              </a:rPr>
              <a:t>Sub 2</a:t>
            </a:r>
          </a:p>
        </p:txBody>
      </p:sp>
      <p:sp>
        <p:nvSpPr>
          <p:cNvPr id="29" name="Sub cut 2"/>
          <p:cNvSpPr/>
          <p:nvPr/>
        </p:nvSpPr>
        <p:spPr>
          <a:xfrm>
            <a:off x="5229225" y="2257425"/>
            <a:ext cx="214312" cy="528637"/>
          </a:xfrm>
          <a:prstGeom prst="rect">
            <a:avLst/>
          </a:prstGeom>
          <a:solidFill>
            <a:srgbClr val="FFFFFF"/>
          </a:solidFill>
          <a:ln w="19050">
            <a:solidFill>
              <a:srgbClr val="00897B"/>
            </a:solidFill>
          </a:ln>
        </p:spPr>
        <p:txBody>
          <a:bodyPr rtlCol="0" anchor="ctr" wrap="square" lIns="28575" rIns="28575" tIns="28575" bIns="28575"/>
          <a:lstStyle/>
          <a:p>
            <a:pPr algn="ctr"/>
          </a:p>
        </p:txBody>
      </p:sp>
      <p:cxnSp>
        <p:nvCxnSpPr>
          <p:cNvPr id="30" name="Sub 2 xlink"/>
          <p:cNvCxnSpPr/>
          <p:nvPr/>
        </p:nvCxnSpPr>
        <p:spPr>
          <a:xfrm>
            <a:off x="5143500" y="2521743"/>
            <a:ext cx="85725" cy="0"/>
          </a:xfrm>
          <a:prstGeom prst="line">
            <a:avLst/>
          </a:prstGeom>
          <a:ln w="19050">
            <a:solidFill>
              <a:srgbClr val="9E9E9E"/>
            </a:solidFill>
          </a:ln>
        </p:spPr>
      </p:cxnSp>
      <p:cxnSp>
        <p:nvCxnSpPr>
          <p:cNvPr id="31" name="Sub 2 link"/>
          <p:cNvCxnSpPr/>
          <p:nvPr/>
        </p:nvCxnSpPr>
        <p:spPr>
          <a:xfrm>
            <a:off x="5443537" y="2521743"/>
            <a:ext cx="85725" cy="0"/>
          </a:xfrm>
          <a:prstGeom prst="line">
            <a:avLst/>
          </a:prstGeom>
          <a:ln w="19050">
            <a:solidFill>
              <a:srgbClr val="9E9E9E"/>
            </a:solidFill>
          </a:ln>
        </p:spPr>
      </p:cxnSp>
      <p:sp>
        <p:nvSpPr>
          <p:cNvPr id="32" name="Sub 3"/>
          <p:cNvSpPr/>
          <p:nvPr/>
        </p:nvSpPr>
        <p:spPr>
          <a:xfrm>
            <a:off x="5529262" y="2957512"/>
            <a:ext cx="1285875" cy="471487"/>
          </a:xfrm>
          <a:prstGeom prst="roundRect">
            <a:avLst>
              <a:gd name="adj" fmla="val 15000"/>
            </a:avLst>
          </a:prstGeom>
          <a:solidFill>
            <a:srgbClr val="E3F2FD"/>
          </a:solidFill>
          <a:ln w="19050">
            <a:solidFill>
              <a:srgbClr val="1E5A8C"/>
            </a:solidFill>
          </a:ln>
        </p:spPr>
        <p:txBody>
          <a:bodyPr rtlCol="0" anchor="ctr" wrap="square" lIns="28575" rIns="28575" tIns="28575" bIns="28575"/>
          <a:lstStyle/>
          <a:p>
            <a:pPr algn="ctr"/>
            <a:r>
              <a:rPr sz="1012" b="1">
                <a:solidFill>
                  <a:srgbClr val="12343B"/>
                </a:solidFill>
                <a:latin typeface="Calibri"/>
              </a:rPr>
              <a:t>Sub 3</a:t>
            </a:r>
          </a:p>
        </p:txBody>
      </p:sp>
      <p:sp>
        <p:nvSpPr>
          <p:cNvPr id="33" name="Sub cut 3"/>
          <p:cNvSpPr/>
          <p:nvPr/>
        </p:nvSpPr>
        <p:spPr>
          <a:xfrm>
            <a:off x="5229225" y="2928937"/>
            <a:ext cx="214312" cy="528637"/>
          </a:xfrm>
          <a:prstGeom prst="rect">
            <a:avLst/>
          </a:prstGeom>
          <a:solidFill>
            <a:srgbClr val="FFFFFF"/>
          </a:solidFill>
          <a:ln w="19050">
            <a:solidFill>
              <a:srgbClr val="00897B"/>
            </a:solidFill>
          </a:ln>
        </p:spPr>
        <p:txBody>
          <a:bodyPr rtlCol="0" anchor="ctr" wrap="square" lIns="28575" rIns="28575" tIns="28575" bIns="28575"/>
          <a:lstStyle/>
          <a:p>
            <a:pPr algn="ctr"/>
          </a:p>
        </p:txBody>
      </p:sp>
      <p:cxnSp>
        <p:nvCxnSpPr>
          <p:cNvPr id="34" name="Sub 3 xlink"/>
          <p:cNvCxnSpPr/>
          <p:nvPr/>
        </p:nvCxnSpPr>
        <p:spPr>
          <a:xfrm>
            <a:off x="5143500" y="3193256"/>
            <a:ext cx="85725" cy="0"/>
          </a:xfrm>
          <a:prstGeom prst="line">
            <a:avLst/>
          </a:prstGeom>
          <a:ln w="19050">
            <a:solidFill>
              <a:srgbClr val="9E9E9E"/>
            </a:solidFill>
          </a:ln>
        </p:spPr>
      </p:cxnSp>
      <p:cxnSp>
        <p:nvCxnSpPr>
          <p:cNvPr id="35" name="Sub 3 link"/>
          <p:cNvCxnSpPr/>
          <p:nvPr/>
        </p:nvCxnSpPr>
        <p:spPr>
          <a:xfrm>
            <a:off x="5443537" y="3193256"/>
            <a:ext cx="85725" cy="0"/>
          </a:xfrm>
          <a:prstGeom prst="line">
            <a:avLst/>
          </a:prstGeom>
          <a:ln w="19050">
            <a:solidFill>
              <a:srgbClr val="9E9E9E"/>
            </a:solidFill>
          </a:ln>
        </p:spPr>
      </p:cxnSp>
      <p:sp>
        <p:nvSpPr>
          <p:cNvPr id="36" name="Sub 4"/>
          <p:cNvSpPr/>
          <p:nvPr/>
        </p:nvSpPr>
        <p:spPr>
          <a:xfrm>
            <a:off x="5529262" y="3629025"/>
            <a:ext cx="1285875" cy="471487"/>
          </a:xfrm>
          <a:prstGeom prst="roundRect">
            <a:avLst>
              <a:gd name="adj" fmla="val 15000"/>
            </a:avLst>
          </a:prstGeom>
          <a:solidFill>
            <a:srgbClr val="E3F2FD"/>
          </a:solidFill>
          <a:ln w="19050">
            <a:solidFill>
              <a:srgbClr val="1E5A8C"/>
            </a:solidFill>
          </a:ln>
        </p:spPr>
        <p:txBody>
          <a:bodyPr rtlCol="0" anchor="ctr" wrap="square" lIns="28575" rIns="28575" tIns="28575" bIns="28575"/>
          <a:lstStyle/>
          <a:p>
            <a:pPr algn="ctr"/>
            <a:r>
              <a:rPr sz="1012" b="1">
                <a:solidFill>
                  <a:srgbClr val="12343B"/>
                </a:solidFill>
                <a:latin typeface="Calibri"/>
              </a:rPr>
              <a:t>Sub 4</a:t>
            </a:r>
          </a:p>
        </p:txBody>
      </p:sp>
      <p:sp>
        <p:nvSpPr>
          <p:cNvPr id="37" name="Sub cut 4"/>
          <p:cNvSpPr/>
          <p:nvPr/>
        </p:nvSpPr>
        <p:spPr>
          <a:xfrm>
            <a:off x="5229225" y="3600450"/>
            <a:ext cx="214312" cy="528637"/>
          </a:xfrm>
          <a:prstGeom prst="rect">
            <a:avLst/>
          </a:prstGeom>
          <a:solidFill>
            <a:srgbClr val="FFFFFF"/>
          </a:solidFill>
          <a:ln w="19050">
            <a:solidFill>
              <a:srgbClr val="00897B"/>
            </a:solidFill>
          </a:ln>
        </p:spPr>
        <p:txBody>
          <a:bodyPr rtlCol="0" anchor="ctr" wrap="square" lIns="28575" rIns="28575" tIns="28575" bIns="28575"/>
          <a:lstStyle/>
          <a:p>
            <a:pPr algn="ctr"/>
          </a:p>
        </p:txBody>
      </p:sp>
      <p:cxnSp>
        <p:nvCxnSpPr>
          <p:cNvPr id="38" name="Sub 4 xlink"/>
          <p:cNvCxnSpPr/>
          <p:nvPr/>
        </p:nvCxnSpPr>
        <p:spPr>
          <a:xfrm>
            <a:off x="5143500" y="3864768"/>
            <a:ext cx="85725" cy="0"/>
          </a:xfrm>
          <a:prstGeom prst="line">
            <a:avLst/>
          </a:prstGeom>
          <a:ln w="19050">
            <a:solidFill>
              <a:srgbClr val="9E9E9E"/>
            </a:solidFill>
          </a:ln>
        </p:spPr>
      </p:cxnSp>
      <p:cxnSp>
        <p:nvCxnSpPr>
          <p:cNvPr id="39" name="Sub 4 link"/>
          <p:cNvCxnSpPr/>
          <p:nvPr/>
        </p:nvCxnSpPr>
        <p:spPr>
          <a:xfrm>
            <a:off x="5443537" y="3864768"/>
            <a:ext cx="85725" cy="0"/>
          </a:xfrm>
          <a:prstGeom prst="line">
            <a:avLst/>
          </a:prstGeom>
          <a:ln w="19050">
            <a:solidFill>
              <a:srgbClr val="9E9E9E"/>
            </a:solidFill>
          </a:ln>
        </p:spPr>
      </p:cxnSp>
      <p:sp>
        <p:nvSpPr>
          <p:cNvPr id="40" name="Map"/>
          <p:cNvSpPr/>
          <p:nvPr/>
        </p:nvSpPr>
        <p:spPr>
          <a:xfrm>
            <a:off x="2143125" y="542925"/>
            <a:ext cx="2714625" cy="257175"/>
          </a:xfrm>
          <a:prstGeom prst="rect">
            <a:avLst/>
          </a:prstGeom>
          <a:solidFill>
            <a:srgbClr val="F5F5F5"/>
          </a:solidFill>
          <a:ln w="19050">
            <a:solidFill>
              <a:srgbClr val="9E9E9E"/>
            </a:solidFill>
          </a:ln>
        </p:spPr>
        <p:txBody>
          <a:bodyPr rtlCol="0" anchor="ctr" wrap="square" lIns="14287" rIns="14287" tIns="14287" bIns="14287"/>
          <a:lstStyle/>
          <a:p>
            <a:pPr algn="ctr"/>
            <a:r>
              <a:rPr sz="843" b="1">
                <a:solidFill>
                  <a:srgbClr val="12343B"/>
                </a:solidFill>
                <a:latin typeface="Calibri"/>
              </a:rPr>
              <a:t>Address map: built in</a:t>
            </a:r>
          </a:p>
        </p:txBody>
      </p:sp>
      <p:sp>
        <p:nvSpPr>
          <p:cNvPr id="41" name="Panel normal"/>
          <p:cNvSpPr/>
          <p:nvPr/>
        </p:nvSpPr>
        <p:spPr>
          <a:xfrm>
            <a:off x="7000875" y="857250"/>
            <a:ext cx="1928812" cy="3357562"/>
          </a:xfrm>
          <a:prstGeom prst="roundRect">
            <a:avLst>
              <a:gd name="adj" fmla="val 3703"/>
            </a:avLst>
          </a:prstGeom>
          <a:solidFill>
            <a:srgbClr val="FFFFFF"/>
          </a:solidFill>
          <a:ln w="19050">
            <a:solidFill>
              <a:srgbClr val="9E9E9E"/>
            </a:solidFill>
          </a:ln>
        </p:spPr>
        <p:txBody>
          <a:bodyPr rtlCol="0" anchor="t" wrap="square" lIns="114300" rIns="114300" tIns="114300" bIns="114300"/>
          <a:lstStyle/>
          <a:p>
            <a:pPr algn="l"/>
            <a:r>
              <a:rPr sz="843" b="1">
                <a:solidFill>
                  <a:srgbClr val="9E9E9E"/>
                </a:solidFill>
                <a:latin typeface="Calibri"/>
              </a:rPr>
              <a:t>Mode</a:t>
            </a:r>
          </a:p>
          <a:p>
            <a:pPr algn="l"/>
            <a:r>
              <a:rPr sz="1350" b="1">
                <a:solidFill>
                  <a:srgbClr val="93005F"/>
                </a:solidFill>
                <a:latin typeface="Calibri"/>
              </a:rPr>
              <a:t>Normal</a:t>
            </a:r>
          </a:p>
          <a:p>
            <a:pPr algn="l"/>
            <a:r>
              <a:rPr sz="450" b="0">
                <a:solidFill>
                  <a:srgbClr val="12343B"/>
                </a:solidFill>
                <a:latin typeface="Calibri"/>
              </a:rPr>
              <a:t/>
            </a:r>
          </a:p>
          <a:p>
            <a:pPr algn="l"/>
            <a:r>
              <a:rPr sz="843" b="1">
                <a:solidFill>
                  <a:srgbClr val="9E9E9E"/>
                </a:solidFill>
                <a:latin typeface="Calibri"/>
              </a:rPr>
              <a:t>Crossbar driven by</a:t>
            </a:r>
          </a:p>
          <a:p>
            <a:pPr algn="l"/>
            <a:r>
              <a:rPr sz="1125" b="1">
                <a:solidFill>
                  <a:srgbClr val="12343B"/>
                </a:solidFill>
                <a:latin typeface="Calibri"/>
              </a:rPr>
              <a:t>the managers</a:t>
            </a:r>
          </a:p>
        </p:txBody>
      </p:sp>
      <p:sp>
        <p:nvSpPr>
          <p:cNvPr id="42" name="Caption 0"/>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The crossbar connects managers (core, debug, …) to subordinates (memories, peripherals).</a:t>
            </a:r>
          </a:p>
          <a:p>
            <a:pPr algn="l"/>
            <a:r>
              <a:rPr sz="1237" b="0">
                <a:solidFill>
                  <a:srgbClr val="FFFFFF"/>
                </a:solidFill>
                <a:latin typeface="Calibri"/>
              </a:rPr>
              <a:t>Each link has a cut register (teal). Click to follow a transaction.</a:t>
            </a:r>
          </a:p>
        </p:txBody>
      </p:sp>
      <p:cxnSp>
        <p:nvCxnSpPr>
          <p:cNvPr id="43" name="Route normal"/>
          <p:cNvCxnSpPr/>
          <p:nvPr/>
        </p:nvCxnSpPr>
        <p:spPr>
          <a:xfrm>
            <a:off x="1800225" y="2864643"/>
            <a:ext cx="3429000" cy="328613"/>
          </a:xfrm>
          <a:prstGeom prst="line">
            <a:avLst/>
          </a:prstGeom>
          <a:ln w="50800">
            <a:solidFill>
              <a:srgbClr val="93005F"/>
            </a:solidFill>
            <a:tailEnd type="triangle" w="med" len="med"/>
          </a:ln>
        </p:spPr>
      </p:cxnSp>
      <p:sp>
        <p:nvSpPr>
          <p:cNvPr id="44" name="Caption 1"/>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Normal mode: manager 2 reads from subordinate 3 through the crossbar.</a:t>
            </a:r>
          </a:p>
          <a:p>
            <a:pPr algn="l"/>
            <a:r>
              <a:rPr sz="1237" b="0">
                <a:solidFill>
                  <a:srgbClr val="FFFFFF"/>
                </a:solidFill>
                <a:latin typeface="Calibri"/>
              </a:rPr>
              <a:t>If this fails on silicon: is the bug in the manager, the crossbar or the memory?</a:t>
            </a:r>
          </a:p>
        </p:txBody>
      </p:sp>
      <p:sp>
        <p:nvSpPr>
          <p:cNvPr id="45" name="Iso mgr cut 0"/>
          <p:cNvSpPr/>
          <p:nvPr/>
        </p:nvSpPr>
        <p:spPr>
          <a:xfrm>
            <a:off x="1585912" y="971550"/>
            <a:ext cx="214312" cy="585787"/>
          </a:xfrm>
          <a:prstGeom prst="rect">
            <a:avLst/>
          </a:prstGeom>
          <a:solidFill>
            <a:srgbClr val="E0F2F1"/>
          </a:solidFill>
          <a:ln w="19050">
            <a:solidFill>
              <a:srgbClr val="00897B"/>
            </a:solidFill>
          </a:ln>
        </p:spPr>
        <p:txBody>
          <a:bodyPr rtlCol="0" anchor="ctr" wrap="square" lIns="28575" rIns="28575" tIns="28575" bIns="28575"/>
          <a:lstStyle/>
          <a:p>
            <a:pPr algn="ctr"/>
          </a:p>
        </p:txBody>
      </p:sp>
      <p:sp>
        <p:nvSpPr>
          <p:cNvPr id="46" name="Iso mgr cut 1"/>
          <p:cNvSpPr/>
          <p:nvPr/>
        </p:nvSpPr>
        <p:spPr>
          <a:xfrm>
            <a:off x="1585912" y="1771650"/>
            <a:ext cx="214312" cy="585787"/>
          </a:xfrm>
          <a:prstGeom prst="rect">
            <a:avLst/>
          </a:prstGeom>
          <a:solidFill>
            <a:srgbClr val="E0F2F1"/>
          </a:solidFill>
          <a:ln w="19050">
            <a:solidFill>
              <a:srgbClr val="00897B"/>
            </a:solidFill>
          </a:ln>
        </p:spPr>
        <p:txBody>
          <a:bodyPr rtlCol="0" anchor="ctr" wrap="square" lIns="28575" rIns="28575" tIns="28575" bIns="28575"/>
          <a:lstStyle/>
          <a:p>
            <a:pPr algn="ctr"/>
          </a:p>
        </p:txBody>
      </p:sp>
      <p:sp>
        <p:nvSpPr>
          <p:cNvPr id="47" name="Iso mgr cut 2"/>
          <p:cNvSpPr/>
          <p:nvPr/>
        </p:nvSpPr>
        <p:spPr>
          <a:xfrm>
            <a:off x="1585912" y="2571750"/>
            <a:ext cx="214312" cy="585787"/>
          </a:xfrm>
          <a:prstGeom prst="rect">
            <a:avLst/>
          </a:prstGeom>
          <a:solidFill>
            <a:srgbClr val="E0F2F1"/>
          </a:solidFill>
          <a:ln w="19050">
            <a:solidFill>
              <a:srgbClr val="00897B"/>
            </a:solidFill>
          </a:ln>
        </p:spPr>
        <p:txBody>
          <a:bodyPr rtlCol="0" anchor="ctr" wrap="square" lIns="28575" rIns="28575" tIns="28575" bIns="28575"/>
          <a:lstStyle/>
          <a:p>
            <a:pPr algn="ctr"/>
          </a:p>
        </p:txBody>
      </p:sp>
      <p:sp>
        <p:nvSpPr>
          <p:cNvPr id="48" name="Iso mgr cut 3"/>
          <p:cNvSpPr/>
          <p:nvPr/>
        </p:nvSpPr>
        <p:spPr>
          <a:xfrm>
            <a:off x="1585912" y="3371850"/>
            <a:ext cx="214312" cy="585787"/>
          </a:xfrm>
          <a:prstGeom prst="rect">
            <a:avLst/>
          </a:prstGeom>
          <a:solidFill>
            <a:srgbClr val="E0F2F1"/>
          </a:solidFill>
          <a:ln w="19050">
            <a:solidFill>
              <a:srgbClr val="00897B"/>
            </a:solidFill>
          </a:ln>
        </p:spPr>
        <p:txBody>
          <a:bodyPr rtlCol="0" anchor="ctr" wrap="square" lIns="28575" rIns="28575" tIns="28575" bIns="28575"/>
          <a:lstStyle/>
          <a:p>
            <a:pPr algn="ctr"/>
          </a:p>
        </p:txBody>
      </p:sp>
      <p:sp>
        <p:nvSpPr>
          <p:cNvPr id="49" name="Iso sub cut 0"/>
          <p:cNvSpPr/>
          <p:nvPr/>
        </p:nvSpPr>
        <p:spPr>
          <a:xfrm>
            <a:off x="5229225" y="914400"/>
            <a:ext cx="214312" cy="528637"/>
          </a:xfrm>
          <a:prstGeom prst="rect">
            <a:avLst/>
          </a:prstGeom>
          <a:solidFill>
            <a:srgbClr val="E0F2F1"/>
          </a:solidFill>
          <a:ln w="19050">
            <a:solidFill>
              <a:srgbClr val="00897B"/>
            </a:solidFill>
          </a:ln>
        </p:spPr>
        <p:txBody>
          <a:bodyPr rtlCol="0" anchor="ctr" wrap="square" lIns="28575" rIns="28575" tIns="28575" bIns="28575"/>
          <a:lstStyle/>
          <a:p>
            <a:pPr algn="ctr"/>
          </a:p>
        </p:txBody>
      </p:sp>
      <p:sp>
        <p:nvSpPr>
          <p:cNvPr id="50" name="Iso sub cut 1"/>
          <p:cNvSpPr/>
          <p:nvPr/>
        </p:nvSpPr>
        <p:spPr>
          <a:xfrm>
            <a:off x="5229225" y="1585912"/>
            <a:ext cx="214312" cy="528637"/>
          </a:xfrm>
          <a:prstGeom prst="rect">
            <a:avLst/>
          </a:prstGeom>
          <a:solidFill>
            <a:srgbClr val="E0F2F1"/>
          </a:solidFill>
          <a:ln w="19050">
            <a:solidFill>
              <a:srgbClr val="00897B"/>
            </a:solidFill>
          </a:ln>
        </p:spPr>
        <p:txBody>
          <a:bodyPr rtlCol="0" anchor="ctr" wrap="square" lIns="28575" rIns="28575" tIns="28575" bIns="28575"/>
          <a:lstStyle/>
          <a:p>
            <a:pPr algn="ctr"/>
          </a:p>
        </p:txBody>
      </p:sp>
      <p:sp>
        <p:nvSpPr>
          <p:cNvPr id="51" name="Iso sub cut 2"/>
          <p:cNvSpPr/>
          <p:nvPr/>
        </p:nvSpPr>
        <p:spPr>
          <a:xfrm>
            <a:off x="5229225" y="2257425"/>
            <a:ext cx="214312" cy="528637"/>
          </a:xfrm>
          <a:prstGeom prst="rect">
            <a:avLst/>
          </a:prstGeom>
          <a:solidFill>
            <a:srgbClr val="E0F2F1"/>
          </a:solidFill>
          <a:ln w="19050">
            <a:solidFill>
              <a:srgbClr val="00897B"/>
            </a:solidFill>
          </a:ln>
        </p:spPr>
        <p:txBody>
          <a:bodyPr rtlCol="0" anchor="ctr" wrap="square" lIns="28575" rIns="28575" tIns="28575" bIns="28575"/>
          <a:lstStyle/>
          <a:p>
            <a:pPr algn="ctr"/>
          </a:p>
        </p:txBody>
      </p:sp>
      <p:sp>
        <p:nvSpPr>
          <p:cNvPr id="52" name="Iso sub cut 3"/>
          <p:cNvSpPr/>
          <p:nvPr/>
        </p:nvSpPr>
        <p:spPr>
          <a:xfrm>
            <a:off x="5229225" y="2928937"/>
            <a:ext cx="214312" cy="528637"/>
          </a:xfrm>
          <a:prstGeom prst="rect">
            <a:avLst/>
          </a:prstGeom>
          <a:solidFill>
            <a:srgbClr val="E0F2F1"/>
          </a:solidFill>
          <a:ln w="19050">
            <a:solidFill>
              <a:srgbClr val="00897B"/>
            </a:solidFill>
          </a:ln>
        </p:spPr>
        <p:txBody>
          <a:bodyPr rtlCol="0" anchor="ctr" wrap="square" lIns="28575" rIns="28575" tIns="28575" bIns="28575"/>
          <a:lstStyle/>
          <a:p>
            <a:pPr algn="ctr"/>
          </a:p>
        </p:txBody>
      </p:sp>
      <p:sp>
        <p:nvSpPr>
          <p:cNvPr id="53" name="Iso sub cut 4"/>
          <p:cNvSpPr/>
          <p:nvPr/>
        </p:nvSpPr>
        <p:spPr>
          <a:xfrm>
            <a:off x="5229225" y="3600450"/>
            <a:ext cx="214312" cy="528637"/>
          </a:xfrm>
          <a:prstGeom prst="rect">
            <a:avLst/>
          </a:prstGeom>
          <a:solidFill>
            <a:srgbClr val="E0F2F1"/>
          </a:solidFill>
          <a:ln w="19050">
            <a:solidFill>
              <a:srgbClr val="00897B"/>
            </a:solidFill>
          </a:ln>
        </p:spPr>
        <p:txBody>
          <a:bodyPr rtlCol="0" anchor="ctr" wrap="square" lIns="28575" rIns="28575" tIns="28575" bIns="28575"/>
          <a:lstStyle/>
          <a:p>
            <a:pPr algn="ctr"/>
          </a:p>
        </p:txBody>
      </p:sp>
      <p:sp>
        <p:nvSpPr>
          <p:cNvPr id="54" name="Wait 0"/>
          <p:cNvSpPr/>
          <p:nvPr/>
        </p:nvSpPr>
        <p:spPr>
          <a:xfrm>
            <a:off x="357187" y="1543050"/>
            <a:ext cx="1071562" cy="185737"/>
          </a:xfrm>
          <a:prstGeom prst="roundRect">
            <a:avLst>
              <a:gd name="adj" fmla="val 15000"/>
            </a:avLst>
          </a:prstGeom>
          <a:solidFill>
            <a:srgbClr val="FFFFFF"/>
          </a:solidFill>
          <a:ln w="15240">
            <a:solidFill>
              <a:srgbClr val="C62828"/>
            </a:solidFill>
          </a:ln>
        </p:spPr>
        <p:txBody>
          <a:bodyPr rtlCol="0" anchor="ctr" wrap="square" lIns="0" rIns="0" tIns="0" bIns="0"/>
          <a:lstStyle/>
          <a:p>
            <a:pPr algn="ctr"/>
            <a:r>
              <a:rPr sz="787" b="1">
                <a:solidFill>
                  <a:srgbClr val="C62828"/>
                </a:solidFill>
                <a:latin typeface="Calibri"/>
              </a:rPr>
              <a:t>waits</a:t>
            </a:r>
          </a:p>
        </p:txBody>
      </p:sp>
      <p:sp>
        <p:nvSpPr>
          <p:cNvPr id="55" name="Wait 1"/>
          <p:cNvSpPr/>
          <p:nvPr/>
        </p:nvSpPr>
        <p:spPr>
          <a:xfrm>
            <a:off x="357187" y="2343150"/>
            <a:ext cx="1071562" cy="185737"/>
          </a:xfrm>
          <a:prstGeom prst="roundRect">
            <a:avLst>
              <a:gd name="adj" fmla="val 15000"/>
            </a:avLst>
          </a:prstGeom>
          <a:solidFill>
            <a:srgbClr val="FFFFFF"/>
          </a:solidFill>
          <a:ln w="15240">
            <a:solidFill>
              <a:srgbClr val="C62828"/>
            </a:solidFill>
          </a:ln>
        </p:spPr>
        <p:txBody>
          <a:bodyPr rtlCol="0" anchor="ctr" wrap="square" lIns="0" rIns="0" tIns="0" bIns="0"/>
          <a:lstStyle/>
          <a:p>
            <a:pPr algn="ctr"/>
            <a:r>
              <a:rPr sz="787" b="1">
                <a:solidFill>
                  <a:srgbClr val="C62828"/>
                </a:solidFill>
                <a:latin typeface="Calibri"/>
              </a:rPr>
              <a:t>waits</a:t>
            </a:r>
          </a:p>
        </p:txBody>
      </p:sp>
      <p:sp>
        <p:nvSpPr>
          <p:cNvPr id="56" name="Wait 2"/>
          <p:cNvSpPr/>
          <p:nvPr/>
        </p:nvSpPr>
        <p:spPr>
          <a:xfrm>
            <a:off x="357187" y="3143250"/>
            <a:ext cx="1071562" cy="185737"/>
          </a:xfrm>
          <a:prstGeom prst="roundRect">
            <a:avLst>
              <a:gd name="adj" fmla="val 15000"/>
            </a:avLst>
          </a:prstGeom>
          <a:solidFill>
            <a:srgbClr val="FFFFFF"/>
          </a:solidFill>
          <a:ln w="15240">
            <a:solidFill>
              <a:srgbClr val="C62828"/>
            </a:solidFill>
          </a:ln>
        </p:spPr>
        <p:txBody>
          <a:bodyPr rtlCol="0" anchor="ctr" wrap="square" lIns="0" rIns="0" tIns="0" bIns="0"/>
          <a:lstStyle/>
          <a:p>
            <a:pPr algn="ctr"/>
            <a:r>
              <a:rPr sz="787" b="1">
                <a:solidFill>
                  <a:srgbClr val="C62828"/>
                </a:solidFill>
                <a:latin typeface="Calibri"/>
              </a:rPr>
              <a:t>waits</a:t>
            </a:r>
          </a:p>
        </p:txBody>
      </p:sp>
      <p:sp>
        <p:nvSpPr>
          <p:cNvPr id="57" name="Wait 3"/>
          <p:cNvSpPr/>
          <p:nvPr/>
        </p:nvSpPr>
        <p:spPr>
          <a:xfrm>
            <a:off x="357187" y="3943350"/>
            <a:ext cx="1071562" cy="185737"/>
          </a:xfrm>
          <a:prstGeom prst="roundRect">
            <a:avLst>
              <a:gd name="adj" fmla="val 15000"/>
            </a:avLst>
          </a:prstGeom>
          <a:solidFill>
            <a:srgbClr val="FFFFFF"/>
          </a:solidFill>
          <a:ln w="15240">
            <a:solidFill>
              <a:srgbClr val="C62828"/>
            </a:solidFill>
          </a:ln>
        </p:spPr>
        <p:txBody>
          <a:bodyPr rtlCol="0" anchor="ctr" wrap="square" lIns="0" rIns="0" tIns="0" bIns="0"/>
          <a:lstStyle/>
          <a:p>
            <a:pPr algn="ctr"/>
            <a:r>
              <a:rPr sz="787" b="1">
                <a:solidFill>
                  <a:srgbClr val="C62828"/>
                </a:solidFill>
                <a:latin typeface="Calibri"/>
              </a:rPr>
              <a:t>waits</a:t>
            </a:r>
          </a:p>
        </p:txBody>
      </p:sp>
      <p:cxnSp>
        <p:nvCxnSpPr>
          <p:cNvPr id="58" name="Chain 0.0"/>
          <p:cNvCxnSpPr/>
          <p:nvPr/>
        </p:nvCxnSpPr>
        <p:spPr>
          <a:xfrm>
            <a:off x="4314825" y="357187"/>
            <a:ext cx="400050" cy="0"/>
          </a:xfrm>
          <a:prstGeom prst="line">
            <a:avLst/>
          </a:prstGeom>
          <a:ln w="25400">
            <a:solidFill>
              <a:srgbClr val="E39B2D"/>
            </a:solidFill>
            <a:prstDash val="dash"/>
          </a:ln>
        </p:spPr>
      </p:cxnSp>
      <p:cxnSp>
        <p:nvCxnSpPr>
          <p:cNvPr id="59" name="Chain 0.1"/>
          <p:cNvCxnSpPr/>
          <p:nvPr/>
        </p:nvCxnSpPr>
        <p:spPr>
          <a:xfrm>
            <a:off x="4714875" y="357187"/>
            <a:ext cx="0" cy="185738"/>
          </a:xfrm>
          <a:prstGeom prst="line">
            <a:avLst/>
          </a:prstGeom>
          <a:ln w="25400">
            <a:solidFill>
              <a:srgbClr val="E39B2D"/>
            </a:solidFill>
            <a:prstDash val="dash"/>
            <a:tailEnd type="triangle" w="med" len="med"/>
          </a:ln>
        </p:spPr>
      </p:cxnSp>
      <p:sp>
        <p:nvSpPr>
          <p:cNvPr id="60" name="Chain 1"/>
          <p:cNvSpPr/>
          <p:nvPr/>
        </p:nvSpPr>
        <p:spPr>
          <a:xfrm>
            <a:off x="2143125" y="542925"/>
            <a:ext cx="2714625" cy="257175"/>
          </a:xfrm>
          <a:prstGeom prst="rect">
            <a:avLst/>
          </a:prstGeom>
          <a:noFill/>
          <a:ln w="38100">
            <a:solidFill>
              <a:srgbClr val="E39B2D"/>
            </a:solidFill>
          </a:ln>
        </p:spPr>
        <p:txBody>
          <a:bodyPr rtlCol="0" anchor="ctr" wrap="square" lIns="28575" rIns="28575" tIns="28575" bIns="28575"/>
          <a:lstStyle/>
          <a:p>
            <a:pPr algn="ctr"/>
          </a:p>
        </p:txBody>
      </p:sp>
      <p:cxnSp>
        <p:nvCxnSpPr>
          <p:cNvPr id="61" name="Chain 2.0"/>
          <p:cNvCxnSpPr/>
          <p:nvPr/>
        </p:nvCxnSpPr>
        <p:spPr>
          <a:xfrm flipH="1">
            <a:off x="1693068" y="671512"/>
            <a:ext cx="450057" cy="0"/>
          </a:xfrm>
          <a:prstGeom prst="line">
            <a:avLst/>
          </a:prstGeom>
          <a:ln w="25400">
            <a:solidFill>
              <a:srgbClr val="E39B2D"/>
            </a:solidFill>
            <a:prstDash val="dash"/>
          </a:ln>
        </p:spPr>
      </p:cxnSp>
      <p:cxnSp>
        <p:nvCxnSpPr>
          <p:cNvPr id="62" name="Chain 2.1"/>
          <p:cNvCxnSpPr/>
          <p:nvPr/>
        </p:nvCxnSpPr>
        <p:spPr>
          <a:xfrm>
            <a:off x="1693068" y="671512"/>
            <a:ext cx="0" cy="300038"/>
          </a:xfrm>
          <a:prstGeom prst="line">
            <a:avLst/>
          </a:prstGeom>
          <a:ln w="25400">
            <a:solidFill>
              <a:srgbClr val="E39B2D"/>
            </a:solidFill>
            <a:prstDash val="dash"/>
            <a:tailEnd type="triangle" w="med" len="med"/>
          </a:ln>
        </p:spPr>
      </p:cxnSp>
      <p:sp>
        <p:nvSpPr>
          <p:cNvPr id="63" name="Chain 3"/>
          <p:cNvSpPr/>
          <p:nvPr/>
        </p:nvSpPr>
        <p:spPr>
          <a:xfrm>
            <a:off x="1585912" y="971550"/>
            <a:ext cx="214312" cy="585787"/>
          </a:xfrm>
          <a:prstGeom prst="rect">
            <a:avLst/>
          </a:prstGeom>
          <a:noFill/>
          <a:ln w="38100">
            <a:solidFill>
              <a:srgbClr val="E39B2D"/>
            </a:solidFill>
          </a:ln>
        </p:spPr>
        <p:txBody>
          <a:bodyPr rtlCol="0" anchor="ctr" wrap="square" lIns="28575" rIns="28575" tIns="28575" bIns="28575"/>
          <a:lstStyle/>
          <a:p>
            <a:pPr algn="ctr"/>
          </a:p>
        </p:txBody>
      </p:sp>
      <p:cxnSp>
        <p:nvCxnSpPr>
          <p:cNvPr id="64" name="Chain 4.0"/>
          <p:cNvCxnSpPr/>
          <p:nvPr/>
        </p:nvCxnSpPr>
        <p:spPr>
          <a:xfrm>
            <a:off x="1693068" y="1557337"/>
            <a:ext cx="0" cy="214313"/>
          </a:xfrm>
          <a:prstGeom prst="line">
            <a:avLst/>
          </a:prstGeom>
          <a:ln w="25400">
            <a:solidFill>
              <a:srgbClr val="E39B2D"/>
            </a:solidFill>
            <a:prstDash val="dash"/>
            <a:tailEnd type="triangle" w="med" len="med"/>
          </a:ln>
        </p:spPr>
      </p:cxnSp>
      <p:sp>
        <p:nvSpPr>
          <p:cNvPr id="65" name="Chain 5"/>
          <p:cNvSpPr/>
          <p:nvPr/>
        </p:nvSpPr>
        <p:spPr>
          <a:xfrm>
            <a:off x="1585912" y="1771650"/>
            <a:ext cx="214312" cy="585787"/>
          </a:xfrm>
          <a:prstGeom prst="rect">
            <a:avLst/>
          </a:prstGeom>
          <a:noFill/>
          <a:ln w="38100">
            <a:solidFill>
              <a:srgbClr val="E39B2D"/>
            </a:solidFill>
          </a:ln>
        </p:spPr>
        <p:txBody>
          <a:bodyPr rtlCol="0" anchor="ctr" wrap="square" lIns="28575" rIns="28575" tIns="28575" bIns="28575"/>
          <a:lstStyle/>
          <a:p>
            <a:pPr algn="ctr"/>
          </a:p>
        </p:txBody>
      </p:sp>
      <p:cxnSp>
        <p:nvCxnSpPr>
          <p:cNvPr id="66" name="Chain 6.0"/>
          <p:cNvCxnSpPr/>
          <p:nvPr/>
        </p:nvCxnSpPr>
        <p:spPr>
          <a:xfrm>
            <a:off x="1693068" y="2357437"/>
            <a:ext cx="0" cy="214313"/>
          </a:xfrm>
          <a:prstGeom prst="line">
            <a:avLst/>
          </a:prstGeom>
          <a:ln w="25400">
            <a:solidFill>
              <a:srgbClr val="E39B2D"/>
            </a:solidFill>
            <a:prstDash val="dash"/>
            <a:tailEnd type="triangle" w="med" len="med"/>
          </a:ln>
        </p:spPr>
      </p:cxnSp>
      <p:sp>
        <p:nvSpPr>
          <p:cNvPr id="67" name="Chain 7"/>
          <p:cNvSpPr/>
          <p:nvPr/>
        </p:nvSpPr>
        <p:spPr>
          <a:xfrm>
            <a:off x="1585912" y="2571750"/>
            <a:ext cx="214312" cy="585787"/>
          </a:xfrm>
          <a:prstGeom prst="rect">
            <a:avLst/>
          </a:prstGeom>
          <a:noFill/>
          <a:ln w="38100">
            <a:solidFill>
              <a:srgbClr val="E39B2D"/>
            </a:solidFill>
          </a:ln>
        </p:spPr>
        <p:txBody>
          <a:bodyPr rtlCol="0" anchor="ctr" wrap="square" lIns="28575" rIns="28575" tIns="28575" bIns="28575"/>
          <a:lstStyle/>
          <a:p>
            <a:pPr algn="ctr"/>
          </a:p>
        </p:txBody>
      </p:sp>
      <p:cxnSp>
        <p:nvCxnSpPr>
          <p:cNvPr id="68" name="Chain 8.0"/>
          <p:cNvCxnSpPr/>
          <p:nvPr/>
        </p:nvCxnSpPr>
        <p:spPr>
          <a:xfrm>
            <a:off x="1693068" y="3157537"/>
            <a:ext cx="0" cy="214313"/>
          </a:xfrm>
          <a:prstGeom prst="line">
            <a:avLst/>
          </a:prstGeom>
          <a:ln w="25400">
            <a:solidFill>
              <a:srgbClr val="E39B2D"/>
            </a:solidFill>
            <a:prstDash val="dash"/>
            <a:tailEnd type="triangle" w="med" len="med"/>
          </a:ln>
        </p:spPr>
      </p:cxnSp>
      <p:sp>
        <p:nvSpPr>
          <p:cNvPr id="69" name="Chain 9"/>
          <p:cNvSpPr/>
          <p:nvPr/>
        </p:nvSpPr>
        <p:spPr>
          <a:xfrm>
            <a:off x="1585912" y="3371850"/>
            <a:ext cx="214312" cy="585787"/>
          </a:xfrm>
          <a:prstGeom prst="rect">
            <a:avLst/>
          </a:prstGeom>
          <a:noFill/>
          <a:ln w="38100">
            <a:solidFill>
              <a:srgbClr val="E39B2D"/>
            </a:solidFill>
          </a:ln>
        </p:spPr>
        <p:txBody>
          <a:bodyPr rtlCol="0" anchor="ctr" wrap="square" lIns="28575" rIns="28575" tIns="28575" bIns="28575"/>
          <a:lstStyle/>
          <a:p>
            <a:pPr algn="ctr"/>
          </a:p>
        </p:txBody>
      </p:sp>
      <p:cxnSp>
        <p:nvCxnSpPr>
          <p:cNvPr id="70" name="Chain 10.0"/>
          <p:cNvCxnSpPr/>
          <p:nvPr/>
        </p:nvCxnSpPr>
        <p:spPr>
          <a:xfrm>
            <a:off x="1693068" y="3957637"/>
            <a:ext cx="0" cy="371475"/>
          </a:xfrm>
          <a:prstGeom prst="line">
            <a:avLst/>
          </a:prstGeom>
          <a:ln w="25400">
            <a:solidFill>
              <a:srgbClr val="E39B2D"/>
            </a:solidFill>
            <a:prstDash val="dash"/>
          </a:ln>
        </p:spPr>
      </p:cxnSp>
      <p:cxnSp>
        <p:nvCxnSpPr>
          <p:cNvPr id="71" name="Chain 10.1"/>
          <p:cNvCxnSpPr/>
          <p:nvPr/>
        </p:nvCxnSpPr>
        <p:spPr>
          <a:xfrm>
            <a:off x="1693068" y="4329112"/>
            <a:ext cx="3643313" cy="0"/>
          </a:xfrm>
          <a:prstGeom prst="line">
            <a:avLst/>
          </a:prstGeom>
          <a:ln w="25400">
            <a:solidFill>
              <a:srgbClr val="E39B2D"/>
            </a:solidFill>
            <a:prstDash val="dash"/>
          </a:ln>
        </p:spPr>
      </p:cxnSp>
      <p:cxnSp>
        <p:nvCxnSpPr>
          <p:cNvPr id="72" name="Chain 10.2"/>
          <p:cNvCxnSpPr/>
          <p:nvPr/>
        </p:nvCxnSpPr>
        <p:spPr>
          <a:xfrm flipV="1">
            <a:off x="5336381" y="4129087"/>
            <a:ext cx="0" cy="200025"/>
          </a:xfrm>
          <a:prstGeom prst="line">
            <a:avLst/>
          </a:prstGeom>
          <a:ln w="25400">
            <a:solidFill>
              <a:srgbClr val="E39B2D"/>
            </a:solidFill>
            <a:prstDash val="dash"/>
            <a:tailEnd type="triangle" w="med" len="med"/>
          </a:ln>
        </p:spPr>
      </p:cxnSp>
      <p:sp>
        <p:nvSpPr>
          <p:cNvPr id="73" name="Chain 11"/>
          <p:cNvSpPr/>
          <p:nvPr/>
        </p:nvSpPr>
        <p:spPr>
          <a:xfrm>
            <a:off x="5229225" y="3600450"/>
            <a:ext cx="214312" cy="528637"/>
          </a:xfrm>
          <a:prstGeom prst="rect">
            <a:avLst/>
          </a:prstGeom>
          <a:noFill/>
          <a:ln w="38100">
            <a:solidFill>
              <a:srgbClr val="E39B2D"/>
            </a:solidFill>
          </a:ln>
        </p:spPr>
        <p:txBody>
          <a:bodyPr rtlCol="0" anchor="ctr" wrap="square" lIns="28575" rIns="28575" tIns="28575" bIns="28575"/>
          <a:lstStyle/>
          <a:p>
            <a:pPr algn="ctr"/>
          </a:p>
        </p:txBody>
      </p:sp>
      <p:cxnSp>
        <p:nvCxnSpPr>
          <p:cNvPr id="74" name="Chain 12.0"/>
          <p:cNvCxnSpPr/>
          <p:nvPr/>
        </p:nvCxnSpPr>
        <p:spPr>
          <a:xfrm flipV="1">
            <a:off x="5336381" y="3457575"/>
            <a:ext cx="0" cy="142875"/>
          </a:xfrm>
          <a:prstGeom prst="line">
            <a:avLst/>
          </a:prstGeom>
          <a:ln w="25400">
            <a:solidFill>
              <a:srgbClr val="E39B2D"/>
            </a:solidFill>
            <a:prstDash val="dash"/>
            <a:tailEnd type="triangle" w="med" len="med"/>
          </a:ln>
        </p:spPr>
      </p:cxnSp>
      <p:sp>
        <p:nvSpPr>
          <p:cNvPr id="75" name="Chain 13"/>
          <p:cNvSpPr/>
          <p:nvPr/>
        </p:nvSpPr>
        <p:spPr>
          <a:xfrm>
            <a:off x="5229225" y="2928937"/>
            <a:ext cx="214312" cy="528637"/>
          </a:xfrm>
          <a:prstGeom prst="rect">
            <a:avLst/>
          </a:prstGeom>
          <a:noFill/>
          <a:ln w="38100">
            <a:solidFill>
              <a:srgbClr val="E39B2D"/>
            </a:solidFill>
          </a:ln>
        </p:spPr>
        <p:txBody>
          <a:bodyPr rtlCol="0" anchor="ctr" wrap="square" lIns="28575" rIns="28575" tIns="28575" bIns="28575"/>
          <a:lstStyle/>
          <a:p>
            <a:pPr algn="ctr"/>
          </a:p>
        </p:txBody>
      </p:sp>
      <p:cxnSp>
        <p:nvCxnSpPr>
          <p:cNvPr id="76" name="Chain 14.0"/>
          <p:cNvCxnSpPr/>
          <p:nvPr/>
        </p:nvCxnSpPr>
        <p:spPr>
          <a:xfrm flipV="1">
            <a:off x="5336381" y="2786062"/>
            <a:ext cx="0" cy="142875"/>
          </a:xfrm>
          <a:prstGeom prst="line">
            <a:avLst/>
          </a:prstGeom>
          <a:ln w="25400">
            <a:solidFill>
              <a:srgbClr val="E39B2D"/>
            </a:solidFill>
            <a:prstDash val="dash"/>
            <a:tailEnd type="triangle" w="med" len="med"/>
          </a:ln>
        </p:spPr>
      </p:cxnSp>
      <p:sp>
        <p:nvSpPr>
          <p:cNvPr id="77" name="Chain 15"/>
          <p:cNvSpPr/>
          <p:nvPr/>
        </p:nvSpPr>
        <p:spPr>
          <a:xfrm>
            <a:off x="5229225" y="2257425"/>
            <a:ext cx="214312" cy="528637"/>
          </a:xfrm>
          <a:prstGeom prst="rect">
            <a:avLst/>
          </a:prstGeom>
          <a:noFill/>
          <a:ln w="38100">
            <a:solidFill>
              <a:srgbClr val="E39B2D"/>
            </a:solidFill>
          </a:ln>
        </p:spPr>
        <p:txBody>
          <a:bodyPr rtlCol="0" anchor="ctr" wrap="square" lIns="28575" rIns="28575" tIns="28575" bIns="28575"/>
          <a:lstStyle/>
          <a:p>
            <a:pPr algn="ctr"/>
          </a:p>
        </p:txBody>
      </p:sp>
      <p:cxnSp>
        <p:nvCxnSpPr>
          <p:cNvPr id="78" name="Chain 16.0"/>
          <p:cNvCxnSpPr/>
          <p:nvPr/>
        </p:nvCxnSpPr>
        <p:spPr>
          <a:xfrm flipV="1">
            <a:off x="5336381" y="2114550"/>
            <a:ext cx="0" cy="142875"/>
          </a:xfrm>
          <a:prstGeom prst="line">
            <a:avLst/>
          </a:prstGeom>
          <a:ln w="25400">
            <a:solidFill>
              <a:srgbClr val="E39B2D"/>
            </a:solidFill>
            <a:prstDash val="dash"/>
            <a:tailEnd type="triangle" w="med" len="med"/>
          </a:ln>
        </p:spPr>
      </p:cxnSp>
      <p:sp>
        <p:nvSpPr>
          <p:cNvPr id="79" name="Chain 17"/>
          <p:cNvSpPr/>
          <p:nvPr/>
        </p:nvSpPr>
        <p:spPr>
          <a:xfrm>
            <a:off x="5229225" y="1585912"/>
            <a:ext cx="214312" cy="528637"/>
          </a:xfrm>
          <a:prstGeom prst="rect">
            <a:avLst/>
          </a:prstGeom>
          <a:noFill/>
          <a:ln w="38100">
            <a:solidFill>
              <a:srgbClr val="E39B2D"/>
            </a:solidFill>
          </a:ln>
        </p:spPr>
        <p:txBody>
          <a:bodyPr rtlCol="0" anchor="ctr" wrap="square" lIns="28575" rIns="28575" tIns="28575" bIns="28575"/>
          <a:lstStyle/>
          <a:p>
            <a:pPr algn="ctr"/>
          </a:p>
        </p:txBody>
      </p:sp>
      <p:cxnSp>
        <p:nvCxnSpPr>
          <p:cNvPr id="80" name="Chain 18.0"/>
          <p:cNvCxnSpPr/>
          <p:nvPr/>
        </p:nvCxnSpPr>
        <p:spPr>
          <a:xfrm flipV="1">
            <a:off x="5336381" y="1443037"/>
            <a:ext cx="0" cy="142875"/>
          </a:xfrm>
          <a:prstGeom prst="line">
            <a:avLst/>
          </a:prstGeom>
          <a:ln w="25400">
            <a:solidFill>
              <a:srgbClr val="E39B2D"/>
            </a:solidFill>
            <a:prstDash val="dash"/>
            <a:tailEnd type="triangle" w="med" len="med"/>
          </a:ln>
        </p:spPr>
      </p:cxnSp>
      <p:sp>
        <p:nvSpPr>
          <p:cNvPr id="81" name="Chain 19"/>
          <p:cNvSpPr/>
          <p:nvPr/>
        </p:nvSpPr>
        <p:spPr>
          <a:xfrm>
            <a:off x="5229225" y="914400"/>
            <a:ext cx="214312" cy="528637"/>
          </a:xfrm>
          <a:prstGeom prst="rect">
            <a:avLst/>
          </a:prstGeom>
          <a:noFill/>
          <a:ln w="38100">
            <a:solidFill>
              <a:srgbClr val="E39B2D"/>
            </a:solidFill>
          </a:ln>
        </p:spPr>
        <p:txBody>
          <a:bodyPr rtlCol="0" anchor="ctr" wrap="square" lIns="28575" rIns="28575" tIns="28575" bIns="28575"/>
          <a:lstStyle/>
          <a:p>
            <a:pPr algn="ctr"/>
          </a:p>
        </p:txBody>
      </p:sp>
      <p:cxnSp>
        <p:nvCxnSpPr>
          <p:cNvPr id="82" name="Chain 20.0"/>
          <p:cNvCxnSpPr/>
          <p:nvPr/>
        </p:nvCxnSpPr>
        <p:spPr>
          <a:xfrm flipV="1">
            <a:off x="5336381" y="671512"/>
            <a:ext cx="0" cy="242888"/>
          </a:xfrm>
          <a:prstGeom prst="line">
            <a:avLst/>
          </a:prstGeom>
          <a:ln w="25400">
            <a:solidFill>
              <a:srgbClr val="E39B2D"/>
            </a:solidFill>
            <a:prstDash val="dash"/>
          </a:ln>
        </p:spPr>
      </p:cxnSp>
      <p:cxnSp>
        <p:nvCxnSpPr>
          <p:cNvPr id="83" name="Chain 20.1"/>
          <p:cNvCxnSpPr/>
          <p:nvPr/>
        </p:nvCxnSpPr>
        <p:spPr>
          <a:xfrm>
            <a:off x="5336381" y="671512"/>
            <a:ext cx="378619" cy="0"/>
          </a:xfrm>
          <a:prstGeom prst="line">
            <a:avLst/>
          </a:prstGeom>
          <a:ln w="25400">
            <a:solidFill>
              <a:srgbClr val="E39B2D"/>
            </a:solidFill>
            <a:prstDash val="dash"/>
            <a:tailEnd type="triangle" w="med" len="med"/>
          </a:ln>
        </p:spPr>
      </p:cxnSp>
      <p:sp>
        <p:nvSpPr>
          <p:cNvPr id="84" name="TDI"/>
          <p:cNvSpPr/>
          <p:nvPr/>
        </p:nvSpPr>
        <p:spPr>
          <a:xfrm>
            <a:off x="3857625" y="257175"/>
            <a:ext cx="442912" cy="200025"/>
          </a:xfrm>
          <a:prstGeom prst="rect">
            <a:avLst/>
          </a:prstGeom>
          <a:noFill/>
          <a:ln>
            <a:noFill/>
          </a:ln>
        </p:spPr>
        <p:txBody>
          <a:bodyPr rtlCol="0" anchor="ctr" wrap="square" lIns="14287" rIns="14287" tIns="14287" bIns="14287"/>
          <a:lstStyle/>
          <a:p>
            <a:pPr algn="r"/>
            <a:r>
              <a:rPr sz="956" b="1">
                <a:solidFill>
                  <a:srgbClr val="E39B2D"/>
                </a:solidFill>
                <a:latin typeface="Calibri"/>
              </a:rPr>
              <a:t>TDI</a:t>
            </a:r>
          </a:p>
        </p:txBody>
      </p:sp>
      <p:sp>
        <p:nvSpPr>
          <p:cNvPr id="85" name="TDO"/>
          <p:cNvSpPr/>
          <p:nvPr/>
        </p:nvSpPr>
        <p:spPr>
          <a:xfrm>
            <a:off x="5729287" y="571500"/>
            <a:ext cx="500062" cy="200025"/>
          </a:xfrm>
          <a:prstGeom prst="rect">
            <a:avLst/>
          </a:prstGeom>
          <a:noFill/>
          <a:ln>
            <a:noFill/>
          </a:ln>
        </p:spPr>
        <p:txBody>
          <a:bodyPr rtlCol="0" anchor="ctr" wrap="square" lIns="14287" rIns="14287" tIns="14287" bIns="14287"/>
          <a:lstStyle/>
          <a:p>
            <a:pPr algn="l"/>
            <a:r>
              <a:rPr sz="956" b="1">
                <a:solidFill>
                  <a:srgbClr val="E39B2D"/>
                </a:solidFill>
                <a:latin typeface="Calibri"/>
              </a:rPr>
              <a:t>TDO</a:t>
            </a:r>
          </a:p>
        </p:txBody>
      </p:sp>
      <p:sp>
        <p:nvSpPr>
          <p:cNvPr id="86" name="Panel iso"/>
          <p:cNvSpPr/>
          <p:nvPr/>
        </p:nvSpPr>
        <p:spPr>
          <a:xfrm>
            <a:off x="7000875" y="857250"/>
            <a:ext cx="1928812" cy="3357562"/>
          </a:xfrm>
          <a:prstGeom prst="roundRect">
            <a:avLst>
              <a:gd name="adj" fmla="val 3703"/>
            </a:avLst>
          </a:prstGeom>
          <a:solidFill>
            <a:srgbClr val="FFFFFF"/>
          </a:solidFill>
          <a:ln w="19050">
            <a:solidFill>
              <a:srgbClr val="9E9E9E"/>
            </a:solidFill>
          </a:ln>
        </p:spPr>
        <p:txBody>
          <a:bodyPr rtlCol="0" anchor="t" wrap="square" lIns="114300" rIns="114300" tIns="114300" bIns="114300"/>
          <a:lstStyle/>
          <a:p>
            <a:pPr algn="l"/>
            <a:r>
              <a:rPr sz="843" b="1">
                <a:solidFill>
                  <a:srgbClr val="9E9E9E"/>
                </a:solidFill>
                <a:latin typeface="Calibri"/>
              </a:rPr>
              <a:t>Mode</a:t>
            </a:r>
          </a:p>
          <a:p>
            <a:pPr algn="l"/>
            <a:r>
              <a:rPr sz="1350" b="1">
                <a:solidFill>
                  <a:srgbClr val="00897B"/>
                </a:solidFill>
                <a:latin typeface="Calibri"/>
              </a:rPr>
              <a:t>Isolated</a:t>
            </a:r>
          </a:p>
          <a:p>
            <a:pPr algn="l"/>
            <a:r>
              <a:rPr sz="450" b="0">
                <a:solidFill>
                  <a:srgbClr val="12343B"/>
                </a:solidFill>
                <a:latin typeface="Calibri"/>
              </a:rPr>
              <a:t/>
            </a:r>
          </a:p>
          <a:p>
            <a:pPr algn="l"/>
            <a:r>
              <a:rPr sz="843" b="1">
                <a:solidFill>
                  <a:srgbClr val="9E9E9E"/>
                </a:solidFill>
                <a:latin typeface="Calibri"/>
              </a:rPr>
              <a:t>Crossbar driven by</a:t>
            </a:r>
          </a:p>
          <a:p>
            <a:pPr algn="l"/>
            <a:r>
              <a:rPr sz="1125" b="1">
                <a:solidFill>
                  <a:srgbClr val="12343B"/>
                </a:solidFill>
                <a:latin typeface="Calibri"/>
              </a:rPr>
              <a:t>JTAG</a:t>
            </a:r>
          </a:p>
        </p:txBody>
      </p:sp>
      <p:sp>
        <p:nvSpPr>
          <p:cNvPr id="87" name="Op 0"/>
          <p:cNvSpPr/>
          <p:nvPr/>
        </p:nvSpPr>
        <p:spPr>
          <a:xfrm>
            <a:off x="7115175" y="2143125"/>
            <a:ext cx="1700212" cy="428625"/>
          </a:xfrm>
          <a:prstGeom prst="roundRect">
            <a:avLst>
              <a:gd name="adj" fmla="val 15000"/>
            </a:avLst>
          </a:prstGeom>
          <a:solidFill>
            <a:srgbClr val="F5F5F5"/>
          </a:solidFill>
          <a:ln w="12700">
            <a:solidFill>
              <a:srgbClr val="DDDDDD"/>
            </a:solidFill>
          </a:ln>
        </p:spPr>
        <p:txBody>
          <a:bodyPr rtlCol="0" anchor="ctr" wrap="square" lIns="14287" rIns="14287" tIns="14287" bIns="14287"/>
          <a:lstStyle/>
          <a:p>
            <a:pPr algn="ctr"/>
            <a:r>
              <a:rPr sz="956" b="1">
                <a:solidFill>
                  <a:srgbClr val="12343B"/>
                </a:solidFill>
                <a:latin typeface="Calibri"/>
              </a:rPr>
              <a:t>Shift-DR</a:t>
            </a:r>
          </a:p>
          <a:p>
            <a:pPr algn="ctr"/>
            <a:r>
              <a:rPr sz="731" b="0">
                <a:solidFill>
                  <a:srgbClr val="9E9E9E"/>
                </a:solidFill>
                <a:latin typeface="Calibri"/>
              </a:rPr>
              <a:t>bits move along the chain</a:t>
            </a:r>
          </a:p>
        </p:txBody>
      </p:sp>
      <p:sp>
        <p:nvSpPr>
          <p:cNvPr id="88" name="Op 1"/>
          <p:cNvSpPr/>
          <p:nvPr/>
        </p:nvSpPr>
        <p:spPr>
          <a:xfrm>
            <a:off x="7115175" y="2643187"/>
            <a:ext cx="1700212" cy="428625"/>
          </a:xfrm>
          <a:prstGeom prst="roundRect">
            <a:avLst>
              <a:gd name="adj" fmla="val 15000"/>
            </a:avLst>
          </a:prstGeom>
          <a:solidFill>
            <a:srgbClr val="F5F5F5"/>
          </a:solidFill>
          <a:ln w="12700">
            <a:solidFill>
              <a:srgbClr val="DDDDDD"/>
            </a:solidFill>
          </a:ln>
        </p:spPr>
        <p:txBody>
          <a:bodyPr rtlCol="0" anchor="ctr" wrap="square" lIns="14287" rIns="14287" tIns="14287" bIns="14287"/>
          <a:lstStyle/>
          <a:p>
            <a:pPr algn="ctr"/>
            <a:r>
              <a:rPr sz="956" b="1">
                <a:solidFill>
                  <a:srgbClr val="12343B"/>
                </a:solidFill>
                <a:latin typeface="Calibri"/>
              </a:rPr>
              <a:t>Update-DR</a:t>
            </a:r>
          </a:p>
          <a:p>
            <a:pPr algn="ctr"/>
            <a:r>
              <a:rPr sz="731" b="0">
                <a:solidFill>
                  <a:srgbClr val="9E9E9E"/>
                </a:solidFill>
                <a:latin typeface="Calibri"/>
              </a:rPr>
              <a:t>a cut drives the bus, 1 TCK</a:t>
            </a:r>
          </a:p>
        </p:txBody>
      </p:sp>
      <p:sp>
        <p:nvSpPr>
          <p:cNvPr id="89" name="Op 2"/>
          <p:cNvSpPr/>
          <p:nvPr/>
        </p:nvSpPr>
        <p:spPr>
          <a:xfrm>
            <a:off x="7115175" y="3143250"/>
            <a:ext cx="1700212" cy="428625"/>
          </a:xfrm>
          <a:prstGeom prst="roundRect">
            <a:avLst>
              <a:gd name="adj" fmla="val 15000"/>
            </a:avLst>
          </a:prstGeom>
          <a:solidFill>
            <a:srgbClr val="F5F5F5"/>
          </a:solidFill>
          <a:ln w="12700">
            <a:solidFill>
              <a:srgbClr val="DDDDDD"/>
            </a:solidFill>
          </a:ln>
        </p:spPr>
        <p:txBody>
          <a:bodyPr rtlCol="0" anchor="ctr" wrap="square" lIns="14287" rIns="14287" tIns="14287" bIns="14287"/>
          <a:lstStyle/>
          <a:p>
            <a:pPr algn="ctr"/>
            <a:r>
              <a:rPr sz="956" b="1">
                <a:solidFill>
                  <a:srgbClr val="12343B"/>
                </a:solidFill>
                <a:latin typeface="Calibri"/>
              </a:rPr>
              <a:t>Capture-DR</a:t>
            </a:r>
          </a:p>
          <a:p>
            <a:pPr algn="ctr"/>
            <a:r>
              <a:rPr sz="731" b="0">
                <a:solidFill>
                  <a:srgbClr val="9E9E9E"/>
                </a:solidFill>
                <a:latin typeface="Calibri"/>
              </a:rPr>
              <a:t>cuts record what arrived</a:t>
            </a:r>
          </a:p>
        </p:txBody>
      </p:sp>
      <p:sp>
        <p:nvSpPr>
          <p:cNvPr id="90" name="Op head"/>
          <p:cNvSpPr/>
          <p:nvPr/>
        </p:nvSpPr>
        <p:spPr>
          <a:xfrm>
            <a:off x="7115175" y="1914525"/>
            <a:ext cx="1700212" cy="185737"/>
          </a:xfrm>
          <a:prstGeom prst="rect">
            <a:avLst/>
          </a:prstGeom>
          <a:noFill/>
          <a:ln>
            <a:noFill/>
          </a:ln>
        </p:spPr>
        <p:txBody>
          <a:bodyPr rtlCol="0" anchor="ctr" wrap="square" lIns="0" rIns="0" tIns="0" bIns="0"/>
          <a:lstStyle/>
          <a:p>
            <a:pPr algn="l"/>
            <a:r>
              <a:rPr sz="843" b="1">
                <a:solidFill>
                  <a:srgbClr val="9E9E9E"/>
                </a:solidFill>
                <a:latin typeface="Calibri"/>
              </a:rPr>
              <a:t>JTAG step</a:t>
            </a:r>
          </a:p>
        </p:txBody>
      </p:sp>
      <p:sp>
        <p:nvSpPr>
          <p:cNvPr id="91" name="Caption 2"/>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Isolation instruction: managers wait, subordinates see nothing, the crossbar runs on the JTAG clock.</a:t>
            </a:r>
          </a:p>
          <a:p>
            <a:pPr algn="l"/>
            <a:r>
              <a:rPr sz="1237" b="0">
                <a:solidFill>
                  <a:srgbClr val="FFFFFF"/>
                </a:solidFill>
                <a:latin typeface="Calibri"/>
              </a:rPr>
              <a:t>The address-map register and all cut registers are daisy-chained from TDI to TDO.</a:t>
            </a:r>
          </a:p>
        </p:txBody>
      </p:sp>
      <p:sp>
        <p:nvSpPr>
          <p:cNvPr id="92" name="Op hl 0 3"/>
          <p:cNvSpPr/>
          <p:nvPr/>
        </p:nvSpPr>
        <p:spPr>
          <a:xfrm>
            <a:off x="7115175" y="2143125"/>
            <a:ext cx="1700212" cy="428625"/>
          </a:xfrm>
          <a:prstGeom prst="roundRect">
            <a:avLst>
              <a:gd name="adj" fmla="val 15000"/>
            </a:avLst>
          </a:prstGeom>
          <a:solidFill>
            <a:srgbClr val="FFF3E0"/>
          </a:solidFill>
          <a:ln w="31750">
            <a:solidFill>
              <a:srgbClr val="E39B2D"/>
            </a:solidFill>
          </a:ln>
        </p:spPr>
        <p:txBody>
          <a:bodyPr rtlCol="0" anchor="ctr" wrap="square" lIns="14287" rIns="14287" tIns="14287" bIns="14287"/>
          <a:lstStyle/>
          <a:p>
            <a:pPr algn="ctr"/>
            <a:r>
              <a:rPr sz="956" b="1">
                <a:solidFill>
                  <a:srgbClr val="E39B2D"/>
                </a:solidFill>
                <a:latin typeface="Calibri"/>
              </a:rPr>
              <a:t>Shift-DR</a:t>
            </a:r>
          </a:p>
          <a:p>
            <a:pPr algn="ctr"/>
            <a:r>
              <a:rPr sz="731" b="1">
                <a:solidFill>
                  <a:srgbClr val="12343B"/>
                </a:solidFill>
                <a:latin typeface="Calibri"/>
              </a:rPr>
              <a:t>bits move along the chain</a:t>
            </a:r>
          </a:p>
        </p:txBody>
      </p:sp>
      <p:cxnSp>
        <p:nvCxnSpPr>
          <p:cNvPr id="93" name="Shift a 0.0"/>
          <p:cNvCxnSpPr/>
          <p:nvPr/>
        </p:nvCxnSpPr>
        <p:spPr>
          <a:xfrm>
            <a:off x="4314825" y="357187"/>
            <a:ext cx="400050" cy="0"/>
          </a:xfrm>
          <a:prstGeom prst="line">
            <a:avLst/>
          </a:prstGeom>
          <a:ln w="50800">
            <a:solidFill>
              <a:srgbClr val="E39B2D"/>
            </a:solidFill>
          </a:ln>
        </p:spPr>
      </p:cxnSp>
      <p:cxnSp>
        <p:nvCxnSpPr>
          <p:cNvPr id="94" name="Shift a 0.1"/>
          <p:cNvCxnSpPr/>
          <p:nvPr/>
        </p:nvCxnSpPr>
        <p:spPr>
          <a:xfrm>
            <a:off x="4714875" y="357187"/>
            <a:ext cx="0" cy="185738"/>
          </a:xfrm>
          <a:prstGeom prst="line">
            <a:avLst/>
          </a:prstGeom>
          <a:ln w="50800">
            <a:solidFill>
              <a:srgbClr val="E39B2D"/>
            </a:solidFill>
            <a:tailEnd type="triangle" w="med" len="med"/>
          </a:ln>
        </p:spPr>
      </p:cxnSp>
      <p:sp>
        <p:nvSpPr>
          <p:cNvPr id="95" name="Shift a 1"/>
          <p:cNvSpPr/>
          <p:nvPr/>
        </p:nvSpPr>
        <p:spPr>
          <a:xfrm>
            <a:off x="2143125" y="542925"/>
            <a:ext cx="2714625" cy="257175"/>
          </a:xfrm>
          <a:prstGeom prst="rect">
            <a:avLst/>
          </a:prstGeom>
          <a:noFill/>
          <a:ln w="63500">
            <a:solidFill>
              <a:srgbClr val="E39B2D"/>
            </a:solidFill>
          </a:ln>
        </p:spPr>
        <p:txBody>
          <a:bodyPr rtlCol="0" anchor="ctr" wrap="square" lIns="28575" rIns="28575" tIns="28575" bIns="28575"/>
          <a:lstStyle/>
          <a:p>
            <a:pPr algn="ctr"/>
          </a:p>
        </p:txBody>
      </p:sp>
      <p:cxnSp>
        <p:nvCxnSpPr>
          <p:cNvPr id="96" name="Shift a 2.0"/>
          <p:cNvCxnSpPr/>
          <p:nvPr/>
        </p:nvCxnSpPr>
        <p:spPr>
          <a:xfrm flipH="1">
            <a:off x="1693068" y="671512"/>
            <a:ext cx="450057" cy="0"/>
          </a:xfrm>
          <a:prstGeom prst="line">
            <a:avLst/>
          </a:prstGeom>
          <a:ln w="50800">
            <a:solidFill>
              <a:srgbClr val="E39B2D"/>
            </a:solidFill>
          </a:ln>
        </p:spPr>
      </p:cxnSp>
      <p:cxnSp>
        <p:nvCxnSpPr>
          <p:cNvPr id="97" name="Shift a 2.1"/>
          <p:cNvCxnSpPr/>
          <p:nvPr/>
        </p:nvCxnSpPr>
        <p:spPr>
          <a:xfrm>
            <a:off x="1693068" y="671512"/>
            <a:ext cx="0" cy="300038"/>
          </a:xfrm>
          <a:prstGeom prst="line">
            <a:avLst/>
          </a:prstGeom>
          <a:ln w="50800">
            <a:solidFill>
              <a:srgbClr val="E39B2D"/>
            </a:solidFill>
            <a:tailEnd type="triangle" w="med" len="med"/>
          </a:ln>
        </p:spPr>
      </p:cxnSp>
      <p:sp>
        <p:nvSpPr>
          <p:cNvPr id="98" name="Shift a 3"/>
          <p:cNvSpPr/>
          <p:nvPr/>
        </p:nvSpPr>
        <p:spPr>
          <a:xfrm>
            <a:off x="1585912" y="971550"/>
            <a:ext cx="214312" cy="585787"/>
          </a:xfrm>
          <a:prstGeom prst="rect">
            <a:avLst/>
          </a:prstGeom>
          <a:noFill/>
          <a:ln w="63500">
            <a:solidFill>
              <a:srgbClr val="E39B2D"/>
            </a:solidFill>
          </a:ln>
        </p:spPr>
        <p:txBody>
          <a:bodyPr rtlCol="0" anchor="ctr" wrap="square" lIns="28575" rIns="28575" tIns="28575" bIns="28575"/>
          <a:lstStyle/>
          <a:p>
            <a:pPr algn="ctr"/>
          </a:p>
        </p:txBody>
      </p:sp>
      <p:cxnSp>
        <p:nvCxnSpPr>
          <p:cNvPr id="99" name="Shift a 4.0"/>
          <p:cNvCxnSpPr/>
          <p:nvPr/>
        </p:nvCxnSpPr>
        <p:spPr>
          <a:xfrm>
            <a:off x="1693068" y="1557337"/>
            <a:ext cx="0" cy="214313"/>
          </a:xfrm>
          <a:prstGeom prst="line">
            <a:avLst/>
          </a:prstGeom>
          <a:ln w="50800">
            <a:solidFill>
              <a:srgbClr val="E39B2D"/>
            </a:solidFill>
            <a:tailEnd type="triangle" w="med" len="med"/>
          </a:ln>
        </p:spPr>
      </p:cxnSp>
      <p:sp>
        <p:nvSpPr>
          <p:cNvPr id="100" name="Shift a 5"/>
          <p:cNvSpPr/>
          <p:nvPr/>
        </p:nvSpPr>
        <p:spPr>
          <a:xfrm>
            <a:off x="1585912" y="1771650"/>
            <a:ext cx="214312" cy="585787"/>
          </a:xfrm>
          <a:prstGeom prst="rect">
            <a:avLst/>
          </a:prstGeom>
          <a:noFill/>
          <a:ln w="63500">
            <a:solidFill>
              <a:srgbClr val="E39B2D"/>
            </a:solidFill>
          </a:ln>
        </p:spPr>
        <p:txBody>
          <a:bodyPr rtlCol="0" anchor="ctr" wrap="square" lIns="28575" rIns="28575" tIns="28575" bIns="28575"/>
          <a:lstStyle/>
          <a:p>
            <a:pPr algn="ctr"/>
          </a:p>
        </p:txBody>
      </p:sp>
      <p:cxnSp>
        <p:nvCxnSpPr>
          <p:cNvPr id="101" name="Shift a 6.0"/>
          <p:cNvCxnSpPr/>
          <p:nvPr/>
        </p:nvCxnSpPr>
        <p:spPr>
          <a:xfrm>
            <a:off x="1693068" y="2357437"/>
            <a:ext cx="0" cy="214313"/>
          </a:xfrm>
          <a:prstGeom prst="line">
            <a:avLst/>
          </a:prstGeom>
          <a:ln w="50800">
            <a:solidFill>
              <a:srgbClr val="E39B2D"/>
            </a:solidFill>
            <a:tailEnd type="triangle" w="med" len="med"/>
          </a:ln>
        </p:spPr>
      </p:cxnSp>
      <p:sp>
        <p:nvSpPr>
          <p:cNvPr id="102" name="Shift a 7"/>
          <p:cNvSpPr/>
          <p:nvPr/>
        </p:nvSpPr>
        <p:spPr>
          <a:xfrm>
            <a:off x="1585912" y="2571750"/>
            <a:ext cx="214312" cy="585787"/>
          </a:xfrm>
          <a:prstGeom prst="rect">
            <a:avLst/>
          </a:prstGeom>
          <a:noFill/>
          <a:ln w="63500">
            <a:solidFill>
              <a:srgbClr val="E39B2D"/>
            </a:solidFill>
          </a:ln>
        </p:spPr>
        <p:txBody>
          <a:bodyPr rtlCol="0" anchor="ctr" wrap="square" lIns="28575" rIns="28575" tIns="28575" bIns="28575"/>
          <a:lstStyle/>
          <a:p>
            <a:pPr algn="ctr"/>
          </a:p>
        </p:txBody>
      </p:sp>
      <p:cxnSp>
        <p:nvCxnSpPr>
          <p:cNvPr id="103" name="Shift a 8.0"/>
          <p:cNvCxnSpPr/>
          <p:nvPr/>
        </p:nvCxnSpPr>
        <p:spPr>
          <a:xfrm>
            <a:off x="1693068" y="3157537"/>
            <a:ext cx="0" cy="214313"/>
          </a:xfrm>
          <a:prstGeom prst="line">
            <a:avLst/>
          </a:prstGeom>
          <a:ln w="50800">
            <a:solidFill>
              <a:srgbClr val="E39B2D"/>
            </a:solidFill>
            <a:tailEnd type="triangle" w="med" len="med"/>
          </a:ln>
        </p:spPr>
      </p:cxnSp>
      <p:sp>
        <p:nvSpPr>
          <p:cNvPr id="104" name="Shift a 9"/>
          <p:cNvSpPr/>
          <p:nvPr/>
        </p:nvSpPr>
        <p:spPr>
          <a:xfrm>
            <a:off x="1585912" y="3371850"/>
            <a:ext cx="214312" cy="585787"/>
          </a:xfrm>
          <a:prstGeom prst="rect">
            <a:avLst/>
          </a:prstGeom>
          <a:noFill/>
          <a:ln w="63500">
            <a:solidFill>
              <a:srgbClr val="E39B2D"/>
            </a:solidFill>
          </a:ln>
        </p:spPr>
        <p:txBody>
          <a:bodyPr rtlCol="0" anchor="ctr" wrap="square" lIns="28575" rIns="28575" tIns="28575" bIns="28575"/>
          <a:lstStyle/>
          <a:p>
            <a:pPr algn="ctr"/>
          </a:p>
        </p:txBody>
      </p:sp>
      <p:cxnSp>
        <p:nvCxnSpPr>
          <p:cNvPr id="105" name="Shift a 10.0"/>
          <p:cNvCxnSpPr/>
          <p:nvPr/>
        </p:nvCxnSpPr>
        <p:spPr>
          <a:xfrm>
            <a:off x="1693068" y="3957637"/>
            <a:ext cx="0" cy="371475"/>
          </a:xfrm>
          <a:prstGeom prst="line">
            <a:avLst/>
          </a:prstGeom>
          <a:ln w="50800">
            <a:solidFill>
              <a:srgbClr val="E39B2D"/>
            </a:solidFill>
          </a:ln>
        </p:spPr>
      </p:cxnSp>
      <p:cxnSp>
        <p:nvCxnSpPr>
          <p:cNvPr id="106" name="Shift a 10.1"/>
          <p:cNvCxnSpPr/>
          <p:nvPr/>
        </p:nvCxnSpPr>
        <p:spPr>
          <a:xfrm>
            <a:off x="1693068" y="4329112"/>
            <a:ext cx="3643313" cy="0"/>
          </a:xfrm>
          <a:prstGeom prst="line">
            <a:avLst/>
          </a:prstGeom>
          <a:ln w="50800">
            <a:solidFill>
              <a:srgbClr val="E39B2D"/>
            </a:solidFill>
          </a:ln>
        </p:spPr>
      </p:cxnSp>
      <p:cxnSp>
        <p:nvCxnSpPr>
          <p:cNvPr id="107" name="Shift a 10.2"/>
          <p:cNvCxnSpPr/>
          <p:nvPr/>
        </p:nvCxnSpPr>
        <p:spPr>
          <a:xfrm flipV="1">
            <a:off x="5336381" y="4129087"/>
            <a:ext cx="0" cy="200025"/>
          </a:xfrm>
          <a:prstGeom prst="line">
            <a:avLst/>
          </a:prstGeom>
          <a:ln w="50800">
            <a:solidFill>
              <a:srgbClr val="E39B2D"/>
            </a:solidFill>
            <a:tailEnd type="triangle" w="med" len="med"/>
          </a:ln>
        </p:spPr>
      </p:cxnSp>
      <p:sp>
        <p:nvSpPr>
          <p:cNvPr id="108" name="Shift a 11"/>
          <p:cNvSpPr/>
          <p:nvPr/>
        </p:nvSpPr>
        <p:spPr>
          <a:xfrm>
            <a:off x="5229225" y="3600450"/>
            <a:ext cx="214312" cy="528637"/>
          </a:xfrm>
          <a:prstGeom prst="rect">
            <a:avLst/>
          </a:prstGeom>
          <a:noFill/>
          <a:ln w="63500">
            <a:solidFill>
              <a:srgbClr val="E39B2D"/>
            </a:solidFill>
          </a:ln>
        </p:spPr>
        <p:txBody>
          <a:bodyPr rtlCol="0" anchor="ctr" wrap="square" lIns="28575" rIns="28575" tIns="28575" bIns="28575"/>
          <a:lstStyle/>
          <a:p>
            <a:pPr algn="ctr"/>
          </a:p>
        </p:txBody>
      </p:sp>
      <p:cxnSp>
        <p:nvCxnSpPr>
          <p:cNvPr id="109" name="Shift a 12.0"/>
          <p:cNvCxnSpPr/>
          <p:nvPr/>
        </p:nvCxnSpPr>
        <p:spPr>
          <a:xfrm flipV="1">
            <a:off x="5336381" y="3457575"/>
            <a:ext cx="0" cy="142875"/>
          </a:xfrm>
          <a:prstGeom prst="line">
            <a:avLst/>
          </a:prstGeom>
          <a:ln w="50800">
            <a:solidFill>
              <a:srgbClr val="E39B2D"/>
            </a:solidFill>
            <a:tailEnd type="triangle" w="med" len="med"/>
          </a:ln>
        </p:spPr>
      </p:cxnSp>
      <p:sp>
        <p:nvSpPr>
          <p:cNvPr id="110" name="Shift a 13"/>
          <p:cNvSpPr/>
          <p:nvPr/>
        </p:nvSpPr>
        <p:spPr>
          <a:xfrm>
            <a:off x="5229225" y="2928937"/>
            <a:ext cx="214312" cy="528637"/>
          </a:xfrm>
          <a:prstGeom prst="rect">
            <a:avLst/>
          </a:prstGeom>
          <a:noFill/>
          <a:ln w="63500">
            <a:solidFill>
              <a:srgbClr val="E39B2D"/>
            </a:solidFill>
          </a:ln>
        </p:spPr>
        <p:txBody>
          <a:bodyPr rtlCol="0" anchor="ctr" wrap="square" lIns="28575" rIns="28575" tIns="28575" bIns="28575"/>
          <a:lstStyle/>
          <a:p>
            <a:pPr algn="ctr"/>
          </a:p>
        </p:txBody>
      </p:sp>
      <p:cxnSp>
        <p:nvCxnSpPr>
          <p:cNvPr id="111" name="Shift a 14.0"/>
          <p:cNvCxnSpPr/>
          <p:nvPr/>
        </p:nvCxnSpPr>
        <p:spPr>
          <a:xfrm flipV="1">
            <a:off x="5336381" y="2786062"/>
            <a:ext cx="0" cy="142875"/>
          </a:xfrm>
          <a:prstGeom prst="line">
            <a:avLst/>
          </a:prstGeom>
          <a:ln w="50800">
            <a:solidFill>
              <a:srgbClr val="E39B2D"/>
            </a:solidFill>
            <a:tailEnd type="triangle" w="med" len="med"/>
          </a:ln>
        </p:spPr>
      </p:cxnSp>
      <p:sp>
        <p:nvSpPr>
          <p:cNvPr id="112" name="Shift a 15"/>
          <p:cNvSpPr/>
          <p:nvPr/>
        </p:nvSpPr>
        <p:spPr>
          <a:xfrm>
            <a:off x="5229225" y="2257425"/>
            <a:ext cx="214312" cy="528637"/>
          </a:xfrm>
          <a:prstGeom prst="rect">
            <a:avLst/>
          </a:prstGeom>
          <a:noFill/>
          <a:ln w="63500">
            <a:solidFill>
              <a:srgbClr val="E39B2D"/>
            </a:solidFill>
          </a:ln>
        </p:spPr>
        <p:txBody>
          <a:bodyPr rtlCol="0" anchor="ctr" wrap="square" lIns="28575" rIns="28575" tIns="28575" bIns="28575"/>
          <a:lstStyle/>
          <a:p>
            <a:pPr algn="ctr"/>
          </a:p>
        </p:txBody>
      </p:sp>
      <p:cxnSp>
        <p:nvCxnSpPr>
          <p:cNvPr id="113" name="Shift a 16.0"/>
          <p:cNvCxnSpPr/>
          <p:nvPr/>
        </p:nvCxnSpPr>
        <p:spPr>
          <a:xfrm flipV="1">
            <a:off x="5336381" y="2114550"/>
            <a:ext cx="0" cy="142875"/>
          </a:xfrm>
          <a:prstGeom prst="line">
            <a:avLst/>
          </a:prstGeom>
          <a:ln w="50800">
            <a:solidFill>
              <a:srgbClr val="E39B2D"/>
            </a:solidFill>
            <a:tailEnd type="triangle" w="med" len="med"/>
          </a:ln>
        </p:spPr>
      </p:cxnSp>
      <p:sp>
        <p:nvSpPr>
          <p:cNvPr id="114" name="Shift a 17"/>
          <p:cNvSpPr/>
          <p:nvPr/>
        </p:nvSpPr>
        <p:spPr>
          <a:xfrm>
            <a:off x="5229225" y="1585912"/>
            <a:ext cx="214312" cy="528637"/>
          </a:xfrm>
          <a:prstGeom prst="rect">
            <a:avLst/>
          </a:prstGeom>
          <a:noFill/>
          <a:ln w="63500">
            <a:solidFill>
              <a:srgbClr val="E39B2D"/>
            </a:solidFill>
          </a:ln>
        </p:spPr>
        <p:txBody>
          <a:bodyPr rtlCol="0" anchor="ctr" wrap="square" lIns="28575" rIns="28575" tIns="28575" bIns="28575"/>
          <a:lstStyle/>
          <a:p>
            <a:pPr algn="ctr"/>
          </a:p>
        </p:txBody>
      </p:sp>
      <p:cxnSp>
        <p:nvCxnSpPr>
          <p:cNvPr id="115" name="Shift a 18.0"/>
          <p:cNvCxnSpPr/>
          <p:nvPr/>
        </p:nvCxnSpPr>
        <p:spPr>
          <a:xfrm flipV="1">
            <a:off x="5336381" y="1443037"/>
            <a:ext cx="0" cy="142875"/>
          </a:xfrm>
          <a:prstGeom prst="line">
            <a:avLst/>
          </a:prstGeom>
          <a:ln w="50800">
            <a:solidFill>
              <a:srgbClr val="E39B2D"/>
            </a:solidFill>
            <a:tailEnd type="triangle" w="med" len="med"/>
          </a:ln>
        </p:spPr>
      </p:cxnSp>
      <p:sp>
        <p:nvSpPr>
          <p:cNvPr id="116" name="Shift a 19"/>
          <p:cNvSpPr/>
          <p:nvPr/>
        </p:nvSpPr>
        <p:spPr>
          <a:xfrm>
            <a:off x="5229225" y="914400"/>
            <a:ext cx="214312" cy="528637"/>
          </a:xfrm>
          <a:prstGeom prst="rect">
            <a:avLst/>
          </a:prstGeom>
          <a:noFill/>
          <a:ln w="63500">
            <a:solidFill>
              <a:srgbClr val="E39B2D"/>
            </a:solidFill>
          </a:ln>
        </p:spPr>
        <p:txBody>
          <a:bodyPr rtlCol="0" anchor="ctr" wrap="square" lIns="28575" rIns="28575" tIns="28575" bIns="28575"/>
          <a:lstStyle/>
          <a:p>
            <a:pPr algn="ctr"/>
          </a:p>
        </p:txBody>
      </p:sp>
      <p:cxnSp>
        <p:nvCxnSpPr>
          <p:cNvPr id="117" name="Shift a 20.0"/>
          <p:cNvCxnSpPr/>
          <p:nvPr/>
        </p:nvCxnSpPr>
        <p:spPr>
          <a:xfrm flipV="1">
            <a:off x="5336381" y="671512"/>
            <a:ext cx="0" cy="242888"/>
          </a:xfrm>
          <a:prstGeom prst="line">
            <a:avLst/>
          </a:prstGeom>
          <a:ln w="50800">
            <a:solidFill>
              <a:srgbClr val="E39B2D"/>
            </a:solidFill>
          </a:ln>
        </p:spPr>
      </p:cxnSp>
      <p:cxnSp>
        <p:nvCxnSpPr>
          <p:cNvPr id="118" name="Shift a 20.1"/>
          <p:cNvCxnSpPr/>
          <p:nvPr/>
        </p:nvCxnSpPr>
        <p:spPr>
          <a:xfrm>
            <a:off x="5336381" y="671512"/>
            <a:ext cx="378619" cy="0"/>
          </a:xfrm>
          <a:prstGeom prst="line">
            <a:avLst/>
          </a:prstGeom>
          <a:ln w="50800">
            <a:solidFill>
              <a:srgbClr val="E39B2D"/>
            </a:solidFill>
            <a:tailEnd type="triangle" w="med" len="med"/>
          </a:ln>
        </p:spPr>
      </p:cxnSp>
      <p:sp>
        <p:nvSpPr>
          <p:cNvPr id="119" name="Inject m3"/>
          <p:cNvSpPr/>
          <p:nvPr/>
        </p:nvSpPr>
        <p:spPr>
          <a:xfrm>
            <a:off x="1585912" y="3371850"/>
            <a:ext cx="214312" cy="585787"/>
          </a:xfrm>
          <a:prstGeom prst="rect">
            <a:avLst/>
          </a:prstGeom>
          <a:solidFill>
            <a:srgbClr val="E39B2D"/>
          </a:solidFill>
          <a:ln w="19050">
            <a:solidFill>
              <a:srgbClr val="00897B"/>
            </a:solidFill>
          </a:ln>
        </p:spPr>
        <p:txBody>
          <a:bodyPr rtlCol="0" anchor="ctr" wrap="square" lIns="28575" rIns="28575" tIns="28575" bIns="28575"/>
          <a:lstStyle/>
          <a:p>
            <a:pPr algn="ctr"/>
          </a:p>
        </p:txBody>
      </p:sp>
      <p:sp>
        <p:nvSpPr>
          <p:cNvPr id="120" name="Inject tag"/>
          <p:cNvSpPr/>
          <p:nvPr/>
        </p:nvSpPr>
        <p:spPr>
          <a:xfrm>
            <a:off x="171450" y="4143375"/>
            <a:ext cx="1071562" cy="185737"/>
          </a:xfrm>
          <a:prstGeom prst="roundRect">
            <a:avLst>
              <a:gd name="adj" fmla="val 15000"/>
            </a:avLst>
          </a:prstGeom>
          <a:solidFill>
            <a:srgbClr val="FFFFFF"/>
          </a:solidFill>
          <a:ln w="15240">
            <a:solidFill>
              <a:srgbClr val="E39B2D"/>
            </a:solidFill>
          </a:ln>
        </p:spPr>
        <p:txBody>
          <a:bodyPr rtlCol="0" anchor="ctr" wrap="square" lIns="0" rIns="0" tIns="0" bIns="0"/>
          <a:lstStyle/>
          <a:p>
            <a:pPr algn="ctr"/>
            <a:r>
              <a:rPr sz="787" b="1">
                <a:solidFill>
                  <a:srgbClr val="E39B2D"/>
                </a:solidFill>
                <a:latin typeface="Calibri"/>
              </a:rPr>
              <a:t>request loaded</a:t>
            </a:r>
          </a:p>
        </p:txBody>
      </p:sp>
      <p:sp>
        <p:nvSpPr>
          <p:cNvPr id="121" name="Caption 3"/>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Shift-DR: a bit pattern moves through every register in the chain, one bit per TCK.</a:t>
            </a:r>
          </a:p>
          <a:p>
            <a:pPr algn="l"/>
            <a:r>
              <a:rPr sz="1237" b="0">
                <a:solidFill>
                  <a:srgbClr val="FFFFFF"/>
                </a:solidFill>
                <a:latin typeface="Calibri"/>
              </a:rPr>
              <a:t>When it stops, manager 3's cut holds a request (valid + address + data); the others hold 0.</a:t>
            </a:r>
          </a:p>
        </p:txBody>
      </p:sp>
      <p:sp>
        <p:nvSpPr>
          <p:cNvPr id="122" name="Op hl 1 4"/>
          <p:cNvSpPr/>
          <p:nvPr/>
        </p:nvSpPr>
        <p:spPr>
          <a:xfrm>
            <a:off x="7115175" y="2643187"/>
            <a:ext cx="1700212" cy="428625"/>
          </a:xfrm>
          <a:prstGeom prst="roundRect">
            <a:avLst>
              <a:gd name="adj" fmla="val 15000"/>
            </a:avLst>
          </a:prstGeom>
          <a:solidFill>
            <a:srgbClr val="FFF3E0"/>
          </a:solidFill>
          <a:ln w="31750">
            <a:solidFill>
              <a:srgbClr val="E39B2D"/>
            </a:solidFill>
          </a:ln>
        </p:spPr>
        <p:txBody>
          <a:bodyPr rtlCol="0" anchor="ctr" wrap="square" lIns="14287" rIns="14287" tIns="14287" bIns="14287"/>
          <a:lstStyle/>
          <a:p>
            <a:pPr algn="ctr"/>
            <a:r>
              <a:rPr sz="956" b="1">
                <a:solidFill>
                  <a:srgbClr val="E39B2D"/>
                </a:solidFill>
                <a:latin typeface="Calibri"/>
              </a:rPr>
              <a:t>Update-DR</a:t>
            </a:r>
          </a:p>
          <a:p>
            <a:pPr algn="ctr"/>
            <a:r>
              <a:rPr sz="731" b="1">
                <a:solidFill>
                  <a:srgbClr val="12343B"/>
                </a:solidFill>
                <a:latin typeface="Calibri"/>
              </a:rPr>
              <a:t>a cut drives the bus, 1 TCK</a:t>
            </a:r>
          </a:p>
        </p:txBody>
      </p:sp>
      <p:cxnSp>
        <p:nvCxnSpPr>
          <p:cNvPr id="123" name="Route test"/>
          <p:cNvCxnSpPr/>
          <p:nvPr/>
        </p:nvCxnSpPr>
        <p:spPr>
          <a:xfrm>
            <a:off x="1800225" y="3664743"/>
            <a:ext cx="3429000" cy="200025"/>
          </a:xfrm>
          <a:prstGeom prst="line">
            <a:avLst/>
          </a:prstGeom>
          <a:ln w="50800">
            <a:solidFill>
              <a:srgbClr val="E39B2D"/>
            </a:solidFill>
            <a:tailEnd type="triangle" w="med" len="med"/>
          </a:ln>
        </p:spPr>
      </p:cxnSp>
      <p:sp>
        <p:nvSpPr>
          <p:cNvPr id="124" name="Caption 4"/>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Update-DR: manager 3's cut drives the request into the crossbar for exactly one TCK.</a:t>
            </a:r>
          </a:p>
          <a:p>
            <a:pPr algn="l"/>
            <a:r>
              <a:rPr sz="1237" b="0">
                <a:solidFill>
                  <a:srgbClr val="FFFFFF"/>
                </a:solidFill>
                <a:latin typeface="Calibri"/>
              </a:rPr>
              <a:t>The crossbar routes it by its address toward subordinate 4.</a:t>
            </a:r>
          </a:p>
        </p:txBody>
      </p:sp>
      <p:sp>
        <p:nvSpPr>
          <p:cNvPr id="125" name="Op hl 2 5"/>
          <p:cNvSpPr/>
          <p:nvPr/>
        </p:nvSpPr>
        <p:spPr>
          <a:xfrm>
            <a:off x="7115175" y="3143250"/>
            <a:ext cx="1700212" cy="428625"/>
          </a:xfrm>
          <a:prstGeom prst="roundRect">
            <a:avLst>
              <a:gd name="adj" fmla="val 15000"/>
            </a:avLst>
          </a:prstGeom>
          <a:solidFill>
            <a:srgbClr val="FFF3E0"/>
          </a:solidFill>
          <a:ln w="31750">
            <a:solidFill>
              <a:srgbClr val="E39B2D"/>
            </a:solidFill>
          </a:ln>
        </p:spPr>
        <p:txBody>
          <a:bodyPr rtlCol="0" anchor="ctr" wrap="square" lIns="14287" rIns="14287" tIns="14287" bIns="14287"/>
          <a:lstStyle/>
          <a:p>
            <a:pPr algn="ctr"/>
            <a:r>
              <a:rPr sz="956" b="1">
                <a:solidFill>
                  <a:srgbClr val="E39B2D"/>
                </a:solidFill>
                <a:latin typeface="Calibri"/>
              </a:rPr>
              <a:t>Capture-DR</a:t>
            </a:r>
          </a:p>
          <a:p>
            <a:pPr algn="ctr"/>
            <a:r>
              <a:rPr sz="731" b="1">
                <a:solidFill>
                  <a:srgbClr val="12343B"/>
                </a:solidFill>
                <a:latin typeface="Calibri"/>
              </a:rPr>
              <a:t>cuts record what arrived</a:t>
            </a:r>
          </a:p>
        </p:txBody>
      </p:sp>
      <p:sp>
        <p:nvSpPr>
          <p:cNvPr id="126" name="Got s4"/>
          <p:cNvSpPr/>
          <p:nvPr/>
        </p:nvSpPr>
        <p:spPr>
          <a:xfrm>
            <a:off x="5229225" y="3600450"/>
            <a:ext cx="214312" cy="528637"/>
          </a:xfrm>
          <a:prstGeom prst="rect">
            <a:avLst/>
          </a:prstGeom>
          <a:solidFill>
            <a:srgbClr val="2E7D32"/>
          </a:solidFill>
          <a:ln w="19050">
            <a:solidFill>
              <a:srgbClr val="00897B"/>
            </a:solidFill>
          </a:ln>
        </p:spPr>
        <p:txBody>
          <a:bodyPr rtlCol="0" anchor="ctr" wrap="square" lIns="28575" rIns="28575" tIns="28575" bIns="28575"/>
          <a:lstStyle/>
          <a:p>
            <a:pPr algn="ctr"/>
          </a:p>
        </p:txBody>
      </p:sp>
      <p:sp>
        <p:nvSpPr>
          <p:cNvPr id="127" name="Got s4 tag"/>
          <p:cNvSpPr/>
          <p:nvPr/>
        </p:nvSpPr>
        <p:spPr>
          <a:xfrm>
            <a:off x="5743575" y="4057650"/>
            <a:ext cx="928687" cy="185737"/>
          </a:xfrm>
          <a:prstGeom prst="roundRect">
            <a:avLst>
              <a:gd name="adj" fmla="val 15000"/>
            </a:avLst>
          </a:prstGeom>
          <a:solidFill>
            <a:srgbClr val="FFFFFF"/>
          </a:solidFill>
          <a:ln w="15240">
            <a:solidFill>
              <a:srgbClr val="2E7D32"/>
            </a:solidFill>
          </a:ln>
        </p:spPr>
        <p:txBody>
          <a:bodyPr rtlCol="0" anchor="ctr" wrap="square" lIns="0" rIns="0" tIns="0" bIns="0"/>
          <a:lstStyle/>
          <a:p>
            <a:pPr algn="ctr"/>
            <a:r>
              <a:rPr sz="787" b="1">
                <a:solidFill>
                  <a:srgbClr val="2E7D32"/>
                </a:solidFill>
                <a:latin typeface="Calibri"/>
              </a:rPr>
              <a:t>captured</a:t>
            </a:r>
          </a:p>
        </p:txBody>
      </p:sp>
      <p:sp>
        <p:nvSpPr>
          <p:cNvPr id="128" name="Zero s0"/>
          <p:cNvSpPr/>
          <p:nvPr/>
        </p:nvSpPr>
        <p:spPr>
          <a:xfrm>
            <a:off x="5743575" y="1371600"/>
            <a:ext cx="928687" cy="185737"/>
          </a:xfrm>
          <a:prstGeom prst="roundRect">
            <a:avLst>
              <a:gd name="adj" fmla="val 15000"/>
            </a:avLst>
          </a:prstGeom>
          <a:solidFill>
            <a:srgbClr val="FFFFFF"/>
          </a:solidFill>
          <a:ln w="15240">
            <a:solidFill>
              <a:srgbClr val="9E9E9E"/>
            </a:solidFill>
          </a:ln>
        </p:spPr>
        <p:txBody>
          <a:bodyPr rtlCol="0" anchor="ctr" wrap="square" lIns="0" rIns="0" tIns="0" bIns="0"/>
          <a:lstStyle/>
          <a:p>
            <a:pPr algn="ctr"/>
            <a:r>
              <a:rPr sz="787" b="1">
                <a:solidFill>
                  <a:srgbClr val="9E9E9E"/>
                </a:solidFill>
                <a:latin typeface="Calibri"/>
              </a:rPr>
              <a:t>nothing</a:t>
            </a:r>
          </a:p>
        </p:txBody>
      </p:sp>
      <p:sp>
        <p:nvSpPr>
          <p:cNvPr id="129" name="Zero s1"/>
          <p:cNvSpPr/>
          <p:nvPr/>
        </p:nvSpPr>
        <p:spPr>
          <a:xfrm>
            <a:off x="5743575" y="2043112"/>
            <a:ext cx="928687" cy="185737"/>
          </a:xfrm>
          <a:prstGeom prst="roundRect">
            <a:avLst>
              <a:gd name="adj" fmla="val 15000"/>
            </a:avLst>
          </a:prstGeom>
          <a:solidFill>
            <a:srgbClr val="FFFFFF"/>
          </a:solidFill>
          <a:ln w="15240">
            <a:solidFill>
              <a:srgbClr val="9E9E9E"/>
            </a:solidFill>
          </a:ln>
        </p:spPr>
        <p:txBody>
          <a:bodyPr rtlCol="0" anchor="ctr" wrap="square" lIns="0" rIns="0" tIns="0" bIns="0"/>
          <a:lstStyle/>
          <a:p>
            <a:pPr algn="ctr"/>
            <a:r>
              <a:rPr sz="787" b="1">
                <a:solidFill>
                  <a:srgbClr val="9E9E9E"/>
                </a:solidFill>
                <a:latin typeface="Calibri"/>
              </a:rPr>
              <a:t>nothing</a:t>
            </a:r>
          </a:p>
        </p:txBody>
      </p:sp>
      <p:sp>
        <p:nvSpPr>
          <p:cNvPr id="130" name="Zero s2"/>
          <p:cNvSpPr/>
          <p:nvPr/>
        </p:nvSpPr>
        <p:spPr>
          <a:xfrm>
            <a:off x="5743575" y="2714625"/>
            <a:ext cx="928687" cy="185737"/>
          </a:xfrm>
          <a:prstGeom prst="roundRect">
            <a:avLst>
              <a:gd name="adj" fmla="val 15000"/>
            </a:avLst>
          </a:prstGeom>
          <a:solidFill>
            <a:srgbClr val="FFFFFF"/>
          </a:solidFill>
          <a:ln w="15240">
            <a:solidFill>
              <a:srgbClr val="9E9E9E"/>
            </a:solidFill>
          </a:ln>
        </p:spPr>
        <p:txBody>
          <a:bodyPr rtlCol="0" anchor="ctr" wrap="square" lIns="0" rIns="0" tIns="0" bIns="0"/>
          <a:lstStyle/>
          <a:p>
            <a:pPr algn="ctr"/>
            <a:r>
              <a:rPr sz="787" b="1">
                <a:solidFill>
                  <a:srgbClr val="9E9E9E"/>
                </a:solidFill>
                <a:latin typeface="Calibri"/>
              </a:rPr>
              <a:t>nothing</a:t>
            </a:r>
          </a:p>
        </p:txBody>
      </p:sp>
      <p:sp>
        <p:nvSpPr>
          <p:cNvPr id="131" name="Zero s3"/>
          <p:cNvSpPr/>
          <p:nvPr/>
        </p:nvSpPr>
        <p:spPr>
          <a:xfrm>
            <a:off x="5743575" y="3386137"/>
            <a:ext cx="928687" cy="185737"/>
          </a:xfrm>
          <a:prstGeom prst="roundRect">
            <a:avLst>
              <a:gd name="adj" fmla="val 15000"/>
            </a:avLst>
          </a:prstGeom>
          <a:solidFill>
            <a:srgbClr val="FFFFFF"/>
          </a:solidFill>
          <a:ln w="15240">
            <a:solidFill>
              <a:srgbClr val="9E9E9E"/>
            </a:solidFill>
          </a:ln>
        </p:spPr>
        <p:txBody>
          <a:bodyPr rtlCol="0" anchor="ctr" wrap="square" lIns="0" rIns="0" tIns="0" bIns="0"/>
          <a:lstStyle/>
          <a:p>
            <a:pPr algn="ctr"/>
            <a:r>
              <a:rPr sz="787" b="1">
                <a:solidFill>
                  <a:srgbClr val="9E9E9E"/>
                </a:solidFill>
                <a:latin typeface="Calibri"/>
              </a:rPr>
              <a:t>nothing</a:t>
            </a:r>
          </a:p>
        </p:txBody>
      </p:sp>
      <p:sp>
        <p:nvSpPr>
          <p:cNvPr id="132" name="Caption 5"/>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Capture-DR: every subordinate-side cut records what reached it in that cycle.</a:t>
            </a:r>
          </a:p>
          <a:p>
            <a:pPr algn="l"/>
            <a:r>
              <a:rPr sz="1237" b="0">
                <a:solidFill>
                  <a:srgbClr val="FFFFFF"/>
                </a:solidFill>
                <a:latin typeface="Calibri"/>
              </a:rPr>
              <a:t>Only subordinate 4's cut holds the request; the other cuts saw nothing.</a:t>
            </a:r>
          </a:p>
        </p:txBody>
      </p:sp>
      <p:sp>
        <p:nvSpPr>
          <p:cNvPr id="133" name="Op hl 0 6"/>
          <p:cNvSpPr/>
          <p:nvPr/>
        </p:nvSpPr>
        <p:spPr>
          <a:xfrm>
            <a:off x="7115175" y="2143125"/>
            <a:ext cx="1700212" cy="428625"/>
          </a:xfrm>
          <a:prstGeom prst="roundRect">
            <a:avLst>
              <a:gd name="adj" fmla="val 15000"/>
            </a:avLst>
          </a:prstGeom>
          <a:solidFill>
            <a:srgbClr val="FFF3E0"/>
          </a:solidFill>
          <a:ln w="31750">
            <a:solidFill>
              <a:srgbClr val="E39B2D"/>
            </a:solidFill>
          </a:ln>
        </p:spPr>
        <p:txBody>
          <a:bodyPr rtlCol="0" anchor="ctr" wrap="square" lIns="14287" rIns="14287" tIns="14287" bIns="14287"/>
          <a:lstStyle/>
          <a:p>
            <a:pPr algn="ctr"/>
            <a:r>
              <a:rPr sz="956" b="1">
                <a:solidFill>
                  <a:srgbClr val="E39B2D"/>
                </a:solidFill>
                <a:latin typeface="Calibri"/>
              </a:rPr>
              <a:t>Shift-DR</a:t>
            </a:r>
          </a:p>
          <a:p>
            <a:pPr algn="ctr"/>
            <a:r>
              <a:rPr sz="731" b="1">
                <a:solidFill>
                  <a:srgbClr val="12343B"/>
                </a:solidFill>
                <a:latin typeface="Calibri"/>
              </a:rPr>
              <a:t>bits move along the chain</a:t>
            </a:r>
          </a:p>
        </p:txBody>
      </p:sp>
      <p:sp>
        <p:nvSpPr>
          <p:cNvPr id="134" name="Shift b 11"/>
          <p:cNvSpPr/>
          <p:nvPr/>
        </p:nvSpPr>
        <p:spPr>
          <a:xfrm>
            <a:off x="5229225" y="3600450"/>
            <a:ext cx="214312" cy="528637"/>
          </a:xfrm>
          <a:prstGeom prst="rect">
            <a:avLst/>
          </a:prstGeom>
          <a:noFill/>
          <a:ln w="63500">
            <a:solidFill>
              <a:srgbClr val="E39B2D"/>
            </a:solidFill>
          </a:ln>
        </p:spPr>
        <p:txBody>
          <a:bodyPr rtlCol="0" anchor="ctr" wrap="square" lIns="28575" rIns="28575" tIns="28575" bIns="28575"/>
          <a:lstStyle/>
          <a:p>
            <a:pPr algn="ctr"/>
          </a:p>
        </p:txBody>
      </p:sp>
      <p:cxnSp>
        <p:nvCxnSpPr>
          <p:cNvPr id="135" name="Shift b 12.0"/>
          <p:cNvCxnSpPr/>
          <p:nvPr/>
        </p:nvCxnSpPr>
        <p:spPr>
          <a:xfrm flipV="1">
            <a:off x="5336381" y="3457575"/>
            <a:ext cx="0" cy="142875"/>
          </a:xfrm>
          <a:prstGeom prst="line">
            <a:avLst/>
          </a:prstGeom>
          <a:ln w="50800">
            <a:solidFill>
              <a:srgbClr val="E39B2D"/>
            </a:solidFill>
            <a:tailEnd type="triangle" w="med" len="med"/>
          </a:ln>
        </p:spPr>
      </p:cxnSp>
      <p:sp>
        <p:nvSpPr>
          <p:cNvPr id="136" name="Shift b 13"/>
          <p:cNvSpPr/>
          <p:nvPr/>
        </p:nvSpPr>
        <p:spPr>
          <a:xfrm>
            <a:off x="5229225" y="2928937"/>
            <a:ext cx="214312" cy="528637"/>
          </a:xfrm>
          <a:prstGeom prst="rect">
            <a:avLst/>
          </a:prstGeom>
          <a:noFill/>
          <a:ln w="63500">
            <a:solidFill>
              <a:srgbClr val="E39B2D"/>
            </a:solidFill>
          </a:ln>
        </p:spPr>
        <p:txBody>
          <a:bodyPr rtlCol="0" anchor="ctr" wrap="square" lIns="28575" rIns="28575" tIns="28575" bIns="28575"/>
          <a:lstStyle/>
          <a:p>
            <a:pPr algn="ctr"/>
          </a:p>
        </p:txBody>
      </p:sp>
      <p:cxnSp>
        <p:nvCxnSpPr>
          <p:cNvPr id="137" name="Shift b 14.0"/>
          <p:cNvCxnSpPr/>
          <p:nvPr/>
        </p:nvCxnSpPr>
        <p:spPr>
          <a:xfrm flipV="1">
            <a:off x="5336381" y="2786062"/>
            <a:ext cx="0" cy="142875"/>
          </a:xfrm>
          <a:prstGeom prst="line">
            <a:avLst/>
          </a:prstGeom>
          <a:ln w="50800">
            <a:solidFill>
              <a:srgbClr val="E39B2D"/>
            </a:solidFill>
            <a:tailEnd type="triangle" w="med" len="med"/>
          </a:ln>
        </p:spPr>
      </p:cxnSp>
      <p:sp>
        <p:nvSpPr>
          <p:cNvPr id="138" name="Shift b 15"/>
          <p:cNvSpPr/>
          <p:nvPr/>
        </p:nvSpPr>
        <p:spPr>
          <a:xfrm>
            <a:off x="5229225" y="2257425"/>
            <a:ext cx="214312" cy="528637"/>
          </a:xfrm>
          <a:prstGeom prst="rect">
            <a:avLst/>
          </a:prstGeom>
          <a:noFill/>
          <a:ln w="63500">
            <a:solidFill>
              <a:srgbClr val="E39B2D"/>
            </a:solidFill>
          </a:ln>
        </p:spPr>
        <p:txBody>
          <a:bodyPr rtlCol="0" anchor="ctr" wrap="square" lIns="28575" rIns="28575" tIns="28575" bIns="28575"/>
          <a:lstStyle/>
          <a:p>
            <a:pPr algn="ctr"/>
          </a:p>
        </p:txBody>
      </p:sp>
      <p:cxnSp>
        <p:nvCxnSpPr>
          <p:cNvPr id="139" name="Shift b 16.0"/>
          <p:cNvCxnSpPr/>
          <p:nvPr/>
        </p:nvCxnSpPr>
        <p:spPr>
          <a:xfrm flipV="1">
            <a:off x="5336381" y="2114550"/>
            <a:ext cx="0" cy="142875"/>
          </a:xfrm>
          <a:prstGeom prst="line">
            <a:avLst/>
          </a:prstGeom>
          <a:ln w="50800">
            <a:solidFill>
              <a:srgbClr val="E39B2D"/>
            </a:solidFill>
            <a:tailEnd type="triangle" w="med" len="med"/>
          </a:ln>
        </p:spPr>
      </p:cxnSp>
      <p:sp>
        <p:nvSpPr>
          <p:cNvPr id="140" name="Shift b 17"/>
          <p:cNvSpPr/>
          <p:nvPr/>
        </p:nvSpPr>
        <p:spPr>
          <a:xfrm>
            <a:off x="5229225" y="1585912"/>
            <a:ext cx="214312" cy="528637"/>
          </a:xfrm>
          <a:prstGeom prst="rect">
            <a:avLst/>
          </a:prstGeom>
          <a:noFill/>
          <a:ln w="63500">
            <a:solidFill>
              <a:srgbClr val="E39B2D"/>
            </a:solidFill>
          </a:ln>
        </p:spPr>
        <p:txBody>
          <a:bodyPr rtlCol="0" anchor="ctr" wrap="square" lIns="28575" rIns="28575" tIns="28575" bIns="28575"/>
          <a:lstStyle/>
          <a:p>
            <a:pPr algn="ctr"/>
          </a:p>
        </p:txBody>
      </p:sp>
      <p:cxnSp>
        <p:nvCxnSpPr>
          <p:cNvPr id="141" name="Shift b 18.0"/>
          <p:cNvCxnSpPr/>
          <p:nvPr/>
        </p:nvCxnSpPr>
        <p:spPr>
          <a:xfrm flipV="1">
            <a:off x="5336381" y="1443037"/>
            <a:ext cx="0" cy="142875"/>
          </a:xfrm>
          <a:prstGeom prst="line">
            <a:avLst/>
          </a:prstGeom>
          <a:ln w="50800">
            <a:solidFill>
              <a:srgbClr val="E39B2D"/>
            </a:solidFill>
            <a:tailEnd type="triangle" w="med" len="med"/>
          </a:ln>
        </p:spPr>
      </p:cxnSp>
      <p:sp>
        <p:nvSpPr>
          <p:cNvPr id="142" name="Shift b 19"/>
          <p:cNvSpPr/>
          <p:nvPr/>
        </p:nvSpPr>
        <p:spPr>
          <a:xfrm>
            <a:off x="5229225" y="914400"/>
            <a:ext cx="214312" cy="528637"/>
          </a:xfrm>
          <a:prstGeom prst="rect">
            <a:avLst/>
          </a:prstGeom>
          <a:noFill/>
          <a:ln w="63500">
            <a:solidFill>
              <a:srgbClr val="E39B2D"/>
            </a:solidFill>
          </a:ln>
        </p:spPr>
        <p:txBody>
          <a:bodyPr rtlCol="0" anchor="ctr" wrap="square" lIns="28575" rIns="28575" tIns="28575" bIns="28575"/>
          <a:lstStyle/>
          <a:p>
            <a:pPr algn="ctr"/>
          </a:p>
        </p:txBody>
      </p:sp>
      <p:cxnSp>
        <p:nvCxnSpPr>
          <p:cNvPr id="143" name="Shift b 20.0"/>
          <p:cNvCxnSpPr/>
          <p:nvPr/>
        </p:nvCxnSpPr>
        <p:spPr>
          <a:xfrm flipV="1">
            <a:off x="5336381" y="671512"/>
            <a:ext cx="0" cy="242888"/>
          </a:xfrm>
          <a:prstGeom prst="line">
            <a:avLst/>
          </a:prstGeom>
          <a:ln w="50800">
            <a:solidFill>
              <a:srgbClr val="E39B2D"/>
            </a:solidFill>
          </a:ln>
        </p:spPr>
      </p:cxnSp>
      <p:cxnSp>
        <p:nvCxnSpPr>
          <p:cNvPr id="144" name="Shift b 20.1"/>
          <p:cNvCxnSpPr/>
          <p:nvPr/>
        </p:nvCxnSpPr>
        <p:spPr>
          <a:xfrm>
            <a:off x="5336381" y="671512"/>
            <a:ext cx="378619" cy="0"/>
          </a:xfrm>
          <a:prstGeom prst="line">
            <a:avLst/>
          </a:prstGeom>
          <a:ln w="50800">
            <a:solidFill>
              <a:srgbClr val="E39B2D"/>
            </a:solidFill>
            <a:tailEnd type="triangle" w="med" len="med"/>
          </a:ln>
        </p:spPr>
      </p:cxnSp>
      <p:sp>
        <p:nvSpPr>
          <p:cNvPr id="145" name="Read tag"/>
          <p:cNvSpPr/>
          <p:nvPr/>
        </p:nvSpPr>
        <p:spPr>
          <a:xfrm>
            <a:off x="6229350" y="471487"/>
            <a:ext cx="714375" cy="185737"/>
          </a:xfrm>
          <a:prstGeom prst="roundRect">
            <a:avLst>
              <a:gd name="adj" fmla="val 15000"/>
            </a:avLst>
          </a:prstGeom>
          <a:solidFill>
            <a:srgbClr val="FFFFFF"/>
          </a:solidFill>
          <a:ln w="15240">
            <a:solidFill>
              <a:srgbClr val="2E7D32"/>
            </a:solidFill>
          </a:ln>
        </p:spPr>
        <p:txBody>
          <a:bodyPr rtlCol="0" anchor="ctr" wrap="square" lIns="0" rIns="0" tIns="0" bIns="0"/>
          <a:lstStyle/>
          <a:p>
            <a:pPr algn="ctr"/>
            <a:r>
              <a:rPr sz="787" b="1">
                <a:solidFill>
                  <a:srgbClr val="2E7D32"/>
                </a:solidFill>
                <a:latin typeface="Calibri"/>
              </a:rPr>
              <a:t>Sub 4 got it ✓</a:t>
            </a:r>
          </a:p>
        </p:txBody>
      </p:sp>
      <p:sp>
        <p:nvSpPr>
          <p:cNvPr id="146" name="Caption 6"/>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Shift-DR again: the captured bits come out at TDO (while the next pattern goes in at TDI).</a:t>
            </a:r>
          </a:p>
          <a:p>
            <a:pPr algn="l"/>
            <a:r>
              <a:rPr sz="1237" b="0">
                <a:solidFill>
                  <a:srgbClr val="FFFFFF"/>
                </a:solidFill>
                <a:latin typeface="Calibri"/>
              </a:rPr>
              <a:t>JTAG reads: the request reached subordinate 4, the one its address belongs to.</a:t>
            </a:r>
          </a:p>
        </p:txBody>
      </p:sp>
      <p:sp>
        <p:nvSpPr>
          <p:cNvPr id="147" name="Op hl 0 7"/>
          <p:cNvSpPr/>
          <p:nvPr/>
        </p:nvSpPr>
        <p:spPr>
          <a:xfrm>
            <a:off x="7115175" y="2143125"/>
            <a:ext cx="1700212" cy="428625"/>
          </a:xfrm>
          <a:prstGeom prst="roundRect">
            <a:avLst>
              <a:gd name="adj" fmla="val 15000"/>
            </a:avLst>
          </a:prstGeom>
          <a:solidFill>
            <a:srgbClr val="FFF3E0"/>
          </a:solidFill>
          <a:ln w="31750">
            <a:solidFill>
              <a:srgbClr val="E39B2D"/>
            </a:solidFill>
          </a:ln>
        </p:spPr>
        <p:txBody>
          <a:bodyPr rtlCol="0" anchor="ctr" wrap="square" lIns="14287" rIns="14287" tIns="14287" bIns="14287"/>
          <a:lstStyle/>
          <a:p>
            <a:pPr algn="ctr"/>
            <a:r>
              <a:rPr sz="956" b="1">
                <a:solidFill>
                  <a:srgbClr val="E39B2D"/>
                </a:solidFill>
                <a:latin typeface="Calibri"/>
              </a:rPr>
              <a:t>Shift-DR</a:t>
            </a:r>
          </a:p>
          <a:p>
            <a:pPr algn="ctr"/>
            <a:r>
              <a:rPr sz="731" b="1">
                <a:solidFill>
                  <a:srgbClr val="12343B"/>
                </a:solidFill>
                <a:latin typeface="Calibri"/>
              </a:rPr>
              <a:t>bits move along the chain</a:t>
            </a:r>
          </a:p>
        </p:txBody>
      </p:sp>
      <p:sp>
        <p:nvSpPr>
          <p:cNvPr id="148" name="Op hl 1 7"/>
          <p:cNvSpPr/>
          <p:nvPr/>
        </p:nvSpPr>
        <p:spPr>
          <a:xfrm>
            <a:off x="7115175" y="2643187"/>
            <a:ext cx="1700212" cy="428625"/>
          </a:xfrm>
          <a:prstGeom prst="roundRect">
            <a:avLst>
              <a:gd name="adj" fmla="val 15000"/>
            </a:avLst>
          </a:prstGeom>
          <a:solidFill>
            <a:srgbClr val="FFF3E0"/>
          </a:solidFill>
          <a:ln w="31750">
            <a:solidFill>
              <a:srgbClr val="E39B2D"/>
            </a:solidFill>
          </a:ln>
        </p:spPr>
        <p:txBody>
          <a:bodyPr rtlCol="0" anchor="ctr" wrap="square" lIns="14287" rIns="14287" tIns="14287" bIns="14287"/>
          <a:lstStyle/>
          <a:p>
            <a:pPr algn="ctr"/>
            <a:r>
              <a:rPr sz="956" b="1">
                <a:solidFill>
                  <a:srgbClr val="E39B2D"/>
                </a:solidFill>
                <a:latin typeface="Calibri"/>
              </a:rPr>
              <a:t>Update-DR</a:t>
            </a:r>
          </a:p>
          <a:p>
            <a:pPr algn="ctr"/>
            <a:r>
              <a:rPr sz="731" b="1">
                <a:solidFill>
                  <a:srgbClr val="12343B"/>
                </a:solidFill>
                <a:latin typeface="Calibri"/>
              </a:rPr>
              <a:t>a cut drives the bus, 1 TCK</a:t>
            </a:r>
          </a:p>
        </p:txBody>
      </p:sp>
      <p:sp>
        <p:nvSpPr>
          <p:cNvPr id="149" name="Op hl 2 7"/>
          <p:cNvSpPr/>
          <p:nvPr/>
        </p:nvSpPr>
        <p:spPr>
          <a:xfrm>
            <a:off x="7115175" y="3143250"/>
            <a:ext cx="1700212" cy="428625"/>
          </a:xfrm>
          <a:prstGeom prst="roundRect">
            <a:avLst>
              <a:gd name="adj" fmla="val 15000"/>
            </a:avLst>
          </a:prstGeom>
          <a:solidFill>
            <a:srgbClr val="FFF3E0"/>
          </a:solidFill>
          <a:ln w="31750">
            <a:solidFill>
              <a:srgbClr val="E39B2D"/>
            </a:solidFill>
          </a:ln>
        </p:spPr>
        <p:txBody>
          <a:bodyPr rtlCol="0" anchor="ctr" wrap="square" lIns="14287" rIns="14287" tIns="14287" bIns="14287"/>
          <a:lstStyle/>
          <a:p>
            <a:pPr algn="ctr"/>
            <a:r>
              <a:rPr sz="956" b="1">
                <a:solidFill>
                  <a:srgbClr val="E39B2D"/>
                </a:solidFill>
                <a:latin typeface="Calibri"/>
              </a:rPr>
              <a:t>Capture-DR</a:t>
            </a:r>
          </a:p>
          <a:p>
            <a:pPr algn="ctr"/>
            <a:r>
              <a:rPr sz="731" b="1">
                <a:solidFill>
                  <a:srgbClr val="12343B"/>
                </a:solidFill>
                <a:latin typeface="Calibri"/>
              </a:rPr>
              <a:t>cuts record what arrived</a:t>
            </a:r>
          </a:p>
        </p:txBody>
      </p:sp>
      <p:sp>
        <p:nvSpPr>
          <p:cNvPr id="150" name="Rsp s4"/>
          <p:cNvSpPr/>
          <p:nvPr/>
        </p:nvSpPr>
        <p:spPr>
          <a:xfrm>
            <a:off x="5229225" y="3600450"/>
            <a:ext cx="214312" cy="528637"/>
          </a:xfrm>
          <a:prstGeom prst="rect">
            <a:avLst/>
          </a:prstGeom>
          <a:solidFill>
            <a:srgbClr val="E39B2D"/>
          </a:solidFill>
          <a:ln w="19050">
            <a:solidFill>
              <a:srgbClr val="00897B"/>
            </a:solidFill>
          </a:ln>
        </p:spPr>
        <p:txBody>
          <a:bodyPr rtlCol="0" anchor="ctr" wrap="square" lIns="28575" rIns="28575" tIns="28575" bIns="28575"/>
          <a:lstStyle/>
          <a:p>
            <a:pPr algn="ctr"/>
          </a:p>
        </p:txBody>
      </p:sp>
      <p:sp>
        <p:nvSpPr>
          <p:cNvPr id="151" name="Rsp s4 tag"/>
          <p:cNvSpPr/>
          <p:nvPr/>
        </p:nvSpPr>
        <p:spPr>
          <a:xfrm>
            <a:off x="5743575" y="4057650"/>
            <a:ext cx="928687" cy="185737"/>
          </a:xfrm>
          <a:prstGeom prst="roundRect">
            <a:avLst>
              <a:gd name="adj" fmla="val 15000"/>
            </a:avLst>
          </a:prstGeom>
          <a:solidFill>
            <a:srgbClr val="FFFFFF"/>
          </a:solidFill>
          <a:ln w="15240">
            <a:solidFill>
              <a:srgbClr val="E39B2D"/>
            </a:solidFill>
          </a:ln>
        </p:spPr>
        <p:txBody>
          <a:bodyPr rtlCol="0" anchor="ctr" wrap="square" lIns="0" rIns="0" tIns="0" bIns="0"/>
          <a:lstStyle/>
          <a:p>
            <a:pPr algn="ctr"/>
            <a:r>
              <a:rPr sz="787" b="1">
                <a:solidFill>
                  <a:srgbClr val="E39B2D"/>
                </a:solidFill>
                <a:latin typeface="Calibri"/>
              </a:rPr>
              <a:t>response</a:t>
            </a:r>
          </a:p>
        </p:txBody>
      </p:sp>
      <p:cxnSp>
        <p:nvCxnSpPr>
          <p:cNvPr id="152" name="Route back"/>
          <p:cNvCxnSpPr/>
          <p:nvPr/>
        </p:nvCxnSpPr>
        <p:spPr>
          <a:xfrm flipH="1" flipV="1">
            <a:off x="1800225" y="3664743"/>
            <a:ext cx="3429000" cy="200025"/>
          </a:xfrm>
          <a:prstGeom prst="line">
            <a:avLst/>
          </a:prstGeom>
          <a:ln w="50800">
            <a:solidFill>
              <a:srgbClr val="2E7D32"/>
            </a:solidFill>
            <a:tailEnd type="triangle" w="med" len="med"/>
          </a:ln>
        </p:spPr>
      </p:cxnSp>
      <p:sp>
        <p:nvSpPr>
          <p:cNvPr id="153" name="Got m3"/>
          <p:cNvSpPr/>
          <p:nvPr/>
        </p:nvSpPr>
        <p:spPr>
          <a:xfrm>
            <a:off x="1585912" y="3371850"/>
            <a:ext cx="214312" cy="585787"/>
          </a:xfrm>
          <a:prstGeom prst="rect">
            <a:avLst/>
          </a:prstGeom>
          <a:solidFill>
            <a:srgbClr val="2E7D32"/>
          </a:solidFill>
          <a:ln w="19050">
            <a:solidFill>
              <a:srgbClr val="00897B"/>
            </a:solidFill>
          </a:ln>
        </p:spPr>
        <p:txBody>
          <a:bodyPr rtlCol="0" anchor="ctr" wrap="square" lIns="28575" rIns="28575" tIns="28575" bIns="28575"/>
          <a:lstStyle/>
          <a:p>
            <a:pPr algn="ctr"/>
          </a:p>
        </p:txBody>
      </p:sp>
      <p:sp>
        <p:nvSpPr>
          <p:cNvPr id="154" name="Got m3 tag"/>
          <p:cNvSpPr/>
          <p:nvPr/>
        </p:nvSpPr>
        <p:spPr>
          <a:xfrm>
            <a:off x="171450" y="4143375"/>
            <a:ext cx="1071562" cy="185737"/>
          </a:xfrm>
          <a:prstGeom prst="roundRect">
            <a:avLst>
              <a:gd name="adj" fmla="val 15000"/>
            </a:avLst>
          </a:prstGeom>
          <a:solidFill>
            <a:srgbClr val="FFFFFF"/>
          </a:solidFill>
          <a:ln w="15240">
            <a:solidFill>
              <a:srgbClr val="2E7D32"/>
            </a:solidFill>
          </a:ln>
        </p:spPr>
        <p:txBody>
          <a:bodyPr rtlCol="0" anchor="ctr" wrap="square" lIns="0" rIns="0" tIns="0" bIns="0"/>
          <a:lstStyle/>
          <a:p>
            <a:pPr algn="ctr"/>
            <a:r>
              <a:rPr sz="787" b="1">
                <a:solidFill>
                  <a:srgbClr val="2E7D32"/>
                </a:solidFill>
                <a:latin typeface="Calibri"/>
              </a:rPr>
              <a:t>response ✓</a:t>
            </a:r>
          </a:p>
        </p:txBody>
      </p:sp>
      <p:sp>
        <p:nvSpPr>
          <p:cNvPr id="155" name="Caption 7"/>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The response is tested the same way: shift it into subordinate 4's cut, update, then capture.</a:t>
            </a:r>
          </a:p>
          <a:p>
            <a:pPr algn="l"/>
            <a:r>
              <a:rPr sz="1237" b="0">
                <a:solidFill>
                  <a:srgbClr val="FFFFFF"/>
                </a:solidFill>
                <a:latin typeface="Calibri"/>
              </a:rPr>
              <a:t>It returns only to manager 3's cut, the manager that asked. No core, software or memory involved.</a:t>
            </a:r>
          </a:p>
        </p:txBody>
      </p:sp>
      <p:sp>
        <p:nvSpPr>
          <p:cNvPr id="156" name="Op hl 0 8"/>
          <p:cNvSpPr/>
          <p:nvPr/>
        </p:nvSpPr>
        <p:spPr>
          <a:xfrm>
            <a:off x="7115175" y="2143125"/>
            <a:ext cx="1700212" cy="428625"/>
          </a:xfrm>
          <a:prstGeom prst="roundRect">
            <a:avLst>
              <a:gd name="adj" fmla="val 15000"/>
            </a:avLst>
          </a:prstGeom>
          <a:solidFill>
            <a:srgbClr val="FFF3E0"/>
          </a:solidFill>
          <a:ln w="31750">
            <a:solidFill>
              <a:srgbClr val="E39B2D"/>
            </a:solidFill>
          </a:ln>
        </p:spPr>
        <p:txBody>
          <a:bodyPr rtlCol="0" anchor="ctr" wrap="square" lIns="14287" rIns="14287" tIns="14287" bIns="14287"/>
          <a:lstStyle/>
          <a:p>
            <a:pPr algn="ctr"/>
            <a:r>
              <a:rPr sz="956" b="1">
                <a:solidFill>
                  <a:srgbClr val="E39B2D"/>
                </a:solidFill>
                <a:latin typeface="Calibri"/>
              </a:rPr>
              <a:t>Shift-DR</a:t>
            </a:r>
          </a:p>
          <a:p>
            <a:pPr algn="ctr"/>
            <a:r>
              <a:rPr sz="731" b="1">
                <a:solidFill>
                  <a:srgbClr val="12343B"/>
                </a:solidFill>
                <a:latin typeface="Calibri"/>
              </a:rPr>
              <a:t>bits move along the chain</a:t>
            </a:r>
          </a:p>
        </p:txBody>
      </p:sp>
      <p:cxnSp>
        <p:nvCxnSpPr>
          <p:cNvPr id="157" name="Shift c 0.0"/>
          <p:cNvCxnSpPr/>
          <p:nvPr/>
        </p:nvCxnSpPr>
        <p:spPr>
          <a:xfrm>
            <a:off x="4314825" y="357187"/>
            <a:ext cx="400050" cy="0"/>
          </a:xfrm>
          <a:prstGeom prst="line">
            <a:avLst/>
          </a:prstGeom>
          <a:ln w="50800">
            <a:solidFill>
              <a:srgbClr val="E39B2D"/>
            </a:solidFill>
          </a:ln>
        </p:spPr>
      </p:cxnSp>
      <p:cxnSp>
        <p:nvCxnSpPr>
          <p:cNvPr id="158" name="Shift c 0.1"/>
          <p:cNvCxnSpPr/>
          <p:nvPr/>
        </p:nvCxnSpPr>
        <p:spPr>
          <a:xfrm>
            <a:off x="4714875" y="357187"/>
            <a:ext cx="0" cy="185738"/>
          </a:xfrm>
          <a:prstGeom prst="line">
            <a:avLst/>
          </a:prstGeom>
          <a:ln w="50800">
            <a:solidFill>
              <a:srgbClr val="E39B2D"/>
            </a:solidFill>
            <a:tailEnd type="triangle" w="med" len="med"/>
          </a:ln>
        </p:spPr>
      </p:cxnSp>
      <p:sp>
        <p:nvSpPr>
          <p:cNvPr id="159" name="Shift c 1"/>
          <p:cNvSpPr/>
          <p:nvPr/>
        </p:nvSpPr>
        <p:spPr>
          <a:xfrm>
            <a:off x="2143125" y="542925"/>
            <a:ext cx="2714625" cy="257175"/>
          </a:xfrm>
          <a:prstGeom prst="rect">
            <a:avLst/>
          </a:prstGeom>
          <a:noFill/>
          <a:ln w="63500">
            <a:solidFill>
              <a:srgbClr val="E39B2D"/>
            </a:solidFill>
          </a:ln>
        </p:spPr>
        <p:txBody>
          <a:bodyPr rtlCol="0" anchor="ctr" wrap="square" lIns="28575" rIns="28575" tIns="28575" bIns="28575"/>
          <a:lstStyle/>
          <a:p>
            <a:pPr algn="ctr"/>
          </a:p>
        </p:txBody>
      </p:sp>
      <p:sp>
        <p:nvSpPr>
          <p:cNvPr id="160" name="Map jtag"/>
          <p:cNvSpPr/>
          <p:nvPr/>
        </p:nvSpPr>
        <p:spPr>
          <a:xfrm>
            <a:off x="2143125" y="542925"/>
            <a:ext cx="2714625" cy="257175"/>
          </a:xfrm>
          <a:prstGeom prst="rect">
            <a:avLst/>
          </a:prstGeom>
          <a:solidFill>
            <a:srgbClr val="FFF3E0"/>
          </a:solidFill>
          <a:ln w="31750">
            <a:solidFill>
              <a:srgbClr val="E39B2D"/>
            </a:solidFill>
          </a:ln>
        </p:spPr>
        <p:txBody>
          <a:bodyPr rtlCol="0" anchor="ctr" wrap="square" lIns="14287" rIns="14287" tIns="14287" bIns="14287"/>
          <a:lstStyle/>
          <a:p>
            <a:pPr algn="ctr"/>
            <a:r>
              <a:rPr sz="843" b="1">
                <a:solidFill>
                  <a:srgbClr val="E39B2D"/>
                </a:solidFill>
                <a:latin typeface="Calibri"/>
              </a:rPr>
              <a:t>Address map: from JTAG (changed)</a:t>
            </a:r>
          </a:p>
        </p:txBody>
      </p:sp>
      <p:sp>
        <p:nvSpPr>
          <p:cNvPr id="161" name="Inject m3 b"/>
          <p:cNvSpPr/>
          <p:nvPr/>
        </p:nvSpPr>
        <p:spPr>
          <a:xfrm>
            <a:off x="1585912" y="3371850"/>
            <a:ext cx="214312" cy="585787"/>
          </a:xfrm>
          <a:prstGeom prst="rect">
            <a:avLst/>
          </a:prstGeom>
          <a:solidFill>
            <a:srgbClr val="E39B2D"/>
          </a:solidFill>
          <a:ln w="19050">
            <a:solidFill>
              <a:srgbClr val="00897B"/>
            </a:solidFill>
          </a:ln>
        </p:spPr>
        <p:txBody>
          <a:bodyPr rtlCol="0" anchor="ctr" wrap="square" lIns="28575" rIns="28575" tIns="28575" bIns="28575"/>
          <a:lstStyle/>
          <a:p>
            <a:pPr algn="ctr"/>
          </a:p>
        </p:txBody>
      </p:sp>
      <p:sp>
        <p:nvSpPr>
          <p:cNvPr id="162" name="Inject tag b"/>
          <p:cNvSpPr/>
          <p:nvPr/>
        </p:nvSpPr>
        <p:spPr>
          <a:xfrm>
            <a:off x="171450" y="4143375"/>
            <a:ext cx="1071562" cy="185737"/>
          </a:xfrm>
          <a:prstGeom prst="roundRect">
            <a:avLst>
              <a:gd name="adj" fmla="val 15000"/>
            </a:avLst>
          </a:prstGeom>
          <a:solidFill>
            <a:srgbClr val="FFFFFF"/>
          </a:solidFill>
          <a:ln w="15240">
            <a:solidFill>
              <a:srgbClr val="E39B2D"/>
            </a:solidFill>
          </a:ln>
        </p:spPr>
        <p:txBody>
          <a:bodyPr rtlCol="0" anchor="ctr" wrap="square" lIns="0" rIns="0" tIns="0" bIns="0"/>
          <a:lstStyle/>
          <a:p>
            <a:pPr algn="ctr"/>
            <a:r>
              <a:rPr sz="787" b="1">
                <a:solidFill>
                  <a:srgbClr val="E39B2D"/>
                </a:solidFill>
                <a:latin typeface="Calibri"/>
              </a:rPr>
              <a:t>same request</a:t>
            </a:r>
          </a:p>
        </p:txBody>
      </p:sp>
      <p:sp>
        <p:nvSpPr>
          <p:cNvPr id="163" name="Op hl 1 8"/>
          <p:cNvSpPr/>
          <p:nvPr/>
        </p:nvSpPr>
        <p:spPr>
          <a:xfrm>
            <a:off x="7115175" y="2643187"/>
            <a:ext cx="1700212" cy="428625"/>
          </a:xfrm>
          <a:prstGeom prst="roundRect">
            <a:avLst>
              <a:gd name="adj" fmla="val 15000"/>
            </a:avLst>
          </a:prstGeom>
          <a:solidFill>
            <a:srgbClr val="FFF3E0"/>
          </a:solidFill>
          <a:ln w="31750">
            <a:solidFill>
              <a:srgbClr val="E39B2D"/>
            </a:solidFill>
          </a:ln>
        </p:spPr>
        <p:txBody>
          <a:bodyPr rtlCol="0" anchor="ctr" wrap="square" lIns="14287" rIns="14287" tIns="14287" bIns="14287"/>
          <a:lstStyle/>
          <a:p>
            <a:pPr algn="ctr"/>
            <a:r>
              <a:rPr sz="956" b="1">
                <a:solidFill>
                  <a:srgbClr val="E39B2D"/>
                </a:solidFill>
                <a:latin typeface="Calibri"/>
              </a:rPr>
              <a:t>Update-DR</a:t>
            </a:r>
          </a:p>
          <a:p>
            <a:pPr algn="ctr"/>
            <a:r>
              <a:rPr sz="731" b="1">
                <a:solidFill>
                  <a:srgbClr val="12343B"/>
                </a:solidFill>
                <a:latin typeface="Calibri"/>
              </a:rPr>
              <a:t>a cut drives the bus, 1 TCK</a:t>
            </a:r>
          </a:p>
        </p:txBody>
      </p:sp>
      <p:cxnSp>
        <p:nvCxnSpPr>
          <p:cNvPr id="164" name="Route new map"/>
          <p:cNvCxnSpPr/>
          <p:nvPr/>
        </p:nvCxnSpPr>
        <p:spPr>
          <a:xfrm flipV="1">
            <a:off x="1800225" y="3193256"/>
            <a:ext cx="3429000" cy="471487"/>
          </a:xfrm>
          <a:prstGeom prst="line">
            <a:avLst/>
          </a:prstGeom>
          <a:ln w="50800">
            <a:solidFill>
              <a:srgbClr val="E39B2D"/>
            </a:solidFill>
            <a:tailEnd type="triangle" w="med" len="med"/>
          </a:ln>
        </p:spPr>
      </p:cxnSp>
      <p:sp>
        <p:nvSpPr>
          <p:cNvPr id="165" name="Got s3"/>
          <p:cNvSpPr/>
          <p:nvPr/>
        </p:nvSpPr>
        <p:spPr>
          <a:xfrm>
            <a:off x="5229225" y="2928937"/>
            <a:ext cx="214312" cy="528637"/>
          </a:xfrm>
          <a:prstGeom prst="rect">
            <a:avLst/>
          </a:prstGeom>
          <a:solidFill>
            <a:srgbClr val="2E7D32"/>
          </a:solidFill>
          <a:ln w="19050">
            <a:solidFill>
              <a:srgbClr val="00897B"/>
            </a:solidFill>
          </a:ln>
        </p:spPr>
        <p:txBody>
          <a:bodyPr rtlCol="0" anchor="ctr" wrap="square" lIns="28575" rIns="28575" tIns="28575" bIns="28575"/>
          <a:lstStyle/>
          <a:p>
            <a:pPr algn="ctr"/>
          </a:p>
        </p:txBody>
      </p:sp>
      <p:sp>
        <p:nvSpPr>
          <p:cNvPr id="166" name="Got s3 tag"/>
          <p:cNvSpPr/>
          <p:nvPr/>
        </p:nvSpPr>
        <p:spPr>
          <a:xfrm>
            <a:off x="5743575" y="3386137"/>
            <a:ext cx="928687" cy="185737"/>
          </a:xfrm>
          <a:prstGeom prst="roundRect">
            <a:avLst>
              <a:gd name="adj" fmla="val 15000"/>
            </a:avLst>
          </a:prstGeom>
          <a:solidFill>
            <a:srgbClr val="FFFFFF"/>
          </a:solidFill>
          <a:ln w="15240">
            <a:solidFill>
              <a:srgbClr val="2E7D32"/>
            </a:solidFill>
          </a:ln>
        </p:spPr>
        <p:txBody>
          <a:bodyPr rtlCol="0" anchor="ctr" wrap="square" lIns="0" rIns="0" tIns="0" bIns="0"/>
          <a:lstStyle/>
          <a:p>
            <a:pPr algn="ctr"/>
            <a:r>
              <a:rPr sz="787" b="1">
                <a:solidFill>
                  <a:srgbClr val="2E7D32"/>
                </a:solidFill>
                <a:latin typeface="Calibri"/>
              </a:rPr>
              <a:t>captured ✓</a:t>
            </a:r>
          </a:p>
        </p:txBody>
      </p:sp>
      <p:sp>
        <p:nvSpPr>
          <p:cNvPr id="167" name="Op hl 2 8"/>
          <p:cNvSpPr/>
          <p:nvPr/>
        </p:nvSpPr>
        <p:spPr>
          <a:xfrm>
            <a:off x="7115175" y="3143250"/>
            <a:ext cx="1700212" cy="428625"/>
          </a:xfrm>
          <a:prstGeom prst="roundRect">
            <a:avLst>
              <a:gd name="adj" fmla="val 15000"/>
            </a:avLst>
          </a:prstGeom>
          <a:solidFill>
            <a:srgbClr val="FFF3E0"/>
          </a:solidFill>
          <a:ln w="31750">
            <a:solidFill>
              <a:srgbClr val="E39B2D"/>
            </a:solidFill>
          </a:ln>
        </p:spPr>
        <p:txBody>
          <a:bodyPr rtlCol="0" anchor="ctr" wrap="square" lIns="14287" rIns="14287" tIns="14287" bIns="14287"/>
          <a:lstStyle/>
          <a:p>
            <a:pPr algn="ctr"/>
            <a:r>
              <a:rPr sz="956" b="1">
                <a:solidFill>
                  <a:srgbClr val="E39B2D"/>
                </a:solidFill>
                <a:latin typeface="Calibri"/>
              </a:rPr>
              <a:t>Capture-DR</a:t>
            </a:r>
          </a:p>
          <a:p>
            <a:pPr algn="ctr"/>
            <a:r>
              <a:rPr sz="731" b="1">
                <a:solidFill>
                  <a:srgbClr val="12343B"/>
                </a:solidFill>
                <a:latin typeface="Calibri"/>
              </a:rPr>
              <a:t>cuts record what arrived</a:t>
            </a:r>
          </a:p>
        </p:txBody>
      </p:sp>
      <p:sp>
        <p:nvSpPr>
          <p:cNvPr id="168" name="Caption 8"/>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The address map is the first register in the chain. Shift in a changed map and the same request</a:t>
            </a:r>
          </a:p>
          <a:p>
            <a:pPr algn="l"/>
            <a:r>
              <a:rPr sz="1237" b="0">
                <a:solidFill>
                  <a:srgbClr val="FFFFFF"/>
                </a:solidFill>
                <a:latin typeface="Calibri"/>
              </a:rPr>
              <a:t>now goes where the new map says: check a suspected decoding error without new silicon.</a:t>
            </a:r>
          </a:p>
        </p:txBody>
      </p:sp>
      <p:sp>
        <p:nvSpPr>
          <p:cNvPr id="169" name="Panel exit"/>
          <p:cNvSpPr/>
          <p:nvPr/>
        </p:nvSpPr>
        <p:spPr>
          <a:xfrm>
            <a:off x="7000875" y="857250"/>
            <a:ext cx="1928812" cy="3357562"/>
          </a:xfrm>
          <a:prstGeom prst="roundRect">
            <a:avLst>
              <a:gd name="adj" fmla="val 3703"/>
            </a:avLst>
          </a:prstGeom>
          <a:solidFill>
            <a:srgbClr val="FFFFFF"/>
          </a:solidFill>
          <a:ln w="19050">
            <a:solidFill>
              <a:srgbClr val="9E9E9E"/>
            </a:solidFill>
          </a:ln>
        </p:spPr>
        <p:txBody>
          <a:bodyPr rtlCol="0" anchor="t" wrap="square" lIns="114300" rIns="114300" tIns="114300" bIns="114300"/>
          <a:lstStyle/>
          <a:p>
            <a:pPr algn="l"/>
            <a:r>
              <a:rPr sz="843" b="1">
                <a:solidFill>
                  <a:srgbClr val="9E9E9E"/>
                </a:solidFill>
                <a:latin typeface="Calibri"/>
              </a:rPr>
              <a:t>Mode</a:t>
            </a:r>
          </a:p>
          <a:p>
            <a:pPr algn="l"/>
            <a:r>
              <a:rPr sz="1350" b="1">
                <a:solidFill>
                  <a:srgbClr val="93005F"/>
                </a:solidFill>
                <a:latin typeface="Calibri"/>
              </a:rPr>
              <a:t>Normal</a:t>
            </a:r>
          </a:p>
          <a:p>
            <a:pPr algn="l"/>
            <a:r>
              <a:rPr sz="450" b="0">
                <a:solidFill>
                  <a:srgbClr val="12343B"/>
                </a:solidFill>
                <a:latin typeface="Calibri"/>
              </a:rPr>
              <a:t/>
            </a:r>
          </a:p>
          <a:p>
            <a:pPr algn="l"/>
            <a:r>
              <a:rPr sz="843" b="1">
                <a:solidFill>
                  <a:srgbClr val="9E9E9E"/>
                </a:solidFill>
                <a:latin typeface="Calibri"/>
              </a:rPr>
              <a:t>Crossbar driven by</a:t>
            </a:r>
          </a:p>
          <a:p>
            <a:pPr algn="l"/>
            <a:r>
              <a:rPr sz="1125" b="1">
                <a:solidFill>
                  <a:srgbClr val="12343B"/>
                </a:solidFill>
                <a:latin typeface="Calibri"/>
              </a:rPr>
              <a:t>the managers</a:t>
            </a:r>
          </a:p>
        </p:txBody>
      </p:sp>
      <p:cxnSp>
        <p:nvCxnSpPr>
          <p:cNvPr id="170" name="Route after"/>
          <p:cNvCxnSpPr/>
          <p:nvPr/>
        </p:nvCxnSpPr>
        <p:spPr>
          <a:xfrm>
            <a:off x="1800225" y="2864643"/>
            <a:ext cx="3429000" cy="328613"/>
          </a:xfrm>
          <a:prstGeom prst="line">
            <a:avLst/>
          </a:prstGeom>
          <a:ln w="50800">
            <a:solidFill>
              <a:srgbClr val="93005F"/>
            </a:solidFill>
            <a:tailEnd type="triangle" w="med" len="med"/>
          </a:ln>
        </p:spPr>
      </p:cxnSp>
      <p:sp>
        <p:nvSpPr>
          <p:cNvPr id="171" name="Caption 9"/>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Leaving isolation (BYPASS) reopens the cuts and restores the built-in map.</a:t>
            </a:r>
          </a:p>
          <a:p>
            <a:pPr algn="l"/>
            <a:r>
              <a:rPr sz="1237" b="0">
                <a:solidFill>
                  <a:srgbClr val="FFFFFF"/>
                </a:solidFill>
                <a:latin typeface="Calibri"/>
              </a:rPr>
              <a:t>The system runs as before; the test leaves nothing behind.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250"/>
                                        <p:tgtEl>
                                          <p:spTgt spid="4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250"/>
                                        <p:tgtEl>
                                          <p:spTgt spid="4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250"/>
                                        <p:tgtEl>
                                          <p:spTgt spid="43"/>
                                        </p:tgtEl>
                                      </p:cBhvr>
                                    </p:animEffect>
                                    <p:set>
                                      <p:cBhvr>
                                        <p:cTn id="15" dur="1" fill="hold">
                                          <p:stCondLst>
                                            <p:cond delay="249"/>
                                          </p:stCondLst>
                                        </p:cTn>
                                        <p:tgtEl>
                                          <p:spTgt spid="43"/>
                                        </p:tgtEl>
                                        <p:attrNameLst>
                                          <p:attrName>style.visibility</p:attrName>
                                        </p:attrNameLst>
                                      </p:cBhvr>
                                      <p:to>
                                        <p:strVal val="hidden"/>
                                      </p:to>
                                    </p:set>
                                  </p:childTnLst>
                                </p:cTn>
                              </p:par>
                              <p:par>
                                <p:cTn id="16" presetID="10" presetClass="entr" presetSubtype="0" fill="hold" grpId="0" nodeType="with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fade">
                                      <p:cBhvr>
                                        <p:cTn id="18" dur="250"/>
                                        <p:tgtEl>
                                          <p:spTgt spid="4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animEffect transition="in" filter="fade">
                                      <p:cBhvr>
                                        <p:cTn id="21" dur="250"/>
                                        <p:tgtEl>
                                          <p:spTgt spid="4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7"/>
                                        </p:tgtEl>
                                        <p:attrNameLst>
                                          <p:attrName>style.visibility</p:attrName>
                                        </p:attrNameLst>
                                      </p:cBhvr>
                                      <p:to>
                                        <p:strVal val="visible"/>
                                      </p:to>
                                    </p:set>
                                    <p:animEffect transition="in" filter="fade">
                                      <p:cBhvr>
                                        <p:cTn id="24" dur="250"/>
                                        <p:tgtEl>
                                          <p:spTgt spid="4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8"/>
                                        </p:tgtEl>
                                        <p:attrNameLst>
                                          <p:attrName>style.visibility</p:attrName>
                                        </p:attrNameLst>
                                      </p:cBhvr>
                                      <p:to>
                                        <p:strVal val="visible"/>
                                      </p:to>
                                    </p:set>
                                    <p:animEffect transition="in" filter="fade">
                                      <p:cBhvr>
                                        <p:cTn id="27" dur="250"/>
                                        <p:tgtEl>
                                          <p:spTgt spid="4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250"/>
                                        <p:tgtEl>
                                          <p:spTgt spid="4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0"/>
                                        </p:tgtEl>
                                        <p:attrNameLst>
                                          <p:attrName>style.visibility</p:attrName>
                                        </p:attrNameLst>
                                      </p:cBhvr>
                                      <p:to>
                                        <p:strVal val="visible"/>
                                      </p:to>
                                    </p:set>
                                    <p:animEffect transition="in" filter="fade">
                                      <p:cBhvr>
                                        <p:cTn id="33" dur="250"/>
                                        <p:tgtEl>
                                          <p:spTgt spid="5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1"/>
                                        </p:tgtEl>
                                        <p:attrNameLst>
                                          <p:attrName>style.visibility</p:attrName>
                                        </p:attrNameLst>
                                      </p:cBhvr>
                                      <p:to>
                                        <p:strVal val="visible"/>
                                      </p:to>
                                    </p:set>
                                    <p:animEffect transition="in" filter="fade">
                                      <p:cBhvr>
                                        <p:cTn id="36" dur="250"/>
                                        <p:tgtEl>
                                          <p:spTgt spid="5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2"/>
                                        </p:tgtEl>
                                        <p:attrNameLst>
                                          <p:attrName>style.visibility</p:attrName>
                                        </p:attrNameLst>
                                      </p:cBhvr>
                                      <p:to>
                                        <p:strVal val="visible"/>
                                      </p:to>
                                    </p:set>
                                    <p:animEffect transition="in" filter="fade">
                                      <p:cBhvr>
                                        <p:cTn id="39" dur="250"/>
                                        <p:tgtEl>
                                          <p:spTgt spid="5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3"/>
                                        </p:tgtEl>
                                        <p:attrNameLst>
                                          <p:attrName>style.visibility</p:attrName>
                                        </p:attrNameLst>
                                      </p:cBhvr>
                                      <p:to>
                                        <p:strVal val="visible"/>
                                      </p:to>
                                    </p:set>
                                    <p:animEffect transition="in" filter="fade">
                                      <p:cBhvr>
                                        <p:cTn id="42" dur="250"/>
                                        <p:tgtEl>
                                          <p:spTgt spid="5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86"/>
                                        </p:tgtEl>
                                        <p:attrNameLst>
                                          <p:attrName>style.visibility</p:attrName>
                                        </p:attrNameLst>
                                      </p:cBhvr>
                                      <p:to>
                                        <p:strVal val="visible"/>
                                      </p:to>
                                    </p:set>
                                    <p:animEffect transition="in" filter="fade">
                                      <p:cBhvr>
                                        <p:cTn id="45" dur="250"/>
                                        <p:tgtEl>
                                          <p:spTgt spid="8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91"/>
                                        </p:tgtEl>
                                        <p:attrNameLst>
                                          <p:attrName>style.visibility</p:attrName>
                                        </p:attrNameLst>
                                      </p:cBhvr>
                                      <p:to>
                                        <p:strVal val="visible"/>
                                      </p:to>
                                    </p:set>
                                    <p:animEffect transition="in" filter="fade">
                                      <p:cBhvr>
                                        <p:cTn id="48" dur="250"/>
                                        <p:tgtEl>
                                          <p:spTgt spid="91"/>
                                        </p:tgtEl>
                                      </p:cBhvr>
                                    </p:animEffect>
                                  </p:childTnLst>
                                </p:cTn>
                              </p:par>
                            </p:childTnLst>
                          </p:cTn>
                        </p:par>
                        <p:par>
                          <p:cTn id="49" fill="hold">
                            <p:stCondLst>
                              <p:cond delay="300"/>
                            </p:stCondLst>
                            <p:childTnLst>
                              <p:par>
                                <p:cTn id="50" presetID="10" presetClass="entr" presetSubtype="0" fill="hold" grpId="0" nodeType="afterEffect">
                                  <p:stCondLst>
                                    <p:cond delay="0"/>
                                  </p:stCondLst>
                                  <p:childTnLst>
                                    <p:set>
                                      <p:cBhvr>
                                        <p:cTn id="51" dur="1" fill="hold">
                                          <p:stCondLst>
                                            <p:cond delay="0"/>
                                          </p:stCondLst>
                                        </p:cTn>
                                        <p:tgtEl>
                                          <p:spTgt spid="54"/>
                                        </p:tgtEl>
                                        <p:attrNameLst>
                                          <p:attrName>style.visibility</p:attrName>
                                        </p:attrNameLst>
                                      </p:cBhvr>
                                      <p:to>
                                        <p:strVal val="visible"/>
                                      </p:to>
                                    </p:set>
                                    <p:animEffect transition="in" filter="fade">
                                      <p:cBhvr>
                                        <p:cTn id="52" dur="250"/>
                                        <p:tgtEl>
                                          <p:spTgt spid="5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5"/>
                                        </p:tgtEl>
                                        <p:attrNameLst>
                                          <p:attrName>style.visibility</p:attrName>
                                        </p:attrNameLst>
                                      </p:cBhvr>
                                      <p:to>
                                        <p:strVal val="visible"/>
                                      </p:to>
                                    </p:set>
                                    <p:animEffect transition="in" filter="fade">
                                      <p:cBhvr>
                                        <p:cTn id="55" dur="250"/>
                                        <p:tgtEl>
                                          <p:spTgt spid="5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6"/>
                                        </p:tgtEl>
                                        <p:attrNameLst>
                                          <p:attrName>style.visibility</p:attrName>
                                        </p:attrNameLst>
                                      </p:cBhvr>
                                      <p:to>
                                        <p:strVal val="visible"/>
                                      </p:to>
                                    </p:set>
                                    <p:animEffect transition="in" filter="fade">
                                      <p:cBhvr>
                                        <p:cTn id="58" dur="250"/>
                                        <p:tgtEl>
                                          <p:spTgt spid="5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7"/>
                                        </p:tgtEl>
                                        <p:attrNameLst>
                                          <p:attrName>style.visibility</p:attrName>
                                        </p:attrNameLst>
                                      </p:cBhvr>
                                      <p:to>
                                        <p:strVal val="visible"/>
                                      </p:to>
                                    </p:set>
                                    <p:animEffect transition="in" filter="fade">
                                      <p:cBhvr>
                                        <p:cTn id="61" dur="250"/>
                                        <p:tgtEl>
                                          <p:spTgt spid="5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87"/>
                                        </p:tgtEl>
                                        <p:attrNameLst>
                                          <p:attrName>style.visibility</p:attrName>
                                        </p:attrNameLst>
                                      </p:cBhvr>
                                      <p:to>
                                        <p:strVal val="visible"/>
                                      </p:to>
                                    </p:set>
                                    <p:animEffect transition="in" filter="fade">
                                      <p:cBhvr>
                                        <p:cTn id="64" dur="250"/>
                                        <p:tgtEl>
                                          <p:spTgt spid="8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88"/>
                                        </p:tgtEl>
                                        <p:attrNameLst>
                                          <p:attrName>style.visibility</p:attrName>
                                        </p:attrNameLst>
                                      </p:cBhvr>
                                      <p:to>
                                        <p:strVal val="visible"/>
                                      </p:to>
                                    </p:set>
                                    <p:animEffect transition="in" filter="fade">
                                      <p:cBhvr>
                                        <p:cTn id="67" dur="250"/>
                                        <p:tgtEl>
                                          <p:spTgt spid="8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89"/>
                                        </p:tgtEl>
                                        <p:attrNameLst>
                                          <p:attrName>style.visibility</p:attrName>
                                        </p:attrNameLst>
                                      </p:cBhvr>
                                      <p:to>
                                        <p:strVal val="visible"/>
                                      </p:to>
                                    </p:set>
                                    <p:animEffect transition="in" filter="fade">
                                      <p:cBhvr>
                                        <p:cTn id="70" dur="250"/>
                                        <p:tgtEl>
                                          <p:spTgt spid="8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90"/>
                                        </p:tgtEl>
                                        <p:attrNameLst>
                                          <p:attrName>style.visibility</p:attrName>
                                        </p:attrNameLst>
                                      </p:cBhvr>
                                      <p:to>
                                        <p:strVal val="visible"/>
                                      </p:to>
                                    </p:set>
                                    <p:animEffect transition="in" filter="fade">
                                      <p:cBhvr>
                                        <p:cTn id="73" dur="250"/>
                                        <p:tgtEl>
                                          <p:spTgt spid="90"/>
                                        </p:tgtEl>
                                      </p:cBhvr>
                                    </p:animEffect>
                                  </p:childTnLst>
                                </p:cTn>
                              </p:par>
                            </p:childTnLst>
                          </p:cTn>
                        </p:par>
                        <p:par>
                          <p:cTn id="74" fill="hold">
                            <p:stCondLst>
                              <p:cond delay="500"/>
                            </p:stCondLst>
                            <p:childTnLst>
                              <p:par>
                                <p:cTn id="75" presetID="10" presetClass="entr" presetSubtype="0" fill="hold" grpId="0" nodeType="afterEffect">
                                  <p:stCondLst>
                                    <p:cond delay="0"/>
                                  </p:stCondLst>
                                  <p:childTnLst>
                                    <p:set>
                                      <p:cBhvr>
                                        <p:cTn id="76" dur="1" fill="hold">
                                          <p:stCondLst>
                                            <p:cond delay="0"/>
                                          </p:stCondLst>
                                        </p:cTn>
                                        <p:tgtEl>
                                          <p:spTgt spid="58"/>
                                        </p:tgtEl>
                                        <p:attrNameLst>
                                          <p:attrName>style.visibility</p:attrName>
                                        </p:attrNameLst>
                                      </p:cBhvr>
                                      <p:to>
                                        <p:strVal val="visible"/>
                                      </p:to>
                                    </p:set>
                                    <p:animEffect transition="in" filter="fade">
                                      <p:cBhvr>
                                        <p:cTn id="77" dur="250"/>
                                        <p:tgtEl>
                                          <p:spTgt spid="5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84"/>
                                        </p:tgtEl>
                                        <p:attrNameLst>
                                          <p:attrName>style.visibility</p:attrName>
                                        </p:attrNameLst>
                                      </p:cBhvr>
                                      <p:to>
                                        <p:strVal val="visible"/>
                                      </p:to>
                                    </p:set>
                                    <p:animEffect transition="in" filter="fade">
                                      <p:cBhvr>
                                        <p:cTn id="80" dur="250"/>
                                        <p:tgtEl>
                                          <p:spTgt spid="84"/>
                                        </p:tgtEl>
                                      </p:cBhvr>
                                    </p:animEffect>
                                  </p:childTnLst>
                                </p:cTn>
                              </p:par>
                            </p:childTnLst>
                          </p:cTn>
                        </p:par>
                        <p:par>
                          <p:cTn id="81" fill="hold">
                            <p:stCondLst>
                              <p:cond delay="525"/>
                            </p:stCondLst>
                            <p:childTnLst>
                              <p:par>
                                <p:cTn id="82" presetID="10" presetClass="entr" presetSubtype="0" fill="hold" grpId="0" nodeType="afterEffect">
                                  <p:stCondLst>
                                    <p:cond delay="0"/>
                                  </p:stCondLst>
                                  <p:childTnLst>
                                    <p:set>
                                      <p:cBhvr>
                                        <p:cTn id="83" dur="1" fill="hold">
                                          <p:stCondLst>
                                            <p:cond delay="0"/>
                                          </p:stCondLst>
                                        </p:cTn>
                                        <p:tgtEl>
                                          <p:spTgt spid="59"/>
                                        </p:tgtEl>
                                        <p:attrNameLst>
                                          <p:attrName>style.visibility</p:attrName>
                                        </p:attrNameLst>
                                      </p:cBhvr>
                                      <p:to>
                                        <p:strVal val="visible"/>
                                      </p:to>
                                    </p:set>
                                    <p:animEffect transition="in" filter="fade">
                                      <p:cBhvr>
                                        <p:cTn id="84" dur="250"/>
                                        <p:tgtEl>
                                          <p:spTgt spid="59"/>
                                        </p:tgtEl>
                                      </p:cBhvr>
                                    </p:animEffect>
                                  </p:childTnLst>
                                </p:cTn>
                              </p:par>
                            </p:childTnLst>
                          </p:cTn>
                        </p:par>
                        <p:par>
                          <p:cTn id="85" fill="hold">
                            <p:stCondLst>
                              <p:cond delay="550"/>
                            </p:stCondLst>
                            <p:childTnLst>
                              <p:par>
                                <p:cTn id="86" presetID="10" presetClass="entr" presetSubtype="0" fill="hold" grpId="0" nodeType="afterEffect">
                                  <p:stCondLst>
                                    <p:cond delay="0"/>
                                  </p:stCondLst>
                                  <p:childTnLst>
                                    <p:set>
                                      <p:cBhvr>
                                        <p:cTn id="87" dur="1" fill="hold">
                                          <p:stCondLst>
                                            <p:cond delay="0"/>
                                          </p:stCondLst>
                                        </p:cTn>
                                        <p:tgtEl>
                                          <p:spTgt spid="60"/>
                                        </p:tgtEl>
                                        <p:attrNameLst>
                                          <p:attrName>style.visibility</p:attrName>
                                        </p:attrNameLst>
                                      </p:cBhvr>
                                      <p:to>
                                        <p:strVal val="visible"/>
                                      </p:to>
                                    </p:set>
                                    <p:animEffect transition="in" filter="fade">
                                      <p:cBhvr>
                                        <p:cTn id="88" dur="250"/>
                                        <p:tgtEl>
                                          <p:spTgt spid="60"/>
                                        </p:tgtEl>
                                      </p:cBhvr>
                                    </p:animEffect>
                                  </p:childTnLst>
                                </p:cTn>
                              </p:par>
                            </p:childTnLst>
                          </p:cTn>
                        </p:par>
                        <p:par>
                          <p:cTn id="89" fill="hold">
                            <p:stCondLst>
                              <p:cond delay="575"/>
                            </p:stCondLst>
                            <p:childTnLst>
                              <p:par>
                                <p:cTn id="90" presetID="10" presetClass="entr" presetSubtype="0" fill="hold" grpId="0" nodeType="afterEffect">
                                  <p:stCondLst>
                                    <p:cond delay="0"/>
                                  </p:stCondLst>
                                  <p:childTnLst>
                                    <p:set>
                                      <p:cBhvr>
                                        <p:cTn id="91" dur="1" fill="hold">
                                          <p:stCondLst>
                                            <p:cond delay="0"/>
                                          </p:stCondLst>
                                        </p:cTn>
                                        <p:tgtEl>
                                          <p:spTgt spid="61"/>
                                        </p:tgtEl>
                                        <p:attrNameLst>
                                          <p:attrName>style.visibility</p:attrName>
                                        </p:attrNameLst>
                                      </p:cBhvr>
                                      <p:to>
                                        <p:strVal val="visible"/>
                                      </p:to>
                                    </p:set>
                                    <p:animEffect transition="in" filter="fade">
                                      <p:cBhvr>
                                        <p:cTn id="92" dur="250"/>
                                        <p:tgtEl>
                                          <p:spTgt spid="61"/>
                                        </p:tgtEl>
                                      </p:cBhvr>
                                    </p:animEffect>
                                  </p:childTnLst>
                                </p:cTn>
                              </p:par>
                            </p:childTnLst>
                          </p:cTn>
                        </p:par>
                        <p:par>
                          <p:cTn id="93" fill="hold">
                            <p:stCondLst>
                              <p:cond delay="600"/>
                            </p:stCondLst>
                            <p:childTnLst>
                              <p:par>
                                <p:cTn id="94" presetID="10" presetClass="entr" presetSubtype="0" fill="hold" grpId="0" nodeType="afterEffect">
                                  <p:stCondLst>
                                    <p:cond delay="0"/>
                                  </p:stCondLst>
                                  <p:childTnLst>
                                    <p:set>
                                      <p:cBhvr>
                                        <p:cTn id="95" dur="1" fill="hold">
                                          <p:stCondLst>
                                            <p:cond delay="0"/>
                                          </p:stCondLst>
                                        </p:cTn>
                                        <p:tgtEl>
                                          <p:spTgt spid="62"/>
                                        </p:tgtEl>
                                        <p:attrNameLst>
                                          <p:attrName>style.visibility</p:attrName>
                                        </p:attrNameLst>
                                      </p:cBhvr>
                                      <p:to>
                                        <p:strVal val="visible"/>
                                      </p:to>
                                    </p:set>
                                    <p:animEffect transition="in" filter="fade">
                                      <p:cBhvr>
                                        <p:cTn id="96" dur="250"/>
                                        <p:tgtEl>
                                          <p:spTgt spid="62"/>
                                        </p:tgtEl>
                                      </p:cBhvr>
                                    </p:animEffect>
                                  </p:childTnLst>
                                </p:cTn>
                              </p:par>
                            </p:childTnLst>
                          </p:cTn>
                        </p:par>
                        <p:par>
                          <p:cTn id="97" fill="hold">
                            <p:stCondLst>
                              <p:cond delay="625"/>
                            </p:stCondLst>
                            <p:childTnLst>
                              <p:par>
                                <p:cTn id="98" presetID="10" presetClass="entr" presetSubtype="0" fill="hold" grpId="0" nodeType="afterEffect">
                                  <p:stCondLst>
                                    <p:cond delay="0"/>
                                  </p:stCondLst>
                                  <p:childTnLst>
                                    <p:set>
                                      <p:cBhvr>
                                        <p:cTn id="99" dur="1" fill="hold">
                                          <p:stCondLst>
                                            <p:cond delay="0"/>
                                          </p:stCondLst>
                                        </p:cTn>
                                        <p:tgtEl>
                                          <p:spTgt spid="63"/>
                                        </p:tgtEl>
                                        <p:attrNameLst>
                                          <p:attrName>style.visibility</p:attrName>
                                        </p:attrNameLst>
                                      </p:cBhvr>
                                      <p:to>
                                        <p:strVal val="visible"/>
                                      </p:to>
                                    </p:set>
                                    <p:animEffect transition="in" filter="fade">
                                      <p:cBhvr>
                                        <p:cTn id="100" dur="250"/>
                                        <p:tgtEl>
                                          <p:spTgt spid="63"/>
                                        </p:tgtEl>
                                      </p:cBhvr>
                                    </p:animEffect>
                                  </p:childTnLst>
                                </p:cTn>
                              </p:par>
                            </p:childTnLst>
                          </p:cTn>
                        </p:par>
                        <p:par>
                          <p:cTn id="101" fill="hold">
                            <p:stCondLst>
                              <p:cond delay="650"/>
                            </p:stCondLst>
                            <p:childTnLst>
                              <p:par>
                                <p:cTn id="102" presetID="10" presetClass="entr" presetSubtype="0" fill="hold" grpId="0" nodeType="afterEffect">
                                  <p:stCondLst>
                                    <p:cond delay="0"/>
                                  </p:stCondLst>
                                  <p:childTnLst>
                                    <p:set>
                                      <p:cBhvr>
                                        <p:cTn id="103" dur="1" fill="hold">
                                          <p:stCondLst>
                                            <p:cond delay="0"/>
                                          </p:stCondLst>
                                        </p:cTn>
                                        <p:tgtEl>
                                          <p:spTgt spid="64"/>
                                        </p:tgtEl>
                                        <p:attrNameLst>
                                          <p:attrName>style.visibility</p:attrName>
                                        </p:attrNameLst>
                                      </p:cBhvr>
                                      <p:to>
                                        <p:strVal val="visible"/>
                                      </p:to>
                                    </p:set>
                                    <p:animEffect transition="in" filter="fade">
                                      <p:cBhvr>
                                        <p:cTn id="104" dur="250"/>
                                        <p:tgtEl>
                                          <p:spTgt spid="64"/>
                                        </p:tgtEl>
                                      </p:cBhvr>
                                    </p:animEffect>
                                  </p:childTnLst>
                                </p:cTn>
                              </p:par>
                            </p:childTnLst>
                          </p:cTn>
                        </p:par>
                        <p:par>
                          <p:cTn id="105" fill="hold">
                            <p:stCondLst>
                              <p:cond delay="675"/>
                            </p:stCondLst>
                            <p:childTnLst>
                              <p:par>
                                <p:cTn id="106" presetID="10" presetClass="entr" presetSubtype="0" fill="hold" grpId="0" nodeType="afterEffect">
                                  <p:stCondLst>
                                    <p:cond delay="0"/>
                                  </p:stCondLst>
                                  <p:childTnLst>
                                    <p:set>
                                      <p:cBhvr>
                                        <p:cTn id="107" dur="1" fill="hold">
                                          <p:stCondLst>
                                            <p:cond delay="0"/>
                                          </p:stCondLst>
                                        </p:cTn>
                                        <p:tgtEl>
                                          <p:spTgt spid="65"/>
                                        </p:tgtEl>
                                        <p:attrNameLst>
                                          <p:attrName>style.visibility</p:attrName>
                                        </p:attrNameLst>
                                      </p:cBhvr>
                                      <p:to>
                                        <p:strVal val="visible"/>
                                      </p:to>
                                    </p:set>
                                    <p:animEffect transition="in" filter="fade">
                                      <p:cBhvr>
                                        <p:cTn id="108" dur="250"/>
                                        <p:tgtEl>
                                          <p:spTgt spid="65"/>
                                        </p:tgtEl>
                                      </p:cBhvr>
                                    </p:animEffect>
                                  </p:childTnLst>
                                </p:cTn>
                              </p:par>
                            </p:childTnLst>
                          </p:cTn>
                        </p:par>
                        <p:par>
                          <p:cTn id="109" fill="hold">
                            <p:stCondLst>
                              <p:cond delay="700"/>
                            </p:stCondLst>
                            <p:childTnLst>
                              <p:par>
                                <p:cTn id="110" presetID="10" presetClass="entr" presetSubtype="0" fill="hold" grpId="0" nodeType="afterEffect">
                                  <p:stCondLst>
                                    <p:cond delay="0"/>
                                  </p:stCondLst>
                                  <p:childTnLst>
                                    <p:set>
                                      <p:cBhvr>
                                        <p:cTn id="111" dur="1" fill="hold">
                                          <p:stCondLst>
                                            <p:cond delay="0"/>
                                          </p:stCondLst>
                                        </p:cTn>
                                        <p:tgtEl>
                                          <p:spTgt spid="66"/>
                                        </p:tgtEl>
                                        <p:attrNameLst>
                                          <p:attrName>style.visibility</p:attrName>
                                        </p:attrNameLst>
                                      </p:cBhvr>
                                      <p:to>
                                        <p:strVal val="visible"/>
                                      </p:to>
                                    </p:set>
                                    <p:animEffect transition="in" filter="fade">
                                      <p:cBhvr>
                                        <p:cTn id="112" dur="250"/>
                                        <p:tgtEl>
                                          <p:spTgt spid="66"/>
                                        </p:tgtEl>
                                      </p:cBhvr>
                                    </p:animEffect>
                                  </p:childTnLst>
                                </p:cTn>
                              </p:par>
                            </p:childTnLst>
                          </p:cTn>
                        </p:par>
                        <p:par>
                          <p:cTn id="113" fill="hold">
                            <p:stCondLst>
                              <p:cond delay="725"/>
                            </p:stCondLst>
                            <p:childTnLst>
                              <p:par>
                                <p:cTn id="114" presetID="10" presetClass="entr" presetSubtype="0" fill="hold" grpId="0" nodeType="afterEffect">
                                  <p:stCondLst>
                                    <p:cond delay="0"/>
                                  </p:stCondLst>
                                  <p:childTnLst>
                                    <p:set>
                                      <p:cBhvr>
                                        <p:cTn id="115" dur="1" fill="hold">
                                          <p:stCondLst>
                                            <p:cond delay="0"/>
                                          </p:stCondLst>
                                        </p:cTn>
                                        <p:tgtEl>
                                          <p:spTgt spid="67"/>
                                        </p:tgtEl>
                                        <p:attrNameLst>
                                          <p:attrName>style.visibility</p:attrName>
                                        </p:attrNameLst>
                                      </p:cBhvr>
                                      <p:to>
                                        <p:strVal val="visible"/>
                                      </p:to>
                                    </p:set>
                                    <p:animEffect transition="in" filter="fade">
                                      <p:cBhvr>
                                        <p:cTn id="116" dur="250"/>
                                        <p:tgtEl>
                                          <p:spTgt spid="67"/>
                                        </p:tgtEl>
                                      </p:cBhvr>
                                    </p:animEffect>
                                  </p:childTnLst>
                                </p:cTn>
                              </p:par>
                            </p:childTnLst>
                          </p:cTn>
                        </p:par>
                        <p:par>
                          <p:cTn id="117" fill="hold">
                            <p:stCondLst>
                              <p:cond delay="750"/>
                            </p:stCondLst>
                            <p:childTnLst>
                              <p:par>
                                <p:cTn id="118" presetID="10" presetClass="entr" presetSubtype="0" fill="hold" grpId="0" nodeType="afterEffect">
                                  <p:stCondLst>
                                    <p:cond delay="0"/>
                                  </p:stCondLst>
                                  <p:childTnLst>
                                    <p:set>
                                      <p:cBhvr>
                                        <p:cTn id="119" dur="1" fill="hold">
                                          <p:stCondLst>
                                            <p:cond delay="0"/>
                                          </p:stCondLst>
                                        </p:cTn>
                                        <p:tgtEl>
                                          <p:spTgt spid="68"/>
                                        </p:tgtEl>
                                        <p:attrNameLst>
                                          <p:attrName>style.visibility</p:attrName>
                                        </p:attrNameLst>
                                      </p:cBhvr>
                                      <p:to>
                                        <p:strVal val="visible"/>
                                      </p:to>
                                    </p:set>
                                    <p:animEffect transition="in" filter="fade">
                                      <p:cBhvr>
                                        <p:cTn id="120" dur="250"/>
                                        <p:tgtEl>
                                          <p:spTgt spid="68"/>
                                        </p:tgtEl>
                                      </p:cBhvr>
                                    </p:animEffect>
                                  </p:childTnLst>
                                </p:cTn>
                              </p:par>
                            </p:childTnLst>
                          </p:cTn>
                        </p:par>
                        <p:par>
                          <p:cTn id="121" fill="hold">
                            <p:stCondLst>
                              <p:cond delay="775"/>
                            </p:stCondLst>
                            <p:childTnLst>
                              <p:par>
                                <p:cTn id="122" presetID="10" presetClass="entr" presetSubtype="0" fill="hold" grpId="0" nodeType="afterEffect">
                                  <p:stCondLst>
                                    <p:cond delay="0"/>
                                  </p:stCondLst>
                                  <p:childTnLst>
                                    <p:set>
                                      <p:cBhvr>
                                        <p:cTn id="123" dur="1" fill="hold">
                                          <p:stCondLst>
                                            <p:cond delay="0"/>
                                          </p:stCondLst>
                                        </p:cTn>
                                        <p:tgtEl>
                                          <p:spTgt spid="69"/>
                                        </p:tgtEl>
                                        <p:attrNameLst>
                                          <p:attrName>style.visibility</p:attrName>
                                        </p:attrNameLst>
                                      </p:cBhvr>
                                      <p:to>
                                        <p:strVal val="visible"/>
                                      </p:to>
                                    </p:set>
                                    <p:animEffect transition="in" filter="fade">
                                      <p:cBhvr>
                                        <p:cTn id="124" dur="250"/>
                                        <p:tgtEl>
                                          <p:spTgt spid="69"/>
                                        </p:tgtEl>
                                      </p:cBhvr>
                                    </p:animEffect>
                                  </p:childTnLst>
                                </p:cTn>
                              </p:par>
                            </p:childTnLst>
                          </p:cTn>
                        </p:par>
                        <p:par>
                          <p:cTn id="125" fill="hold">
                            <p:stCondLst>
                              <p:cond delay="800"/>
                            </p:stCondLst>
                            <p:childTnLst>
                              <p:par>
                                <p:cTn id="126" presetID="10" presetClass="entr" presetSubtype="0" fill="hold" grpId="0" nodeType="afterEffect">
                                  <p:stCondLst>
                                    <p:cond delay="0"/>
                                  </p:stCondLst>
                                  <p:childTnLst>
                                    <p:set>
                                      <p:cBhvr>
                                        <p:cTn id="127" dur="1" fill="hold">
                                          <p:stCondLst>
                                            <p:cond delay="0"/>
                                          </p:stCondLst>
                                        </p:cTn>
                                        <p:tgtEl>
                                          <p:spTgt spid="70"/>
                                        </p:tgtEl>
                                        <p:attrNameLst>
                                          <p:attrName>style.visibility</p:attrName>
                                        </p:attrNameLst>
                                      </p:cBhvr>
                                      <p:to>
                                        <p:strVal val="visible"/>
                                      </p:to>
                                    </p:set>
                                    <p:animEffect transition="in" filter="fade">
                                      <p:cBhvr>
                                        <p:cTn id="128" dur="250"/>
                                        <p:tgtEl>
                                          <p:spTgt spid="70"/>
                                        </p:tgtEl>
                                      </p:cBhvr>
                                    </p:animEffect>
                                  </p:childTnLst>
                                </p:cTn>
                              </p:par>
                            </p:childTnLst>
                          </p:cTn>
                        </p:par>
                        <p:par>
                          <p:cTn id="129" fill="hold">
                            <p:stCondLst>
                              <p:cond delay="825"/>
                            </p:stCondLst>
                            <p:childTnLst>
                              <p:par>
                                <p:cTn id="130" presetID="10" presetClass="entr" presetSubtype="0" fill="hold" grpId="0" nodeType="afterEffect">
                                  <p:stCondLst>
                                    <p:cond delay="0"/>
                                  </p:stCondLst>
                                  <p:childTnLst>
                                    <p:set>
                                      <p:cBhvr>
                                        <p:cTn id="131" dur="1" fill="hold">
                                          <p:stCondLst>
                                            <p:cond delay="0"/>
                                          </p:stCondLst>
                                        </p:cTn>
                                        <p:tgtEl>
                                          <p:spTgt spid="71"/>
                                        </p:tgtEl>
                                        <p:attrNameLst>
                                          <p:attrName>style.visibility</p:attrName>
                                        </p:attrNameLst>
                                      </p:cBhvr>
                                      <p:to>
                                        <p:strVal val="visible"/>
                                      </p:to>
                                    </p:set>
                                    <p:animEffect transition="in" filter="fade">
                                      <p:cBhvr>
                                        <p:cTn id="132" dur="250"/>
                                        <p:tgtEl>
                                          <p:spTgt spid="71"/>
                                        </p:tgtEl>
                                      </p:cBhvr>
                                    </p:animEffect>
                                  </p:childTnLst>
                                </p:cTn>
                              </p:par>
                            </p:childTnLst>
                          </p:cTn>
                        </p:par>
                        <p:par>
                          <p:cTn id="133" fill="hold">
                            <p:stCondLst>
                              <p:cond delay="850"/>
                            </p:stCondLst>
                            <p:childTnLst>
                              <p:par>
                                <p:cTn id="134" presetID="10" presetClass="entr" presetSubtype="0" fill="hold" grpId="0" nodeType="afterEffect">
                                  <p:stCondLst>
                                    <p:cond delay="0"/>
                                  </p:stCondLst>
                                  <p:childTnLst>
                                    <p:set>
                                      <p:cBhvr>
                                        <p:cTn id="135" dur="1" fill="hold">
                                          <p:stCondLst>
                                            <p:cond delay="0"/>
                                          </p:stCondLst>
                                        </p:cTn>
                                        <p:tgtEl>
                                          <p:spTgt spid="72"/>
                                        </p:tgtEl>
                                        <p:attrNameLst>
                                          <p:attrName>style.visibility</p:attrName>
                                        </p:attrNameLst>
                                      </p:cBhvr>
                                      <p:to>
                                        <p:strVal val="visible"/>
                                      </p:to>
                                    </p:set>
                                    <p:animEffect transition="in" filter="fade">
                                      <p:cBhvr>
                                        <p:cTn id="136" dur="250"/>
                                        <p:tgtEl>
                                          <p:spTgt spid="72"/>
                                        </p:tgtEl>
                                      </p:cBhvr>
                                    </p:animEffect>
                                  </p:childTnLst>
                                </p:cTn>
                              </p:par>
                            </p:childTnLst>
                          </p:cTn>
                        </p:par>
                        <p:par>
                          <p:cTn id="137" fill="hold">
                            <p:stCondLst>
                              <p:cond delay="875"/>
                            </p:stCondLst>
                            <p:childTnLst>
                              <p:par>
                                <p:cTn id="138" presetID="10" presetClass="entr" presetSubtype="0" fill="hold" grpId="0" nodeType="afterEffect">
                                  <p:stCondLst>
                                    <p:cond delay="0"/>
                                  </p:stCondLst>
                                  <p:childTnLst>
                                    <p:set>
                                      <p:cBhvr>
                                        <p:cTn id="139" dur="1" fill="hold">
                                          <p:stCondLst>
                                            <p:cond delay="0"/>
                                          </p:stCondLst>
                                        </p:cTn>
                                        <p:tgtEl>
                                          <p:spTgt spid="73"/>
                                        </p:tgtEl>
                                        <p:attrNameLst>
                                          <p:attrName>style.visibility</p:attrName>
                                        </p:attrNameLst>
                                      </p:cBhvr>
                                      <p:to>
                                        <p:strVal val="visible"/>
                                      </p:to>
                                    </p:set>
                                    <p:animEffect transition="in" filter="fade">
                                      <p:cBhvr>
                                        <p:cTn id="140" dur="250"/>
                                        <p:tgtEl>
                                          <p:spTgt spid="73"/>
                                        </p:tgtEl>
                                      </p:cBhvr>
                                    </p:animEffect>
                                  </p:childTnLst>
                                </p:cTn>
                              </p:par>
                            </p:childTnLst>
                          </p:cTn>
                        </p:par>
                        <p:par>
                          <p:cTn id="141" fill="hold">
                            <p:stCondLst>
                              <p:cond delay="900"/>
                            </p:stCondLst>
                            <p:childTnLst>
                              <p:par>
                                <p:cTn id="142" presetID="10" presetClass="entr" presetSubtype="0" fill="hold" grpId="0" nodeType="afterEffect">
                                  <p:stCondLst>
                                    <p:cond delay="0"/>
                                  </p:stCondLst>
                                  <p:childTnLst>
                                    <p:set>
                                      <p:cBhvr>
                                        <p:cTn id="143" dur="1" fill="hold">
                                          <p:stCondLst>
                                            <p:cond delay="0"/>
                                          </p:stCondLst>
                                        </p:cTn>
                                        <p:tgtEl>
                                          <p:spTgt spid="74"/>
                                        </p:tgtEl>
                                        <p:attrNameLst>
                                          <p:attrName>style.visibility</p:attrName>
                                        </p:attrNameLst>
                                      </p:cBhvr>
                                      <p:to>
                                        <p:strVal val="visible"/>
                                      </p:to>
                                    </p:set>
                                    <p:animEffect transition="in" filter="fade">
                                      <p:cBhvr>
                                        <p:cTn id="144" dur="250"/>
                                        <p:tgtEl>
                                          <p:spTgt spid="74"/>
                                        </p:tgtEl>
                                      </p:cBhvr>
                                    </p:animEffect>
                                  </p:childTnLst>
                                </p:cTn>
                              </p:par>
                            </p:childTnLst>
                          </p:cTn>
                        </p:par>
                        <p:par>
                          <p:cTn id="145" fill="hold">
                            <p:stCondLst>
                              <p:cond delay="925"/>
                            </p:stCondLst>
                            <p:childTnLst>
                              <p:par>
                                <p:cTn id="146" presetID="10" presetClass="entr" presetSubtype="0" fill="hold" grpId="0" nodeType="afterEffect">
                                  <p:stCondLst>
                                    <p:cond delay="0"/>
                                  </p:stCondLst>
                                  <p:childTnLst>
                                    <p:set>
                                      <p:cBhvr>
                                        <p:cTn id="147" dur="1" fill="hold">
                                          <p:stCondLst>
                                            <p:cond delay="0"/>
                                          </p:stCondLst>
                                        </p:cTn>
                                        <p:tgtEl>
                                          <p:spTgt spid="75"/>
                                        </p:tgtEl>
                                        <p:attrNameLst>
                                          <p:attrName>style.visibility</p:attrName>
                                        </p:attrNameLst>
                                      </p:cBhvr>
                                      <p:to>
                                        <p:strVal val="visible"/>
                                      </p:to>
                                    </p:set>
                                    <p:animEffect transition="in" filter="fade">
                                      <p:cBhvr>
                                        <p:cTn id="148" dur="250"/>
                                        <p:tgtEl>
                                          <p:spTgt spid="75"/>
                                        </p:tgtEl>
                                      </p:cBhvr>
                                    </p:animEffect>
                                  </p:childTnLst>
                                </p:cTn>
                              </p:par>
                            </p:childTnLst>
                          </p:cTn>
                        </p:par>
                        <p:par>
                          <p:cTn id="149" fill="hold">
                            <p:stCondLst>
                              <p:cond delay="950"/>
                            </p:stCondLst>
                            <p:childTnLst>
                              <p:par>
                                <p:cTn id="150" presetID="10" presetClass="entr" presetSubtype="0" fill="hold" grpId="0" nodeType="afterEffect">
                                  <p:stCondLst>
                                    <p:cond delay="0"/>
                                  </p:stCondLst>
                                  <p:childTnLst>
                                    <p:set>
                                      <p:cBhvr>
                                        <p:cTn id="151" dur="1" fill="hold">
                                          <p:stCondLst>
                                            <p:cond delay="0"/>
                                          </p:stCondLst>
                                        </p:cTn>
                                        <p:tgtEl>
                                          <p:spTgt spid="76"/>
                                        </p:tgtEl>
                                        <p:attrNameLst>
                                          <p:attrName>style.visibility</p:attrName>
                                        </p:attrNameLst>
                                      </p:cBhvr>
                                      <p:to>
                                        <p:strVal val="visible"/>
                                      </p:to>
                                    </p:set>
                                    <p:animEffect transition="in" filter="fade">
                                      <p:cBhvr>
                                        <p:cTn id="152" dur="250"/>
                                        <p:tgtEl>
                                          <p:spTgt spid="76"/>
                                        </p:tgtEl>
                                      </p:cBhvr>
                                    </p:animEffect>
                                  </p:childTnLst>
                                </p:cTn>
                              </p:par>
                            </p:childTnLst>
                          </p:cTn>
                        </p:par>
                        <p:par>
                          <p:cTn id="153" fill="hold">
                            <p:stCondLst>
                              <p:cond delay="975"/>
                            </p:stCondLst>
                            <p:childTnLst>
                              <p:par>
                                <p:cTn id="154" presetID="10" presetClass="entr" presetSubtype="0" fill="hold" grpId="0" nodeType="afterEffect">
                                  <p:stCondLst>
                                    <p:cond delay="0"/>
                                  </p:stCondLst>
                                  <p:childTnLst>
                                    <p:set>
                                      <p:cBhvr>
                                        <p:cTn id="155" dur="1" fill="hold">
                                          <p:stCondLst>
                                            <p:cond delay="0"/>
                                          </p:stCondLst>
                                        </p:cTn>
                                        <p:tgtEl>
                                          <p:spTgt spid="77"/>
                                        </p:tgtEl>
                                        <p:attrNameLst>
                                          <p:attrName>style.visibility</p:attrName>
                                        </p:attrNameLst>
                                      </p:cBhvr>
                                      <p:to>
                                        <p:strVal val="visible"/>
                                      </p:to>
                                    </p:set>
                                    <p:animEffect transition="in" filter="fade">
                                      <p:cBhvr>
                                        <p:cTn id="156" dur="250"/>
                                        <p:tgtEl>
                                          <p:spTgt spid="77"/>
                                        </p:tgtEl>
                                      </p:cBhvr>
                                    </p:animEffect>
                                  </p:childTnLst>
                                </p:cTn>
                              </p:par>
                            </p:childTnLst>
                          </p:cTn>
                        </p:par>
                        <p:par>
                          <p:cTn id="157" fill="hold">
                            <p:stCondLst>
                              <p:cond delay="1000"/>
                            </p:stCondLst>
                            <p:childTnLst>
                              <p:par>
                                <p:cTn id="158" presetID="10" presetClass="entr" presetSubtype="0" fill="hold" grpId="0" nodeType="afterEffect">
                                  <p:stCondLst>
                                    <p:cond delay="0"/>
                                  </p:stCondLst>
                                  <p:childTnLst>
                                    <p:set>
                                      <p:cBhvr>
                                        <p:cTn id="159" dur="1" fill="hold">
                                          <p:stCondLst>
                                            <p:cond delay="0"/>
                                          </p:stCondLst>
                                        </p:cTn>
                                        <p:tgtEl>
                                          <p:spTgt spid="78"/>
                                        </p:tgtEl>
                                        <p:attrNameLst>
                                          <p:attrName>style.visibility</p:attrName>
                                        </p:attrNameLst>
                                      </p:cBhvr>
                                      <p:to>
                                        <p:strVal val="visible"/>
                                      </p:to>
                                    </p:set>
                                    <p:animEffect transition="in" filter="fade">
                                      <p:cBhvr>
                                        <p:cTn id="160" dur="250"/>
                                        <p:tgtEl>
                                          <p:spTgt spid="78"/>
                                        </p:tgtEl>
                                      </p:cBhvr>
                                    </p:animEffect>
                                  </p:childTnLst>
                                </p:cTn>
                              </p:par>
                            </p:childTnLst>
                          </p:cTn>
                        </p:par>
                        <p:par>
                          <p:cTn id="161" fill="hold">
                            <p:stCondLst>
                              <p:cond delay="1025"/>
                            </p:stCondLst>
                            <p:childTnLst>
                              <p:par>
                                <p:cTn id="162" presetID="10" presetClass="entr" presetSubtype="0" fill="hold" grpId="0" nodeType="afterEffect">
                                  <p:stCondLst>
                                    <p:cond delay="0"/>
                                  </p:stCondLst>
                                  <p:childTnLst>
                                    <p:set>
                                      <p:cBhvr>
                                        <p:cTn id="163" dur="1" fill="hold">
                                          <p:stCondLst>
                                            <p:cond delay="0"/>
                                          </p:stCondLst>
                                        </p:cTn>
                                        <p:tgtEl>
                                          <p:spTgt spid="79"/>
                                        </p:tgtEl>
                                        <p:attrNameLst>
                                          <p:attrName>style.visibility</p:attrName>
                                        </p:attrNameLst>
                                      </p:cBhvr>
                                      <p:to>
                                        <p:strVal val="visible"/>
                                      </p:to>
                                    </p:set>
                                    <p:animEffect transition="in" filter="fade">
                                      <p:cBhvr>
                                        <p:cTn id="164" dur="250"/>
                                        <p:tgtEl>
                                          <p:spTgt spid="79"/>
                                        </p:tgtEl>
                                      </p:cBhvr>
                                    </p:animEffect>
                                  </p:childTnLst>
                                </p:cTn>
                              </p:par>
                            </p:childTnLst>
                          </p:cTn>
                        </p:par>
                        <p:par>
                          <p:cTn id="165" fill="hold">
                            <p:stCondLst>
                              <p:cond delay="1050"/>
                            </p:stCondLst>
                            <p:childTnLst>
                              <p:par>
                                <p:cTn id="166" presetID="10" presetClass="entr" presetSubtype="0" fill="hold" grpId="0" nodeType="afterEffect">
                                  <p:stCondLst>
                                    <p:cond delay="0"/>
                                  </p:stCondLst>
                                  <p:childTnLst>
                                    <p:set>
                                      <p:cBhvr>
                                        <p:cTn id="167" dur="1" fill="hold">
                                          <p:stCondLst>
                                            <p:cond delay="0"/>
                                          </p:stCondLst>
                                        </p:cTn>
                                        <p:tgtEl>
                                          <p:spTgt spid="80"/>
                                        </p:tgtEl>
                                        <p:attrNameLst>
                                          <p:attrName>style.visibility</p:attrName>
                                        </p:attrNameLst>
                                      </p:cBhvr>
                                      <p:to>
                                        <p:strVal val="visible"/>
                                      </p:to>
                                    </p:set>
                                    <p:animEffect transition="in" filter="fade">
                                      <p:cBhvr>
                                        <p:cTn id="168" dur="250"/>
                                        <p:tgtEl>
                                          <p:spTgt spid="80"/>
                                        </p:tgtEl>
                                      </p:cBhvr>
                                    </p:animEffect>
                                  </p:childTnLst>
                                </p:cTn>
                              </p:par>
                            </p:childTnLst>
                          </p:cTn>
                        </p:par>
                        <p:par>
                          <p:cTn id="169" fill="hold">
                            <p:stCondLst>
                              <p:cond delay="1075"/>
                            </p:stCondLst>
                            <p:childTnLst>
                              <p:par>
                                <p:cTn id="170" presetID="10" presetClass="entr" presetSubtype="0" fill="hold" grpId="0" nodeType="afterEffect">
                                  <p:stCondLst>
                                    <p:cond delay="0"/>
                                  </p:stCondLst>
                                  <p:childTnLst>
                                    <p:set>
                                      <p:cBhvr>
                                        <p:cTn id="171" dur="1" fill="hold">
                                          <p:stCondLst>
                                            <p:cond delay="0"/>
                                          </p:stCondLst>
                                        </p:cTn>
                                        <p:tgtEl>
                                          <p:spTgt spid="81"/>
                                        </p:tgtEl>
                                        <p:attrNameLst>
                                          <p:attrName>style.visibility</p:attrName>
                                        </p:attrNameLst>
                                      </p:cBhvr>
                                      <p:to>
                                        <p:strVal val="visible"/>
                                      </p:to>
                                    </p:set>
                                    <p:animEffect transition="in" filter="fade">
                                      <p:cBhvr>
                                        <p:cTn id="172" dur="250"/>
                                        <p:tgtEl>
                                          <p:spTgt spid="81"/>
                                        </p:tgtEl>
                                      </p:cBhvr>
                                    </p:animEffect>
                                  </p:childTnLst>
                                </p:cTn>
                              </p:par>
                            </p:childTnLst>
                          </p:cTn>
                        </p:par>
                        <p:par>
                          <p:cTn id="173" fill="hold">
                            <p:stCondLst>
                              <p:cond delay="1100"/>
                            </p:stCondLst>
                            <p:childTnLst>
                              <p:par>
                                <p:cTn id="174" presetID="10" presetClass="entr" presetSubtype="0" fill="hold" grpId="0" nodeType="afterEffect">
                                  <p:stCondLst>
                                    <p:cond delay="0"/>
                                  </p:stCondLst>
                                  <p:childTnLst>
                                    <p:set>
                                      <p:cBhvr>
                                        <p:cTn id="175" dur="1" fill="hold">
                                          <p:stCondLst>
                                            <p:cond delay="0"/>
                                          </p:stCondLst>
                                        </p:cTn>
                                        <p:tgtEl>
                                          <p:spTgt spid="82"/>
                                        </p:tgtEl>
                                        <p:attrNameLst>
                                          <p:attrName>style.visibility</p:attrName>
                                        </p:attrNameLst>
                                      </p:cBhvr>
                                      <p:to>
                                        <p:strVal val="visible"/>
                                      </p:to>
                                    </p:set>
                                    <p:animEffect transition="in" filter="fade">
                                      <p:cBhvr>
                                        <p:cTn id="176" dur="250"/>
                                        <p:tgtEl>
                                          <p:spTgt spid="82"/>
                                        </p:tgtEl>
                                      </p:cBhvr>
                                    </p:animEffect>
                                  </p:childTnLst>
                                </p:cTn>
                              </p:par>
                            </p:childTnLst>
                          </p:cTn>
                        </p:par>
                        <p:par>
                          <p:cTn id="177" fill="hold">
                            <p:stCondLst>
                              <p:cond delay="1125"/>
                            </p:stCondLst>
                            <p:childTnLst>
                              <p:par>
                                <p:cTn id="178" presetID="10" presetClass="entr" presetSubtype="0" fill="hold" grpId="0" nodeType="afterEffect">
                                  <p:stCondLst>
                                    <p:cond delay="0"/>
                                  </p:stCondLst>
                                  <p:childTnLst>
                                    <p:set>
                                      <p:cBhvr>
                                        <p:cTn id="179" dur="1" fill="hold">
                                          <p:stCondLst>
                                            <p:cond delay="0"/>
                                          </p:stCondLst>
                                        </p:cTn>
                                        <p:tgtEl>
                                          <p:spTgt spid="83"/>
                                        </p:tgtEl>
                                        <p:attrNameLst>
                                          <p:attrName>style.visibility</p:attrName>
                                        </p:attrNameLst>
                                      </p:cBhvr>
                                      <p:to>
                                        <p:strVal val="visible"/>
                                      </p:to>
                                    </p:set>
                                    <p:animEffect transition="in" filter="fade">
                                      <p:cBhvr>
                                        <p:cTn id="180" dur="250"/>
                                        <p:tgtEl>
                                          <p:spTgt spid="83"/>
                                        </p:tgtEl>
                                      </p:cBhvr>
                                    </p:animEffect>
                                  </p:childTnLst>
                                </p:cTn>
                              </p:par>
                            </p:childTnLst>
                          </p:cTn>
                        </p:par>
                        <p:par>
                          <p:cTn id="181" fill="hold">
                            <p:stCondLst>
                              <p:cond delay="1150"/>
                            </p:stCondLst>
                            <p:childTnLst>
                              <p:par>
                                <p:cTn id="182" presetID="10" presetClass="entr" presetSubtype="0" fill="hold" grpId="0" nodeType="afterEffect">
                                  <p:stCondLst>
                                    <p:cond delay="0"/>
                                  </p:stCondLst>
                                  <p:childTnLst>
                                    <p:set>
                                      <p:cBhvr>
                                        <p:cTn id="183" dur="1" fill="hold">
                                          <p:stCondLst>
                                            <p:cond delay="0"/>
                                          </p:stCondLst>
                                        </p:cTn>
                                        <p:tgtEl>
                                          <p:spTgt spid="85"/>
                                        </p:tgtEl>
                                        <p:attrNameLst>
                                          <p:attrName>style.visibility</p:attrName>
                                        </p:attrNameLst>
                                      </p:cBhvr>
                                      <p:to>
                                        <p:strVal val="visible"/>
                                      </p:to>
                                    </p:set>
                                    <p:animEffect transition="in" filter="fade">
                                      <p:cBhvr>
                                        <p:cTn id="184" dur="250"/>
                                        <p:tgtEl>
                                          <p:spTgt spid="85"/>
                                        </p:tgtEl>
                                      </p:cBhvr>
                                    </p:animEffect>
                                  </p:childTnLst>
                                </p:cTn>
                              </p:par>
                            </p:childTnLst>
                          </p:cTn>
                        </p:par>
                      </p:childTnLst>
                    </p:cTn>
                  </p:par>
                  <p:par>
                    <p:cTn id="185" fill="hold">
                      <p:stCondLst>
                        <p:cond delay="indefinite"/>
                      </p:stCondLst>
                      <p:childTnLst>
                        <p:par>
                          <p:cTn id="186" fill="hold">
                            <p:stCondLst>
                              <p:cond delay="0"/>
                            </p:stCondLst>
                            <p:childTnLst>
                              <p:par>
                                <p:cTn id="187" presetID="10" presetClass="entr" presetSubtype="0" fill="hold" grpId="0" nodeType="clickEffect">
                                  <p:stCondLst>
                                    <p:cond delay="0"/>
                                  </p:stCondLst>
                                  <p:childTnLst>
                                    <p:set>
                                      <p:cBhvr>
                                        <p:cTn id="188" dur="1" fill="hold">
                                          <p:stCondLst>
                                            <p:cond delay="0"/>
                                          </p:stCondLst>
                                        </p:cTn>
                                        <p:tgtEl>
                                          <p:spTgt spid="92"/>
                                        </p:tgtEl>
                                        <p:attrNameLst>
                                          <p:attrName>style.visibility</p:attrName>
                                        </p:attrNameLst>
                                      </p:cBhvr>
                                      <p:to>
                                        <p:strVal val="visible"/>
                                      </p:to>
                                    </p:set>
                                    <p:animEffect transition="in" filter="fade">
                                      <p:cBhvr>
                                        <p:cTn id="189" dur="250"/>
                                        <p:tgtEl>
                                          <p:spTgt spid="92"/>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93"/>
                                        </p:tgtEl>
                                        <p:attrNameLst>
                                          <p:attrName>style.visibility</p:attrName>
                                        </p:attrNameLst>
                                      </p:cBhvr>
                                      <p:to>
                                        <p:strVal val="visible"/>
                                      </p:to>
                                    </p:set>
                                    <p:animEffect transition="in" filter="fade">
                                      <p:cBhvr>
                                        <p:cTn id="192" dur="250"/>
                                        <p:tgtEl>
                                          <p:spTgt spid="93"/>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94"/>
                                        </p:tgtEl>
                                        <p:attrNameLst>
                                          <p:attrName>style.visibility</p:attrName>
                                        </p:attrNameLst>
                                      </p:cBhvr>
                                      <p:to>
                                        <p:strVal val="visible"/>
                                      </p:to>
                                    </p:set>
                                    <p:animEffect transition="in" filter="fade">
                                      <p:cBhvr>
                                        <p:cTn id="195" dur="250"/>
                                        <p:tgtEl>
                                          <p:spTgt spid="94"/>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121"/>
                                        </p:tgtEl>
                                        <p:attrNameLst>
                                          <p:attrName>style.visibility</p:attrName>
                                        </p:attrNameLst>
                                      </p:cBhvr>
                                      <p:to>
                                        <p:strVal val="visible"/>
                                      </p:to>
                                    </p:set>
                                    <p:animEffect transition="in" filter="fade">
                                      <p:cBhvr>
                                        <p:cTn id="198" dur="250"/>
                                        <p:tgtEl>
                                          <p:spTgt spid="121"/>
                                        </p:tgtEl>
                                      </p:cBhvr>
                                    </p:animEffect>
                                  </p:childTnLst>
                                </p:cTn>
                              </p:par>
                            </p:childTnLst>
                          </p:cTn>
                        </p:par>
                        <p:par>
                          <p:cTn id="199" fill="hold">
                            <p:stCondLst>
                              <p:cond delay="90"/>
                            </p:stCondLst>
                            <p:childTnLst>
                              <p:par>
                                <p:cTn id="200" presetID="10" presetClass="entr" presetSubtype="0" fill="hold" grpId="0" nodeType="afterEffect">
                                  <p:stCondLst>
                                    <p:cond delay="0"/>
                                  </p:stCondLst>
                                  <p:childTnLst>
                                    <p:set>
                                      <p:cBhvr>
                                        <p:cTn id="201" dur="1" fill="hold">
                                          <p:stCondLst>
                                            <p:cond delay="0"/>
                                          </p:stCondLst>
                                        </p:cTn>
                                        <p:tgtEl>
                                          <p:spTgt spid="95"/>
                                        </p:tgtEl>
                                        <p:attrNameLst>
                                          <p:attrName>style.visibility</p:attrName>
                                        </p:attrNameLst>
                                      </p:cBhvr>
                                      <p:to>
                                        <p:strVal val="visible"/>
                                      </p:to>
                                    </p:set>
                                    <p:animEffect transition="in" filter="fade">
                                      <p:cBhvr>
                                        <p:cTn id="202" dur="250"/>
                                        <p:tgtEl>
                                          <p:spTgt spid="95"/>
                                        </p:tgtEl>
                                      </p:cBhvr>
                                    </p:animEffect>
                                  </p:childTnLst>
                                </p:cTn>
                              </p:par>
                            </p:childTnLst>
                          </p:cTn>
                        </p:par>
                        <p:par>
                          <p:cTn id="203" fill="hold">
                            <p:stCondLst>
                              <p:cond delay="180"/>
                            </p:stCondLst>
                            <p:childTnLst>
                              <p:par>
                                <p:cTn id="204" presetID="10" presetClass="entr" presetSubtype="0" fill="hold" grpId="0" nodeType="afterEffect">
                                  <p:stCondLst>
                                    <p:cond delay="0"/>
                                  </p:stCondLst>
                                  <p:childTnLst>
                                    <p:set>
                                      <p:cBhvr>
                                        <p:cTn id="205" dur="1" fill="hold">
                                          <p:stCondLst>
                                            <p:cond delay="0"/>
                                          </p:stCondLst>
                                        </p:cTn>
                                        <p:tgtEl>
                                          <p:spTgt spid="96"/>
                                        </p:tgtEl>
                                        <p:attrNameLst>
                                          <p:attrName>style.visibility</p:attrName>
                                        </p:attrNameLst>
                                      </p:cBhvr>
                                      <p:to>
                                        <p:strVal val="visible"/>
                                      </p:to>
                                    </p:set>
                                    <p:animEffect transition="in" filter="fade">
                                      <p:cBhvr>
                                        <p:cTn id="206" dur="250"/>
                                        <p:tgtEl>
                                          <p:spTgt spid="96"/>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97"/>
                                        </p:tgtEl>
                                        <p:attrNameLst>
                                          <p:attrName>style.visibility</p:attrName>
                                        </p:attrNameLst>
                                      </p:cBhvr>
                                      <p:to>
                                        <p:strVal val="visible"/>
                                      </p:to>
                                    </p:set>
                                    <p:animEffect transition="in" filter="fade">
                                      <p:cBhvr>
                                        <p:cTn id="209" dur="250"/>
                                        <p:tgtEl>
                                          <p:spTgt spid="97"/>
                                        </p:tgtEl>
                                      </p:cBhvr>
                                    </p:animEffect>
                                  </p:childTnLst>
                                </p:cTn>
                              </p:par>
                            </p:childTnLst>
                          </p:cTn>
                        </p:par>
                        <p:par>
                          <p:cTn id="210" fill="hold">
                            <p:stCondLst>
                              <p:cond delay="270"/>
                            </p:stCondLst>
                            <p:childTnLst>
                              <p:par>
                                <p:cTn id="211" presetID="10" presetClass="entr" presetSubtype="0" fill="hold" grpId="0" nodeType="afterEffect">
                                  <p:stCondLst>
                                    <p:cond delay="0"/>
                                  </p:stCondLst>
                                  <p:childTnLst>
                                    <p:set>
                                      <p:cBhvr>
                                        <p:cTn id="212" dur="1" fill="hold">
                                          <p:stCondLst>
                                            <p:cond delay="0"/>
                                          </p:stCondLst>
                                        </p:cTn>
                                        <p:tgtEl>
                                          <p:spTgt spid="98"/>
                                        </p:tgtEl>
                                        <p:attrNameLst>
                                          <p:attrName>style.visibility</p:attrName>
                                        </p:attrNameLst>
                                      </p:cBhvr>
                                      <p:to>
                                        <p:strVal val="visible"/>
                                      </p:to>
                                    </p:set>
                                    <p:animEffect transition="in" filter="fade">
                                      <p:cBhvr>
                                        <p:cTn id="213" dur="250"/>
                                        <p:tgtEl>
                                          <p:spTgt spid="98"/>
                                        </p:tgtEl>
                                      </p:cBhvr>
                                    </p:animEffect>
                                  </p:childTnLst>
                                </p:cTn>
                              </p:par>
                            </p:childTnLst>
                          </p:cTn>
                        </p:par>
                        <p:par>
                          <p:cTn id="214" fill="hold">
                            <p:stCondLst>
                              <p:cond delay="360"/>
                            </p:stCondLst>
                            <p:childTnLst>
                              <p:par>
                                <p:cTn id="215" presetID="10" presetClass="entr" presetSubtype="0" fill="hold" grpId="0" nodeType="afterEffect">
                                  <p:stCondLst>
                                    <p:cond delay="0"/>
                                  </p:stCondLst>
                                  <p:childTnLst>
                                    <p:set>
                                      <p:cBhvr>
                                        <p:cTn id="216" dur="1" fill="hold">
                                          <p:stCondLst>
                                            <p:cond delay="0"/>
                                          </p:stCondLst>
                                        </p:cTn>
                                        <p:tgtEl>
                                          <p:spTgt spid="99"/>
                                        </p:tgtEl>
                                        <p:attrNameLst>
                                          <p:attrName>style.visibility</p:attrName>
                                        </p:attrNameLst>
                                      </p:cBhvr>
                                      <p:to>
                                        <p:strVal val="visible"/>
                                      </p:to>
                                    </p:set>
                                    <p:animEffect transition="in" filter="fade">
                                      <p:cBhvr>
                                        <p:cTn id="217" dur="250"/>
                                        <p:tgtEl>
                                          <p:spTgt spid="99"/>
                                        </p:tgtEl>
                                      </p:cBhvr>
                                    </p:animEffect>
                                  </p:childTnLst>
                                </p:cTn>
                              </p:par>
                            </p:childTnLst>
                          </p:cTn>
                        </p:par>
                        <p:par>
                          <p:cTn id="218" fill="hold">
                            <p:stCondLst>
                              <p:cond delay="450"/>
                            </p:stCondLst>
                            <p:childTnLst>
                              <p:par>
                                <p:cTn id="219" presetID="10" presetClass="entr" presetSubtype="0" fill="hold" grpId="0" nodeType="afterEffect">
                                  <p:stCondLst>
                                    <p:cond delay="0"/>
                                  </p:stCondLst>
                                  <p:childTnLst>
                                    <p:set>
                                      <p:cBhvr>
                                        <p:cTn id="220" dur="1" fill="hold">
                                          <p:stCondLst>
                                            <p:cond delay="0"/>
                                          </p:stCondLst>
                                        </p:cTn>
                                        <p:tgtEl>
                                          <p:spTgt spid="100"/>
                                        </p:tgtEl>
                                        <p:attrNameLst>
                                          <p:attrName>style.visibility</p:attrName>
                                        </p:attrNameLst>
                                      </p:cBhvr>
                                      <p:to>
                                        <p:strVal val="visible"/>
                                      </p:to>
                                    </p:set>
                                    <p:animEffect transition="in" filter="fade">
                                      <p:cBhvr>
                                        <p:cTn id="221" dur="250"/>
                                        <p:tgtEl>
                                          <p:spTgt spid="100"/>
                                        </p:tgtEl>
                                      </p:cBhvr>
                                    </p:animEffect>
                                  </p:childTnLst>
                                </p:cTn>
                              </p:par>
                            </p:childTnLst>
                          </p:cTn>
                        </p:par>
                        <p:par>
                          <p:cTn id="222" fill="hold">
                            <p:stCondLst>
                              <p:cond delay="540"/>
                            </p:stCondLst>
                            <p:childTnLst>
                              <p:par>
                                <p:cTn id="223" presetID="10" presetClass="entr" presetSubtype="0" fill="hold" grpId="0" nodeType="afterEffect">
                                  <p:stCondLst>
                                    <p:cond delay="0"/>
                                  </p:stCondLst>
                                  <p:childTnLst>
                                    <p:set>
                                      <p:cBhvr>
                                        <p:cTn id="224" dur="1" fill="hold">
                                          <p:stCondLst>
                                            <p:cond delay="0"/>
                                          </p:stCondLst>
                                        </p:cTn>
                                        <p:tgtEl>
                                          <p:spTgt spid="101"/>
                                        </p:tgtEl>
                                        <p:attrNameLst>
                                          <p:attrName>style.visibility</p:attrName>
                                        </p:attrNameLst>
                                      </p:cBhvr>
                                      <p:to>
                                        <p:strVal val="visible"/>
                                      </p:to>
                                    </p:set>
                                    <p:animEffect transition="in" filter="fade">
                                      <p:cBhvr>
                                        <p:cTn id="225" dur="250"/>
                                        <p:tgtEl>
                                          <p:spTgt spid="101"/>
                                        </p:tgtEl>
                                      </p:cBhvr>
                                    </p:animEffect>
                                  </p:childTnLst>
                                </p:cTn>
                              </p:par>
                            </p:childTnLst>
                          </p:cTn>
                        </p:par>
                        <p:par>
                          <p:cTn id="226" fill="hold">
                            <p:stCondLst>
                              <p:cond delay="630"/>
                            </p:stCondLst>
                            <p:childTnLst>
                              <p:par>
                                <p:cTn id="227" presetID="10" presetClass="entr" presetSubtype="0" fill="hold" grpId="0" nodeType="afterEffect">
                                  <p:stCondLst>
                                    <p:cond delay="0"/>
                                  </p:stCondLst>
                                  <p:childTnLst>
                                    <p:set>
                                      <p:cBhvr>
                                        <p:cTn id="228" dur="1" fill="hold">
                                          <p:stCondLst>
                                            <p:cond delay="0"/>
                                          </p:stCondLst>
                                        </p:cTn>
                                        <p:tgtEl>
                                          <p:spTgt spid="102"/>
                                        </p:tgtEl>
                                        <p:attrNameLst>
                                          <p:attrName>style.visibility</p:attrName>
                                        </p:attrNameLst>
                                      </p:cBhvr>
                                      <p:to>
                                        <p:strVal val="visible"/>
                                      </p:to>
                                    </p:set>
                                    <p:animEffect transition="in" filter="fade">
                                      <p:cBhvr>
                                        <p:cTn id="229" dur="250"/>
                                        <p:tgtEl>
                                          <p:spTgt spid="102"/>
                                        </p:tgtEl>
                                      </p:cBhvr>
                                    </p:animEffect>
                                  </p:childTnLst>
                                </p:cTn>
                              </p:par>
                            </p:childTnLst>
                          </p:cTn>
                        </p:par>
                        <p:par>
                          <p:cTn id="230" fill="hold">
                            <p:stCondLst>
                              <p:cond delay="720"/>
                            </p:stCondLst>
                            <p:childTnLst>
                              <p:par>
                                <p:cTn id="231" presetID="10" presetClass="entr" presetSubtype="0" fill="hold" grpId="0" nodeType="afterEffect">
                                  <p:stCondLst>
                                    <p:cond delay="0"/>
                                  </p:stCondLst>
                                  <p:childTnLst>
                                    <p:set>
                                      <p:cBhvr>
                                        <p:cTn id="232" dur="1" fill="hold">
                                          <p:stCondLst>
                                            <p:cond delay="0"/>
                                          </p:stCondLst>
                                        </p:cTn>
                                        <p:tgtEl>
                                          <p:spTgt spid="103"/>
                                        </p:tgtEl>
                                        <p:attrNameLst>
                                          <p:attrName>style.visibility</p:attrName>
                                        </p:attrNameLst>
                                      </p:cBhvr>
                                      <p:to>
                                        <p:strVal val="visible"/>
                                      </p:to>
                                    </p:set>
                                    <p:animEffect transition="in" filter="fade">
                                      <p:cBhvr>
                                        <p:cTn id="233" dur="250"/>
                                        <p:tgtEl>
                                          <p:spTgt spid="103"/>
                                        </p:tgtEl>
                                      </p:cBhvr>
                                    </p:animEffect>
                                  </p:childTnLst>
                                </p:cTn>
                              </p:par>
                            </p:childTnLst>
                          </p:cTn>
                        </p:par>
                        <p:par>
                          <p:cTn id="234" fill="hold">
                            <p:stCondLst>
                              <p:cond delay="810"/>
                            </p:stCondLst>
                            <p:childTnLst>
                              <p:par>
                                <p:cTn id="235" presetID="10" presetClass="entr" presetSubtype="0" fill="hold" grpId="0" nodeType="afterEffect">
                                  <p:stCondLst>
                                    <p:cond delay="0"/>
                                  </p:stCondLst>
                                  <p:childTnLst>
                                    <p:set>
                                      <p:cBhvr>
                                        <p:cTn id="236" dur="1" fill="hold">
                                          <p:stCondLst>
                                            <p:cond delay="0"/>
                                          </p:stCondLst>
                                        </p:cTn>
                                        <p:tgtEl>
                                          <p:spTgt spid="104"/>
                                        </p:tgtEl>
                                        <p:attrNameLst>
                                          <p:attrName>style.visibility</p:attrName>
                                        </p:attrNameLst>
                                      </p:cBhvr>
                                      <p:to>
                                        <p:strVal val="visible"/>
                                      </p:to>
                                    </p:set>
                                    <p:animEffect transition="in" filter="fade">
                                      <p:cBhvr>
                                        <p:cTn id="237" dur="250"/>
                                        <p:tgtEl>
                                          <p:spTgt spid="104"/>
                                        </p:tgtEl>
                                      </p:cBhvr>
                                    </p:animEffect>
                                  </p:childTnLst>
                                </p:cTn>
                              </p:par>
                            </p:childTnLst>
                          </p:cTn>
                        </p:par>
                        <p:par>
                          <p:cTn id="238" fill="hold">
                            <p:stCondLst>
                              <p:cond delay="900"/>
                            </p:stCondLst>
                            <p:childTnLst>
                              <p:par>
                                <p:cTn id="239" presetID="10" presetClass="entr" presetSubtype="0" fill="hold" grpId="0" nodeType="afterEffect">
                                  <p:stCondLst>
                                    <p:cond delay="0"/>
                                  </p:stCondLst>
                                  <p:childTnLst>
                                    <p:set>
                                      <p:cBhvr>
                                        <p:cTn id="240" dur="1" fill="hold">
                                          <p:stCondLst>
                                            <p:cond delay="0"/>
                                          </p:stCondLst>
                                        </p:cTn>
                                        <p:tgtEl>
                                          <p:spTgt spid="105"/>
                                        </p:tgtEl>
                                        <p:attrNameLst>
                                          <p:attrName>style.visibility</p:attrName>
                                        </p:attrNameLst>
                                      </p:cBhvr>
                                      <p:to>
                                        <p:strVal val="visible"/>
                                      </p:to>
                                    </p:set>
                                    <p:animEffect transition="in" filter="fade">
                                      <p:cBhvr>
                                        <p:cTn id="241" dur="250"/>
                                        <p:tgtEl>
                                          <p:spTgt spid="105"/>
                                        </p:tgtEl>
                                      </p:cBhvr>
                                    </p:animEffect>
                                  </p:childTnLst>
                                </p:cTn>
                              </p:par>
                              <p:par>
                                <p:cTn id="242" presetID="10" presetClass="entr" presetSubtype="0" fill="hold" grpId="0" nodeType="withEffect">
                                  <p:stCondLst>
                                    <p:cond delay="0"/>
                                  </p:stCondLst>
                                  <p:childTnLst>
                                    <p:set>
                                      <p:cBhvr>
                                        <p:cTn id="243" dur="1" fill="hold">
                                          <p:stCondLst>
                                            <p:cond delay="0"/>
                                          </p:stCondLst>
                                        </p:cTn>
                                        <p:tgtEl>
                                          <p:spTgt spid="106"/>
                                        </p:tgtEl>
                                        <p:attrNameLst>
                                          <p:attrName>style.visibility</p:attrName>
                                        </p:attrNameLst>
                                      </p:cBhvr>
                                      <p:to>
                                        <p:strVal val="visible"/>
                                      </p:to>
                                    </p:set>
                                    <p:animEffect transition="in" filter="fade">
                                      <p:cBhvr>
                                        <p:cTn id="244" dur="250"/>
                                        <p:tgtEl>
                                          <p:spTgt spid="106"/>
                                        </p:tgtEl>
                                      </p:cBhvr>
                                    </p:animEffect>
                                  </p:childTnLst>
                                </p:cTn>
                              </p:par>
                              <p:par>
                                <p:cTn id="245" presetID="10" presetClass="entr" presetSubtype="0" fill="hold" grpId="0" nodeType="withEffect">
                                  <p:stCondLst>
                                    <p:cond delay="0"/>
                                  </p:stCondLst>
                                  <p:childTnLst>
                                    <p:set>
                                      <p:cBhvr>
                                        <p:cTn id="246" dur="1" fill="hold">
                                          <p:stCondLst>
                                            <p:cond delay="0"/>
                                          </p:stCondLst>
                                        </p:cTn>
                                        <p:tgtEl>
                                          <p:spTgt spid="107"/>
                                        </p:tgtEl>
                                        <p:attrNameLst>
                                          <p:attrName>style.visibility</p:attrName>
                                        </p:attrNameLst>
                                      </p:cBhvr>
                                      <p:to>
                                        <p:strVal val="visible"/>
                                      </p:to>
                                    </p:set>
                                    <p:animEffect transition="in" filter="fade">
                                      <p:cBhvr>
                                        <p:cTn id="247" dur="250"/>
                                        <p:tgtEl>
                                          <p:spTgt spid="107"/>
                                        </p:tgtEl>
                                      </p:cBhvr>
                                    </p:animEffect>
                                  </p:childTnLst>
                                </p:cTn>
                              </p:par>
                            </p:childTnLst>
                          </p:cTn>
                        </p:par>
                        <p:par>
                          <p:cTn id="248" fill="hold">
                            <p:stCondLst>
                              <p:cond delay="990"/>
                            </p:stCondLst>
                            <p:childTnLst>
                              <p:par>
                                <p:cTn id="249" presetID="10" presetClass="entr" presetSubtype="0" fill="hold" grpId="0" nodeType="afterEffect">
                                  <p:stCondLst>
                                    <p:cond delay="0"/>
                                  </p:stCondLst>
                                  <p:childTnLst>
                                    <p:set>
                                      <p:cBhvr>
                                        <p:cTn id="250" dur="1" fill="hold">
                                          <p:stCondLst>
                                            <p:cond delay="0"/>
                                          </p:stCondLst>
                                        </p:cTn>
                                        <p:tgtEl>
                                          <p:spTgt spid="108"/>
                                        </p:tgtEl>
                                        <p:attrNameLst>
                                          <p:attrName>style.visibility</p:attrName>
                                        </p:attrNameLst>
                                      </p:cBhvr>
                                      <p:to>
                                        <p:strVal val="visible"/>
                                      </p:to>
                                    </p:set>
                                    <p:animEffect transition="in" filter="fade">
                                      <p:cBhvr>
                                        <p:cTn id="251" dur="250"/>
                                        <p:tgtEl>
                                          <p:spTgt spid="108"/>
                                        </p:tgtEl>
                                      </p:cBhvr>
                                    </p:animEffect>
                                  </p:childTnLst>
                                </p:cTn>
                              </p:par>
                            </p:childTnLst>
                          </p:cTn>
                        </p:par>
                        <p:par>
                          <p:cTn id="252" fill="hold">
                            <p:stCondLst>
                              <p:cond delay="1080"/>
                            </p:stCondLst>
                            <p:childTnLst>
                              <p:par>
                                <p:cTn id="253" presetID="10" presetClass="entr" presetSubtype="0" fill="hold" grpId="0" nodeType="afterEffect">
                                  <p:stCondLst>
                                    <p:cond delay="0"/>
                                  </p:stCondLst>
                                  <p:childTnLst>
                                    <p:set>
                                      <p:cBhvr>
                                        <p:cTn id="254" dur="1" fill="hold">
                                          <p:stCondLst>
                                            <p:cond delay="0"/>
                                          </p:stCondLst>
                                        </p:cTn>
                                        <p:tgtEl>
                                          <p:spTgt spid="109"/>
                                        </p:tgtEl>
                                        <p:attrNameLst>
                                          <p:attrName>style.visibility</p:attrName>
                                        </p:attrNameLst>
                                      </p:cBhvr>
                                      <p:to>
                                        <p:strVal val="visible"/>
                                      </p:to>
                                    </p:set>
                                    <p:animEffect transition="in" filter="fade">
                                      <p:cBhvr>
                                        <p:cTn id="255" dur="250"/>
                                        <p:tgtEl>
                                          <p:spTgt spid="109"/>
                                        </p:tgtEl>
                                      </p:cBhvr>
                                    </p:animEffect>
                                  </p:childTnLst>
                                </p:cTn>
                              </p:par>
                            </p:childTnLst>
                          </p:cTn>
                        </p:par>
                        <p:par>
                          <p:cTn id="256" fill="hold">
                            <p:stCondLst>
                              <p:cond delay="1170"/>
                            </p:stCondLst>
                            <p:childTnLst>
                              <p:par>
                                <p:cTn id="257" presetID="10" presetClass="entr" presetSubtype="0" fill="hold" grpId="0" nodeType="afterEffect">
                                  <p:stCondLst>
                                    <p:cond delay="0"/>
                                  </p:stCondLst>
                                  <p:childTnLst>
                                    <p:set>
                                      <p:cBhvr>
                                        <p:cTn id="258" dur="1" fill="hold">
                                          <p:stCondLst>
                                            <p:cond delay="0"/>
                                          </p:stCondLst>
                                        </p:cTn>
                                        <p:tgtEl>
                                          <p:spTgt spid="110"/>
                                        </p:tgtEl>
                                        <p:attrNameLst>
                                          <p:attrName>style.visibility</p:attrName>
                                        </p:attrNameLst>
                                      </p:cBhvr>
                                      <p:to>
                                        <p:strVal val="visible"/>
                                      </p:to>
                                    </p:set>
                                    <p:animEffect transition="in" filter="fade">
                                      <p:cBhvr>
                                        <p:cTn id="259" dur="250"/>
                                        <p:tgtEl>
                                          <p:spTgt spid="110"/>
                                        </p:tgtEl>
                                      </p:cBhvr>
                                    </p:animEffect>
                                  </p:childTnLst>
                                </p:cTn>
                              </p:par>
                            </p:childTnLst>
                          </p:cTn>
                        </p:par>
                        <p:par>
                          <p:cTn id="260" fill="hold">
                            <p:stCondLst>
                              <p:cond delay="1260"/>
                            </p:stCondLst>
                            <p:childTnLst>
                              <p:par>
                                <p:cTn id="261" presetID="10" presetClass="entr" presetSubtype="0" fill="hold" grpId="0" nodeType="afterEffect">
                                  <p:stCondLst>
                                    <p:cond delay="0"/>
                                  </p:stCondLst>
                                  <p:childTnLst>
                                    <p:set>
                                      <p:cBhvr>
                                        <p:cTn id="262" dur="1" fill="hold">
                                          <p:stCondLst>
                                            <p:cond delay="0"/>
                                          </p:stCondLst>
                                        </p:cTn>
                                        <p:tgtEl>
                                          <p:spTgt spid="111"/>
                                        </p:tgtEl>
                                        <p:attrNameLst>
                                          <p:attrName>style.visibility</p:attrName>
                                        </p:attrNameLst>
                                      </p:cBhvr>
                                      <p:to>
                                        <p:strVal val="visible"/>
                                      </p:to>
                                    </p:set>
                                    <p:animEffect transition="in" filter="fade">
                                      <p:cBhvr>
                                        <p:cTn id="263" dur="250"/>
                                        <p:tgtEl>
                                          <p:spTgt spid="111"/>
                                        </p:tgtEl>
                                      </p:cBhvr>
                                    </p:animEffect>
                                  </p:childTnLst>
                                </p:cTn>
                              </p:par>
                            </p:childTnLst>
                          </p:cTn>
                        </p:par>
                        <p:par>
                          <p:cTn id="264" fill="hold">
                            <p:stCondLst>
                              <p:cond delay="1350"/>
                            </p:stCondLst>
                            <p:childTnLst>
                              <p:par>
                                <p:cTn id="265" presetID="10" presetClass="entr" presetSubtype="0" fill="hold" grpId="0" nodeType="afterEffect">
                                  <p:stCondLst>
                                    <p:cond delay="0"/>
                                  </p:stCondLst>
                                  <p:childTnLst>
                                    <p:set>
                                      <p:cBhvr>
                                        <p:cTn id="266" dur="1" fill="hold">
                                          <p:stCondLst>
                                            <p:cond delay="0"/>
                                          </p:stCondLst>
                                        </p:cTn>
                                        <p:tgtEl>
                                          <p:spTgt spid="112"/>
                                        </p:tgtEl>
                                        <p:attrNameLst>
                                          <p:attrName>style.visibility</p:attrName>
                                        </p:attrNameLst>
                                      </p:cBhvr>
                                      <p:to>
                                        <p:strVal val="visible"/>
                                      </p:to>
                                    </p:set>
                                    <p:animEffect transition="in" filter="fade">
                                      <p:cBhvr>
                                        <p:cTn id="267" dur="250"/>
                                        <p:tgtEl>
                                          <p:spTgt spid="112"/>
                                        </p:tgtEl>
                                      </p:cBhvr>
                                    </p:animEffect>
                                  </p:childTnLst>
                                </p:cTn>
                              </p:par>
                            </p:childTnLst>
                          </p:cTn>
                        </p:par>
                        <p:par>
                          <p:cTn id="268" fill="hold">
                            <p:stCondLst>
                              <p:cond delay="1440"/>
                            </p:stCondLst>
                            <p:childTnLst>
                              <p:par>
                                <p:cTn id="269" presetID="10" presetClass="entr" presetSubtype="0" fill="hold" grpId="0" nodeType="afterEffect">
                                  <p:stCondLst>
                                    <p:cond delay="0"/>
                                  </p:stCondLst>
                                  <p:childTnLst>
                                    <p:set>
                                      <p:cBhvr>
                                        <p:cTn id="270" dur="1" fill="hold">
                                          <p:stCondLst>
                                            <p:cond delay="0"/>
                                          </p:stCondLst>
                                        </p:cTn>
                                        <p:tgtEl>
                                          <p:spTgt spid="113"/>
                                        </p:tgtEl>
                                        <p:attrNameLst>
                                          <p:attrName>style.visibility</p:attrName>
                                        </p:attrNameLst>
                                      </p:cBhvr>
                                      <p:to>
                                        <p:strVal val="visible"/>
                                      </p:to>
                                    </p:set>
                                    <p:animEffect transition="in" filter="fade">
                                      <p:cBhvr>
                                        <p:cTn id="271" dur="250"/>
                                        <p:tgtEl>
                                          <p:spTgt spid="113"/>
                                        </p:tgtEl>
                                      </p:cBhvr>
                                    </p:animEffect>
                                  </p:childTnLst>
                                </p:cTn>
                              </p:par>
                            </p:childTnLst>
                          </p:cTn>
                        </p:par>
                        <p:par>
                          <p:cTn id="272" fill="hold">
                            <p:stCondLst>
                              <p:cond delay="1530"/>
                            </p:stCondLst>
                            <p:childTnLst>
                              <p:par>
                                <p:cTn id="273" presetID="10" presetClass="entr" presetSubtype="0" fill="hold" grpId="0" nodeType="afterEffect">
                                  <p:stCondLst>
                                    <p:cond delay="0"/>
                                  </p:stCondLst>
                                  <p:childTnLst>
                                    <p:set>
                                      <p:cBhvr>
                                        <p:cTn id="274" dur="1" fill="hold">
                                          <p:stCondLst>
                                            <p:cond delay="0"/>
                                          </p:stCondLst>
                                        </p:cTn>
                                        <p:tgtEl>
                                          <p:spTgt spid="114"/>
                                        </p:tgtEl>
                                        <p:attrNameLst>
                                          <p:attrName>style.visibility</p:attrName>
                                        </p:attrNameLst>
                                      </p:cBhvr>
                                      <p:to>
                                        <p:strVal val="visible"/>
                                      </p:to>
                                    </p:set>
                                    <p:animEffect transition="in" filter="fade">
                                      <p:cBhvr>
                                        <p:cTn id="275" dur="250"/>
                                        <p:tgtEl>
                                          <p:spTgt spid="114"/>
                                        </p:tgtEl>
                                      </p:cBhvr>
                                    </p:animEffect>
                                  </p:childTnLst>
                                </p:cTn>
                              </p:par>
                            </p:childTnLst>
                          </p:cTn>
                        </p:par>
                        <p:par>
                          <p:cTn id="276" fill="hold">
                            <p:stCondLst>
                              <p:cond delay="1620"/>
                            </p:stCondLst>
                            <p:childTnLst>
                              <p:par>
                                <p:cTn id="277" presetID="10" presetClass="entr" presetSubtype="0" fill="hold" grpId="0" nodeType="afterEffect">
                                  <p:stCondLst>
                                    <p:cond delay="0"/>
                                  </p:stCondLst>
                                  <p:childTnLst>
                                    <p:set>
                                      <p:cBhvr>
                                        <p:cTn id="278" dur="1" fill="hold">
                                          <p:stCondLst>
                                            <p:cond delay="0"/>
                                          </p:stCondLst>
                                        </p:cTn>
                                        <p:tgtEl>
                                          <p:spTgt spid="115"/>
                                        </p:tgtEl>
                                        <p:attrNameLst>
                                          <p:attrName>style.visibility</p:attrName>
                                        </p:attrNameLst>
                                      </p:cBhvr>
                                      <p:to>
                                        <p:strVal val="visible"/>
                                      </p:to>
                                    </p:set>
                                    <p:animEffect transition="in" filter="fade">
                                      <p:cBhvr>
                                        <p:cTn id="279" dur="250"/>
                                        <p:tgtEl>
                                          <p:spTgt spid="115"/>
                                        </p:tgtEl>
                                      </p:cBhvr>
                                    </p:animEffect>
                                  </p:childTnLst>
                                </p:cTn>
                              </p:par>
                            </p:childTnLst>
                          </p:cTn>
                        </p:par>
                        <p:par>
                          <p:cTn id="280" fill="hold">
                            <p:stCondLst>
                              <p:cond delay="1710"/>
                            </p:stCondLst>
                            <p:childTnLst>
                              <p:par>
                                <p:cTn id="281" presetID="10" presetClass="entr" presetSubtype="0" fill="hold" grpId="0" nodeType="afterEffect">
                                  <p:stCondLst>
                                    <p:cond delay="0"/>
                                  </p:stCondLst>
                                  <p:childTnLst>
                                    <p:set>
                                      <p:cBhvr>
                                        <p:cTn id="282" dur="1" fill="hold">
                                          <p:stCondLst>
                                            <p:cond delay="0"/>
                                          </p:stCondLst>
                                        </p:cTn>
                                        <p:tgtEl>
                                          <p:spTgt spid="116"/>
                                        </p:tgtEl>
                                        <p:attrNameLst>
                                          <p:attrName>style.visibility</p:attrName>
                                        </p:attrNameLst>
                                      </p:cBhvr>
                                      <p:to>
                                        <p:strVal val="visible"/>
                                      </p:to>
                                    </p:set>
                                    <p:animEffect transition="in" filter="fade">
                                      <p:cBhvr>
                                        <p:cTn id="283" dur="250"/>
                                        <p:tgtEl>
                                          <p:spTgt spid="116"/>
                                        </p:tgtEl>
                                      </p:cBhvr>
                                    </p:animEffect>
                                  </p:childTnLst>
                                </p:cTn>
                              </p:par>
                            </p:childTnLst>
                          </p:cTn>
                        </p:par>
                        <p:par>
                          <p:cTn id="284" fill="hold">
                            <p:stCondLst>
                              <p:cond delay="1800"/>
                            </p:stCondLst>
                            <p:childTnLst>
                              <p:par>
                                <p:cTn id="285" presetID="10" presetClass="entr" presetSubtype="0" fill="hold" grpId="0" nodeType="afterEffect">
                                  <p:stCondLst>
                                    <p:cond delay="0"/>
                                  </p:stCondLst>
                                  <p:childTnLst>
                                    <p:set>
                                      <p:cBhvr>
                                        <p:cTn id="286" dur="1" fill="hold">
                                          <p:stCondLst>
                                            <p:cond delay="0"/>
                                          </p:stCondLst>
                                        </p:cTn>
                                        <p:tgtEl>
                                          <p:spTgt spid="117"/>
                                        </p:tgtEl>
                                        <p:attrNameLst>
                                          <p:attrName>style.visibility</p:attrName>
                                        </p:attrNameLst>
                                      </p:cBhvr>
                                      <p:to>
                                        <p:strVal val="visible"/>
                                      </p:to>
                                    </p:set>
                                    <p:animEffect transition="in" filter="fade">
                                      <p:cBhvr>
                                        <p:cTn id="287" dur="250"/>
                                        <p:tgtEl>
                                          <p:spTgt spid="117"/>
                                        </p:tgtEl>
                                      </p:cBhvr>
                                    </p:animEffect>
                                  </p:childTnLst>
                                </p:cTn>
                              </p:par>
                              <p:par>
                                <p:cTn id="288" presetID="10" presetClass="entr" presetSubtype="0" fill="hold" grpId="0" nodeType="withEffect">
                                  <p:stCondLst>
                                    <p:cond delay="0"/>
                                  </p:stCondLst>
                                  <p:childTnLst>
                                    <p:set>
                                      <p:cBhvr>
                                        <p:cTn id="289" dur="1" fill="hold">
                                          <p:stCondLst>
                                            <p:cond delay="0"/>
                                          </p:stCondLst>
                                        </p:cTn>
                                        <p:tgtEl>
                                          <p:spTgt spid="118"/>
                                        </p:tgtEl>
                                        <p:attrNameLst>
                                          <p:attrName>style.visibility</p:attrName>
                                        </p:attrNameLst>
                                      </p:cBhvr>
                                      <p:to>
                                        <p:strVal val="visible"/>
                                      </p:to>
                                    </p:set>
                                    <p:animEffect transition="in" filter="fade">
                                      <p:cBhvr>
                                        <p:cTn id="290" dur="250"/>
                                        <p:tgtEl>
                                          <p:spTgt spid="118"/>
                                        </p:tgtEl>
                                      </p:cBhvr>
                                    </p:animEffect>
                                  </p:childTnLst>
                                </p:cTn>
                              </p:par>
                            </p:childTnLst>
                          </p:cTn>
                        </p:par>
                        <p:par>
                          <p:cTn id="291" fill="hold">
                            <p:stCondLst>
                              <p:cond delay="2200"/>
                            </p:stCondLst>
                            <p:childTnLst>
                              <p:par>
                                <p:cTn id="292" presetID="10" presetClass="exit" presetSubtype="0" fill="hold" grpId="1" nodeType="afterEffect">
                                  <p:stCondLst>
                                    <p:cond delay="0"/>
                                  </p:stCondLst>
                                  <p:childTnLst>
                                    <p:animEffect transition="out" filter="fade">
                                      <p:cBhvr>
                                        <p:cTn id="293" dur="250"/>
                                        <p:tgtEl>
                                          <p:spTgt spid="93"/>
                                        </p:tgtEl>
                                      </p:cBhvr>
                                    </p:animEffect>
                                    <p:set>
                                      <p:cBhvr>
                                        <p:cTn id="294" dur="1" fill="hold">
                                          <p:stCondLst>
                                            <p:cond delay="249"/>
                                          </p:stCondLst>
                                        </p:cTn>
                                        <p:tgtEl>
                                          <p:spTgt spid="93"/>
                                        </p:tgtEl>
                                        <p:attrNameLst>
                                          <p:attrName>style.visibility</p:attrName>
                                        </p:attrNameLst>
                                      </p:cBhvr>
                                      <p:to>
                                        <p:strVal val="hidden"/>
                                      </p:to>
                                    </p:set>
                                  </p:childTnLst>
                                </p:cTn>
                              </p:par>
                              <p:par>
                                <p:cTn id="295" presetID="10" presetClass="exit" presetSubtype="0" fill="hold" grpId="1" nodeType="withEffect">
                                  <p:stCondLst>
                                    <p:cond delay="0"/>
                                  </p:stCondLst>
                                  <p:childTnLst>
                                    <p:animEffect transition="out" filter="fade">
                                      <p:cBhvr>
                                        <p:cTn id="296" dur="250"/>
                                        <p:tgtEl>
                                          <p:spTgt spid="94"/>
                                        </p:tgtEl>
                                      </p:cBhvr>
                                    </p:animEffect>
                                    <p:set>
                                      <p:cBhvr>
                                        <p:cTn id="297" dur="1" fill="hold">
                                          <p:stCondLst>
                                            <p:cond delay="249"/>
                                          </p:stCondLst>
                                        </p:cTn>
                                        <p:tgtEl>
                                          <p:spTgt spid="94"/>
                                        </p:tgtEl>
                                        <p:attrNameLst>
                                          <p:attrName>style.visibility</p:attrName>
                                        </p:attrNameLst>
                                      </p:cBhvr>
                                      <p:to>
                                        <p:strVal val="hidden"/>
                                      </p:to>
                                    </p:set>
                                  </p:childTnLst>
                                </p:cTn>
                              </p:par>
                              <p:par>
                                <p:cTn id="298" presetID="10" presetClass="exit" presetSubtype="0" fill="hold" grpId="1" nodeType="withEffect">
                                  <p:stCondLst>
                                    <p:cond delay="0"/>
                                  </p:stCondLst>
                                  <p:childTnLst>
                                    <p:animEffect transition="out" filter="fade">
                                      <p:cBhvr>
                                        <p:cTn id="299" dur="250"/>
                                        <p:tgtEl>
                                          <p:spTgt spid="95"/>
                                        </p:tgtEl>
                                      </p:cBhvr>
                                    </p:animEffect>
                                    <p:set>
                                      <p:cBhvr>
                                        <p:cTn id="300" dur="1" fill="hold">
                                          <p:stCondLst>
                                            <p:cond delay="249"/>
                                          </p:stCondLst>
                                        </p:cTn>
                                        <p:tgtEl>
                                          <p:spTgt spid="95"/>
                                        </p:tgtEl>
                                        <p:attrNameLst>
                                          <p:attrName>style.visibility</p:attrName>
                                        </p:attrNameLst>
                                      </p:cBhvr>
                                      <p:to>
                                        <p:strVal val="hidden"/>
                                      </p:to>
                                    </p:set>
                                  </p:childTnLst>
                                </p:cTn>
                              </p:par>
                              <p:par>
                                <p:cTn id="301" presetID="10" presetClass="exit" presetSubtype="0" fill="hold" grpId="1" nodeType="withEffect">
                                  <p:stCondLst>
                                    <p:cond delay="0"/>
                                  </p:stCondLst>
                                  <p:childTnLst>
                                    <p:animEffect transition="out" filter="fade">
                                      <p:cBhvr>
                                        <p:cTn id="302" dur="250"/>
                                        <p:tgtEl>
                                          <p:spTgt spid="96"/>
                                        </p:tgtEl>
                                      </p:cBhvr>
                                    </p:animEffect>
                                    <p:set>
                                      <p:cBhvr>
                                        <p:cTn id="303" dur="1" fill="hold">
                                          <p:stCondLst>
                                            <p:cond delay="249"/>
                                          </p:stCondLst>
                                        </p:cTn>
                                        <p:tgtEl>
                                          <p:spTgt spid="96"/>
                                        </p:tgtEl>
                                        <p:attrNameLst>
                                          <p:attrName>style.visibility</p:attrName>
                                        </p:attrNameLst>
                                      </p:cBhvr>
                                      <p:to>
                                        <p:strVal val="hidden"/>
                                      </p:to>
                                    </p:set>
                                  </p:childTnLst>
                                </p:cTn>
                              </p:par>
                              <p:par>
                                <p:cTn id="304" presetID="10" presetClass="exit" presetSubtype="0" fill="hold" grpId="1" nodeType="withEffect">
                                  <p:stCondLst>
                                    <p:cond delay="0"/>
                                  </p:stCondLst>
                                  <p:childTnLst>
                                    <p:animEffect transition="out" filter="fade">
                                      <p:cBhvr>
                                        <p:cTn id="305" dur="250"/>
                                        <p:tgtEl>
                                          <p:spTgt spid="97"/>
                                        </p:tgtEl>
                                      </p:cBhvr>
                                    </p:animEffect>
                                    <p:set>
                                      <p:cBhvr>
                                        <p:cTn id="306" dur="1" fill="hold">
                                          <p:stCondLst>
                                            <p:cond delay="249"/>
                                          </p:stCondLst>
                                        </p:cTn>
                                        <p:tgtEl>
                                          <p:spTgt spid="97"/>
                                        </p:tgtEl>
                                        <p:attrNameLst>
                                          <p:attrName>style.visibility</p:attrName>
                                        </p:attrNameLst>
                                      </p:cBhvr>
                                      <p:to>
                                        <p:strVal val="hidden"/>
                                      </p:to>
                                    </p:set>
                                  </p:childTnLst>
                                </p:cTn>
                              </p:par>
                              <p:par>
                                <p:cTn id="307" presetID="10" presetClass="exit" presetSubtype="0" fill="hold" grpId="1" nodeType="withEffect">
                                  <p:stCondLst>
                                    <p:cond delay="0"/>
                                  </p:stCondLst>
                                  <p:childTnLst>
                                    <p:animEffect transition="out" filter="fade">
                                      <p:cBhvr>
                                        <p:cTn id="308" dur="250"/>
                                        <p:tgtEl>
                                          <p:spTgt spid="98"/>
                                        </p:tgtEl>
                                      </p:cBhvr>
                                    </p:animEffect>
                                    <p:set>
                                      <p:cBhvr>
                                        <p:cTn id="309" dur="1" fill="hold">
                                          <p:stCondLst>
                                            <p:cond delay="249"/>
                                          </p:stCondLst>
                                        </p:cTn>
                                        <p:tgtEl>
                                          <p:spTgt spid="98"/>
                                        </p:tgtEl>
                                        <p:attrNameLst>
                                          <p:attrName>style.visibility</p:attrName>
                                        </p:attrNameLst>
                                      </p:cBhvr>
                                      <p:to>
                                        <p:strVal val="hidden"/>
                                      </p:to>
                                    </p:set>
                                  </p:childTnLst>
                                </p:cTn>
                              </p:par>
                              <p:par>
                                <p:cTn id="310" presetID="10" presetClass="exit" presetSubtype="0" fill="hold" grpId="1" nodeType="withEffect">
                                  <p:stCondLst>
                                    <p:cond delay="0"/>
                                  </p:stCondLst>
                                  <p:childTnLst>
                                    <p:animEffect transition="out" filter="fade">
                                      <p:cBhvr>
                                        <p:cTn id="311" dur="250"/>
                                        <p:tgtEl>
                                          <p:spTgt spid="99"/>
                                        </p:tgtEl>
                                      </p:cBhvr>
                                    </p:animEffect>
                                    <p:set>
                                      <p:cBhvr>
                                        <p:cTn id="312" dur="1" fill="hold">
                                          <p:stCondLst>
                                            <p:cond delay="249"/>
                                          </p:stCondLst>
                                        </p:cTn>
                                        <p:tgtEl>
                                          <p:spTgt spid="99"/>
                                        </p:tgtEl>
                                        <p:attrNameLst>
                                          <p:attrName>style.visibility</p:attrName>
                                        </p:attrNameLst>
                                      </p:cBhvr>
                                      <p:to>
                                        <p:strVal val="hidden"/>
                                      </p:to>
                                    </p:set>
                                  </p:childTnLst>
                                </p:cTn>
                              </p:par>
                              <p:par>
                                <p:cTn id="313" presetID="10" presetClass="exit" presetSubtype="0" fill="hold" grpId="1" nodeType="withEffect">
                                  <p:stCondLst>
                                    <p:cond delay="0"/>
                                  </p:stCondLst>
                                  <p:childTnLst>
                                    <p:animEffect transition="out" filter="fade">
                                      <p:cBhvr>
                                        <p:cTn id="314" dur="250"/>
                                        <p:tgtEl>
                                          <p:spTgt spid="100"/>
                                        </p:tgtEl>
                                      </p:cBhvr>
                                    </p:animEffect>
                                    <p:set>
                                      <p:cBhvr>
                                        <p:cTn id="315" dur="1" fill="hold">
                                          <p:stCondLst>
                                            <p:cond delay="249"/>
                                          </p:stCondLst>
                                        </p:cTn>
                                        <p:tgtEl>
                                          <p:spTgt spid="100"/>
                                        </p:tgtEl>
                                        <p:attrNameLst>
                                          <p:attrName>style.visibility</p:attrName>
                                        </p:attrNameLst>
                                      </p:cBhvr>
                                      <p:to>
                                        <p:strVal val="hidden"/>
                                      </p:to>
                                    </p:set>
                                  </p:childTnLst>
                                </p:cTn>
                              </p:par>
                              <p:par>
                                <p:cTn id="316" presetID="10" presetClass="exit" presetSubtype="0" fill="hold" grpId="1" nodeType="withEffect">
                                  <p:stCondLst>
                                    <p:cond delay="0"/>
                                  </p:stCondLst>
                                  <p:childTnLst>
                                    <p:animEffect transition="out" filter="fade">
                                      <p:cBhvr>
                                        <p:cTn id="317" dur="250"/>
                                        <p:tgtEl>
                                          <p:spTgt spid="101"/>
                                        </p:tgtEl>
                                      </p:cBhvr>
                                    </p:animEffect>
                                    <p:set>
                                      <p:cBhvr>
                                        <p:cTn id="318" dur="1" fill="hold">
                                          <p:stCondLst>
                                            <p:cond delay="249"/>
                                          </p:stCondLst>
                                        </p:cTn>
                                        <p:tgtEl>
                                          <p:spTgt spid="101"/>
                                        </p:tgtEl>
                                        <p:attrNameLst>
                                          <p:attrName>style.visibility</p:attrName>
                                        </p:attrNameLst>
                                      </p:cBhvr>
                                      <p:to>
                                        <p:strVal val="hidden"/>
                                      </p:to>
                                    </p:set>
                                  </p:childTnLst>
                                </p:cTn>
                              </p:par>
                              <p:par>
                                <p:cTn id="319" presetID="10" presetClass="exit" presetSubtype="0" fill="hold" grpId="1" nodeType="withEffect">
                                  <p:stCondLst>
                                    <p:cond delay="0"/>
                                  </p:stCondLst>
                                  <p:childTnLst>
                                    <p:animEffect transition="out" filter="fade">
                                      <p:cBhvr>
                                        <p:cTn id="320" dur="250"/>
                                        <p:tgtEl>
                                          <p:spTgt spid="102"/>
                                        </p:tgtEl>
                                      </p:cBhvr>
                                    </p:animEffect>
                                    <p:set>
                                      <p:cBhvr>
                                        <p:cTn id="321" dur="1" fill="hold">
                                          <p:stCondLst>
                                            <p:cond delay="249"/>
                                          </p:stCondLst>
                                        </p:cTn>
                                        <p:tgtEl>
                                          <p:spTgt spid="102"/>
                                        </p:tgtEl>
                                        <p:attrNameLst>
                                          <p:attrName>style.visibility</p:attrName>
                                        </p:attrNameLst>
                                      </p:cBhvr>
                                      <p:to>
                                        <p:strVal val="hidden"/>
                                      </p:to>
                                    </p:set>
                                  </p:childTnLst>
                                </p:cTn>
                              </p:par>
                              <p:par>
                                <p:cTn id="322" presetID="10" presetClass="exit" presetSubtype="0" fill="hold" grpId="1" nodeType="withEffect">
                                  <p:stCondLst>
                                    <p:cond delay="0"/>
                                  </p:stCondLst>
                                  <p:childTnLst>
                                    <p:animEffect transition="out" filter="fade">
                                      <p:cBhvr>
                                        <p:cTn id="323" dur="250"/>
                                        <p:tgtEl>
                                          <p:spTgt spid="103"/>
                                        </p:tgtEl>
                                      </p:cBhvr>
                                    </p:animEffect>
                                    <p:set>
                                      <p:cBhvr>
                                        <p:cTn id="324" dur="1" fill="hold">
                                          <p:stCondLst>
                                            <p:cond delay="249"/>
                                          </p:stCondLst>
                                        </p:cTn>
                                        <p:tgtEl>
                                          <p:spTgt spid="103"/>
                                        </p:tgtEl>
                                        <p:attrNameLst>
                                          <p:attrName>style.visibility</p:attrName>
                                        </p:attrNameLst>
                                      </p:cBhvr>
                                      <p:to>
                                        <p:strVal val="hidden"/>
                                      </p:to>
                                    </p:set>
                                  </p:childTnLst>
                                </p:cTn>
                              </p:par>
                              <p:par>
                                <p:cTn id="325" presetID="10" presetClass="exit" presetSubtype="0" fill="hold" grpId="1" nodeType="withEffect">
                                  <p:stCondLst>
                                    <p:cond delay="0"/>
                                  </p:stCondLst>
                                  <p:childTnLst>
                                    <p:animEffect transition="out" filter="fade">
                                      <p:cBhvr>
                                        <p:cTn id="326" dur="250"/>
                                        <p:tgtEl>
                                          <p:spTgt spid="104"/>
                                        </p:tgtEl>
                                      </p:cBhvr>
                                    </p:animEffect>
                                    <p:set>
                                      <p:cBhvr>
                                        <p:cTn id="327" dur="1" fill="hold">
                                          <p:stCondLst>
                                            <p:cond delay="249"/>
                                          </p:stCondLst>
                                        </p:cTn>
                                        <p:tgtEl>
                                          <p:spTgt spid="104"/>
                                        </p:tgtEl>
                                        <p:attrNameLst>
                                          <p:attrName>style.visibility</p:attrName>
                                        </p:attrNameLst>
                                      </p:cBhvr>
                                      <p:to>
                                        <p:strVal val="hidden"/>
                                      </p:to>
                                    </p:set>
                                  </p:childTnLst>
                                </p:cTn>
                              </p:par>
                              <p:par>
                                <p:cTn id="328" presetID="10" presetClass="exit" presetSubtype="0" fill="hold" grpId="1" nodeType="withEffect">
                                  <p:stCondLst>
                                    <p:cond delay="0"/>
                                  </p:stCondLst>
                                  <p:childTnLst>
                                    <p:animEffect transition="out" filter="fade">
                                      <p:cBhvr>
                                        <p:cTn id="329" dur="250"/>
                                        <p:tgtEl>
                                          <p:spTgt spid="105"/>
                                        </p:tgtEl>
                                      </p:cBhvr>
                                    </p:animEffect>
                                    <p:set>
                                      <p:cBhvr>
                                        <p:cTn id="330" dur="1" fill="hold">
                                          <p:stCondLst>
                                            <p:cond delay="249"/>
                                          </p:stCondLst>
                                        </p:cTn>
                                        <p:tgtEl>
                                          <p:spTgt spid="105"/>
                                        </p:tgtEl>
                                        <p:attrNameLst>
                                          <p:attrName>style.visibility</p:attrName>
                                        </p:attrNameLst>
                                      </p:cBhvr>
                                      <p:to>
                                        <p:strVal val="hidden"/>
                                      </p:to>
                                    </p:set>
                                  </p:childTnLst>
                                </p:cTn>
                              </p:par>
                              <p:par>
                                <p:cTn id="331" presetID="10" presetClass="exit" presetSubtype="0" fill="hold" grpId="1" nodeType="withEffect">
                                  <p:stCondLst>
                                    <p:cond delay="0"/>
                                  </p:stCondLst>
                                  <p:childTnLst>
                                    <p:animEffect transition="out" filter="fade">
                                      <p:cBhvr>
                                        <p:cTn id="332" dur="250"/>
                                        <p:tgtEl>
                                          <p:spTgt spid="106"/>
                                        </p:tgtEl>
                                      </p:cBhvr>
                                    </p:animEffect>
                                    <p:set>
                                      <p:cBhvr>
                                        <p:cTn id="333" dur="1" fill="hold">
                                          <p:stCondLst>
                                            <p:cond delay="249"/>
                                          </p:stCondLst>
                                        </p:cTn>
                                        <p:tgtEl>
                                          <p:spTgt spid="106"/>
                                        </p:tgtEl>
                                        <p:attrNameLst>
                                          <p:attrName>style.visibility</p:attrName>
                                        </p:attrNameLst>
                                      </p:cBhvr>
                                      <p:to>
                                        <p:strVal val="hidden"/>
                                      </p:to>
                                    </p:set>
                                  </p:childTnLst>
                                </p:cTn>
                              </p:par>
                              <p:par>
                                <p:cTn id="334" presetID="10" presetClass="exit" presetSubtype="0" fill="hold" grpId="1" nodeType="withEffect">
                                  <p:stCondLst>
                                    <p:cond delay="0"/>
                                  </p:stCondLst>
                                  <p:childTnLst>
                                    <p:animEffect transition="out" filter="fade">
                                      <p:cBhvr>
                                        <p:cTn id="335" dur="250"/>
                                        <p:tgtEl>
                                          <p:spTgt spid="107"/>
                                        </p:tgtEl>
                                      </p:cBhvr>
                                    </p:animEffect>
                                    <p:set>
                                      <p:cBhvr>
                                        <p:cTn id="336" dur="1" fill="hold">
                                          <p:stCondLst>
                                            <p:cond delay="249"/>
                                          </p:stCondLst>
                                        </p:cTn>
                                        <p:tgtEl>
                                          <p:spTgt spid="107"/>
                                        </p:tgtEl>
                                        <p:attrNameLst>
                                          <p:attrName>style.visibility</p:attrName>
                                        </p:attrNameLst>
                                      </p:cBhvr>
                                      <p:to>
                                        <p:strVal val="hidden"/>
                                      </p:to>
                                    </p:set>
                                  </p:childTnLst>
                                </p:cTn>
                              </p:par>
                              <p:par>
                                <p:cTn id="337" presetID="10" presetClass="exit" presetSubtype="0" fill="hold" grpId="1" nodeType="withEffect">
                                  <p:stCondLst>
                                    <p:cond delay="0"/>
                                  </p:stCondLst>
                                  <p:childTnLst>
                                    <p:animEffect transition="out" filter="fade">
                                      <p:cBhvr>
                                        <p:cTn id="338" dur="250"/>
                                        <p:tgtEl>
                                          <p:spTgt spid="108"/>
                                        </p:tgtEl>
                                      </p:cBhvr>
                                    </p:animEffect>
                                    <p:set>
                                      <p:cBhvr>
                                        <p:cTn id="339" dur="1" fill="hold">
                                          <p:stCondLst>
                                            <p:cond delay="249"/>
                                          </p:stCondLst>
                                        </p:cTn>
                                        <p:tgtEl>
                                          <p:spTgt spid="108"/>
                                        </p:tgtEl>
                                        <p:attrNameLst>
                                          <p:attrName>style.visibility</p:attrName>
                                        </p:attrNameLst>
                                      </p:cBhvr>
                                      <p:to>
                                        <p:strVal val="hidden"/>
                                      </p:to>
                                    </p:set>
                                  </p:childTnLst>
                                </p:cTn>
                              </p:par>
                              <p:par>
                                <p:cTn id="340" presetID="10" presetClass="exit" presetSubtype="0" fill="hold" grpId="1" nodeType="withEffect">
                                  <p:stCondLst>
                                    <p:cond delay="0"/>
                                  </p:stCondLst>
                                  <p:childTnLst>
                                    <p:animEffect transition="out" filter="fade">
                                      <p:cBhvr>
                                        <p:cTn id="341" dur="250"/>
                                        <p:tgtEl>
                                          <p:spTgt spid="109"/>
                                        </p:tgtEl>
                                      </p:cBhvr>
                                    </p:animEffect>
                                    <p:set>
                                      <p:cBhvr>
                                        <p:cTn id="342" dur="1" fill="hold">
                                          <p:stCondLst>
                                            <p:cond delay="249"/>
                                          </p:stCondLst>
                                        </p:cTn>
                                        <p:tgtEl>
                                          <p:spTgt spid="109"/>
                                        </p:tgtEl>
                                        <p:attrNameLst>
                                          <p:attrName>style.visibility</p:attrName>
                                        </p:attrNameLst>
                                      </p:cBhvr>
                                      <p:to>
                                        <p:strVal val="hidden"/>
                                      </p:to>
                                    </p:set>
                                  </p:childTnLst>
                                </p:cTn>
                              </p:par>
                              <p:par>
                                <p:cTn id="343" presetID="10" presetClass="exit" presetSubtype="0" fill="hold" grpId="1" nodeType="withEffect">
                                  <p:stCondLst>
                                    <p:cond delay="0"/>
                                  </p:stCondLst>
                                  <p:childTnLst>
                                    <p:animEffect transition="out" filter="fade">
                                      <p:cBhvr>
                                        <p:cTn id="344" dur="250"/>
                                        <p:tgtEl>
                                          <p:spTgt spid="110"/>
                                        </p:tgtEl>
                                      </p:cBhvr>
                                    </p:animEffect>
                                    <p:set>
                                      <p:cBhvr>
                                        <p:cTn id="345" dur="1" fill="hold">
                                          <p:stCondLst>
                                            <p:cond delay="249"/>
                                          </p:stCondLst>
                                        </p:cTn>
                                        <p:tgtEl>
                                          <p:spTgt spid="110"/>
                                        </p:tgtEl>
                                        <p:attrNameLst>
                                          <p:attrName>style.visibility</p:attrName>
                                        </p:attrNameLst>
                                      </p:cBhvr>
                                      <p:to>
                                        <p:strVal val="hidden"/>
                                      </p:to>
                                    </p:set>
                                  </p:childTnLst>
                                </p:cTn>
                              </p:par>
                              <p:par>
                                <p:cTn id="346" presetID="10" presetClass="exit" presetSubtype="0" fill="hold" grpId="1" nodeType="withEffect">
                                  <p:stCondLst>
                                    <p:cond delay="0"/>
                                  </p:stCondLst>
                                  <p:childTnLst>
                                    <p:animEffect transition="out" filter="fade">
                                      <p:cBhvr>
                                        <p:cTn id="347" dur="250"/>
                                        <p:tgtEl>
                                          <p:spTgt spid="111"/>
                                        </p:tgtEl>
                                      </p:cBhvr>
                                    </p:animEffect>
                                    <p:set>
                                      <p:cBhvr>
                                        <p:cTn id="348" dur="1" fill="hold">
                                          <p:stCondLst>
                                            <p:cond delay="249"/>
                                          </p:stCondLst>
                                        </p:cTn>
                                        <p:tgtEl>
                                          <p:spTgt spid="111"/>
                                        </p:tgtEl>
                                        <p:attrNameLst>
                                          <p:attrName>style.visibility</p:attrName>
                                        </p:attrNameLst>
                                      </p:cBhvr>
                                      <p:to>
                                        <p:strVal val="hidden"/>
                                      </p:to>
                                    </p:set>
                                  </p:childTnLst>
                                </p:cTn>
                              </p:par>
                              <p:par>
                                <p:cTn id="349" presetID="10" presetClass="exit" presetSubtype="0" fill="hold" grpId="1" nodeType="withEffect">
                                  <p:stCondLst>
                                    <p:cond delay="0"/>
                                  </p:stCondLst>
                                  <p:childTnLst>
                                    <p:animEffect transition="out" filter="fade">
                                      <p:cBhvr>
                                        <p:cTn id="350" dur="250"/>
                                        <p:tgtEl>
                                          <p:spTgt spid="112"/>
                                        </p:tgtEl>
                                      </p:cBhvr>
                                    </p:animEffect>
                                    <p:set>
                                      <p:cBhvr>
                                        <p:cTn id="351" dur="1" fill="hold">
                                          <p:stCondLst>
                                            <p:cond delay="249"/>
                                          </p:stCondLst>
                                        </p:cTn>
                                        <p:tgtEl>
                                          <p:spTgt spid="112"/>
                                        </p:tgtEl>
                                        <p:attrNameLst>
                                          <p:attrName>style.visibility</p:attrName>
                                        </p:attrNameLst>
                                      </p:cBhvr>
                                      <p:to>
                                        <p:strVal val="hidden"/>
                                      </p:to>
                                    </p:set>
                                  </p:childTnLst>
                                </p:cTn>
                              </p:par>
                              <p:par>
                                <p:cTn id="352" presetID="10" presetClass="exit" presetSubtype="0" fill="hold" grpId="1" nodeType="withEffect">
                                  <p:stCondLst>
                                    <p:cond delay="0"/>
                                  </p:stCondLst>
                                  <p:childTnLst>
                                    <p:animEffect transition="out" filter="fade">
                                      <p:cBhvr>
                                        <p:cTn id="353" dur="250"/>
                                        <p:tgtEl>
                                          <p:spTgt spid="113"/>
                                        </p:tgtEl>
                                      </p:cBhvr>
                                    </p:animEffect>
                                    <p:set>
                                      <p:cBhvr>
                                        <p:cTn id="354" dur="1" fill="hold">
                                          <p:stCondLst>
                                            <p:cond delay="249"/>
                                          </p:stCondLst>
                                        </p:cTn>
                                        <p:tgtEl>
                                          <p:spTgt spid="113"/>
                                        </p:tgtEl>
                                        <p:attrNameLst>
                                          <p:attrName>style.visibility</p:attrName>
                                        </p:attrNameLst>
                                      </p:cBhvr>
                                      <p:to>
                                        <p:strVal val="hidden"/>
                                      </p:to>
                                    </p:set>
                                  </p:childTnLst>
                                </p:cTn>
                              </p:par>
                              <p:par>
                                <p:cTn id="355" presetID="10" presetClass="exit" presetSubtype="0" fill="hold" grpId="1" nodeType="withEffect">
                                  <p:stCondLst>
                                    <p:cond delay="0"/>
                                  </p:stCondLst>
                                  <p:childTnLst>
                                    <p:animEffect transition="out" filter="fade">
                                      <p:cBhvr>
                                        <p:cTn id="356" dur="250"/>
                                        <p:tgtEl>
                                          <p:spTgt spid="114"/>
                                        </p:tgtEl>
                                      </p:cBhvr>
                                    </p:animEffect>
                                    <p:set>
                                      <p:cBhvr>
                                        <p:cTn id="357" dur="1" fill="hold">
                                          <p:stCondLst>
                                            <p:cond delay="249"/>
                                          </p:stCondLst>
                                        </p:cTn>
                                        <p:tgtEl>
                                          <p:spTgt spid="114"/>
                                        </p:tgtEl>
                                        <p:attrNameLst>
                                          <p:attrName>style.visibility</p:attrName>
                                        </p:attrNameLst>
                                      </p:cBhvr>
                                      <p:to>
                                        <p:strVal val="hidden"/>
                                      </p:to>
                                    </p:set>
                                  </p:childTnLst>
                                </p:cTn>
                              </p:par>
                              <p:par>
                                <p:cTn id="358" presetID="10" presetClass="exit" presetSubtype="0" fill="hold" grpId="1" nodeType="withEffect">
                                  <p:stCondLst>
                                    <p:cond delay="0"/>
                                  </p:stCondLst>
                                  <p:childTnLst>
                                    <p:animEffect transition="out" filter="fade">
                                      <p:cBhvr>
                                        <p:cTn id="359" dur="250"/>
                                        <p:tgtEl>
                                          <p:spTgt spid="115"/>
                                        </p:tgtEl>
                                      </p:cBhvr>
                                    </p:animEffect>
                                    <p:set>
                                      <p:cBhvr>
                                        <p:cTn id="360" dur="1" fill="hold">
                                          <p:stCondLst>
                                            <p:cond delay="249"/>
                                          </p:stCondLst>
                                        </p:cTn>
                                        <p:tgtEl>
                                          <p:spTgt spid="115"/>
                                        </p:tgtEl>
                                        <p:attrNameLst>
                                          <p:attrName>style.visibility</p:attrName>
                                        </p:attrNameLst>
                                      </p:cBhvr>
                                      <p:to>
                                        <p:strVal val="hidden"/>
                                      </p:to>
                                    </p:set>
                                  </p:childTnLst>
                                </p:cTn>
                              </p:par>
                              <p:par>
                                <p:cTn id="361" presetID="10" presetClass="exit" presetSubtype="0" fill="hold" grpId="1" nodeType="withEffect">
                                  <p:stCondLst>
                                    <p:cond delay="0"/>
                                  </p:stCondLst>
                                  <p:childTnLst>
                                    <p:animEffect transition="out" filter="fade">
                                      <p:cBhvr>
                                        <p:cTn id="362" dur="250"/>
                                        <p:tgtEl>
                                          <p:spTgt spid="116"/>
                                        </p:tgtEl>
                                      </p:cBhvr>
                                    </p:animEffect>
                                    <p:set>
                                      <p:cBhvr>
                                        <p:cTn id="363" dur="1" fill="hold">
                                          <p:stCondLst>
                                            <p:cond delay="249"/>
                                          </p:stCondLst>
                                        </p:cTn>
                                        <p:tgtEl>
                                          <p:spTgt spid="116"/>
                                        </p:tgtEl>
                                        <p:attrNameLst>
                                          <p:attrName>style.visibility</p:attrName>
                                        </p:attrNameLst>
                                      </p:cBhvr>
                                      <p:to>
                                        <p:strVal val="hidden"/>
                                      </p:to>
                                    </p:set>
                                  </p:childTnLst>
                                </p:cTn>
                              </p:par>
                              <p:par>
                                <p:cTn id="364" presetID="10" presetClass="exit" presetSubtype="0" fill="hold" grpId="1" nodeType="withEffect">
                                  <p:stCondLst>
                                    <p:cond delay="0"/>
                                  </p:stCondLst>
                                  <p:childTnLst>
                                    <p:animEffect transition="out" filter="fade">
                                      <p:cBhvr>
                                        <p:cTn id="365" dur="250"/>
                                        <p:tgtEl>
                                          <p:spTgt spid="117"/>
                                        </p:tgtEl>
                                      </p:cBhvr>
                                    </p:animEffect>
                                    <p:set>
                                      <p:cBhvr>
                                        <p:cTn id="366" dur="1" fill="hold">
                                          <p:stCondLst>
                                            <p:cond delay="249"/>
                                          </p:stCondLst>
                                        </p:cTn>
                                        <p:tgtEl>
                                          <p:spTgt spid="117"/>
                                        </p:tgtEl>
                                        <p:attrNameLst>
                                          <p:attrName>style.visibility</p:attrName>
                                        </p:attrNameLst>
                                      </p:cBhvr>
                                      <p:to>
                                        <p:strVal val="hidden"/>
                                      </p:to>
                                    </p:set>
                                  </p:childTnLst>
                                </p:cTn>
                              </p:par>
                              <p:par>
                                <p:cTn id="367" presetID="10" presetClass="exit" presetSubtype="0" fill="hold" grpId="1" nodeType="withEffect">
                                  <p:stCondLst>
                                    <p:cond delay="0"/>
                                  </p:stCondLst>
                                  <p:childTnLst>
                                    <p:animEffect transition="out" filter="fade">
                                      <p:cBhvr>
                                        <p:cTn id="368" dur="250"/>
                                        <p:tgtEl>
                                          <p:spTgt spid="118"/>
                                        </p:tgtEl>
                                      </p:cBhvr>
                                    </p:animEffect>
                                    <p:set>
                                      <p:cBhvr>
                                        <p:cTn id="369" dur="1" fill="hold">
                                          <p:stCondLst>
                                            <p:cond delay="249"/>
                                          </p:stCondLst>
                                        </p:cTn>
                                        <p:tgtEl>
                                          <p:spTgt spid="118"/>
                                        </p:tgtEl>
                                        <p:attrNameLst>
                                          <p:attrName>style.visibility</p:attrName>
                                        </p:attrNameLst>
                                      </p:cBhvr>
                                      <p:to>
                                        <p:strVal val="hidden"/>
                                      </p:to>
                                    </p:set>
                                  </p:childTnLst>
                                </p:cTn>
                              </p:par>
                              <p:par>
                                <p:cTn id="370" presetID="10" presetClass="entr" presetSubtype="0" fill="hold" grpId="0" nodeType="withEffect">
                                  <p:stCondLst>
                                    <p:cond delay="0"/>
                                  </p:stCondLst>
                                  <p:childTnLst>
                                    <p:set>
                                      <p:cBhvr>
                                        <p:cTn id="371" dur="1" fill="hold">
                                          <p:stCondLst>
                                            <p:cond delay="0"/>
                                          </p:stCondLst>
                                        </p:cTn>
                                        <p:tgtEl>
                                          <p:spTgt spid="119"/>
                                        </p:tgtEl>
                                        <p:attrNameLst>
                                          <p:attrName>style.visibility</p:attrName>
                                        </p:attrNameLst>
                                      </p:cBhvr>
                                      <p:to>
                                        <p:strVal val="visible"/>
                                      </p:to>
                                    </p:set>
                                    <p:animEffect transition="in" filter="fade">
                                      <p:cBhvr>
                                        <p:cTn id="372" dur="250"/>
                                        <p:tgtEl>
                                          <p:spTgt spid="119"/>
                                        </p:tgtEl>
                                      </p:cBhvr>
                                    </p:animEffect>
                                  </p:childTnLst>
                                </p:cTn>
                              </p:par>
                              <p:par>
                                <p:cTn id="373" presetID="10" presetClass="entr" presetSubtype="0" fill="hold" grpId="0" nodeType="withEffect">
                                  <p:stCondLst>
                                    <p:cond delay="0"/>
                                  </p:stCondLst>
                                  <p:childTnLst>
                                    <p:set>
                                      <p:cBhvr>
                                        <p:cTn id="374" dur="1" fill="hold">
                                          <p:stCondLst>
                                            <p:cond delay="0"/>
                                          </p:stCondLst>
                                        </p:cTn>
                                        <p:tgtEl>
                                          <p:spTgt spid="120"/>
                                        </p:tgtEl>
                                        <p:attrNameLst>
                                          <p:attrName>style.visibility</p:attrName>
                                        </p:attrNameLst>
                                      </p:cBhvr>
                                      <p:to>
                                        <p:strVal val="visible"/>
                                      </p:to>
                                    </p:set>
                                    <p:animEffect transition="in" filter="fade">
                                      <p:cBhvr>
                                        <p:cTn id="375" dur="250"/>
                                        <p:tgtEl>
                                          <p:spTgt spid="120"/>
                                        </p:tgtEl>
                                      </p:cBhvr>
                                    </p:animEffect>
                                  </p:childTnLst>
                                </p:cTn>
                              </p:par>
                            </p:childTnLst>
                          </p:cTn>
                        </p:par>
                      </p:childTnLst>
                    </p:cTn>
                  </p:par>
                  <p:par>
                    <p:cTn id="376" fill="hold">
                      <p:stCondLst>
                        <p:cond delay="indefinite"/>
                      </p:stCondLst>
                      <p:childTnLst>
                        <p:par>
                          <p:cTn id="377" fill="hold">
                            <p:stCondLst>
                              <p:cond delay="0"/>
                            </p:stCondLst>
                            <p:childTnLst>
                              <p:par>
                                <p:cTn id="378" presetID="10" presetClass="exit" presetSubtype="0" fill="hold" grpId="1" nodeType="clickEffect">
                                  <p:stCondLst>
                                    <p:cond delay="0"/>
                                  </p:stCondLst>
                                  <p:childTnLst>
                                    <p:animEffect transition="out" filter="fade">
                                      <p:cBhvr>
                                        <p:cTn id="379" dur="250"/>
                                        <p:tgtEl>
                                          <p:spTgt spid="92"/>
                                        </p:tgtEl>
                                      </p:cBhvr>
                                    </p:animEffect>
                                    <p:set>
                                      <p:cBhvr>
                                        <p:cTn id="380" dur="1" fill="hold">
                                          <p:stCondLst>
                                            <p:cond delay="249"/>
                                          </p:stCondLst>
                                        </p:cTn>
                                        <p:tgtEl>
                                          <p:spTgt spid="92"/>
                                        </p:tgtEl>
                                        <p:attrNameLst>
                                          <p:attrName>style.visibility</p:attrName>
                                        </p:attrNameLst>
                                      </p:cBhvr>
                                      <p:to>
                                        <p:strVal val="hidden"/>
                                      </p:to>
                                    </p:set>
                                  </p:childTnLst>
                                </p:cTn>
                              </p:par>
                              <p:par>
                                <p:cTn id="381" presetID="10" presetClass="entr" presetSubtype="0" fill="hold" grpId="0" nodeType="withEffect">
                                  <p:stCondLst>
                                    <p:cond delay="0"/>
                                  </p:stCondLst>
                                  <p:childTnLst>
                                    <p:set>
                                      <p:cBhvr>
                                        <p:cTn id="382" dur="1" fill="hold">
                                          <p:stCondLst>
                                            <p:cond delay="0"/>
                                          </p:stCondLst>
                                        </p:cTn>
                                        <p:tgtEl>
                                          <p:spTgt spid="122"/>
                                        </p:tgtEl>
                                        <p:attrNameLst>
                                          <p:attrName>style.visibility</p:attrName>
                                        </p:attrNameLst>
                                      </p:cBhvr>
                                      <p:to>
                                        <p:strVal val="visible"/>
                                      </p:to>
                                    </p:set>
                                    <p:animEffect transition="in" filter="fade">
                                      <p:cBhvr>
                                        <p:cTn id="383" dur="250"/>
                                        <p:tgtEl>
                                          <p:spTgt spid="122"/>
                                        </p:tgtEl>
                                      </p:cBhvr>
                                    </p:animEffect>
                                  </p:childTnLst>
                                </p:cTn>
                              </p:par>
                              <p:par>
                                <p:cTn id="384" presetID="10" presetClass="entr" presetSubtype="0" fill="hold" grpId="0" nodeType="withEffect">
                                  <p:stCondLst>
                                    <p:cond delay="0"/>
                                  </p:stCondLst>
                                  <p:childTnLst>
                                    <p:set>
                                      <p:cBhvr>
                                        <p:cTn id="385" dur="1" fill="hold">
                                          <p:stCondLst>
                                            <p:cond delay="0"/>
                                          </p:stCondLst>
                                        </p:cTn>
                                        <p:tgtEl>
                                          <p:spTgt spid="124"/>
                                        </p:tgtEl>
                                        <p:attrNameLst>
                                          <p:attrName>style.visibility</p:attrName>
                                        </p:attrNameLst>
                                      </p:cBhvr>
                                      <p:to>
                                        <p:strVal val="visible"/>
                                      </p:to>
                                    </p:set>
                                    <p:animEffect transition="in" filter="fade">
                                      <p:cBhvr>
                                        <p:cTn id="386" dur="250"/>
                                        <p:tgtEl>
                                          <p:spTgt spid="124"/>
                                        </p:tgtEl>
                                      </p:cBhvr>
                                    </p:animEffect>
                                  </p:childTnLst>
                                </p:cTn>
                              </p:par>
                            </p:childTnLst>
                          </p:cTn>
                        </p:par>
                        <p:par>
                          <p:cTn id="387" fill="hold">
                            <p:stCondLst>
                              <p:cond delay="400"/>
                            </p:stCondLst>
                            <p:childTnLst>
                              <p:par>
                                <p:cTn id="388" presetID="10" presetClass="entr" presetSubtype="0" fill="hold" grpId="0" nodeType="afterEffect">
                                  <p:stCondLst>
                                    <p:cond delay="0"/>
                                  </p:stCondLst>
                                  <p:childTnLst>
                                    <p:set>
                                      <p:cBhvr>
                                        <p:cTn id="389" dur="1" fill="hold">
                                          <p:stCondLst>
                                            <p:cond delay="0"/>
                                          </p:stCondLst>
                                        </p:cTn>
                                        <p:tgtEl>
                                          <p:spTgt spid="123"/>
                                        </p:tgtEl>
                                        <p:attrNameLst>
                                          <p:attrName>style.visibility</p:attrName>
                                        </p:attrNameLst>
                                      </p:cBhvr>
                                      <p:to>
                                        <p:strVal val="visible"/>
                                      </p:to>
                                    </p:set>
                                    <p:animEffect transition="in" filter="fade">
                                      <p:cBhvr>
                                        <p:cTn id="390" dur="250"/>
                                        <p:tgtEl>
                                          <p:spTgt spid="123"/>
                                        </p:tgtEl>
                                      </p:cBhvr>
                                    </p:animEffect>
                                  </p:childTnLst>
                                </p:cTn>
                              </p:par>
                            </p:childTnLst>
                          </p:cTn>
                        </p:par>
                      </p:childTnLst>
                    </p:cTn>
                  </p:par>
                  <p:par>
                    <p:cTn id="391" fill="hold">
                      <p:stCondLst>
                        <p:cond delay="indefinite"/>
                      </p:stCondLst>
                      <p:childTnLst>
                        <p:par>
                          <p:cTn id="392" fill="hold">
                            <p:stCondLst>
                              <p:cond delay="0"/>
                            </p:stCondLst>
                            <p:childTnLst>
                              <p:par>
                                <p:cTn id="393" presetID="10" presetClass="exit" presetSubtype="0" fill="hold" grpId="1" nodeType="clickEffect">
                                  <p:stCondLst>
                                    <p:cond delay="0"/>
                                  </p:stCondLst>
                                  <p:childTnLst>
                                    <p:animEffect transition="out" filter="fade">
                                      <p:cBhvr>
                                        <p:cTn id="394" dur="250"/>
                                        <p:tgtEl>
                                          <p:spTgt spid="122"/>
                                        </p:tgtEl>
                                      </p:cBhvr>
                                    </p:animEffect>
                                    <p:set>
                                      <p:cBhvr>
                                        <p:cTn id="395" dur="1" fill="hold">
                                          <p:stCondLst>
                                            <p:cond delay="249"/>
                                          </p:stCondLst>
                                        </p:cTn>
                                        <p:tgtEl>
                                          <p:spTgt spid="122"/>
                                        </p:tgtEl>
                                        <p:attrNameLst>
                                          <p:attrName>style.visibility</p:attrName>
                                        </p:attrNameLst>
                                      </p:cBhvr>
                                      <p:to>
                                        <p:strVal val="hidden"/>
                                      </p:to>
                                    </p:set>
                                  </p:childTnLst>
                                </p:cTn>
                              </p:par>
                              <p:par>
                                <p:cTn id="396" presetID="10" presetClass="entr" presetSubtype="0" fill="hold" grpId="0" nodeType="withEffect">
                                  <p:stCondLst>
                                    <p:cond delay="0"/>
                                  </p:stCondLst>
                                  <p:childTnLst>
                                    <p:set>
                                      <p:cBhvr>
                                        <p:cTn id="397" dur="1" fill="hold">
                                          <p:stCondLst>
                                            <p:cond delay="0"/>
                                          </p:stCondLst>
                                        </p:cTn>
                                        <p:tgtEl>
                                          <p:spTgt spid="125"/>
                                        </p:tgtEl>
                                        <p:attrNameLst>
                                          <p:attrName>style.visibility</p:attrName>
                                        </p:attrNameLst>
                                      </p:cBhvr>
                                      <p:to>
                                        <p:strVal val="visible"/>
                                      </p:to>
                                    </p:set>
                                    <p:animEffect transition="in" filter="fade">
                                      <p:cBhvr>
                                        <p:cTn id="398" dur="250"/>
                                        <p:tgtEl>
                                          <p:spTgt spid="125"/>
                                        </p:tgtEl>
                                      </p:cBhvr>
                                    </p:animEffect>
                                  </p:childTnLst>
                                </p:cTn>
                              </p:par>
                              <p:par>
                                <p:cTn id="399" presetID="10" presetClass="entr" presetSubtype="0" fill="hold" grpId="0" nodeType="withEffect">
                                  <p:stCondLst>
                                    <p:cond delay="0"/>
                                  </p:stCondLst>
                                  <p:childTnLst>
                                    <p:set>
                                      <p:cBhvr>
                                        <p:cTn id="400" dur="1" fill="hold">
                                          <p:stCondLst>
                                            <p:cond delay="0"/>
                                          </p:stCondLst>
                                        </p:cTn>
                                        <p:tgtEl>
                                          <p:spTgt spid="132"/>
                                        </p:tgtEl>
                                        <p:attrNameLst>
                                          <p:attrName>style.visibility</p:attrName>
                                        </p:attrNameLst>
                                      </p:cBhvr>
                                      <p:to>
                                        <p:strVal val="visible"/>
                                      </p:to>
                                    </p:set>
                                    <p:animEffect transition="in" filter="fade">
                                      <p:cBhvr>
                                        <p:cTn id="401" dur="250"/>
                                        <p:tgtEl>
                                          <p:spTgt spid="132"/>
                                        </p:tgtEl>
                                      </p:cBhvr>
                                    </p:animEffect>
                                  </p:childTnLst>
                                </p:cTn>
                              </p:par>
                            </p:childTnLst>
                          </p:cTn>
                        </p:par>
                        <p:par>
                          <p:cTn id="402" fill="hold">
                            <p:stCondLst>
                              <p:cond delay="300"/>
                            </p:stCondLst>
                            <p:childTnLst>
                              <p:par>
                                <p:cTn id="403" presetID="10" presetClass="entr" presetSubtype="0" fill="hold" grpId="0" nodeType="afterEffect">
                                  <p:stCondLst>
                                    <p:cond delay="0"/>
                                  </p:stCondLst>
                                  <p:childTnLst>
                                    <p:set>
                                      <p:cBhvr>
                                        <p:cTn id="404" dur="1" fill="hold">
                                          <p:stCondLst>
                                            <p:cond delay="0"/>
                                          </p:stCondLst>
                                        </p:cTn>
                                        <p:tgtEl>
                                          <p:spTgt spid="126"/>
                                        </p:tgtEl>
                                        <p:attrNameLst>
                                          <p:attrName>style.visibility</p:attrName>
                                        </p:attrNameLst>
                                      </p:cBhvr>
                                      <p:to>
                                        <p:strVal val="visible"/>
                                      </p:to>
                                    </p:set>
                                    <p:animEffect transition="in" filter="fade">
                                      <p:cBhvr>
                                        <p:cTn id="405" dur="250"/>
                                        <p:tgtEl>
                                          <p:spTgt spid="126"/>
                                        </p:tgtEl>
                                      </p:cBhvr>
                                    </p:animEffect>
                                  </p:childTnLst>
                                </p:cTn>
                              </p:par>
                              <p:par>
                                <p:cTn id="406" presetID="10" presetClass="entr" presetSubtype="0" fill="hold" grpId="0" nodeType="withEffect">
                                  <p:stCondLst>
                                    <p:cond delay="0"/>
                                  </p:stCondLst>
                                  <p:childTnLst>
                                    <p:set>
                                      <p:cBhvr>
                                        <p:cTn id="407" dur="1" fill="hold">
                                          <p:stCondLst>
                                            <p:cond delay="0"/>
                                          </p:stCondLst>
                                        </p:cTn>
                                        <p:tgtEl>
                                          <p:spTgt spid="127"/>
                                        </p:tgtEl>
                                        <p:attrNameLst>
                                          <p:attrName>style.visibility</p:attrName>
                                        </p:attrNameLst>
                                      </p:cBhvr>
                                      <p:to>
                                        <p:strVal val="visible"/>
                                      </p:to>
                                    </p:set>
                                    <p:animEffect transition="in" filter="fade">
                                      <p:cBhvr>
                                        <p:cTn id="408" dur="250"/>
                                        <p:tgtEl>
                                          <p:spTgt spid="127"/>
                                        </p:tgtEl>
                                      </p:cBhvr>
                                    </p:animEffect>
                                  </p:childTnLst>
                                </p:cTn>
                              </p:par>
                              <p:par>
                                <p:cTn id="409" presetID="10" presetClass="entr" presetSubtype="0" fill="hold" grpId="0" nodeType="withEffect">
                                  <p:stCondLst>
                                    <p:cond delay="0"/>
                                  </p:stCondLst>
                                  <p:childTnLst>
                                    <p:set>
                                      <p:cBhvr>
                                        <p:cTn id="410" dur="1" fill="hold">
                                          <p:stCondLst>
                                            <p:cond delay="0"/>
                                          </p:stCondLst>
                                        </p:cTn>
                                        <p:tgtEl>
                                          <p:spTgt spid="128"/>
                                        </p:tgtEl>
                                        <p:attrNameLst>
                                          <p:attrName>style.visibility</p:attrName>
                                        </p:attrNameLst>
                                      </p:cBhvr>
                                      <p:to>
                                        <p:strVal val="visible"/>
                                      </p:to>
                                    </p:set>
                                    <p:animEffect transition="in" filter="fade">
                                      <p:cBhvr>
                                        <p:cTn id="411" dur="250"/>
                                        <p:tgtEl>
                                          <p:spTgt spid="128"/>
                                        </p:tgtEl>
                                      </p:cBhvr>
                                    </p:animEffect>
                                  </p:childTnLst>
                                </p:cTn>
                              </p:par>
                              <p:par>
                                <p:cTn id="412" presetID="10" presetClass="entr" presetSubtype="0" fill="hold" grpId="0" nodeType="withEffect">
                                  <p:stCondLst>
                                    <p:cond delay="0"/>
                                  </p:stCondLst>
                                  <p:childTnLst>
                                    <p:set>
                                      <p:cBhvr>
                                        <p:cTn id="413" dur="1" fill="hold">
                                          <p:stCondLst>
                                            <p:cond delay="0"/>
                                          </p:stCondLst>
                                        </p:cTn>
                                        <p:tgtEl>
                                          <p:spTgt spid="129"/>
                                        </p:tgtEl>
                                        <p:attrNameLst>
                                          <p:attrName>style.visibility</p:attrName>
                                        </p:attrNameLst>
                                      </p:cBhvr>
                                      <p:to>
                                        <p:strVal val="visible"/>
                                      </p:to>
                                    </p:set>
                                    <p:animEffect transition="in" filter="fade">
                                      <p:cBhvr>
                                        <p:cTn id="414" dur="250"/>
                                        <p:tgtEl>
                                          <p:spTgt spid="129"/>
                                        </p:tgtEl>
                                      </p:cBhvr>
                                    </p:animEffect>
                                  </p:childTnLst>
                                </p:cTn>
                              </p:par>
                              <p:par>
                                <p:cTn id="415" presetID="10" presetClass="entr" presetSubtype="0" fill="hold" grpId="0" nodeType="withEffect">
                                  <p:stCondLst>
                                    <p:cond delay="0"/>
                                  </p:stCondLst>
                                  <p:childTnLst>
                                    <p:set>
                                      <p:cBhvr>
                                        <p:cTn id="416" dur="1" fill="hold">
                                          <p:stCondLst>
                                            <p:cond delay="0"/>
                                          </p:stCondLst>
                                        </p:cTn>
                                        <p:tgtEl>
                                          <p:spTgt spid="130"/>
                                        </p:tgtEl>
                                        <p:attrNameLst>
                                          <p:attrName>style.visibility</p:attrName>
                                        </p:attrNameLst>
                                      </p:cBhvr>
                                      <p:to>
                                        <p:strVal val="visible"/>
                                      </p:to>
                                    </p:set>
                                    <p:animEffect transition="in" filter="fade">
                                      <p:cBhvr>
                                        <p:cTn id="417" dur="250"/>
                                        <p:tgtEl>
                                          <p:spTgt spid="130"/>
                                        </p:tgtEl>
                                      </p:cBhvr>
                                    </p:animEffect>
                                  </p:childTnLst>
                                </p:cTn>
                              </p:par>
                              <p:par>
                                <p:cTn id="418" presetID="10" presetClass="entr" presetSubtype="0" fill="hold" grpId="0" nodeType="withEffect">
                                  <p:stCondLst>
                                    <p:cond delay="0"/>
                                  </p:stCondLst>
                                  <p:childTnLst>
                                    <p:set>
                                      <p:cBhvr>
                                        <p:cTn id="419" dur="1" fill="hold">
                                          <p:stCondLst>
                                            <p:cond delay="0"/>
                                          </p:stCondLst>
                                        </p:cTn>
                                        <p:tgtEl>
                                          <p:spTgt spid="131"/>
                                        </p:tgtEl>
                                        <p:attrNameLst>
                                          <p:attrName>style.visibility</p:attrName>
                                        </p:attrNameLst>
                                      </p:cBhvr>
                                      <p:to>
                                        <p:strVal val="visible"/>
                                      </p:to>
                                    </p:set>
                                    <p:animEffect transition="in" filter="fade">
                                      <p:cBhvr>
                                        <p:cTn id="420" dur="250"/>
                                        <p:tgtEl>
                                          <p:spTgt spid="131"/>
                                        </p:tgtEl>
                                      </p:cBhvr>
                                    </p:animEffect>
                                  </p:childTnLst>
                                </p:cTn>
                              </p:par>
                            </p:childTnLst>
                          </p:cTn>
                        </p:par>
                      </p:childTnLst>
                    </p:cTn>
                  </p:par>
                  <p:par>
                    <p:cTn id="421" fill="hold">
                      <p:stCondLst>
                        <p:cond delay="indefinite"/>
                      </p:stCondLst>
                      <p:childTnLst>
                        <p:par>
                          <p:cTn id="422" fill="hold">
                            <p:stCondLst>
                              <p:cond delay="0"/>
                            </p:stCondLst>
                            <p:childTnLst>
                              <p:par>
                                <p:cTn id="423" presetID="10" presetClass="exit" presetSubtype="0" fill="hold" grpId="1" nodeType="clickEffect">
                                  <p:stCondLst>
                                    <p:cond delay="0"/>
                                  </p:stCondLst>
                                  <p:childTnLst>
                                    <p:animEffect transition="out" filter="fade">
                                      <p:cBhvr>
                                        <p:cTn id="424" dur="250"/>
                                        <p:tgtEl>
                                          <p:spTgt spid="125"/>
                                        </p:tgtEl>
                                      </p:cBhvr>
                                    </p:animEffect>
                                    <p:set>
                                      <p:cBhvr>
                                        <p:cTn id="425" dur="1" fill="hold">
                                          <p:stCondLst>
                                            <p:cond delay="249"/>
                                          </p:stCondLst>
                                        </p:cTn>
                                        <p:tgtEl>
                                          <p:spTgt spid="125"/>
                                        </p:tgtEl>
                                        <p:attrNameLst>
                                          <p:attrName>style.visibility</p:attrName>
                                        </p:attrNameLst>
                                      </p:cBhvr>
                                      <p:to>
                                        <p:strVal val="hidden"/>
                                      </p:to>
                                    </p:set>
                                  </p:childTnLst>
                                </p:cTn>
                              </p:par>
                              <p:par>
                                <p:cTn id="426" presetID="10" presetClass="exit" presetSubtype="0" fill="hold" grpId="1" nodeType="withEffect">
                                  <p:stCondLst>
                                    <p:cond delay="0"/>
                                  </p:stCondLst>
                                  <p:childTnLst>
                                    <p:animEffect transition="out" filter="fade">
                                      <p:cBhvr>
                                        <p:cTn id="427" dur="250"/>
                                        <p:tgtEl>
                                          <p:spTgt spid="123"/>
                                        </p:tgtEl>
                                      </p:cBhvr>
                                    </p:animEffect>
                                    <p:set>
                                      <p:cBhvr>
                                        <p:cTn id="428" dur="1" fill="hold">
                                          <p:stCondLst>
                                            <p:cond delay="249"/>
                                          </p:stCondLst>
                                        </p:cTn>
                                        <p:tgtEl>
                                          <p:spTgt spid="123"/>
                                        </p:tgtEl>
                                        <p:attrNameLst>
                                          <p:attrName>style.visibility</p:attrName>
                                        </p:attrNameLst>
                                      </p:cBhvr>
                                      <p:to>
                                        <p:strVal val="hidden"/>
                                      </p:to>
                                    </p:set>
                                  </p:childTnLst>
                                </p:cTn>
                              </p:par>
                              <p:par>
                                <p:cTn id="429" presetID="10" presetClass="exit" presetSubtype="0" fill="hold" grpId="1" nodeType="withEffect">
                                  <p:stCondLst>
                                    <p:cond delay="0"/>
                                  </p:stCondLst>
                                  <p:childTnLst>
                                    <p:animEffect transition="out" filter="fade">
                                      <p:cBhvr>
                                        <p:cTn id="430" dur="250"/>
                                        <p:tgtEl>
                                          <p:spTgt spid="128"/>
                                        </p:tgtEl>
                                      </p:cBhvr>
                                    </p:animEffect>
                                    <p:set>
                                      <p:cBhvr>
                                        <p:cTn id="431" dur="1" fill="hold">
                                          <p:stCondLst>
                                            <p:cond delay="249"/>
                                          </p:stCondLst>
                                        </p:cTn>
                                        <p:tgtEl>
                                          <p:spTgt spid="128"/>
                                        </p:tgtEl>
                                        <p:attrNameLst>
                                          <p:attrName>style.visibility</p:attrName>
                                        </p:attrNameLst>
                                      </p:cBhvr>
                                      <p:to>
                                        <p:strVal val="hidden"/>
                                      </p:to>
                                    </p:set>
                                  </p:childTnLst>
                                </p:cTn>
                              </p:par>
                              <p:par>
                                <p:cTn id="432" presetID="10" presetClass="exit" presetSubtype="0" fill="hold" grpId="1" nodeType="withEffect">
                                  <p:stCondLst>
                                    <p:cond delay="0"/>
                                  </p:stCondLst>
                                  <p:childTnLst>
                                    <p:animEffect transition="out" filter="fade">
                                      <p:cBhvr>
                                        <p:cTn id="433" dur="250"/>
                                        <p:tgtEl>
                                          <p:spTgt spid="129"/>
                                        </p:tgtEl>
                                      </p:cBhvr>
                                    </p:animEffect>
                                    <p:set>
                                      <p:cBhvr>
                                        <p:cTn id="434" dur="1" fill="hold">
                                          <p:stCondLst>
                                            <p:cond delay="249"/>
                                          </p:stCondLst>
                                        </p:cTn>
                                        <p:tgtEl>
                                          <p:spTgt spid="129"/>
                                        </p:tgtEl>
                                        <p:attrNameLst>
                                          <p:attrName>style.visibility</p:attrName>
                                        </p:attrNameLst>
                                      </p:cBhvr>
                                      <p:to>
                                        <p:strVal val="hidden"/>
                                      </p:to>
                                    </p:set>
                                  </p:childTnLst>
                                </p:cTn>
                              </p:par>
                              <p:par>
                                <p:cTn id="435" presetID="10" presetClass="exit" presetSubtype="0" fill="hold" grpId="1" nodeType="withEffect">
                                  <p:stCondLst>
                                    <p:cond delay="0"/>
                                  </p:stCondLst>
                                  <p:childTnLst>
                                    <p:animEffect transition="out" filter="fade">
                                      <p:cBhvr>
                                        <p:cTn id="436" dur="250"/>
                                        <p:tgtEl>
                                          <p:spTgt spid="130"/>
                                        </p:tgtEl>
                                      </p:cBhvr>
                                    </p:animEffect>
                                    <p:set>
                                      <p:cBhvr>
                                        <p:cTn id="437" dur="1" fill="hold">
                                          <p:stCondLst>
                                            <p:cond delay="249"/>
                                          </p:stCondLst>
                                        </p:cTn>
                                        <p:tgtEl>
                                          <p:spTgt spid="130"/>
                                        </p:tgtEl>
                                        <p:attrNameLst>
                                          <p:attrName>style.visibility</p:attrName>
                                        </p:attrNameLst>
                                      </p:cBhvr>
                                      <p:to>
                                        <p:strVal val="hidden"/>
                                      </p:to>
                                    </p:set>
                                  </p:childTnLst>
                                </p:cTn>
                              </p:par>
                              <p:par>
                                <p:cTn id="438" presetID="10" presetClass="exit" presetSubtype="0" fill="hold" grpId="1" nodeType="withEffect">
                                  <p:stCondLst>
                                    <p:cond delay="0"/>
                                  </p:stCondLst>
                                  <p:childTnLst>
                                    <p:animEffect transition="out" filter="fade">
                                      <p:cBhvr>
                                        <p:cTn id="439" dur="250"/>
                                        <p:tgtEl>
                                          <p:spTgt spid="131"/>
                                        </p:tgtEl>
                                      </p:cBhvr>
                                    </p:animEffect>
                                    <p:set>
                                      <p:cBhvr>
                                        <p:cTn id="440" dur="1" fill="hold">
                                          <p:stCondLst>
                                            <p:cond delay="249"/>
                                          </p:stCondLst>
                                        </p:cTn>
                                        <p:tgtEl>
                                          <p:spTgt spid="131"/>
                                        </p:tgtEl>
                                        <p:attrNameLst>
                                          <p:attrName>style.visibility</p:attrName>
                                        </p:attrNameLst>
                                      </p:cBhvr>
                                      <p:to>
                                        <p:strVal val="hidden"/>
                                      </p:to>
                                    </p:set>
                                  </p:childTnLst>
                                </p:cTn>
                              </p:par>
                              <p:par>
                                <p:cTn id="441" presetID="10" presetClass="entr" presetSubtype="0" fill="hold" grpId="0" nodeType="withEffect">
                                  <p:stCondLst>
                                    <p:cond delay="0"/>
                                  </p:stCondLst>
                                  <p:childTnLst>
                                    <p:set>
                                      <p:cBhvr>
                                        <p:cTn id="442" dur="1" fill="hold">
                                          <p:stCondLst>
                                            <p:cond delay="0"/>
                                          </p:stCondLst>
                                        </p:cTn>
                                        <p:tgtEl>
                                          <p:spTgt spid="133"/>
                                        </p:tgtEl>
                                        <p:attrNameLst>
                                          <p:attrName>style.visibility</p:attrName>
                                        </p:attrNameLst>
                                      </p:cBhvr>
                                      <p:to>
                                        <p:strVal val="visible"/>
                                      </p:to>
                                    </p:set>
                                    <p:animEffect transition="in" filter="fade">
                                      <p:cBhvr>
                                        <p:cTn id="443" dur="250"/>
                                        <p:tgtEl>
                                          <p:spTgt spid="133"/>
                                        </p:tgtEl>
                                      </p:cBhvr>
                                    </p:animEffect>
                                  </p:childTnLst>
                                </p:cTn>
                              </p:par>
                              <p:par>
                                <p:cTn id="444" presetID="10" presetClass="entr" presetSubtype="0" fill="hold" grpId="0" nodeType="withEffect">
                                  <p:stCondLst>
                                    <p:cond delay="0"/>
                                  </p:stCondLst>
                                  <p:childTnLst>
                                    <p:set>
                                      <p:cBhvr>
                                        <p:cTn id="445" dur="1" fill="hold">
                                          <p:stCondLst>
                                            <p:cond delay="0"/>
                                          </p:stCondLst>
                                        </p:cTn>
                                        <p:tgtEl>
                                          <p:spTgt spid="134"/>
                                        </p:tgtEl>
                                        <p:attrNameLst>
                                          <p:attrName>style.visibility</p:attrName>
                                        </p:attrNameLst>
                                      </p:cBhvr>
                                      <p:to>
                                        <p:strVal val="visible"/>
                                      </p:to>
                                    </p:set>
                                    <p:animEffect transition="in" filter="fade">
                                      <p:cBhvr>
                                        <p:cTn id="446" dur="250"/>
                                        <p:tgtEl>
                                          <p:spTgt spid="134"/>
                                        </p:tgtEl>
                                      </p:cBhvr>
                                    </p:animEffect>
                                  </p:childTnLst>
                                </p:cTn>
                              </p:par>
                              <p:par>
                                <p:cTn id="447" presetID="10" presetClass="entr" presetSubtype="0" fill="hold" grpId="0" nodeType="withEffect">
                                  <p:stCondLst>
                                    <p:cond delay="0"/>
                                  </p:stCondLst>
                                  <p:childTnLst>
                                    <p:set>
                                      <p:cBhvr>
                                        <p:cTn id="448" dur="1" fill="hold">
                                          <p:stCondLst>
                                            <p:cond delay="0"/>
                                          </p:stCondLst>
                                        </p:cTn>
                                        <p:tgtEl>
                                          <p:spTgt spid="146"/>
                                        </p:tgtEl>
                                        <p:attrNameLst>
                                          <p:attrName>style.visibility</p:attrName>
                                        </p:attrNameLst>
                                      </p:cBhvr>
                                      <p:to>
                                        <p:strVal val="visible"/>
                                      </p:to>
                                    </p:set>
                                    <p:animEffect transition="in" filter="fade">
                                      <p:cBhvr>
                                        <p:cTn id="449" dur="250"/>
                                        <p:tgtEl>
                                          <p:spTgt spid="146"/>
                                        </p:tgtEl>
                                      </p:cBhvr>
                                    </p:animEffect>
                                  </p:childTnLst>
                                </p:cTn>
                              </p:par>
                            </p:childTnLst>
                          </p:cTn>
                        </p:par>
                        <p:par>
                          <p:cTn id="450" fill="hold">
                            <p:stCondLst>
                              <p:cond delay="140"/>
                            </p:stCondLst>
                            <p:childTnLst>
                              <p:par>
                                <p:cTn id="451" presetID="10" presetClass="entr" presetSubtype="0" fill="hold" grpId="0" nodeType="afterEffect">
                                  <p:stCondLst>
                                    <p:cond delay="0"/>
                                  </p:stCondLst>
                                  <p:childTnLst>
                                    <p:set>
                                      <p:cBhvr>
                                        <p:cTn id="452" dur="1" fill="hold">
                                          <p:stCondLst>
                                            <p:cond delay="0"/>
                                          </p:stCondLst>
                                        </p:cTn>
                                        <p:tgtEl>
                                          <p:spTgt spid="135"/>
                                        </p:tgtEl>
                                        <p:attrNameLst>
                                          <p:attrName>style.visibility</p:attrName>
                                        </p:attrNameLst>
                                      </p:cBhvr>
                                      <p:to>
                                        <p:strVal val="visible"/>
                                      </p:to>
                                    </p:set>
                                    <p:animEffect transition="in" filter="fade">
                                      <p:cBhvr>
                                        <p:cTn id="453" dur="250"/>
                                        <p:tgtEl>
                                          <p:spTgt spid="135"/>
                                        </p:tgtEl>
                                      </p:cBhvr>
                                    </p:animEffect>
                                  </p:childTnLst>
                                </p:cTn>
                              </p:par>
                            </p:childTnLst>
                          </p:cTn>
                        </p:par>
                        <p:par>
                          <p:cTn id="454" fill="hold">
                            <p:stCondLst>
                              <p:cond delay="280"/>
                            </p:stCondLst>
                            <p:childTnLst>
                              <p:par>
                                <p:cTn id="455" presetID="10" presetClass="entr" presetSubtype="0" fill="hold" grpId="0" nodeType="afterEffect">
                                  <p:stCondLst>
                                    <p:cond delay="0"/>
                                  </p:stCondLst>
                                  <p:childTnLst>
                                    <p:set>
                                      <p:cBhvr>
                                        <p:cTn id="456" dur="1" fill="hold">
                                          <p:stCondLst>
                                            <p:cond delay="0"/>
                                          </p:stCondLst>
                                        </p:cTn>
                                        <p:tgtEl>
                                          <p:spTgt spid="136"/>
                                        </p:tgtEl>
                                        <p:attrNameLst>
                                          <p:attrName>style.visibility</p:attrName>
                                        </p:attrNameLst>
                                      </p:cBhvr>
                                      <p:to>
                                        <p:strVal val="visible"/>
                                      </p:to>
                                    </p:set>
                                    <p:animEffect transition="in" filter="fade">
                                      <p:cBhvr>
                                        <p:cTn id="457" dur="250"/>
                                        <p:tgtEl>
                                          <p:spTgt spid="136"/>
                                        </p:tgtEl>
                                      </p:cBhvr>
                                    </p:animEffect>
                                  </p:childTnLst>
                                </p:cTn>
                              </p:par>
                            </p:childTnLst>
                          </p:cTn>
                        </p:par>
                        <p:par>
                          <p:cTn id="458" fill="hold">
                            <p:stCondLst>
                              <p:cond delay="420"/>
                            </p:stCondLst>
                            <p:childTnLst>
                              <p:par>
                                <p:cTn id="459" presetID="10" presetClass="entr" presetSubtype="0" fill="hold" grpId="0" nodeType="afterEffect">
                                  <p:stCondLst>
                                    <p:cond delay="0"/>
                                  </p:stCondLst>
                                  <p:childTnLst>
                                    <p:set>
                                      <p:cBhvr>
                                        <p:cTn id="460" dur="1" fill="hold">
                                          <p:stCondLst>
                                            <p:cond delay="0"/>
                                          </p:stCondLst>
                                        </p:cTn>
                                        <p:tgtEl>
                                          <p:spTgt spid="137"/>
                                        </p:tgtEl>
                                        <p:attrNameLst>
                                          <p:attrName>style.visibility</p:attrName>
                                        </p:attrNameLst>
                                      </p:cBhvr>
                                      <p:to>
                                        <p:strVal val="visible"/>
                                      </p:to>
                                    </p:set>
                                    <p:animEffect transition="in" filter="fade">
                                      <p:cBhvr>
                                        <p:cTn id="461" dur="250"/>
                                        <p:tgtEl>
                                          <p:spTgt spid="137"/>
                                        </p:tgtEl>
                                      </p:cBhvr>
                                    </p:animEffect>
                                  </p:childTnLst>
                                </p:cTn>
                              </p:par>
                            </p:childTnLst>
                          </p:cTn>
                        </p:par>
                        <p:par>
                          <p:cTn id="462" fill="hold">
                            <p:stCondLst>
                              <p:cond delay="560"/>
                            </p:stCondLst>
                            <p:childTnLst>
                              <p:par>
                                <p:cTn id="463" presetID="10" presetClass="entr" presetSubtype="0" fill="hold" grpId="0" nodeType="afterEffect">
                                  <p:stCondLst>
                                    <p:cond delay="0"/>
                                  </p:stCondLst>
                                  <p:childTnLst>
                                    <p:set>
                                      <p:cBhvr>
                                        <p:cTn id="464" dur="1" fill="hold">
                                          <p:stCondLst>
                                            <p:cond delay="0"/>
                                          </p:stCondLst>
                                        </p:cTn>
                                        <p:tgtEl>
                                          <p:spTgt spid="138"/>
                                        </p:tgtEl>
                                        <p:attrNameLst>
                                          <p:attrName>style.visibility</p:attrName>
                                        </p:attrNameLst>
                                      </p:cBhvr>
                                      <p:to>
                                        <p:strVal val="visible"/>
                                      </p:to>
                                    </p:set>
                                    <p:animEffect transition="in" filter="fade">
                                      <p:cBhvr>
                                        <p:cTn id="465" dur="250"/>
                                        <p:tgtEl>
                                          <p:spTgt spid="138"/>
                                        </p:tgtEl>
                                      </p:cBhvr>
                                    </p:animEffect>
                                  </p:childTnLst>
                                </p:cTn>
                              </p:par>
                            </p:childTnLst>
                          </p:cTn>
                        </p:par>
                        <p:par>
                          <p:cTn id="466" fill="hold">
                            <p:stCondLst>
                              <p:cond delay="700"/>
                            </p:stCondLst>
                            <p:childTnLst>
                              <p:par>
                                <p:cTn id="467" presetID="10" presetClass="entr" presetSubtype="0" fill="hold" grpId="0" nodeType="afterEffect">
                                  <p:stCondLst>
                                    <p:cond delay="0"/>
                                  </p:stCondLst>
                                  <p:childTnLst>
                                    <p:set>
                                      <p:cBhvr>
                                        <p:cTn id="468" dur="1" fill="hold">
                                          <p:stCondLst>
                                            <p:cond delay="0"/>
                                          </p:stCondLst>
                                        </p:cTn>
                                        <p:tgtEl>
                                          <p:spTgt spid="139"/>
                                        </p:tgtEl>
                                        <p:attrNameLst>
                                          <p:attrName>style.visibility</p:attrName>
                                        </p:attrNameLst>
                                      </p:cBhvr>
                                      <p:to>
                                        <p:strVal val="visible"/>
                                      </p:to>
                                    </p:set>
                                    <p:animEffect transition="in" filter="fade">
                                      <p:cBhvr>
                                        <p:cTn id="469" dur="250"/>
                                        <p:tgtEl>
                                          <p:spTgt spid="139"/>
                                        </p:tgtEl>
                                      </p:cBhvr>
                                    </p:animEffect>
                                  </p:childTnLst>
                                </p:cTn>
                              </p:par>
                            </p:childTnLst>
                          </p:cTn>
                        </p:par>
                        <p:par>
                          <p:cTn id="470" fill="hold">
                            <p:stCondLst>
                              <p:cond delay="840"/>
                            </p:stCondLst>
                            <p:childTnLst>
                              <p:par>
                                <p:cTn id="471" presetID="10" presetClass="entr" presetSubtype="0" fill="hold" grpId="0" nodeType="afterEffect">
                                  <p:stCondLst>
                                    <p:cond delay="0"/>
                                  </p:stCondLst>
                                  <p:childTnLst>
                                    <p:set>
                                      <p:cBhvr>
                                        <p:cTn id="472" dur="1" fill="hold">
                                          <p:stCondLst>
                                            <p:cond delay="0"/>
                                          </p:stCondLst>
                                        </p:cTn>
                                        <p:tgtEl>
                                          <p:spTgt spid="140"/>
                                        </p:tgtEl>
                                        <p:attrNameLst>
                                          <p:attrName>style.visibility</p:attrName>
                                        </p:attrNameLst>
                                      </p:cBhvr>
                                      <p:to>
                                        <p:strVal val="visible"/>
                                      </p:to>
                                    </p:set>
                                    <p:animEffect transition="in" filter="fade">
                                      <p:cBhvr>
                                        <p:cTn id="473" dur="250"/>
                                        <p:tgtEl>
                                          <p:spTgt spid="140"/>
                                        </p:tgtEl>
                                      </p:cBhvr>
                                    </p:animEffect>
                                  </p:childTnLst>
                                </p:cTn>
                              </p:par>
                            </p:childTnLst>
                          </p:cTn>
                        </p:par>
                        <p:par>
                          <p:cTn id="474" fill="hold">
                            <p:stCondLst>
                              <p:cond delay="980"/>
                            </p:stCondLst>
                            <p:childTnLst>
                              <p:par>
                                <p:cTn id="475" presetID="10" presetClass="entr" presetSubtype="0" fill="hold" grpId="0" nodeType="afterEffect">
                                  <p:stCondLst>
                                    <p:cond delay="0"/>
                                  </p:stCondLst>
                                  <p:childTnLst>
                                    <p:set>
                                      <p:cBhvr>
                                        <p:cTn id="476" dur="1" fill="hold">
                                          <p:stCondLst>
                                            <p:cond delay="0"/>
                                          </p:stCondLst>
                                        </p:cTn>
                                        <p:tgtEl>
                                          <p:spTgt spid="141"/>
                                        </p:tgtEl>
                                        <p:attrNameLst>
                                          <p:attrName>style.visibility</p:attrName>
                                        </p:attrNameLst>
                                      </p:cBhvr>
                                      <p:to>
                                        <p:strVal val="visible"/>
                                      </p:to>
                                    </p:set>
                                    <p:animEffect transition="in" filter="fade">
                                      <p:cBhvr>
                                        <p:cTn id="477" dur="250"/>
                                        <p:tgtEl>
                                          <p:spTgt spid="141"/>
                                        </p:tgtEl>
                                      </p:cBhvr>
                                    </p:animEffect>
                                  </p:childTnLst>
                                </p:cTn>
                              </p:par>
                            </p:childTnLst>
                          </p:cTn>
                        </p:par>
                        <p:par>
                          <p:cTn id="478" fill="hold">
                            <p:stCondLst>
                              <p:cond delay="1120"/>
                            </p:stCondLst>
                            <p:childTnLst>
                              <p:par>
                                <p:cTn id="479" presetID="10" presetClass="entr" presetSubtype="0" fill="hold" grpId="0" nodeType="afterEffect">
                                  <p:stCondLst>
                                    <p:cond delay="0"/>
                                  </p:stCondLst>
                                  <p:childTnLst>
                                    <p:set>
                                      <p:cBhvr>
                                        <p:cTn id="480" dur="1" fill="hold">
                                          <p:stCondLst>
                                            <p:cond delay="0"/>
                                          </p:stCondLst>
                                        </p:cTn>
                                        <p:tgtEl>
                                          <p:spTgt spid="142"/>
                                        </p:tgtEl>
                                        <p:attrNameLst>
                                          <p:attrName>style.visibility</p:attrName>
                                        </p:attrNameLst>
                                      </p:cBhvr>
                                      <p:to>
                                        <p:strVal val="visible"/>
                                      </p:to>
                                    </p:set>
                                    <p:animEffect transition="in" filter="fade">
                                      <p:cBhvr>
                                        <p:cTn id="481" dur="250"/>
                                        <p:tgtEl>
                                          <p:spTgt spid="142"/>
                                        </p:tgtEl>
                                      </p:cBhvr>
                                    </p:animEffect>
                                  </p:childTnLst>
                                </p:cTn>
                              </p:par>
                            </p:childTnLst>
                          </p:cTn>
                        </p:par>
                        <p:par>
                          <p:cTn id="482" fill="hold">
                            <p:stCondLst>
                              <p:cond delay="1260"/>
                            </p:stCondLst>
                            <p:childTnLst>
                              <p:par>
                                <p:cTn id="483" presetID="10" presetClass="entr" presetSubtype="0" fill="hold" grpId="0" nodeType="afterEffect">
                                  <p:stCondLst>
                                    <p:cond delay="0"/>
                                  </p:stCondLst>
                                  <p:childTnLst>
                                    <p:set>
                                      <p:cBhvr>
                                        <p:cTn id="484" dur="1" fill="hold">
                                          <p:stCondLst>
                                            <p:cond delay="0"/>
                                          </p:stCondLst>
                                        </p:cTn>
                                        <p:tgtEl>
                                          <p:spTgt spid="143"/>
                                        </p:tgtEl>
                                        <p:attrNameLst>
                                          <p:attrName>style.visibility</p:attrName>
                                        </p:attrNameLst>
                                      </p:cBhvr>
                                      <p:to>
                                        <p:strVal val="visible"/>
                                      </p:to>
                                    </p:set>
                                    <p:animEffect transition="in" filter="fade">
                                      <p:cBhvr>
                                        <p:cTn id="485" dur="250"/>
                                        <p:tgtEl>
                                          <p:spTgt spid="143"/>
                                        </p:tgtEl>
                                      </p:cBhvr>
                                    </p:animEffect>
                                  </p:childTnLst>
                                </p:cTn>
                              </p:par>
                              <p:par>
                                <p:cTn id="486" presetID="10" presetClass="entr" presetSubtype="0" fill="hold" grpId="0" nodeType="withEffect">
                                  <p:stCondLst>
                                    <p:cond delay="0"/>
                                  </p:stCondLst>
                                  <p:childTnLst>
                                    <p:set>
                                      <p:cBhvr>
                                        <p:cTn id="487" dur="1" fill="hold">
                                          <p:stCondLst>
                                            <p:cond delay="0"/>
                                          </p:stCondLst>
                                        </p:cTn>
                                        <p:tgtEl>
                                          <p:spTgt spid="144"/>
                                        </p:tgtEl>
                                        <p:attrNameLst>
                                          <p:attrName>style.visibility</p:attrName>
                                        </p:attrNameLst>
                                      </p:cBhvr>
                                      <p:to>
                                        <p:strVal val="visible"/>
                                      </p:to>
                                    </p:set>
                                    <p:animEffect transition="in" filter="fade">
                                      <p:cBhvr>
                                        <p:cTn id="488" dur="250"/>
                                        <p:tgtEl>
                                          <p:spTgt spid="144"/>
                                        </p:tgtEl>
                                      </p:cBhvr>
                                    </p:animEffect>
                                  </p:childTnLst>
                                </p:cTn>
                              </p:par>
                            </p:childTnLst>
                          </p:cTn>
                        </p:par>
                        <p:par>
                          <p:cTn id="489" fill="hold">
                            <p:stCondLst>
                              <p:cond delay="1660"/>
                            </p:stCondLst>
                            <p:childTnLst>
                              <p:par>
                                <p:cTn id="490" presetID="10" presetClass="exit" presetSubtype="0" fill="hold" grpId="1" nodeType="afterEffect">
                                  <p:stCondLst>
                                    <p:cond delay="0"/>
                                  </p:stCondLst>
                                  <p:childTnLst>
                                    <p:animEffect transition="out" filter="fade">
                                      <p:cBhvr>
                                        <p:cTn id="491" dur="250"/>
                                        <p:tgtEl>
                                          <p:spTgt spid="134"/>
                                        </p:tgtEl>
                                      </p:cBhvr>
                                    </p:animEffect>
                                    <p:set>
                                      <p:cBhvr>
                                        <p:cTn id="492" dur="1" fill="hold">
                                          <p:stCondLst>
                                            <p:cond delay="249"/>
                                          </p:stCondLst>
                                        </p:cTn>
                                        <p:tgtEl>
                                          <p:spTgt spid="134"/>
                                        </p:tgtEl>
                                        <p:attrNameLst>
                                          <p:attrName>style.visibility</p:attrName>
                                        </p:attrNameLst>
                                      </p:cBhvr>
                                      <p:to>
                                        <p:strVal val="hidden"/>
                                      </p:to>
                                    </p:set>
                                  </p:childTnLst>
                                </p:cTn>
                              </p:par>
                              <p:par>
                                <p:cTn id="493" presetID="10" presetClass="exit" presetSubtype="0" fill="hold" grpId="1" nodeType="withEffect">
                                  <p:stCondLst>
                                    <p:cond delay="0"/>
                                  </p:stCondLst>
                                  <p:childTnLst>
                                    <p:animEffect transition="out" filter="fade">
                                      <p:cBhvr>
                                        <p:cTn id="494" dur="250"/>
                                        <p:tgtEl>
                                          <p:spTgt spid="135"/>
                                        </p:tgtEl>
                                      </p:cBhvr>
                                    </p:animEffect>
                                    <p:set>
                                      <p:cBhvr>
                                        <p:cTn id="495" dur="1" fill="hold">
                                          <p:stCondLst>
                                            <p:cond delay="249"/>
                                          </p:stCondLst>
                                        </p:cTn>
                                        <p:tgtEl>
                                          <p:spTgt spid="135"/>
                                        </p:tgtEl>
                                        <p:attrNameLst>
                                          <p:attrName>style.visibility</p:attrName>
                                        </p:attrNameLst>
                                      </p:cBhvr>
                                      <p:to>
                                        <p:strVal val="hidden"/>
                                      </p:to>
                                    </p:set>
                                  </p:childTnLst>
                                </p:cTn>
                              </p:par>
                              <p:par>
                                <p:cTn id="496" presetID="10" presetClass="exit" presetSubtype="0" fill="hold" grpId="1" nodeType="withEffect">
                                  <p:stCondLst>
                                    <p:cond delay="0"/>
                                  </p:stCondLst>
                                  <p:childTnLst>
                                    <p:animEffect transition="out" filter="fade">
                                      <p:cBhvr>
                                        <p:cTn id="497" dur="250"/>
                                        <p:tgtEl>
                                          <p:spTgt spid="136"/>
                                        </p:tgtEl>
                                      </p:cBhvr>
                                    </p:animEffect>
                                    <p:set>
                                      <p:cBhvr>
                                        <p:cTn id="498" dur="1" fill="hold">
                                          <p:stCondLst>
                                            <p:cond delay="249"/>
                                          </p:stCondLst>
                                        </p:cTn>
                                        <p:tgtEl>
                                          <p:spTgt spid="136"/>
                                        </p:tgtEl>
                                        <p:attrNameLst>
                                          <p:attrName>style.visibility</p:attrName>
                                        </p:attrNameLst>
                                      </p:cBhvr>
                                      <p:to>
                                        <p:strVal val="hidden"/>
                                      </p:to>
                                    </p:set>
                                  </p:childTnLst>
                                </p:cTn>
                              </p:par>
                              <p:par>
                                <p:cTn id="499" presetID="10" presetClass="exit" presetSubtype="0" fill="hold" grpId="1" nodeType="withEffect">
                                  <p:stCondLst>
                                    <p:cond delay="0"/>
                                  </p:stCondLst>
                                  <p:childTnLst>
                                    <p:animEffect transition="out" filter="fade">
                                      <p:cBhvr>
                                        <p:cTn id="500" dur="250"/>
                                        <p:tgtEl>
                                          <p:spTgt spid="137"/>
                                        </p:tgtEl>
                                      </p:cBhvr>
                                    </p:animEffect>
                                    <p:set>
                                      <p:cBhvr>
                                        <p:cTn id="501" dur="1" fill="hold">
                                          <p:stCondLst>
                                            <p:cond delay="249"/>
                                          </p:stCondLst>
                                        </p:cTn>
                                        <p:tgtEl>
                                          <p:spTgt spid="137"/>
                                        </p:tgtEl>
                                        <p:attrNameLst>
                                          <p:attrName>style.visibility</p:attrName>
                                        </p:attrNameLst>
                                      </p:cBhvr>
                                      <p:to>
                                        <p:strVal val="hidden"/>
                                      </p:to>
                                    </p:set>
                                  </p:childTnLst>
                                </p:cTn>
                              </p:par>
                              <p:par>
                                <p:cTn id="502" presetID="10" presetClass="exit" presetSubtype="0" fill="hold" grpId="1" nodeType="withEffect">
                                  <p:stCondLst>
                                    <p:cond delay="0"/>
                                  </p:stCondLst>
                                  <p:childTnLst>
                                    <p:animEffect transition="out" filter="fade">
                                      <p:cBhvr>
                                        <p:cTn id="503" dur="250"/>
                                        <p:tgtEl>
                                          <p:spTgt spid="138"/>
                                        </p:tgtEl>
                                      </p:cBhvr>
                                    </p:animEffect>
                                    <p:set>
                                      <p:cBhvr>
                                        <p:cTn id="504" dur="1" fill="hold">
                                          <p:stCondLst>
                                            <p:cond delay="249"/>
                                          </p:stCondLst>
                                        </p:cTn>
                                        <p:tgtEl>
                                          <p:spTgt spid="138"/>
                                        </p:tgtEl>
                                        <p:attrNameLst>
                                          <p:attrName>style.visibility</p:attrName>
                                        </p:attrNameLst>
                                      </p:cBhvr>
                                      <p:to>
                                        <p:strVal val="hidden"/>
                                      </p:to>
                                    </p:set>
                                  </p:childTnLst>
                                </p:cTn>
                              </p:par>
                              <p:par>
                                <p:cTn id="505" presetID="10" presetClass="exit" presetSubtype="0" fill="hold" grpId="1" nodeType="withEffect">
                                  <p:stCondLst>
                                    <p:cond delay="0"/>
                                  </p:stCondLst>
                                  <p:childTnLst>
                                    <p:animEffect transition="out" filter="fade">
                                      <p:cBhvr>
                                        <p:cTn id="506" dur="250"/>
                                        <p:tgtEl>
                                          <p:spTgt spid="139"/>
                                        </p:tgtEl>
                                      </p:cBhvr>
                                    </p:animEffect>
                                    <p:set>
                                      <p:cBhvr>
                                        <p:cTn id="507" dur="1" fill="hold">
                                          <p:stCondLst>
                                            <p:cond delay="249"/>
                                          </p:stCondLst>
                                        </p:cTn>
                                        <p:tgtEl>
                                          <p:spTgt spid="139"/>
                                        </p:tgtEl>
                                        <p:attrNameLst>
                                          <p:attrName>style.visibility</p:attrName>
                                        </p:attrNameLst>
                                      </p:cBhvr>
                                      <p:to>
                                        <p:strVal val="hidden"/>
                                      </p:to>
                                    </p:set>
                                  </p:childTnLst>
                                </p:cTn>
                              </p:par>
                              <p:par>
                                <p:cTn id="508" presetID="10" presetClass="exit" presetSubtype="0" fill="hold" grpId="1" nodeType="withEffect">
                                  <p:stCondLst>
                                    <p:cond delay="0"/>
                                  </p:stCondLst>
                                  <p:childTnLst>
                                    <p:animEffect transition="out" filter="fade">
                                      <p:cBhvr>
                                        <p:cTn id="509" dur="250"/>
                                        <p:tgtEl>
                                          <p:spTgt spid="140"/>
                                        </p:tgtEl>
                                      </p:cBhvr>
                                    </p:animEffect>
                                    <p:set>
                                      <p:cBhvr>
                                        <p:cTn id="510" dur="1" fill="hold">
                                          <p:stCondLst>
                                            <p:cond delay="249"/>
                                          </p:stCondLst>
                                        </p:cTn>
                                        <p:tgtEl>
                                          <p:spTgt spid="140"/>
                                        </p:tgtEl>
                                        <p:attrNameLst>
                                          <p:attrName>style.visibility</p:attrName>
                                        </p:attrNameLst>
                                      </p:cBhvr>
                                      <p:to>
                                        <p:strVal val="hidden"/>
                                      </p:to>
                                    </p:set>
                                  </p:childTnLst>
                                </p:cTn>
                              </p:par>
                              <p:par>
                                <p:cTn id="511" presetID="10" presetClass="exit" presetSubtype="0" fill="hold" grpId="1" nodeType="withEffect">
                                  <p:stCondLst>
                                    <p:cond delay="0"/>
                                  </p:stCondLst>
                                  <p:childTnLst>
                                    <p:animEffect transition="out" filter="fade">
                                      <p:cBhvr>
                                        <p:cTn id="512" dur="250"/>
                                        <p:tgtEl>
                                          <p:spTgt spid="141"/>
                                        </p:tgtEl>
                                      </p:cBhvr>
                                    </p:animEffect>
                                    <p:set>
                                      <p:cBhvr>
                                        <p:cTn id="513" dur="1" fill="hold">
                                          <p:stCondLst>
                                            <p:cond delay="249"/>
                                          </p:stCondLst>
                                        </p:cTn>
                                        <p:tgtEl>
                                          <p:spTgt spid="141"/>
                                        </p:tgtEl>
                                        <p:attrNameLst>
                                          <p:attrName>style.visibility</p:attrName>
                                        </p:attrNameLst>
                                      </p:cBhvr>
                                      <p:to>
                                        <p:strVal val="hidden"/>
                                      </p:to>
                                    </p:set>
                                  </p:childTnLst>
                                </p:cTn>
                              </p:par>
                              <p:par>
                                <p:cTn id="514" presetID="10" presetClass="exit" presetSubtype="0" fill="hold" grpId="1" nodeType="withEffect">
                                  <p:stCondLst>
                                    <p:cond delay="0"/>
                                  </p:stCondLst>
                                  <p:childTnLst>
                                    <p:animEffect transition="out" filter="fade">
                                      <p:cBhvr>
                                        <p:cTn id="515" dur="250"/>
                                        <p:tgtEl>
                                          <p:spTgt spid="142"/>
                                        </p:tgtEl>
                                      </p:cBhvr>
                                    </p:animEffect>
                                    <p:set>
                                      <p:cBhvr>
                                        <p:cTn id="516" dur="1" fill="hold">
                                          <p:stCondLst>
                                            <p:cond delay="249"/>
                                          </p:stCondLst>
                                        </p:cTn>
                                        <p:tgtEl>
                                          <p:spTgt spid="142"/>
                                        </p:tgtEl>
                                        <p:attrNameLst>
                                          <p:attrName>style.visibility</p:attrName>
                                        </p:attrNameLst>
                                      </p:cBhvr>
                                      <p:to>
                                        <p:strVal val="hidden"/>
                                      </p:to>
                                    </p:set>
                                  </p:childTnLst>
                                </p:cTn>
                              </p:par>
                              <p:par>
                                <p:cTn id="517" presetID="10" presetClass="exit" presetSubtype="0" fill="hold" grpId="1" nodeType="withEffect">
                                  <p:stCondLst>
                                    <p:cond delay="0"/>
                                  </p:stCondLst>
                                  <p:childTnLst>
                                    <p:animEffect transition="out" filter="fade">
                                      <p:cBhvr>
                                        <p:cTn id="518" dur="250"/>
                                        <p:tgtEl>
                                          <p:spTgt spid="143"/>
                                        </p:tgtEl>
                                      </p:cBhvr>
                                    </p:animEffect>
                                    <p:set>
                                      <p:cBhvr>
                                        <p:cTn id="519" dur="1" fill="hold">
                                          <p:stCondLst>
                                            <p:cond delay="249"/>
                                          </p:stCondLst>
                                        </p:cTn>
                                        <p:tgtEl>
                                          <p:spTgt spid="143"/>
                                        </p:tgtEl>
                                        <p:attrNameLst>
                                          <p:attrName>style.visibility</p:attrName>
                                        </p:attrNameLst>
                                      </p:cBhvr>
                                      <p:to>
                                        <p:strVal val="hidden"/>
                                      </p:to>
                                    </p:set>
                                  </p:childTnLst>
                                </p:cTn>
                              </p:par>
                              <p:par>
                                <p:cTn id="520" presetID="10" presetClass="exit" presetSubtype="0" fill="hold" grpId="1" nodeType="withEffect">
                                  <p:stCondLst>
                                    <p:cond delay="0"/>
                                  </p:stCondLst>
                                  <p:childTnLst>
                                    <p:animEffect transition="out" filter="fade">
                                      <p:cBhvr>
                                        <p:cTn id="521" dur="250"/>
                                        <p:tgtEl>
                                          <p:spTgt spid="144"/>
                                        </p:tgtEl>
                                      </p:cBhvr>
                                    </p:animEffect>
                                    <p:set>
                                      <p:cBhvr>
                                        <p:cTn id="522" dur="1" fill="hold">
                                          <p:stCondLst>
                                            <p:cond delay="249"/>
                                          </p:stCondLst>
                                        </p:cTn>
                                        <p:tgtEl>
                                          <p:spTgt spid="144"/>
                                        </p:tgtEl>
                                        <p:attrNameLst>
                                          <p:attrName>style.visibility</p:attrName>
                                        </p:attrNameLst>
                                      </p:cBhvr>
                                      <p:to>
                                        <p:strVal val="hidden"/>
                                      </p:to>
                                    </p:set>
                                  </p:childTnLst>
                                </p:cTn>
                              </p:par>
                              <p:par>
                                <p:cTn id="523" presetID="10" presetClass="entr" presetSubtype="0" fill="hold" grpId="0" nodeType="withEffect">
                                  <p:stCondLst>
                                    <p:cond delay="0"/>
                                  </p:stCondLst>
                                  <p:childTnLst>
                                    <p:set>
                                      <p:cBhvr>
                                        <p:cTn id="524" dur="1" fill="hold">
                                          <p:stCondLst>
                                            <p:cond delay="0"/>
                                          </p:stCondLst>
                                        </p:cTn>
                                        <p:tgtEl>
                                          <p:spTgt spid="145"/>
                                        </p:tgtEl>
                                        <p:attrNameLst>
                                          <p:attrName>style.visibility</p:attrName>
                                        </p:attrNameLst>
                                      </p:cBhvr>
                                      <p:to>
                                        <p:strVal val="visible"/>
                                      </p:to>
                                    </p:set>
                                    <p:animEffect transition="in" filter="fade">
                                      <p:cBhvr>
                                        <p:cTn id="525" dur="250"/>
                                        <p:tgtEl>
                                          <p:spTgt spid="145"/>
                                        </p:tgtEl>
                                      </p:cBhvr>
                                    </p:animEffect>
                                  </p:childTnLst>
                                </p:cTn>
                              </p:par>
                            </p:childTnLst>
                          </p:cTn>
                        </p:par>
                      </p:childTnLst>
                    </p:cTn>
                  </p:par>
                  <p:par>
                    <p:cTn id="526" fill="hold">
                      <p:stCondLst>
                        <p:cond delay="indefinite"/>
                      </p:stCondLst>
                      <p:childTnLst>
                        <p:par>
                          <p:cTn id="527" fill="hold">
                            <p:stCondLst>
                              <p:cond delay="0"/>
                            </p:stCondLst>
                            <p:childTnLst>
                              <p:par>
                                <p:cTn id="528" presetID="10" presetClass="exit" presetSubtype="0" fill="hold" grpId="1" nodeType="clickEffect">
                                  <p:stCondLst>
                                    <p:cond delay="0"/>
                                  </p:stCondLst>
                                  <p:childTnLst>
                                    <p:animEffect transition="out" filter="fade">
                                      <p:cBhvr>
                                        <p:cTn id="529" dur="250"/>
                                        <p:tgtEl>
                                          <p:spTgt spid="133"/>
                                        </p:tgtEl>
                                      </p:cBhvr>
                                    </p:animEffect>
                                    <p:set>
                                      <p:cBhvr>
                                        <p:cTn id="530" dur="1" fill="hold">
                                          <p:stCondLst>
                                            <p:cond delay="249"/>
                                          </p:stCondLst>
                                        </p:cTn>
                                        <p:tgtEl>
                                          <p:spTgt spid="133"/>
                                        </p:tgtEl>
                                        <p:attrNameLst>
                                          <p:attrName>style.visibility</p:attrName>
                                        </p:attrNameLst>
                                      </p:cBhvr>
                                      <p:to>
                                        <p:strVal val="hidden"/>
                                      </p:to>
                                    </p:set>
                                  </p:childTnLst>
                                </p:cTn>
                              </p:par>
                              <p:par>
                                <p:cTn id="531" presetID="10" presetClass="exit" presetSubtype="0" fill="hold" grpId="1" nodeType="withEffect">
                                  <p:stCondLst>
                                    <p:cond delay="0"/>
                                  </p:stCondLst>
                                  <p:childTnLst>
                                    <p:animEffect transition="out" filter="fade">
                                      <p:cBhvr>
                                        <p:cTn id="532" dur="250"/>
                                        <p:tgtEl>
                                          <p:spTgt spid="119"/>
                                        </p:tgtEl>
                                      </p:cBhvr>
                                    </p:animEffect>
                                    <p:set>
                                      <p:cBhvr>
                                        <p:cTn id="533" dur="1" fill="hold">
                                          <p:stCondLst>
                                            <p:cond delay="249"/>
                                          </p:stCondLst>
                                        </p:cTn>
                                        <p:tgtEl>
                                          <p:spTgt spid="119"/>
                                        </p:tgtEl>
                                        <p:attrNameLst>
                                          <p:attrName>style.visibility</p:attrName>
                                        </p:attrNameLst>
                                      </p:cBhvr>
                                      <p:to>
                                        <p:strVal val="hidden"/>
                                      </p:to>
                                    </p:set>
                                  </p:childTnLst>
                                </p:cTn>
                              </p:par>
                              <p:par>
                                <p:cTn id="534" presetID="10" presetClass="exit" presetSubtype="0" fill="hold" grpId="1" nodeType="withEffect">
                                  <p:stCondLst>
                                    <p:cond delay="0"/>
                                  </p:stCondLst>
                                  <p:childTnLst>
                                    <p:animEffect transition="out" filter="fade">
                                      <p:cBhvr>
                                        <p:cTn id="535" dur="250"/>
                                        <p:tgtEl>
                                          <p:spTgt spid="120"/>
                                        </p:tgtEl>
                                      </p:cBhvr>
                                    </p:animEffect>
                                    <p:set>
                                      <p:cBhvr>
                                        <p:cTn id="536" dur="1" fill="hold">
                                          <p:stCondLst>
                                            <p:cond delay="249"/>
                                          </p:stCondLst>
                                        </p:cTn>
                                        <p:tgtEl>
                                          <p:spTgt spid="120"/>
                                        </p:tgtEl>
                                        <p:attrNameLst>
                                          <p:attrName>style.visibility</p:attrName>
                                        </p:attrNameLst>
                                      </p:cBhvr>
                                      <p:to>
                                        <p:strVal val="hidden"/>
                                      </p:to>
                                    </p:set>
                                  </p:childTnLst>
                                </p:cTn>
                              </p:par>
                              <p:par>
                                <p:cTn id="537" presetID="10" presetClass="exit" presetSubtype="0" fill="hold" grpId="1" nodeType="withEffect">
                                  <p:stCondLst>
                                    <p:cond delay="0"/>
                                  </p:stCondLst>
                                  <p:childTnLst>
                                    <p:animEffect transition="out" filter="fade">
                                      <p:cBhvr>
                                        <p:cTn id="538" dur="250"/>
                                        <p:tgtEl>
                                          <p:spTgt spid="126"/>
                                        </p:tgtEl>
                                      </p:cBhvr>
                                    </p:animEffect>
                                    <p:set>
                                      <p:cBhvr>
                                        <p:cTn id="539" dur="1" fill="hold">
                                          <p:stCondLst>
                                            <p:cond delay="249"/>
                                          </p:stCondLst>
                                        </p:cTn>
                                        <p:tgtEl>
                                          <p:spTgt spid="126"/>
                                        </p:tgtEl>
                                        <p:attrNameLst>
                                          <p:attrName>style.visibility</p:attrName>
                                        </p:attrNameLst>
                                      </p:cBhvr>
                                      <p:to>
                                        <p:strVal val="hidden"/>
                                      </p:to>
                                    </p:set>
                                  </p:childTnLst>
                                </p:cTn>
                              </p:par>
                              <p:par>
                                <p:cTn id="540" presetID="10" presetClass="exit" presetSubtype="0" fill="hold" grpId="1" nodeType="withEffect">
                                  <p:stCondLst>
                                    <p:cond delay="0"/>
                                  </p:stCondLst>
                                  <p:childTnLst>
                                    <p:animEffect transition="out" filter="fade">
                                      <p:cBhvr>
                                        <p:cTn id="541" dur="250"/>
                                        <p:tgtEl>
                                          <p:spTgt spid="127"/>
                                        </p:tgtEl>
                                      </p:cBhvr>
                                    </p:animEffect>
                                    <p:set>
                                      <p:cBhvr>
                                        <p:cTn id="542" dur="1" fill="hold">
                                          <p:stCondLst>
                                            <p:cond delay="249"/>
                                          </p:stCondLst>
                                        </p:cTn>
                                        <p:tgtEl>
                                          <p:spTgt spid="127"/>
                                        </p:tgtEl>
                                        <p:attrNameLst>
                                          <p:attrName>style.visibility</p:attrName>
                                        </p:attrNameLst>
                                      </p:cBhvr>
                                      <p:to>
                                        <p:strVal val="hidden"/>
                                      </p:to>
                                    </p:set>
                                  </p:childTnLst>
                                </p:cTn>
                              </p:par>
                              <p:par>
                                <p:cTn id="543" presetID="10" presetClass="exit" presetSubtype="0" fill="hold" grpId="1" nodeType="withEffect">
                                  <p:stCondLst>
                                    <p:cond delay="0"/>
                                  </p:stCondLst>
                                  <p:childTnLst>
                                    <p:animEffect transition="out" filter="fade">
                                      <p:cBhvr>
                                        <p:cTn id="544" dur="250"/>
                                        <p:tgtEl>
                                          <p:spTgt spid="145"/>
                                        </p:tgtEl>
                                      </p:cBhvr>
                                    </p:animEffect>
                                    <p:set>
                                      <p:cBhvr>
                                        <p:cTn id="545" dur="1" fill="hold">
                                          <p:stCondLst>
                                            <p:cond delay="249"/>
                                          </p:stCondLst>
                                        </p:cTn>
                                        <p:tgtEl>
                                          <p:spTgt spid="145"/>
                                        </p:tgtEl>
                                        <p:attrNameLst>
                                          <p:attrName>style.visibility</p:attrName>
                                        </p:attrNameLst>
                                      </p:cBhvr>
                                      <p:to>
                                        <p:strVal val="hidden"/>
                                      </p:to>
                                    </p:set>
                                  </p:childTnLst>
                                </p:cTn>
                              </p:par>
                              <p:par>
                                <p:cTn id="546" presetID="10" presetClass="entr" presetSubtype="0" fill="hold" grpId="0" nodeType="withEffect">
                                  <p:stCondLst>
                                    <p:cond delay="0"/>
                                  </p:stCondLst>
                                  <p:childTnLst>
                                    <p:set>
                                      <p:cBhvr>
                                        <p:cTn id="547" dur="1" fill="hold">
                                          <p:stCondLst>
                                            <p:cond delay="0"/>
                                          </p:stCondLst>
                                        </p:cTn>
                                        <p:tgtEl>
                                          <p:spTgt spid="147"/>
                                        </p:tgtEl>
                                        <p:attrNameLst>
                                          <p:attrName>style.visibility</p:attrName>
                                        </p:attrNameLst>
                                      </p:cBhvr>
                                      <p:to>
                                        <p:strVal val="visible"/>
                                      </p:to>
                                    </p:set>
                                    <p:animEffect transition="in" filter="fade">
                                      <p:cBhvr>
                                        <p:cTn id="548" dur="250"/>
                                        <p:tgtEl>
                                          <p:spTgt spid="147"/>
                                        </p:tgtEl>
                                      </p:cBhvr>
                                    </p:animEffect>
                                  </p:childTnLst>
                                </p:cTn>
                              </p:par>
                              <p:par>
                                <p:cTn id="549" presetID="10" presetClass="entr" presetSubtype="0" fill="hold" grpId="0" nodeType="withEffect">
                                  <p:stCondLst>
                                    <p:cond delay="0"/>
                                  </p:stCondLst>
                                  <p:childTnLst>
                                    <p:set>
                                      <p:cBhvr>
                                        <p:cTn id="550" dur="1" fill="hold">
                                          <p:stCondLst>
                                            <p:cond delay="0"/>
                                          </p:stCondLst>
                                        </p:cTn>
                                        <p:tgtEl>
                                          <p:spTgt spid="155"/>
                                        </p:tgtEl>
                                        <p:attrNameLst>
                                          <p:attrName>style.visibility</p:attrName>
                                        </p:attrNameLst>
                                      </p:cBhvr>
                                      <p:to>
                                        <p:strVal val="visible"/>
                                      </p:to>
                                    </p:set>
                                    <p:animEffect transition="in" filter="fade">
                                      <p:cBhvr>
                                        <p:cTn id="551" dur="250"/>
                                        <p:tgtEl>
                                          <p:spTgt spid="155"/>
                                        </p:tgtEl>
                                      </p:cBhvr>
                                    </p:animEffect>
                                  </p:childTnLst>
                                </p:cTn>
                              </p:par>
                            </p:childTnLst>
                          </p:cTn>
                        </p:par>
                        <p:par>
                          <p:cTn id="552" fill="hold">
                            <p:stCondLst>
                              <p:cond delay="300"/>
                            </p:stCondLst>
                            <p:childTnLst>
                              <p:par>
                                <p:cTn id="553" presetID="10" presetClass="entr" presetSubtype="0" fill="hold" grpId="0" nodeType="afterEffect">
                                  <p:stCondLst>
                                    <p:cond delay="0"/>
                                  </p:stCondLst>
                                  <p:childTnLst>
                                    <p:set>
                                      <p:cBhvr>
                                        <p:cTn id="554" dur="1" fill="hold">
                                          <p:stCondLst>
                                            <p:cond delay="0"/>
                                          </p:stCondLst>
                                        </p:cTn>
                                        <p:tgtEl>
                                          <p:spTgt spid="150"/>
                                        </p:tgtEl>
                                        <p:attrNameLst>
                                          <p:attrName>style.visibility</p:attrName>
                                        </p:attrNameLst>
                                      </p:cBhvr>
                                      <p:to>
                                        <p:strVal val="visible"/>
                                      </p:to>
                                    </p:set>
                                    <p:animEffect transition="in" filter="fade">
                                      <p:cBhvr>
                                        <p:cTn id="555" dur="250"/>
                                        <p:tgtEl>
                                          <p:spTgt spid="150"/>
                                        </p:tgtEl>
                                      </p:cBhvr>
                                    </p:animEffect>
                                  </p:childTnLst>
                                </p:cTn>
                              </p:par>
                              <p:par>
                                <p:cTn id="556" presetID="10" presetClass="entr" presetSubtype="0" fill="hold" grpId="0" nodeType="withEffect">
                                  <p:stCondLst>
                                    <p:cond delay="0"/>
                                  </p:stCondLst>
                                  <p:childTnLst>
                                    <p:set>
                                      <p:cBhvr>
                                        <p:cTn id="557" dur="1" fill="hold">
                                          <p:stCondLst>
                                            <p:cond delay="0"/>
                                          </p:stCondLst>
                                        </p:cTn>
                                        <p:tgtEl>
                                          <p:spTgt spid="151"/>
                                        </p:tgtEl>
                                        <p:attrNameLst>
                                          <p:attrName>style.visibility</p:attrName>
                                        </p:attrNameLst>
                                      </p:cBhvr>
                                      <p:to>
                                        <p:strVal val="visible"/>
                                      </p:to>
                                    </p:set>
                                    <p:animEffect transition="in" filter="fade">
                                      <p:cBhvr>
                                        <p:cTn id="558" dur="250"/>
                                        <p:tgtEl>
                                          <p:spTgt spid="151"/>
                                        </p:tgtEl>
                                      </p:cBhvr>
                                    </p:animEffect>
                                  </p:childTnLst>
                                </p:cTn>
                              </p:par>
                            </p:childTnLst>
                          </p:cTn>
                        </p:par>
                        <p:par>
                          <p:cTn id="559" fill="hold">
                            <p:stCondLst>
                              <p:cond delay="1100"/>
                            </p:stCondLst>
                            <p:childTnLst>
                              <p:par>
                                <p:cTn id="560" presetID="10" presetClass="exit" presetSubtype="0" fill="hold" grpId="1" nodeType="afterEffect">
                                  <p:stCondLst>
                                    <p:cond delay="0"/>
                                  </p:stCondLst>
                                  <p:childTnLst>
                                    <p:animEffect transition="out" filter="fade">
                                      <p:cBhvr>
                                        <p:cTn id="561" dur="250"/>
                                        <p:tgtEl>
                                          <p:spTgt spid="147"/>
                                        </p:tgtEl>
                                      </p:cBhvr>
                                    </p:animEffect>
                                    <p:set>
                                      <p:cBhvr>
                                        <p:cTn id="562" dur="1" fill="hold">
                                          <p:stCondLst>
                                            <p:cond delay="249"/>
                                          </p:stCondLst>
                                        </p:cTn>
                                        <p:tgtEl>
                                          <p:spTgt spid="147"/>
                                        </p:tgtEl>
                                        <p:attrNameLst>
                                          <p:attrName>style.visibility</p:attrName>
                                        </p:attrNameLst>
                                      </p:cBhvr>
                                      <p:to>
                                        <p:strVal val="hidden"/>
                                      </p:to>
                                    </p:set>
                                  </p:childTnLst>
                                </p:cTn>
                              </p:par>
                              <p:par>
                                <p:cTn id="563" presetID="10" presetClass="entr" presetSubtype="0" fill="hold" grpId="0" nodeType="withEffect">
                                  <p:stCondLst>
                                    <p:cond delay="0"/>
                                  </p:stCondLst>
                                  <p:childTnLst>
                                    <p:set>
                                      <p:cBhvr>
                                        <p:cTn id="564" dur="1" fill="hold">
                                          <p:stCondLst>
                                            <p:cond delay="0"/>
                                          </p:stCondLst>
                                        </p:cTn>
                                        <p:tgtEl>
                                          <p:spTgt spid="148"/>
                                        </p:tgtEl>
                                        <p:attrNameLst>
                                          <p:attrName>style.visibility</p:attrName>
                                        </p:attrNameLst>
                                      </p:cBhvr>
                                      <p:to>
                                        <p:strVal val="visible"/>
                                      </p:to>
                                    </p:set>
                                    <p:animEffect transition="in" filter="fade">
                                      <p:cBhvr>
                                        <p:cTn id="565" dur="250"/>
                                        <p:tgtEl>
                                          <p:spTgt spid="148"/>
                                        </p:tgtEl>
                                      </p:cBhvr>
                                    </p:animEffect>
                                  </p:childTnLst>
                                </p:cTn>
                              </p:par>
                            </p:childTnLst>
                          </p:cTn>
                        </p:par>
                        <p:par>
                          <p:cTn id="566" fill="hold">
                            <p:stCondLst>
                              <p:cond delay="1300"/>
                            </p:stCondLst>
                            <p:childTnLst>
                              <p:par>
                                <p:cTn id="567" presetID="10" presetClass="entr" presetSubtype="0" fill="hold" grpId="0" nodeType="afterEffect">
                                  <p:stCondLst>
                                    <p:cond delay="0"/>
                                  </p:stCondLst>
                                  <p:childTnLst>
                                    <p:set>
                                      <p:cBhvr>
                                        <p:cTn id="568" dur="1" fill="hold">
                                          <p:stCondLst>
                                            <p:cond delay="0"/>
                                          </p:stCondLst>
                                        </p:cTn>
                                        <p:tgtEl>
                                          <p:spTgt spid="152"/>
                                        </p:tgtEl>
                                        <p:attrNameLst>
                                          <p:attrName>style.visibility</p:attrName>
                                        </p:attrNameLst>
                                      </p:cBhvr>
                                      <p:to>
                                        <p:strVal val="visible"/>
                                      </p:to>
                                    </p:set>
                                    <p:animEffect transition="in" filter="fade">
                                      <p:cBhvr>
                                        <p:cTn id="569" dur="250"/>
                                        <p:tgtEl>
                                          <p:spTgt spid="152"/>
                                        </p:tgtEl>
                                      </p:cBhvr>
                                    </p:animEffect>
                                  </p:childTnLst>
                                </p:cTn>
                              </p:par>
                            </p:childTnLst>
                          </p:cTn>
                        </p:par>
                        <p:par>
                          <p:cTn id="570" fill="hold">
                            <p:stCondLst>
                              <p:cond delay="2200"/>
                            </p:stCondLst>
                            <p:childTnLst>
                              <p:par>
                                <p:cTn id="571" presetID="10" presetClass="exit" presetSubtype="0" fill="hold" grpId="1" nodeType="afterEffect">
                                  <p:stCondLst>
                                    <p:cond delay="0"/>
                                  </p:stCondLst>
                                  <p:childTnLst>
                                    <p:animEffect transition="out" filter="fade">
                                      <p:cBhvr>
                                        <p:cTn id="572" dur="250"/>
                                        <p:tgtEl>
                                          <p:spTgt spid="148"/>
                                        </p:tgtEl>
                                      </p:cBhvr>
                                    </p:animEffect>
                                    <p:set>
                                      <p:cBhvr>
                                        <p:cTn id="573" dur="1" fill="hold">
                                          <p:stCondLst>
                                            <p:cond delay="249"/>
                                          </p:stCondLst>
                                        </p:cTn>
                                        <p:tgtEl>
                                          <p:spTgt spid="148"/>
                                        </p:tgtEl>
                                        <p:attrNameLst>
                                          <p:attrName>style.visibility</p:attrName>
                                        </p:attrNameLst>
                                      </p:cBhvr>
                                      <p:to>
                                        <p:strVal val="hidden"/>
                                      </p:to>
                                    </p:set>
                                  </p:childTnLst>
                                </p:cTn>
                              </p:par>
                              <p:par>
                                <p:cTn id="574" presetID="10" presetClass="entr" presetSubtype="0" fill="hold" grpId="0" nodeType="withEffect">
                                  <p:stCondLst>
                                    <p:cond delay="0"/>
                                  </p:stCondLst>
                                  <p:childTnLst>
                                    <p:set>
                                      <p:cBhvr>
                                        <p:cTn id="575" dur="1" fill="hold">
                                          <p:stCondLst>
                                            <p:cond delay="0"/>
                                          </p:stCondLst>
                                        </p:cTn>
                                        <p:tgtEl>
                                          <p:spTgt spid="149"/>
                                        </p:tgtEl>
                                        <p:attrNameLst>
                                          <p:attrName>style.visibility</p:attrName>
                                        </p:attrNameLst>
                                      </p:cBhvr>
                                      <p:to>
                                        <p:strVal val="visible"/>
                                      </p:to>
                                    </p:set>
                                    <p:animEffect transition="in" filter="fade">
                                      <p:cBhvr>
                                        <p:cTn id="576" dur="250"/>
                                        <p:tgtEl>
                                          <p:spTgt spid="149"/>
                                        </p:tgtEl>
                                      </p:cBhvr>
                                    </p:animEffect>
                                  </p:childTnLst>
                                </p:cTn>
                              </p:par>
                            </p:childTnLst>
                          </p:cTn>
                        </p:par>
                        <p:par>
                          <p:cTn id="577" fill="hold">
                            <p:stCondLst>
                              <p:cond delay="2400"/>
                            </p:stCondLst>
                            <p:childTnLst>
                              <p:par>
                                <p:cTn id="578" presetID="10" presetClass="entr" presetSubtype="0" fill="hold" grpId="0" nodeType="afterEffect">
                                  <p:stCondLst>
                                    <p:cond delay="0"/>
                                  </p:stCondLst>
                                  <p:childTnLst>
                                    <p:set>
                                      <p:cBhvr>
                                        <p:cTn id="579" dur="1" fill="hold">
                                          <p:stCondLst>
                                            <p:cond delay="0"/>
                                          </p:stCondLst>
                                        </p:cTn>
                                        <p:tgtEl>
                                          <p:spTgt spid="153"/>
                                        </p:tgtEl>
                                        <p:attrNameLst>
                                          <p:attrName>style.visibility</p:attrName>
                                        </p:attrNameLst>
                                      </p:cBhvr>
                                      <p:to>
                                        <p:strVal val="visible"/>
                                      </p:to>
                                    </p:set>
                                    <p:animEffect transition="in" filter="fade">
                                      <p:cBhvr>
                                        <p:cTn id="580" dur="250"/>
                                        <p:tgtEl>
                                          <p:spTgt spid="153"/>
                                        </p:tgtEl>
                                      </p:cBhvr>
                                    </p:animEffect>
                                  </p:childTnLst>
                                </p:cTn>
                              </p:par>
                              <p:par>
                                <p:cTn id="581" presetID="10" presetClass="entr" presetSubtype="0" fill="hold" grpId="0" nodeType="withEffect">
                                  <p:stCondLst>
                                    <p:cond delay="0"/>
                                  </p:stCondLst>
                                  <p:childTnLst>
                                    <p:set>
                                      <p:cBhvr>
                                        <p:cTn id="582" dur="1" fill="hold">
                                          <p:stCondLst>
                                            <p:cond delay="0"/>
                                          </p:stCondLst>
                                        </p:cTn>
                                        <p:tgtEl>
                                          <p:spTgt spid="154"/>
                                        </p:tgtEl>
                                        <p:attrNameLst>
                                          <p:attrName>style.visibility</p:attrName>
                                        </p:attrNameLst>
                                      </p:cBhvr>
                                      <p:to>
                                        <p:strVal val="visible"/>
                                      </p:to>
                                    </p:set>
                                    <p:animEffect transition="in" filter="fade">
                                      <p:cBhvr>
                                        <p:cTn id="583" dur="250"/>
                                        <p:tgtEl>
                                          <p:spTgt spid="154"/>
                                        </p:tgtEl>
                                      </p:cBhvr>
                                    </p:animEffect>
                                  </p:childTnLst>
                                </p:cTn>
                              </p:par>
                            </p:childTnLst>
                          </p:cTn>
                        </p:par>
                      </p:childTnLst>
                    </p:cTn>
                  </p:par>
                  <p:par>
                    <p:cTn id="584" fill="hold">
                      <p:stCondLst>
                        <p:cond delay="indefinite"/>
                      </p:stCondLst>
                      <p:childTnLst>
                        <p:par>
                          <p:cTn id="585" fill="hold">
                            <p:stCondLst>
                              <p:cond delay="0"/>
                            </p:stCondLst>
                            <p:childTnLst>
                              <p:par>
                                <p:cTn id="586" presetID="10" presetClass="exit" presetSubtype="0" fill="hold" grpId="1" nodeType="clickEffect">
                                  <p:stCondLst>
                                    <p:cond delay="0"/>
                                  </p:stCondLst>
                                  <p:childTnLst>
                                    <p:animEffect transition="out" filter="fade">
                                      <p:cBhvr>
                                        <p:cTn id="587" dur="250"/>
                                        <p:tgtEl>
                                          <p:spTgt spid="149"/>
                                        </p:tgtEl>
                                      </p:cBhvr>
                                    </p:animEffect>
                                    <p:set>
                                      <p:cBhvr>
                                        <p:cTn id="588" dur="1" fill="hold">
                                          <p:stCondLst>
                                            <p:cond delay="249"/>
                                          </p:stCondLst>
                                        </p:cTn>
                                        <p:tgtEl>
                                          <p:spTgt spid="149"/>
                                        </p:tgtEl>
                                        <p:attrNameLst>
                                          <p:attrName>style.visibility</p:attrName>
                                        </p:attrNameLst>
                                      </p:cBhvr>
                                      <p:to>
                                        <p:strVal val="hidden"/>
                                      </p:to>
                                    </p:set>
                                  </p:childTnLst>
                                </p:cTn>
                              </p:par>
                              <p:par>
                                <p:cTn id="589" presetID="10" presetClass="exit" presetSubtype="0" fill="hold" grpId="1" nodeType="withEffect">
                                  <p:stCondLst>
                                    <p:cond delay="0"/>
                                  </p:stCondLst>
                                  <p:childTnLst>
                                    <p:animEffect transition="out" filter="fade">
                                      <p:cBhvr>
                                        <p:cTn id="590" dur="250"/>
                                        <p:tgtEl>
                                          <p:spTgt spid="150"/>
                                        </p:tgtEl>
                                      </p:cBhvr>
                                    </p:animEffect>
                                    <p:set>
                                      <p:cBhvr>
                                        <p:cTn id="591" dur="1" fill="hold">
                                          <p:stCondLst>
                                            <p:cond delay="249"/>
                                          </p:stCondLst>
                                        </p:cTn>
                                        <p:tgtEl>
                                          <p:spTgt spid="150"/>
                                        </p:tgtEl>
                                        <p:attrNameLst>
                                          <p:attrName>style.visibility</p:attrName>
                                        </p:attrNameLst>
                                      </p:cBhvr>
                                      <p:to>
                                        <p:strVal val="hidden"/>
                                      </p:to>
                                    </p:set>
                                  </p:childTnLst>
                                </p:cTn>
                              </p:par>
                              <p:par>
                                <p:cTn id="592" presetID="10" presetClass="exit" presetSubtype="0" fill="hold" grpId="1" nodeType="withEffect">
                                  <p:stCondLst>
                                    <p:cond delay="0"/>
                                  </p:stCondLst>
                                  <p:childTnLst>
                                    <p:animEffect transition="out" filter="fade">
                                      <p:cBhvr>
                                        <p:cTn id="593" dur="250"/>
                                        <p:tgtEl>
                                          <p:spTgt spid="151"/>
                                        </p:tgtEl>
                                      </p:cBhvr>
                                    </p:animEffect>
                                    <p:set>
                                      <p:cBhvr>
                                        <p:cTn id="594" dur="1" fill="hold">
                                          <p:stCondLst>
                                            <p:cond delay="249"/>
                                          </p:stCondLst>
                                        </p:cTn>
                                        <p:tgtEl>
                                          <p:spTgt spid="151"/>
                                        </p:tgtEl>
                                        <p:attrNameLst>
                                          <p:attrName>style.visibility</p:attrName>
                                        </p:attrNameLst>
                                      </p:cBhvr>
                                      <p:to>
                                        <p:strVal val="hidden"/>
                                      </p:to>
                                    </p:set>
                                  </p:childTnLst>
                                </p:cTn>
                              </p:par>
                              <p:par>
                                <p:cTn id="595" presetID="10" presetClass="exit" presetSubtype="0" fill="hold" grpId="1" nodeType="withEffect">
                                  <p:stCondLst>
                                    <p:cond delay="0"/>
                                  </p:stCondLst>
                                  <p:childTnLst>
                                    <p:animEffect transition="out" filter="fade">
                                      <p:cBhvr>
                                        <p:cTn id="596" dur="250"/>
                                        <p:tgtEl>
                                          <p:spTgt spid="152"/>
                                        </p:tgtEl>
                                      </p:cBhvr>
                                    </p:animEffect>
                                    <p:set>
                                      <p:cBhvr>
                                        <p:cTn id="597" dur="1" fill="hold">
                                          <p:stCondLst>
                                            <p:cond delay="249"/>
                                          </p:stCondLst>
                                        </p:cTn>
                                        <p:tgtEl>
                                          <p:spTgt spid="152"/>
                                        </p:tgtEl>
                                        <p:attrNameLst>
                                          <p:attrName>style.visibility</p:attrName>
                                        </p:attrNameLst>
                                      </p:cBhvr>
                                      <p:to>
                                        <p:strVal val="hidden"/>
                                      </p:to>
                                    </p:set>
                                  </p:childTnLst>
                                </p:cTn>
                              </p:par>
                              <p:par>
                                <p:cTn id="598" presetID="10" presetClass="exit" presetSubtype="0" fill="hold" grpId="1" nodeType="withEffect">
                                  <p:stCondLst>
                                    <p:cond delay="0"/>
                                  </p:stCondLst>
                                  <p:childTnLst>
                                    <p:animEffect transition="out" filter="fade">
                                      <p:cBhvr>
                                        <p:cTn id="599" dur="250"/>
                                        <p:tgtEl>
                                          <p:spTgt spid="153"/>
                                        </p:tgtEl>
                                      </p:cBhvr>
                                    </p:animEffect>
                                    <p:set>
                                      <p:cBhvr>
                                        <p:cTn id="600" dur="1" fill="hold">
                                          <p:stCondLst>
                                            <p:cond delay="249"/>
                                          </p:stCondLst>
                                        </p:cTn>
                                        <p:tgtEl>
                                          <p:spTgt spid="153"/>
                                        </p:tgtEl>
                                        <p:attrNameLst>
                                          <p:attrName>style.visibility</p:attrName>
                                        </p:attrNameLst>
                                      </p:cBhvr>
                                      <p:to>
                                        <p:strVal val="hidden"/>
                                      </p:to>
                                    </p:set>
                                  </p:childTnLst>
                                </p:cTn>
                              </p:par>
                              <p:par>
                                <p:cTn id="601" presetID="10" presetClass="exit" presetSubtype="0" fill="hold" grpId="1" nodeType="withEffect">
                                  <p:stCondLst>
                                    <p:cond delay="0"/>
                                  </p:stCondLst>
                                  <p:childTnLst>
                                    <p:animEffect transition="out" filter="fade">
                                      <p:cBhvr>
                                        <p:cTn id="602" dur="250"/>
                                        <p:tgtEl>
                                          <p:spTgt spid="154"/>
                                        </p:tgtEl>
                                      </p:cBhvr>
                                    </p:animEffect>
                                    <p:set>
                                      <p:cBhvr>
                                        <p:cTn id="603" dur="1" fill="hold">
                                          <p:stCondLst>
                                            <p:cond delay="249"/>
                                          </p:stCondLst>
                                        </p:cTn>
                                        <p:tgtEl>
                                          <p:spTgt spid="154"/>
                                        </p:tgtEl>
                                        <p:attrNameLst>
                                          <p:attrName>style.visibility</p:attrName>
                                        </p:attrNameLst>
                                      </p:cBhvr>
                                      <p:to>
                                        <p:strVal val="hidden"/>
                                      </p:to>
                                    </p:set>
                                  </p:childTnLst>
                                </p:cTn>
                              </p:par>
                              <p:par>
                                <p:cTn id="604" presetID="10" presetClass="entr" presetSubtype="0" fill="hold" grpId="0" nodeType="withEffect">
                                  <p:stCondLst>
                                    <p:cond delay="0"/>
                                  </p:stCondLst>
                                  <p:childTnLst>
                                    <p:set>
                                      <p:cBhvr>
                                        <p:cTn id="605" dur="1" fill="hold">
                                          <p:stCondLst>
                                            <p:cond delay="0"/>
                                          </p:stCondLst>
                                        </p:cTn>
                                        <p:tgtEl>
                                          <p:spTgt spid="156"/>
                                        </p:tgtEl>
                                        <p:attrNameLst>
                                          <p:attrName>style.visibility</p:attrName>
                                        </p:attrNameLst>
                                      </p:cBhvr>
                                      <p:to>
                                        <p:strVal val="visible"/>
                                      </p:to>
                                    </p:set>
                                    <p:animEffect transition="in" filter="fade">
                                      <p:cBhvr>
                                        <p:cTn id="606" dur="250"/>
                                        <p:tgtEl>
                                          <p:spTgt spid="156"/>
                                        </p:tgtEl>
                                      </p:cBhvr>
                                    </p:animEffect>
                                  </p:childTnLst>
                                </p:cTn>
                              </p:par>
                              <p:par>
                                <p:cTn id="607" presetID="10" presetClass="entr" presetSubtype="0" fill="hold" grpId="0" nodeType="withEffect">
                                  <p:stCondLst>
                                    <p:cond delay="0"/>
                                  </p:stCondLst>
                                  <p:childTnLst>
                                    <p:set>
                                      <p:cBhvr>
                                        <p:cTn id="608" dur="1" fill="hold">
                                          <p:stCondLst>
                                            <p:cond delay="0"/>
                                          </p:stCondLst>
                                        </p:cTn>
                                        <p:tgtEl>
                                          <p:spTgt spid="157"/>
                                        </p:tgtEl>
                                        <p:attrNameLst>
                                          <p:attrName>style.visibility</p:attrName>
                                        </p:attrNameLst>
                                      </p:cBhvr>
                                      <p:to>
                                        <p:strVal val="visible"/>
                                      </p:to>
                                    </p:set>
                                    <p:animEffect transition="in" filter="fade">
                                      <p:cBhvr>
                                        <p:cTn id="609" dur="250"/>
                                        <p:tgtEl>
                                          <p:spTgt spid="157"/>
                                        </p:tgtEl>
                                      </p:cBhvr>
                                    </p:animEffect>
                                  </p:childTnLst>
                                </p:cTn>
                              </p:par>
                              <p:par>
                                <p:cTn id="610" presetID="10" presetClass="entr" presetSubtype="0" fill="hold" grpId="0" nodeType="withEffect">
                                  <p:stCondLst>
                                    <p:cond delay="0"/>
                                  </p:stCondLst>
                                  <p:childTnLst>
                                    <p:set>
                                      <p:cBhvr>
                                        <p:cTn id="611" dur="1" fill="hold">
                                          <p:stCondLst>
                                            <p:cond delay="0"/>
                                          </p:stCondLst>
                                        </p:cTn>
                                        <p:tgtEl>
                                          <p:spTgt spid="158"/>
                                        </p:tgtEl>
                                        <p:attrNameLst>
                                          <p:attrName>style.visibility</p:attrName>
                                        </p:attrNameLst>
                                      </p:cBhvr>
                                      <p:to>
                                        <p:strVal val="visible"/>
                                      </p:to>
                                    </p:set>
                                    <p:animEffect transition="in" filter="fade">
                                      <p:cBhvr>
                                        <p:cTn id="612" dur="250"/>
                                        <p:tgtEl>
                                          <p:spTgt spid="158"/>
                                        </p:tgtEl>
                                      </p:cBhvr>
                                    </p:animEffect>
                                  </p:childTnLst>
                                </p:cTn>
                              </p:par>
                              <p:par>
                                <p:cTn id="613" presetID="10" presetClass="entr" presetSubtype="0" fill="hold" grpId="0" nodeType="withEffect">
                                  <p:stCondLst>
                                    <p:cond delay="0"/>
                                  </p:stCondLst>
                                  <p:childTnLst>
                                    <p:set>
                                      <p:cBhvr>
                                        <p:cTn id="614" dur="1" fill="hold">
                                          <p:stCondLst>
                                            <p:cond delay="0"/>
                                          </p:stCondLst>
                                        </p:cTn>
                                        <p:tgtEl>
                                          <p:spTgt spid="168"/>
                                        </p:tgtEl>
                                        <p:attrNameLst>
                                          <p:attrName>style.visibility</p:attrName>
                                        </p:attrNameLst>
                                      </p:cBhvr>
                                      <p:to>
                                        <p:strVal val="visible"/>
                                      </p:to>
                                    </p:set>
                                    <p:animEffect transition="in" filter="fade">
                                      <p:cBhvr>
                                        <p:cTn id="615" dur="250"/>
                                        <p:tgtEl>
                                          <p:spTgt spid="168"/>
                                        </p:tgtEl>
                                      </p:cBhvr>
                                    </p:animEffect>
                                  </p:childTnLst>
                                </p:cTn>
                              </p:par>
                            </p:childTnLst>
                          </p:cTn>
                        </p:par>
                        <p:par>
                          <p:cTn id="616" fill="hold">
                            <p:stCondLst>
                              <p:cond delay="250"/>
                            </p:stCondLst>
                            <p:childTnLst>
                              <p:par>
                                <p:cTn id="617" presetID="10" presetClass="entr" presetSubtype="0" fill="hold" grpId="0" nodeType="afterEffect">
                                  <p:stCondLst>
                                    <p:cond delay="0"/>
                                  </p:stCondLst>
                                  <p:childTnLst>
                                    <p:set>
                                      <p:cBhvr>
                                        <p:cTn id="618" dur="1" fill="hold">
                                          <p:stCondLst>
                                            <p:cond delay="0"/>
                                          </p:stCondLst>
                                        </p:cTn>
                                        <p:tgtEl>
                                          <p:spTgt spid="159"/>
                                        </p:tgtEl>
                                        <p:attrNameLst>
                                          <p:attrName>style.visibility</p:attrName>
                                        </p:attrNameLst>
                                      </p:cBhvr>
                                      <p:to>
                                        <p:strVal val="visible"/>
                                      </p:to>
                                    </p:set>
                                    <p:animEffect transition="in" filter="fade">
                                      <p:cBhvr>
                                        <p:cTn id="619" dur="250"/>
                                        <p:tgtEl>
                                          <p:spTgt spid="159"/>
                                        </p:tgtEl>
                                      </p:cBhvr>
                                    </p:animEffect>
                                  </p:childTnLst>
                                </p:cTn>
                              </p:par>
                            </p:childTnLst>
                          </p:cTn>
                        </p:par>
                        <p:par>
                          <p:cTn id="620" fill="hold">
                            <p:stCondLst>
                              <p:cond delay="650"/>
                            </p:stCondLst>
                            <p:childTnLst>
                              <p:par>
                                <p:cTn id="621" presetID="10" presetClass="exit" presetSubtype="0" fill="hold" grpId="1" nodeType="afterEffect">
                                  <p:stCondLst>
                                    <p:cond delay="0"/>
                                  </p:stCondLst>
                                  <p:childTnLst>
                                    <p:animEffect transition="out" filter="fade">
                                      <p:cBhvr>
                                        <p:cTn id="622" dur="250"/>
                                        <p:tgtEl>
                                          <p:spTgt spid="157"/>
                                        </p:tgtEl>
                                      </p:cBhvr>
                                    </p:animEffect>
                                    <p:set>
                                      <p:cBhvr>
                                        <p:cTn id="623" dur="1" fill="hold">
                                          <p:stCondLst>
                                            <p:cond delay="249"/>
                                          </p:stCondLst>
                                        </p:cTn>
                                        <p:tgtEl>
                                          <p:spTgt spid="157"/>
                                        </p:tgtEl>
                                        <p:attrNameLst>
                                          <p:attrName>style.visibility</p:attrName>
                                        </p:attrNameLst>
                                      </p:cBhvr>
                                      <p:to>
                                        <p:strVal val="hidden"/>
                                      </p:to>
                                    </p:set>
                                  </p:childTnLst>
                                </p:cTn>
                              </p:par>
                              <p:par>
                                <p:cTn id="624" presetID="10" presetClass="exit" presetSubtype="0" fill="hold" grpId="1" nodeType="withEffect">
                                  <p:stCondLst>
                                    <p:cond delay="0"/>
                                  </p:stCondLst>
                                  <p:childTnLst>
                                    <p:animEffect transition="out" filter="fade">
                                      <p:cBhvr>
                                        <p:cTn id="625" dur="250"/>
                                        <p:tgtEl>
                                          <p:spTgt spid="158"/>
                                        </p:tgtEl>
                                      </p:cBhvr>
                                    </p:animEffect>
                                    <p:set>
                                      <p:cBhvr>
                                        <p:cTn id="626" dur="1" fill="hold">
                                          <p:stCondLst>
                                            <p:cond delay="249"/>
                                          </p:stCondLst>
                                        </p:cTn>
                                        <p:tgtEl>
                                          <p:spTgt spid="158"/>
                                        </p:tgtEl>
                                        <p:attrNameLst>
                                          <p:attrName>style.visibility</p:attrName>
                                        </p:attrNameLst>
                                      </p:cBhvr>
                                      <p:to>
                                        <p:strVal val="hidden"/>
                                      </p:to>
                                    </p:set>
                                  </p:childTnLst>
                                </p:cTn>
                              </p:par>
                              <p:par>
                                <p:cTn id="627" presetID="10" presetClass="exit" presetSubtype="0" fill="hold" grpId="1" nodeType="withEffect">
                                  <p:stCondLst>
                                    <p:cond delay="0"/>
                                  </p:stCondLst>
                                  <p:childTnLst>
                                    <p:animEffect transition="out" filter="fade">
                                      <p:cBhvr>
                                        <p:cTn id="628" dur="250"/>
                                        <p:tgtEl>
                                          <p:spTgt spid="159"/>
                                        </p:tgtEl>
                                      </p:cBhvr>
                                    </p:animEffect>
                                    <p:set>
                                      <p:cBhvr>
                                        <p:cTn id="629" dur="1" fill="hold">
                                          <p:stCondLst>
                                            <p:cond delay="249"/>
                                          </p:stCondLst>
                                        </p:cTn>
                                        <p:tgtEl>
                                          <p:spTgt spid="159"/>
                                        </p:tgtEl>
                                        <p:attrNameLst>
                                          <p:attrName>style.visibility</p:attrName>
                                        </p:attrNameLst>
                                      </p:cBhvr>
                                      <p:to>
                                        <p:strVal val="hidden"/>
                                      </p:to>
                                    </p:set>
                                  </p:childTnLst>
                                </p:cTn>
                              </p:par>
                              <p:par>
                                <p:cTn id="630" presetID="10" presetClass="entr" presetSubtype="0" fill="hold" grpId="0" nodeType="withEffect">
                                  <p:stCondLst>
                                    <p:cond delay="0"/>
                                  </p:stCondLst>
                                  <p:childTnLst>
                                    <p:set>
                                      <p:cBhvr>
                                        <p:cTn id="631" dur="1" fill="hold">
                                          <p:stCondLst>
                                            <p:cond delay="0"/>
                                          </p:stCondLst>
                                        </p:cTn>
                                        <p:tgtEl>
                                          <p:spTgt spid="160"/>
                                        </p:tgtEl>
                                        <p:attrNameLst>
                                          <p:attrName>style.visibility</p:attrName>
                                        </p:attrNameLst>
                                      </p:cBhvr>
                                      <p:to>
                                        <p:strVal val="visible"/>
                                      </p:to>
                                    </p:set>
                                    <p:animEffect transition="in" filter="fade">
                                      <p:cBhvr>
                                        <p:cTn id="632" dur="250"/>
                                        <p:tgtEl>
                                          <p:spTgt spid="160"/>
                                        </p:tgtEl>
                                      </p:cBhvr>
                                    </p:animEffect>
                                  </p:childTnLst>
                                </p:cTn>
                              </p:par>
                              <p:par>
                                <p:cTn id="633" presetID="10" presetClass="entr" presetSubtype="0" fill="hold" grpId="0" nodeType="withEffect">
                                  <p:stCondLst>
                                    <p:cond delay="0"/>
                                  </p:stCondLst>
                                  <p:childTnLst>
                                    <p:set>
                                      <p:cBhvr>
                                        <p:cTn id="634" dur="1" fill="hold">
                                          <p:stCondLst>
                                            <p:cond delay="0"/>
                                          </p:stCondLst>
                                        </p:cTn>
                                        <p:tgtEl>
                                          <p:spTgt spid="161"/>
                                        </p:tgtEl>
                                        <p:attrNameLst>
                                          <p:attrName>style.visibility</p:attrName>
                                        </p:attrNameLst>
                                      </p:cBhvr>
                                      <p:to>
                                        <p:strVal val="visible"/>
                                      </p:to>
                                    </p:set>
                                    <p:animEffect transition="in" filter="fade">
                                      <p:cBhvr>
                                        <p:cTn id="635" dur="250"/>
                                        <p:tgtEl>
                                          <p:spTgt spid="161"/>
                                        </p:tgtEl>
                                      </p:cBhvr>
                                    </p:animEffect>
                                  </p:childTnLst>
                                </p:cTn>
                              </p:par>
                              <p:par>
                                <p:cTn id="636" presetID="10" presetClass="entr" presetSubtype="0" fill="hold" grpId="0" nodeType="withEffect">
                                  <p:stCondLst>
                                    <p:cond delay="0"/>
                                  </p:stCondLst>
                                  <p:childTnLst>
                                    <p:set>
                                      <p:cBhvr>
                                        <p:cTn id="637" dur="1" fill="hold">
                                          <p:stCondLst>
                                            <p:cond delay="0"/>
                                          </p:stCondLst>
                                        </p:cTn>
                                        <p:tgtEl>
                                          <p:spTgt spid="162"/>
                                        </p:tgtEl>
                                        <p:attrNameLst>
                                          <p:attrName>style.visibility</p:attrName>
                                        </p:attrNameLst>
                                      </p:cBhvr>
                                      <p:to>
                                        <p:strVal val="visible"/>
                                      </p:to>
                                    </p:set>
                                    <p:animEffect transition="in" filter="fade">
                                      <p:cBhvr>
                                        <p:cTn id="638" dur="250"/>
                                        <p:tgtEl>
                                          <p:spTgt spid="162"/>
                                        </p:tgtEl>
                                      </p:cBhvr>
                                    </p:animEffect>
                                  </p:childTnLst>
                                </p:cTn>
                              </p:par>
                            </p:childTnLst>
                          </p:cTn>
                        </p:par>
                        <p:par>
                          <p:cTn id="639" fill="hold">
                            <p:stCondLst>
                              <p:cond delay="1350"/>
                            </p:stCondLst>
                            <p:childTnLst>
                              <p:par>
                                <p:cTn id="640" presetID="10" presetClass="exit" presetSubtype="0" fill="hold" grpId="1" nodeType="afterEffect">
                                  <p:stCondLst>
                                    <p:cond delay="0"/>
                                  </p:stCondLst>
                                  <p:childTnLst>
                                    <p:animEffect transition="out" filter="fade">
                                      <p:cBhvr>
                                        <p:cTn id="641" dur="250"/>
                                        <p:tgtEl>
                                          <p:spTgt spid="156"/>
                                        </p:tgtEl>
                                      </p:cBhvr>
                                    </p:animEffect>
                                    <p:set>
                                      <p:cBhvr>
                                        <p:cTn id="642" dur="1" fill="hold">
                                          <p:stCondLst>
                                            <p:cond delay="249"/>
                                          </p:stCondLst>
                                        </p:cTn>
                                        <p:tgtEl>
                                          <p:spTgt spid="156"/>
                                        </p:tgtEl>
                                        <p:attrNameLst>
                                          <p:attrName>style.visibility</p:attrName>
                                        </p:attrNameLst>
                                      </p:cBhvr>
                                      <p:to>
                                        <p:strVal val="hidden"/>
                                      </p:to>
                                    </p:set>
                                  </p:childTnLst>
                                </p:cTn>
                              </p:par>
                              <p:par>
                                <p:cTn id="643" presetID="10" presetClass="entr" presetSubtype="0" fill="hold" grpId="0" nodeType="withEffect">
                                  <p:stCondLst>
                                    <p:cond delay="0"/>
                                  </p:stCondLst>
                                  <p:childTnLst>
                                    <p:set>
                                      <p:cBhvr>
                                        <p:cTn id="644" dur="1" fill="hold">
                                          <p:stCondLst>
                                            <p:cond delay="0"/>
                                          </p:stCondLst>
                                        </p:cTn>
                                        <p:tgtEl>
                                          <p:spTgt spid="163"/>
                                        </p:tgtEl>
                                        <p:attrNameLst>
                                          <p:attrName>style.visibility</p:attrName>
                                        </p:attrNameLst>
                                      </p:cBhvr>
                                      <p:to>
                                        <p:strVal val="visible"/>
                                      </p:to>
                                    </p:set>
                                    <p:animEffect transition="in" filter="fade">
                                      <p:cBhvr>
                                        <p:cTn id="645" dur="250"/>
                                        <p:tgtEl>
                                          <p:spTgt spid="163"/>
                                        </p:tgtEl>
                                      </p:cBhvr>
                                    </p:animEffect>
                                  </p:childTnLst>
                                </p:cTn>
                              </p:par>
                            </p:childTnLst>
                          </p:cTn>
                        </p:par>
                        <p:par>
                          <p:cTn id="646" fill="hold">
                            <p:stCondLst>
                              <p:cond delay="1550"/>
                            </p:stCondLst>
                            <p:childTnLst>
                              <p:par>
                                <p:cTn id="647" presetID="10" presetClass="entr" presetSubtype="0" fill="hold" grpId="0" nodeType="afterEffect">
                                  <p:stCondLst>
                                    <p:cond delay="0"/>
                                  </p:stCondLst>
                                  <p:childTnLst>
                                    <p:set>
                                      <p:cBhvr>
                                        <p:cTn id="648" dur="1" fill="hold">
                                          <p:stCondLst>
                                            <p:cond delay="0"/>
                                          </p:stCondLst>
                                        </p:cTn>
                                        <p:tgtEl>
                                          <p:spTgt spid="164"/>
                                        </p:tgtEl>
                                        <p:attrNameLst>
                                          <p:attrName>style.visibility</p:attrName>
                                        </p:attrNameLst>
                                      </p:cBhvr>
                                      <p:to>
                                        <p:strVal val="visible"/>
                                      </p:to>
                                    </p:set>
                                    <p:animEffect transition="in" filter="fade">
                                      <p:cBhvr>
                                        <p:cTn id="649" dur="250"/>
                                        <p:tgtEl>
                                          <p:spTgt spid="164"/>
                                        </p:tgtEl>
                                      </p:cBhvr>
                                    </p:animEffect>
                                  </p:childTnLst>
                                </p:cTn>
                              </p:par>
                            </p:childTnLst>
                          </p:cTn>
                        </p:par>
                        <p:par>
                          <p:cTn id="650" fill="hold">
                            <p:stCondLst>
                              <p:cond delay="2250"/>
                            </p:stCondLst>
                            <p:childTnLst>
                              <p:par>
                                <p:cTn id="651" presetID="10" presetClass="exit" presetSubtype="0" fill="hold" grpId="1" nodeType="afterEffect">
                                  <p:stCondLst>
                                    <p:cond delay="0"/>
                                  </p:stCondLst>
                                  <p:childTnLst>
                                    <p:animEffect transition="out" filter="fade">
                                      <p:cBhvr>
                                        <p:cTn id="652" dur="250"/>
                                        <p:tgtEl>
                                          <p:spTgt spid="163"/>
                                        </p:tgtEl>
                                      </p:cBhvr>
                                    </p:animEffect>
                                    <p:set>
                                      <p:cBhvr>
                                        <p:cTn id="653" dur="1" fill="hold">
                                          <p:stCondLst>
                                            <p:cond delay="249"/>
                                          </p:stCondLst>
                                        </p:cTn>
                                        <p:tgtEl>
                                          <p:spTgt spid="163"/>
                                        </p:tgtEl>
                                        <p:attrNameLst>
                                          <p:attrName>style.visibility</p:attrName>
                                        </p:attrNameLst>
                                      </p:cBhvr>
                                      <p:to>
                                        <p:strVal val="hidden"/>
                                      </p:to>
                                    </p:set>
                                  </p:childTnLst>
                                </p:cTn>
                              </p:par>
                              <p:par>
                                <p:cTn id="654" presetID="10" presetClass="entr" presetSubtype="0" fill="hold" grpId="0" nodeType="withEffect">
                                  <p:stCondLst>
                                    <p:cond delay="0"/>
                                  </p:stCondLst>
                                  <p:childTnLst>
                                    <p:set>
                                      <p:cBhvr>
                                        <p:cTn id="655" dur="1" fill="hold">
                                          <p:stCondLst>
                                            <p:cond delay="0"/>
                                          </p:stCondLst>
                                        </p:cTn>
                                        <p:tgtEl>
                                          <p:spTgt spid="167"/>
                                        </p:tgtEl>
                                        <p:attrNameLst>
                                          <p:attrName>style.visibility</p:attrName>
                                        </p:attrNameLst>
                                      </p:cBhvr>
                                      <p:to>
                                        <p:strVal val="visible"/>
                                      </p:to>
                                    </p:set>
                                    <p:animEffect transition="in" filter="fade">
                                      <p:cBhvr>
                                        <p:cTn id="656" dur="250"/>
                                        <p:tgtEl>
                                          <p:spTgt spid="167"/>
                                        </p:tgtEl>
                                      </p:cBhvr>
                                    </p:animEffect>
                                  </p:childTnLst>
                                </p:cTn>
                              </p:par>
                            </p:childTnLst>
                          </p:cTn>
                        </p:par>
                        <p:par>
                          <p:cTn id="657" fill="hold">
                            <p:stCondLst>
                              <p:cond delay="2450"/>
                            </p:stCondLst>
                            <p:childTnLst>
                              <p:par>
                                <p:cTn id="658" presetID="10" presetClass="entr" presetSubtype="0" fill="hold" grpId="0" nodeType="afterEffect">
                                  <p:stCondLst>
                                    <p:cond delay="0"/>
                                  </p:stCondLst>
                                  <p:childTnLst>
                                    <p:set>
                                      <p:cBhvr>
                                        <p:cTn id="659" dur="1" fill="hold">
                                          <p:stCondLst>
                                            <p:cond delay="0"/>
                                          </p:stCondLst>
                                        </p:cTn>
                                        <p:tgtEl>
                                          <p:spTgt spid="165"/>
                                        </p:tgtEl>
                                        <p:attrNameLst>
                                          <p:attrName>style.visibility</p:attrName>
                                        </p:attrNameLst>
                                      </p:cBhvr>
                                      <p:to>
                                        <p:strVal val="visible"/>
                                      </p:to>
                                    </p:set>
                                    <p:animEffect transition="in" filter="fade">
                                      <p:cBhvr>
                                        <p:cTn id="660" dur="250"/>
                                        <p:tgtEl>
                                          <p:spTgt spid="165"/>
                                        </p:tgtEl>
                                      </p:cBhvr>
                                    </p:animEffect>
                                  </p:childTnLst>
                                </p:cTn>
                              </p:par>
                              <p:par>
                                <p:cTn id="661" presetID="10" presetClass="entr" presetSubtype="0" fill="hold" grpId="0" nodeType="withEffect">
                                  <p:stCondLst>
                                    <p:cond delay="0"/>
                                  </p:stCondLst>
                                  <p:childTnLst>
                                    <p:set>
                                      <p:cBhvr>
                                        <p:cTn id="662" dur="1" fill="hold">
                                          <p:stCondLst>
                                            <p:cond delay="0"/>
                                          </p:stCondLst>
                                        </p:cTn>
                                        <p:tgtEl>
                                          <p:spTgt spid="166"/>
                                        </p:tgtEl>
                                        <p:attrNameLst>
                                          <p:attrName>style.visibility</p:attrName>
                                        </p:attrNameLst>
                                      </p:cBhvr>
                                      <p:to>
                                        <p:strVal val="visible"/>
                                      </p:to>
                                    </p:set>
                                    <p:animEffect transition="in" filter="fade">
                                      <p:cBhvr>
                                        <p:cTn id="663" dur="250"/>
                                        <p:tgtEl>
                                          <p:spTgt spid="166"/>
                                        </p:tgtEl>
                                      </p:cBhvr>
                                    </p:animEffect>
                                  </p:childTnLst>
                                </p:cTn>
                              </p:par>
                            </p:childTnLst>
                          </p:cTn>
                        </p:par>
                      </p:childTnLst>
                    </p:cTn>
                  </p:par>
                  <p:par>
                    <p:cTn id="664" fill="hold">
                      <p:stCondLst>
                        <p:cond delay="indefinite"/>
                      </p:stCondLst>
                      <p:childTnLst>
                        <p:par>
                          <p:cTn id="665" fill="hold">
                            <p:stCondLst>
                              <p:cond delay="0"/>
                            </p:stCondLst>
                            <p:childTnLst>
                              <p:par>
                                <p:cTn id="666" presetID="10" presetClass="exit" presetSubtype="0" fill="hold" grpId="1" nodeType="clickEffect">
                                  <p:stCondLst>
                                    <p:cond delay="0"/>
                                  </p:stCondLst>
                                  <p:childTnLst>
                                    <p:animEffect transition="out" filter="fade">
                                      <p:cBhvr>
                                        <p:cTn id="667" dur="250"/>
                                        <p:tgtEl>
                                          <p:spTgt spid="167"/>
                                        </p:tgtEl>
                                      </p:cBhvr>
                                    </p:animEffect>
                                    <p:set>
                                      <p:cBhvr>
                                        <p:cTn id="668" dur="1" fill="hold">
                                          <p:stCondLst>
                                            <p:cond delay="249"/>
                                          </p:stCondLst>
                                        </p:cTn>
                                        <p:tgtEl>
                                          <p:spTgt spid="167"/>
                                        </p:tgtEl>
                                        <p:attrNameLst>
                                          <p:attrName>style.visibility</p:attrName>
                                        </p:attrNameLst>
                                      </p:cBhvr>
                                      <p:to>
                                        <p:strVal val="hidden"/>
                                      </p:to>
                                    </p:set>
                                  </p:childTnLst>
                                </p:cTn>
                              </p:par>
                              <p:par>
                                <p:cTn id="669" presetID="10" presetClass="exit" presetSubtype="0" fill="hold" grpId="1" nodeType="withEffect">
                                  <p:stCondLst>
                                    <p:cond delay="0"/>
                                  </p:stCondLst>
                                  <p:childTnLst>
                                    <p:animEffect transition="out" filter="fade">
                                      <p:cBhvr>
                                        <p:cTn id="670" dur="250"/>
                                        <p:tgtEl>
                                          <p:spTgt spid="160"/>
                                        </p:tgtEl>
                                      </p:cBhvr>
                                    </p:animEffect>
                                    <p:set>
                                      <p:cBhvr>
                                        <p:cTn id="671" dur="1" fill="hold">
                                          <p:stCondLst>
                                            <p:cond delay="249"/>
                                          </p:stCondLst>
                                        </p:cTn>
                                        <p:tgtEl>
                                          <p:spTgt spid="160"/>
                                        </p:tgtEl>
                                        <p:attrNameLst>
                                          <p:attrName>style.visibility</p:attrName>
                                        </p:attrNameLst>
                                      </p:cBhvr>
                                      <p:to>
                                        <p:strVal val="hidden"/>
                                      </p:to>
                                    </p:set>
                                  </p:childTnLst>
                                </p:cTn>
                              </p:par>
                              <p:par>
                                <p:cTn id="672" presetID="10" presetClass="exit" presetSubtype="0" fill="hold" grpId="1" nodeType="withEffect">
                                  <p:stCondLst>
                                    <p:cond delay="0"/>
                                  </p:stCondLst>
                                  <p:childTnLst>
                                    <p:animEffect transition="out" filter="fade">
                                      <p:cBhvr>
                                        <p:cTn id="673" dur="250"/>
                                        <p:tgtEl>
                                          <p:spTgt spid="161"/>
                                        </p:tgtEl>
                                      </p:cBhvr>
                                    </p:animEffect>
                                    <p:set>
                                      <p:cBhvr>
                                        <p:cTn id="674" dur="1" fill="hold">
                                          <p:stCondLst>
                                            <p:cond delay="249"/>
                                          </p:stCondLst>
                                        </p:cTn>
                                        <p:tgtEl>
                                          <p:spTgt spid="161"/>
                                        </p:tgtEl>
                                        <p:attrNameLst>
                                          <p:attrName>style.visibility</p:attrName>
                                        </p:attrNameLst>
                                      </p:cBhvr>
                                      <p:to>
                                        <p:strVal val="hidden"/>
                                      </p:to>
                                    </p:set>
                                  </p:childTnLst>
                                </p:cTn>
                              </p:par>
                              <p:par>
                                <p:cTn id="675" presetID="10" presetClass="exit" presetSubtype="0" fill="hold" grpId="1" nodeType="withEffect">
                                  <p:stCondLst>
                                    <p:cond delay="0"/>
                                  </p:stCondLst>
                                  <p:childTnLst>
                                    <p:animEffect transition="out" filter="fade">
                                      <p:cBhvr>
                                        <p:cTn id="676" dur="250"/>
                                        <p:tgtEl>
                                          <p:spTgt spid="162"/>
                                        </p:tgtEl>
                                      </p:cBhvr>
                                    </p:animEffect>
                                    <p:set>
                                      <p:cBhvr>
                                        <p:cTn id="677" dur="1" fill="hold">
                                          <p:stCondLst>
                                            <p:cond delay="249"/>
                                          </p:stCondLst>
                                        </p:cTn>
                                        <p:tgtEl>
                                          <p:spTgt spid="162"/>
                                        </p:tgtEl>
                                        <p:attrNameLst>
                                          <p:attrName>style.visibility</p:attrName>
                                        </p:attrNameLst>
                                      </p:cBhvr>
                                      <p:to>
                                        <p:strVal val="hidden"/>
                                      </p:to>
                                    </p:set>
                                  </p:childTnLst>
                                </p:cTn>
                              </p:par>
                              <p:par>
                                <p:cTn id="678" presetID="10" presetClass="exit" presetSubtype="0" fill="hold" grpId="1" nodeType="withEffect">
                                  <p:stCondLst>
                                    <p:cond delay="0"/>
                                  </p:stCondLst>
                                  <p:childTnLst>
                                    <p:animEffect transition="out" filter="fade">
                                      <p:cBhvr>
                                        <p:cTn id="679" dur="250"/>
                                        <p:tgtEl>
                                          <p:spTgt spid="164"/>
                                        </p:tgtEl>
                                      </p:cBhvr>
                                    </p:animEffect>
                                    <p:set>
                                      <p:cBhvr>
                                        <p:cTn id="680" dur="1" fill="hold">
                                          <p:stCondLst>
                                            <p:cond delay="249"/>
                                          </p:stCondLst>
                                        </p:cTn>
                                        <p:tgtEl>
                                          <p:spTgt spid="164"/>
                                        </p:tgtEl>
                                        <p:attrNameLst>
                                          <p:attrName>style.visibility</p:attrName>
                                        </p:attrNameLst>
                                      </p:cBhvr>
                                      <p:to>
                                        <p:strVal val="hidden"/>
                                      </p:to>
                                    </p:set>
                                  </p:childTnLst>
                                </p:cTn>
                              </p:par>
                              <p:par>
                                <p:cTn id="681" presetID="10" presetClass="exit" presetSubtype="0" fill="hold" grpId="1" nodeType="withEffect">
                                  <p:stCondLst>
                                    <p:cond delay="0"/>
                                  </p:stCondLst>
                                  <p:childTnLst>
                                    <p:animEffect transition="out" filter="fade">
                                      <p:cBhvr>
                                        <p:cTn id="682" dur="250"/>
                                        <p:tgtEl>
                                          <p:spTgt spid="165"/>
                                        </p:tgtEl>
                                      </p:cBhvr>
                                    </p:animEffect>
                                    <p:set>
                                      <p:cBhvr>
                                        <p:cTn id="683" dur="1" fill="hold">
                                          <p:stCondLst>
                                            <p:cond delay="249"/>
                                          </p:stCondLst>
                                        </p:cTn>
                                        <p:tgtEl>
                                          <p:spTgt spid="165"/>
                                        </p:tgtEl>
                                        <p:attrNameLst>
                                          <p:attrName>style.visibility</p:attrName>
                                        </p:attrNameLst>
                                      </p:cBhvr>
                                      <p:to>
                                        <p:strVal val="hidden"/>
                                      </p:to>
                                    </p:set>
                                  </p:childTnLst>
                                </p:cTn>
                              </p:par>
                              <p:par>
                                <p:cTn id="684" presetID="10" presetClass="exit" presetSubtype="0" fill="hold" grpId="1" nodeType="withEffect">
                                  <p:stCondLst>
                                    <p:cond delay="0"/>
                                  </p:stCondLst>
                                  <p:childTnLst>
                                    <p:animEffect transition="out" filter="fade">
                                      <p:cBhvr>
                                        <p:cTn id="685" dur="250"/>
                                        <p:tgtEl>
                                          <p:spTgt spid="166"/>
                                        </p:tgtEl>
                                      </p:cBhvr>
                                    </p:animEffect>
                                    <p:set>
                                      <p:cBhvr>
                                        <p:cTn id="686" dur="1" fill="hold">
                                          <p:stCondLst>
                                            <p:cond delay="249"/>
                                          </p:stCondLst>
                                        </p:cTn>
                                        <p:tgtEl>
                                          <p:spTgt spid="166"/>
                                        </p:tgtEl>
                                        <p:attrNameLst>
                                          <p:attrName>style.visibility</p:attrName>
                                        </p:attrNameLst>
                                      </p:cBhvr>
                                      <p:to>
                                        <p:strVal val="hidden"/>
                                      </p:to>
                                    </p:set>
                                  </p:childTnLst>
                                </p:cTn>
                              </p:par>
                              <p:par>
                                <p:cTn id="687" presetID="10" presetClass="exit" presetSubtype="0" fill="hold" grpId="1" nodeType="withEffect">
                                  <p:stCondLst>
                                    <p:cond delay="0"/>
                                  </p:stCondLst>
                                  <p:childTnLst>
                                    <p:animEffect transition="out" filter="fade">
                                      <p:cBhvr>
                                        <p:cTn id="688" dur="250"/>
                                        <p:tgtEl>
                                          <p:spTgt spid="84"/>
                                        </p:tgtEl>
                                      </p:cBhvr>
                                    </p:animEffect>
                                    <p:set>
                                      <p:cBhvr>
                                        <p:cTn id="689" dur="1" fill="hold">
                                          <p:stCondLst>
                                            <p:cond delay="249"/>
                                          </p:stCondLst>
                                        </p:cTn>
                                        <p:tgtEl>
                                          <p:spTgt spid="84"/>
                                        </p:tgtEl>
                                        <p:attrNameLst>
                                          <p:attrName>style.visibility</p:attrName>
                                        </p:attrNameLst>
                                      </p:cBhvr>
                                      <p:to>
                                        <p:strVal val="hidden"/>
                                      </p:to>
                                    </p:set>
                                  </p:childTnLst>
                                </p:cTn>
                              </p:par>
                              <p:par>
                                <p:cTn id="690" presetID="10" presetClass="exit" presetSubtype="0" fill="hold" grpId="1" nodeType="withEffect">
                                  <p:stCondLst>
                                    <p:cond delay="0"/>
                                  </p:stCondLst>
                                  <p:childTnLst>
                                    <p:animEffect transition="out" filter="fade">
                                      <p:cBhvr>
                                        <p:cTn id="691" dur="250"/>
                                        <p:tgtEl>
                                          <p:spTgt spid="85"/>
                                        </p:tgtEl>
                                      </p:cBhvr>
                                    </p:animEffect>
                                    <p:set>
                                      <p:cBhvr>
                                        <p:cTn id="692" dur="1" fill="hold">
                                          <p:stCondLst>
                                            <p:cond delay="249"/>
                                          </p:stCondLst>
                                        </p:cTn>
                                        <p:tgtEl>
                                          <p:spTgt spid="85"/>
                                        </p:tgtEl>
                                        <p:attrNameLst>
                                          <p:attrName>style.visibility</p:attrName>
                                        </p:attrNameLst>
                                      </p:cBhvr>
                                      <p:to>
                                        <p:strVal val="hidden"/>
                                      </p:to>
                                    </p:set>
                                  </p:childTnLst>
                                </p:cTn>
                              </p:par>
                              <p:par>
                                <p:cTn id="693" presetID="10" presetClass="exit" presetSubtype="0" fill="hold" grpId="1" nodeType="withEffect">
                                  <p:stCondLst>
                                    <p:cond delay="0"/>
                                  </p:stCondLst>
                                  <p:childTnLst>
                                    <p:animEffect transition="out" filter="fade">
                                      <p:cBhvr>
                                        <p:cTn id="694" dur="250"/>
                                        <p:tgtEl>
                                          <p:spTgt spid="45"/>
                                        </p:tgtEl>
                                      </p:cBhvr>
                                    </p:animEffect>
                                    <p:set>
                                      <p:cBhvr>
                                        <p:cTn id="695" dur="1" fill="hold">
                                          <p:stCondLst>
                                            <p:cond delay="249"/>
                                          </p:stCondLst>
                                        </p:cTn>
                                        <p:tgtEl>
                                          <p:spTgt spid="45"/>
                                        </p:tgtEl>
                                        <p:attrNameLst>
                                          <p:attrName>style.visibility</p:attrName>
                                        </p:attrNameLst>
                                      </p:cBhvr>
                                      <p:to>
                                        <p:strVal val="hidden"/>
                                      </p:to>
                                    </p:set>
                                  </p:childTnLst>
                                </p:cTn>
                              </p:par>
                              <p:par>
                                <p:cTn id="696" presetID="10" presetClass="exit" presetSubtype="0" fill="hold" grpId="1" nodeType="withEffect">
                                  <p:stCondLst>
                                    <p:cond delay="0"/>
                                  </p:stCondLst>
                                  <p:childTnLst>
                                    <p:animEffect transition="out" filter="fade">
                                      <p:cBhvr>
                                        <p:cTn id="697" dur="250"/>
                                        <p:tgtEl>
                                          <p:spTgt spid="46"/>
                                        </p:tgtEl>
                                      </p:cBhvr>
                                    </p:animEffect>
                                    <p:set>
                                      <p:cBhvr>
                                        <p:cTn id="698" dur="1" fill="hold">
                                          <p:stCondLst>
                                            <p:cond delay="249"/>
                                          </p:stCondLst>
                                        </p:cTn>
                                        <p:tgtEl>
                                          <p:spTgt spid="46"/>
                                        </p:tgtEl>
                                        <p:attrNameLst>
                                          <p:attrName>style.visibility</p:attrName>
                                        </p:attrNameLst>
                                      </p:cBhvr>
                                      <p:to>
                                        <p:strVal val="hidden"/>
                                      </p:to>
                                    </p:set>
                                  </p:childTnLst>
                                </p:cTn>
                              </p:par>
                              <p:par>
                                <p:cTn id="699" presetID="10" presetClass="exit" presetSubtype="0" fill="hold" grpId="1" nodeType="withEffect">
                                  <p:stCondLst>
                                    <p:cond delay="0"/>
                                  </p:stCondLst>
                                  <p:childTnLst>
                                    <p:animEffect transition="out" filter="fade">
                                      <p:cBhvr>
                                        <p:cTn id="700" dur="250"/>
                                        <p:tgtEl>
                                          <p:spTgt spid="47"/>
                                        </p:tgtEl>
                                      </p:cBhvr>
                                    </p:animEffect>
                                    <p:set>
                                      <p:cBhvr>
                                        <p:cTn id="701" dur="1" fill="hold">
                                          <p:stCondLst>
                                            <p:cond delay="249"/>
                                          </p:stCondLst>
                                        </p:cTn>
                                        <p:tgtEl>
                                          <p:spTgt spid="47"/>
                                        </p:tgtEl>
                                        <p:attrNameLst>
                                          <p:attrName>style.visibility</p:attrName>
                                        </p:attrNameLst>
                                      </p:cBhvr>
                                      <p:to>
                                        <p:strVal val="hidden"/>
                                      </p:to>
                                    </p:set>
                                  </p:childTnLst>
                                </p:cTn>
                              </p:par>
                              <p:par>
                                <p:cTn id="702" presetID="10" presetClass="exit" presetSubtype="0" fill="hold" grpId="1" nodeType="withEffect">
                                  <p:stCondLst>
                                    <p:cond delay="0"/>
                                  </p:stCondLst>
                                  <p:childTnLst>
                                    <p:animEffect transition="out" filter="fade">
                                      <p:cBhvr>
                                        <p:cTn id="703" dur="250"/>
                                        <p:tgtEl>
                                          <p:spTgt spid="48"/>
                                        </p:tgtEl>
                                      </p:cBhvr>
                                    </p:animEffect>
                                    <p:set>
                                      <p:cBhvr>
                                        <p:cTn id="704" dur="1" fill="hold">
                                          <p:stCondLst>
                                            <p:cond delay="249"/>
                                          </p:stCondLst>
                                        </p:cTn>
                                        <p:tgtEl>
                                          <p:spTgt spid="48"/>
                                        </p:tgtEl>
                                        <p:attrNameLst>
                                          <p:attrName>style.visibility</p:attrName>
                                        </p:attrNameLst>
                                      </p:cBhvr>
                                      <p:to>
                                        <p:strVal val="hidden"/>
                                      </p:to>
                                    </p:set>
                                  </p:childTnLst>
                                </p:cTn>
                              </p:par>
                              <p:par>
                                <p:cTn id="705" presetID="10" presetClass="exit" presetSubtype="0" fill="hold" grpId="1" nodeType="withEffect">
                                  <p:stCondLst>
                                    <p:cond delay="0"/>
                                  </p:stCondLst>
                                  <p:childTnLst>
                                    <p:animEffect transition="out" filter="fade">
                                      <p:cBhvr>
                                        <p:cTn id="706" dur="250"/>
                                        <p:tgtEl>
                                          <p:spTgt spid="49"/>
                                        </p:tgtEl>
                                      </p:cBhvr>
                                    </p:animEffect>
                                    <p:set>
                                      <p:cBhvr>
                                        <p:cTn id="707" dur="1" fill="hold">
                                          <p:stCondLst>
                                            <p:cond delay="249"/>
                                          </p:stCondLst>
                                        </p:cTn>
                                        <p:tgtEl>
                                          <p:spTgt spid="49"/>
                                        </p:tgtEl>
                                        <p:attrNameLst>
                                          <p:attrName>style.visibility</p:attrName>
                                        </p:attrNameLst>
                                      </p:cBhvr>
                                      <p:to>
                                        <p:strVal val="hidden"/>
                                      </p:to>
                                    </p:set>
                                  </p:childTnLst>
                                </p:cTn>
                              </p:par>
                              <p:par>
                                <p:cTn id="708" presetID="10" presetClass="exit" presetSubtype="0" fill="hold" grpId="1" nodeType="withEffect">
                                  <p:stCondLst>
                                    <p:cond delay="0"/>
                                  </p:stCondLst>
                                  <p:childTnLst>
                                    <p:animEffect transition="out" filter="fade">
                                      <p:cBhvr>
                                        <p:cTn id="709" dur="250"/>
                                        <p:tgtEl>
                                          <p:spTgt spid="50"/>
                                        </p:tgtEl>
                                      </p:cBhvr>
                                    </p:animEffect>
                                    <p:set>
                                      <p:cBhvr>
                                        <p:cTn id="710" dur="1" fill="hold">
                                          <p:stCondLst>
                                            <p:cond delay="249"/>
                                          </p:stCondLst>
                                        </p:cTn>
                                        <p:tgtEl>
                                          <p:spTgt spid="50"/>
                                        </p:tgtEl>
                                        <p:attrNameLst>
                                          <p:attrName>style.visibility</p:attrName>
                                        </p:attrNameLst>
                                      </p:cBhvr>
                                      <p:to>
                                        <p:strVal val="hidden"/>
                                      </p:to>
                                    </p:set>
                                  </p:childTnLst>
                                </p:cTn>
                              </p:par>
                              <p:par>
                                <p:cTn id="711" presetID="10" presetClass="exit" presetSubtype="0" fill="hold" grpId="1" nodeType="withEffect">
                                  <p:stCondLst>
                                    <p:cond delay="0"/>
                                  </p:stCondLst>
                                  <p:childTnLst>
                                    <p:animEffect transition="out" filter="fade">
                                      <p:cBhvr>
                                        <p:cTn id="712" dur="250"/>
                                        <p:tgtEl>
                                          <p:spTgt spid="51"/>
                                        </p:tgtEl>
                                      </p:cBhvr>
                                    </p:animEffect>
                                    <p:set>
                                      <p:cBhvr>
                                        <p:cTn id="713" dur="1" fill="hold">
                                          <p:stCondLst>
                                            <p:cond delay="249"/>
                                          </p:stCondLst>
                                        </p:cTn>
                                        <p:tgtEl>
                                          <p:spTgt spid="51"/>
                                        </p:tgtEl>
                                        <p:attrNameLst>
                                          <p:attrName>style.visibility</p:attrName>
                                        </p:attrNameLst>
                                      </p:cBhvr>
                                      <p:to>
                                        <p:strVal val="hidden"/>
                                      </p:to>
                                    </p:set>
                                  </p:childTnLst>
                                </p:cTn>
                              </p:par>
                              <p:par>
                                <p:cTn id="714" presetID="10" presetClass="exit" presetSubtype="0" fill="hold" grpId="1" nodeType="withEffect">
                                  <p:stCondLst>
                                    <p:cond delay="0"/>
                                  </p:stCondLst>
                                  <p:childTnLst>
                                    <p:animEffect transition="out" filter="fade">
                                      <p:cBhvr>
                                        <p:cTn id="715" dur="250"/>
                                        <p:tgtEl>
                                          <p:spTgt spid="52"/>
                                        </p:tgtEl>
                                      </p:cBhvr>
                                    </p:animEffect>
                                    <p:set>
                                      <p:cBhvr>
                                        <p:cTn id="716" dur="1" fill="hold">
                                          <p:stCondLst>
                                            <p:cond delay="249"/>
                                          </p:stCondLst>
                                        </p:cTn>
                                        <p:tgtEl>
                                          <p:spTgt spid="52"/>
                                        </p:tgtEl>
                                        <p:attrNameLst>
                                          <p:attrName>style.visibility</p:attrName>
                                        </p:attrNameLst>
                                      </p:cBhvr>
                                      <p:to>
                                        <p:strVal val="hidden"/>
                                      </p:to>
                                    </p:set>
                                  </p:childTnLst>
                                </p:cTn>
                              </p:par>
                              <p:par>
                                <p:cTn id="717" presetID="10" presetClass="exit" presetSubtype="0" fill="hold" grpId="1" nodeType="withEffect">
                                  <p:stCondLst>
                                    <p:cond delay="0"/>
                                  </p:stCondLst>
                                  <p:childTnLst>
                                    <p:animEffect transition="out" filter="fade">
                                      <p:cBhvr>
                                        <p:cTn id="718" dur="250"/>
                                        <p:tgtEl>
                                          <p:spTgt spid="53"/>
                                        </p:tgtEl>
                                      </p:cBhvr>
                                    </p:animEffect>
                                    <p:set>
                                      <p:cBhvr>
                                        <p:cTn id="719" dur="1" fill="hold">
                                          <p:stCondLst>
                                            <p:cond delay="249"/>
                                          </p:stCondLst>
                                        </p:cTn>
                                        <p:tgtEl>
                                          <p:spTgt spid="53"/>
                                        </p:tgtEl>
                                        <p:attrNameLst>
                                          <p:attrName>style.visibility</p:attrName>
                                        </p:attrNameLst>
                                      </p:cBhvr>
                                      <p:to>
                                        <p:strVal val="hidden"/>
                                      </p:to>
                                    </p:set>
                                  </p:childTnLst>
                                </p:cTn>
                              </p:par>
                              <p:par>
                                <p:cTn id="720" presetID="10" presetClass="exit" presetSubtype="0" fill="hold" grpId="1" nodeType="withEffect">
                                  <p:stCondLst>
                                    <p:cond delay="0"/>
                                  </p:stCondLst>
                                  <p:childTnLst>
                                    <p:animEffect transition="out" filter="fade">
                                      <p:cBhvr>
                                        <p:cTn id="721" dur="250"/>
                                        <p:tgtEl>
                                          <p:spTgt spid="54"/>
                                        </p:tgtEl>
                                      </p:cBhvr>
                                    </p:animEffect>
                                    <p:set>
                                      <p:cBhvr>
                                        <p:cTn id="722" dur="1" fill="hold">
                                          <p:stCondLst>
                                            <p:cond delay="249"/>
                                          </p:stCondLst>
                                        </p:cTn>
                                        <p:tgtEl>
                                          <p:spTgt spid="54"/>
                                        </p:tgtEl>
                                        <p:attrNameLst>
                                          <p:attrName>style.visibility</p:attrName>
                                        </p:attrNameLst>
                                      </p:cBhvr>
                                      <p:to>
                                        <p:strVal val="hidden"/>
                                      </p:to>
                                    </p:set>
                                  </p:childTnLst>
                                </p:cTn>
                              </p:par>
                              <p:par>
                                <p:cTn id="723" presetID="10" presetClass="exit" presetSubtype="0" fill="hold" grpId="1" nodeType="withEffect">
                                  <p:stCondLst>
                                    <p:cond delay="0"/>
                                  </p:stCondLst>
                                  <p:childTnLst>
                                    <p:animEffect transition="out" filter="fade">
                                      <p:cBhvr>
                                        <p:cTn id="724" dur="250"/>
                                        <p:tgtEl>
                                          <p:spTgt spid="55"/>
                                        </p:tgtEl>
                                      </p:cBhvr>
                                    </p:animEffect>
                                    <p:set>
                                      <p:cBhvr>
                                        <p:cTn id="725" dur="1" fill="hold">
                                          <p:stCondLst>
                                            <p:cond delay="249"/>
                                          </p:stCondLst>
                                        </p:cTn>
                                        <p:tgtEl>
                                          <p:spTgt spid="55"/>
                                        </p:tgtEl>
                                        <p:attrNameLst>
                                          <p:attrName>style.visibility</p:attrName>
                                        </p:attrNameLst>
                                      </p:cBhvr>
                                      <p:to>
                                        <p:strVal val="hidden"/>
                                      </p:to>
                                    </p:set>
                                  </p:childTnLst>
                                </p:cTn>
                              </p:par>
                              <p:par>
                                <p:cTn id="726" presetID="10" presetClass="exit" presetSubtype="0" fill="hold" grpId="1" nodeType="withEffect">
                                  <p:stCondLst>
                                    <p:cond delay="0"/>
                                  </p:stCondLst>
                                  <p:childTnLst>
                                    <p:animEffect transition="out" filter="fade">
                                      <p:cBhvr>
                                        <p:cTn id="727" dur="250"/>
                                        <p:tgtEl>
                                          <p:spTgt spid="56"/>
                                        </p:tgtEl>
                                      </p:cBhvr>
                                    </p:animEffect>
                                    <p:set>
                                      <p:cBhvr>
                                        <p:cTn id="728" dur="1" fill="hold">
                                          <p:stCondLst>
                                            <p:cond delay="249"/>
                                          </p:stCondLst>
                                        </p:cTn>
                                        <p:tgtEl>
                                          <p:spTgt spid="56"/>
                                        </p:tgtEl>
                                        <p:attrNameLst>
                                          <p:attrName>style.visibility</p:attrName>
                                        </p:attrNameLst>
                                      </p:cBhvr>
                                      <p:to>
                                        <p:strVal val="hidden"/>
                                      </p:to>
                                    </p:set>
                                  </p:childTnLst>
                                </p:cTn>
                              </p:par>
                              <p:par>
                                <p:cTn id="729" presetID="10" presetClass="exit" presetSubtype="0" fill="hold" grpId="1" nodeType="withEffect">
                                  <p:stCondLst>
                                    <p:cond delay="0"/>
                                  </p:stCondLst>
                                  <p:childTnLst>
                                    <p:animEffect transition="out" filter="fade">
                                      <p:cBhvr>
                                        <p:cTn id="730" dur="250"/>
                                        <p:tgtEl>
                                          <p:spTgt spid="57"/>
                                        </p:tgtEl>
                                      </p:cBhvr>
                                    </p:animEffect>
                                    <p:set>
                                      <p:cBhvr>
                                        <p:cTn id="731" dur="1" fill="hold">
                                          <p:stCondLst>
                                            <p:cond delay="249"/>
                                          </p:stCondLst>
                                        </p:cTn>
                                        <p:tgtEl>
                                          <p:spTgt spid="57"/>
                                        </p:tgtEl>
                                        <p:attrNameLst>
                                          <p:attrName>style.visibility</p:attrName>
                                        </p:attrNameLst>
                                      </p:cBhvr>
                                      <p:to>
                                        <p:strVal val="hidden"/>
                                      </p:to>
                                    </p:set>
                                  </p:childTnLst>
                                </p:cTn>
                              </p:par>
                              <p:par>
                                <p:cTn id="732" presetID="10" presetClass="exit" presetSubtype="0" fill="hold" grpId="1" nodeType="withEffect">
                                  <p:stCondLst>
                                    <p:cond delay="0"/>
                                  </p:stCondLst>
                                  <p:childTnLst>
                                    <p:animEffect transition="out" filter="fade">
                                      <p:cBhvr>
                                        <p:cTn id="733" dur="250"/>
                                        <p:tgtEl>
                                          <p:spTgt spid="58"/>
                                        </p:tgtEl>
                                      </p:cBhvr>
                                    </p:animEffect>
                                    <p:set>
                                      <p:cBhvr>
                                        <p:cTn id="734" dur="1" fill="hold">
                                          <p:stCondLst>
                                            <p:cond delay="249"/>
                                          </p:stCondLst>
                                        </p:cTn>
                                        <p:tgtEl>
                                          <p:spTgt spid="58"/>
                                        </p:tgtEl>
                                        <p:attrNameLst>
                                          <p:attrName>style.visibility</p:attrName>
                                        </p:attrNameLst>
                                      </p:cBhvr>
                                      <p:to>
                                        <p:strVal val="hidden"/>
                                      </p:to>
                                    </p:set>
                                  </p:childTnLst>
                                </p:cTn>
                              </p:par>
                              <p:par>
                                <p:cTn id="735" presetID="10" presetClass="exit" presetSubtype="0" fill="hold" grpId="1" nodeType="withEffect">
                                  <p:stCondLst>
                                    <p:cond delay="0"/>
                                  </p:stCondLst>
                                  <p:childTnLst>
                                    <p:animEffect transition="out" filter="fade">
                                      <p:cBhvr>
                                        <p:cTn id="736" dur="250"/>
                                        <p:tgtEl>
                                          <p:spTgt spid="59"/>
                                        </p:tgtEl>
                                      </p:cBhvr>
                                    </p:animEffect>
                                    <p:set>
                                      <p:cBhvr>
                                        <p:cTn id="737" dur="1" fill="hold">
                                          <p:stCondLst>
                                            <p:cond delay="249"/>
                                          </p:stCondLst>
                                        </p:cTn>
                                        <p:tgtEl>
                                          <p:spTgt spid="59"/>
                                        </p:tgtEl>
                                        <p:attrNameLst>
                                          <p:attrName>style.visibility</p:attrName>
                                        </p:attrNameLst>
                                      </p:cBhvr>
                                      <p:to>
                                        <p:strVal val="hidden"/>
                                      </p:to>
                                    </p:set>
                                  </p:childTnLst>
                                </p:cTn>
                              </p:par>
                              <p:par>
                                <p:cTn id="738" presetID="10" presetClass="exit" presetSubtype="0" fill="hold" grpId="1" nodeType="withEffect">
                                  <p:stCondLst>
                                    <p:cond delay="0"/>
                                  </p:stCondLst>
                                  <p:childTnLst>
                                    <p:animEffect transition="out" filter="fade">
                                      <p:cBhvr>
                                        <p:cTn id="739" dur="250"/>
                                        <p:tgtEl>
                                          <p:spTgt spid="60"/>
                                        </p:tgtEl>
                                      </p:cBhvr>
                                    </p:animEffect>
                                    <p:set>
                                      <p:cBhvr>
                                        <p:cTn id="740" dur="1" fill="hold">
                                          <p:stCondLst>
                                            <p:cond delay="249"/>
                                          </p:stCondLst>
                                        </p:cTn>
                                        <p:tgtEl>
                                          <p:spTgt spid="60"/>
                                        </p:tgtEl>
                                        <p:attrNameLst>
                                          <p:attrName>style.visibility</p:attrName>
                                        </p:attrNameLst>
                                      </p:cBhvr>
                                      <p:to>
                                        <p:strVal val="hidden"/>
                                      </p:to>
                                    </p:set>
                                  </p:childTnLst>
                                </p:cTn>
                              </p:par>
                              <p:par>
                                <p:cTn id="741" presetID="10" presetClass="exit" presetSubtype="0" fill="hold" grpId="1" nodeType="withEffect">
                                  <p:stCondLst>
                                    <p:cond delay="0"/>
                                  </p:stCondLst>
                                  <p:childTnLst>
                                    <p:animEffect transition="out" filter="fade">
                                      <p:cBhvr>
                                        <p:cTn id="742" dur="250"/>
                                        <p:tgtEl>
                                          <p:spTgt spid="61"/>
                                        </p:tgtEl>
                                      </p:cBhvr>
                                    </p:animEffect>
                                    <p:set>
                                      <p:cBhvr>
                                        <p:cTn id="743" dur="1" fill="hold">
                                          <p:stCondLst>
                                            <p:cond delay="249"/>
                                          </p:stCondLst>
                                        </p:cTn>
                                        <p:tgtEl>
                                          <p:spTgt spid="61"/>
                                        </p:tgtEl>
                                        <p:attrNameLst>
                                          <p:attrName>style.visibility</p:attrName>
                                        </p:attrNameLst>
                                      </p:cBhvr>
                                      <p:to>
                                        <p:strVal val="hidden"/>
                                      </p:to>
                                    </p:set>
                                  </p:childTnLst>
                                </p:cTn>
                              </p:par>
                              <p:par>
                                <p:cTn id="744" presetID="10" presetClass="exit" presetSubtype="0" fill="hold" grpId="1" nodeType="withEffect">
                                  <p:stCondLst>
                                    <p:cond delay="0"/>
                                  </p:stCondLst>
                                  <p:childTnLst>
                                    <p:animEffect transition="out" filter="fade">
                                      <p:cBhvr>
                                        <p:cTn id="745" dur="250"/>
                                        <p:tgtEl>
                                          <p:spTgt spid="62"/>
                                        </p:tgtEl>
                                      </p:cBhvr>
                                    </p:animEffect>
                                    <p:set>
                                      <p:cBhvr>
                                        <p:cTn id="746" dur="1" fill="hold">
                                          <p:stCondLst>
                                            <p:cond delay="249"/>
                                          </p:stCondLst>
                                        </p:cTn>
                                        <p:tgtEl>
                                          <p:spTgt spid="62"/>
                                        </p:tgtEl>
                                        <p:attrNameLst>
                                          <p:attrName>style.visibility</p:attrName>
                                        </p:attrNameLst>
                                      </p:cBhvr>
                                      <p:to>
                                        <p:strVal val="hidden"/>
                                      </p:to>
                                    </p:set>
                                  </p:childTnLst>
                                </p:cTn>
                              </p:par>
                              <p:par>
                                <p:cTn id="747" presetID="10" presetClass="exit" presetSubtype="0" fill="hold" grpId="1" nodeType="withEffect">
                                  <p:stCondLst>
                                    <p:cond delay="0"/>
                                  </p:stCondLst>
                                  <p:childTnLst>
                                    <p:animEffect transition="out" filter="fade">
                                      <p:cBhvr>
                                        <p:cTn id="748" dur="250"/>
                                        <p:tgtEl>
                                          <p:spTgt spid="63"/>
                                        </p:tgtEl>
                                      </p:cBhvr>
                                    </p:animEffect>
                                    <p:set>
                                      <p:cBhvr>
                                        <p:cTn id="749" dur="1" fill="hold">
                                          <p:stCondLst>
                                            <p:cond delay="249"/>
                                          </p:stCondLst>
                                        </p:cTn>
                                        <p:tgtEl>
                                          <p:spTgt spid="63"/>
                                        </p:tgtEl>
                                        <p:attrNameLst>
                                          <p:attrName>style.visibility</p:attrName>
                                        </p:attrNameLst>
                                      </p:cBhvr>
                                      <p:to>
                                        <p:strVal val="hidden"/>
                                      </p:to>
                                    </p:set>
                                  </p:childTnLst>
                                </p:cTn>
                              </p:par>
                              <p:par>
                                <p:cTn id="750" presetID="10" presetClass="exit" presetSubtype="0" fill="hold" grpId="1" nodeType="withEffect">
                                  <p:stCondLst>
                                    <p:cond delay="0"/>
                                  </p:stCondLst>
                                  <p:childTnLst>
                                    <p:animEffect transition="out" filter="fade">
                                      <p:cBhvr>
                                        <p:cTn id="751" dur="250"/>
                                        <p:tgtEl>
                                          <p:spTgt spid="64"/>
                                        </p:tgtEl>
                                      </p:cBhvr>
                                    </p:animEffect>
                                    <p:set>
                                      <p:cBhvr>
                                        <p:cTn id="752" dur="1" fill="hold">
                                          <p:stCondLst>
                                            <p:cond delay="249"/>
                                          </p:stCondLst>
                                        </p:cTn>
                                        <p:tgtEl>
                                          <p:spTgt spid="64"/>
                                        </p:tgtEl>
                                        <p:attrNameLst>
                                          <p:attrName>style.visibility</p:attrName>
                                        </p:attrNameLst>
                                      </p:cBhvr>
                                      <p:to>
                                        <p:strVal val="hidden"/>
                                      </p:to>
                                    </p:set>
                                  </p:childTnLst>
                                </p:cTn>
                              </p:par>
                              <p:par>
                                <p:cTn id="753" presetID="10" presetClass="exit" presetSubtype="0" fill="hold" grpId="1" nodeType="withEffect">
                                  <p:stCondLst>
                                    <p:cond delay="0"/>
                                  </p:stCondLst>
                                  <p:childTnLst>
                                    <p:animEffect transition="out" filter="fade">
                                      <p:cBhvr>
                                        <p:cTn id="754" dur="250"/>
                                        <p:tgtEl>
                                          <p:spTgt spid="65"/>
                                        </p:tgtEl>
                                      </p:cBhvr>
                                    </p:animEffect>
                                    <p:set>
                                      <p:cBhvr>
                                        <p:cTn id="755" dur="1" fill="hold">
                                          <p:stCondLst>
                                            <p:cond delay="249"/>
                                          </p:stCondLst>
                                        </p:cTn>
                                        <p:tgtEl>
                                          <p:spTgt spid="65"/>
                                        </p:tgtEl>
                                        <p:attrNameLst>
                                          <p:attrName>style.visibility</p:attrName>
                                        </p:attrNameLst>
                                      </p:cBhvr>
                                      <p:to>
                                        <p:strVal val="hidden"/>
                                      </p:to>
                                    </p:set>
                                  </p:childTnLst>
                                </p:cTn>
                              </p:par>
                              <p:par>
                                <p:cTn id="756" presetID="10" presetClass="exit" presetSubtype="0" fill="hold" grpId="1" nodeType="withEffect">
                                  <p:stCondLst>
                                    <p:cond delay="0"/>
                                  </p:stCondLst>
                                  <p:childTnLst>
                                    <p:animEffect transition="out" filter="fade">
                                      <p:cBhvr>
                                        <p:cTn id="757" dur="250"/>
                                        <p:tgtEl>
                                          <p:spTgt spid="66"/>
                                        </p:tgtEl>
                                      </p:cBhvr>
                                    </p:animEffect>
                                    <p:set>
                                      <p:cBhvr>
                                        <p:cTn id="758" dur="1" fill="hold">
                                          <p:stCondLst>
                                            <p:cond delay="249"/>
                                          </p:stCondLst>
                                        </p:cTn>
                                        <p:tgtEl>
                                          <p:spTgt spid="66"/>
                                        </p:tgtEl>
                                        <p:attrNameLst>
                                          <p:attrName>style.visibility</p:attrName>
                                        </p:attrNameLst>
                                      </p:cBhvr>
                                      <p:to>
                                        <p:strVal val="hidden"/>
                                      </p:to>
                                    </p:set>
                                  </p:childTnLst>
                                </p:cTn>
                              </p:par>
                              <p:par>
                                <p:cTn id="759" presetID="10" presetClass="exit" presetSubtype="0" fill="hold" grpId="1" nodeType="withEffect">
                                  <p:stCondLst>
                                    <p:cond delay="0"/>
                                  </p:stCondLst>
                                  <p:childTnLst>
                                    <p:animEffect transition="out" filter="fade">
                                      <p:cBhvr>
                                        <p:cTn id="760" dur="250"/>
                                        <p:tgtEl>
                                          <p:spTgt spid="67"/>
                                        </p:tgtEl>
                                      </p:cBhvr>
                                    </p:animEffect>
                                    <p:set>
                                      <p:cBhvr>
                                        <p:cTn id="761" dur="1" fill="hold">
                                          <p:stCondLst>
                                            <p:cond delay="249"/>
                                          </p:stCondLst>
                                        </p:cTn>
                                        <p:tgtEl>
                                          <p:spTgt spid="67"/>
                                        </p:tgtEl>
                                        <p:attrNameLst>
                                          <p:attrName>style.visibility</p:attrName>
                                        </p:attrNameLst>
                                      </p:cBhvr>
                                      <p:to>
                                        <p:strVal val="hidden"/>
                                      </p:to>
                                    </p:set>
                                  </p:childTnLst>
                                </p:cTn>
                              </p:par>
                              <p:par>
                                <p:cTn id="762" presetID="10" presetClass="exit" presetSubtype="0" fill="hold" grpId="1" nodeType="withEffect">
                                  <p:stCondLst>
                                    <p:cond delay="0"/>
                                  </p:stCondLst>
                                  <p:childTnLst>
                                    <p:animEffect transition="out" filter="fade">
                                      <p:cBhvr>
                                        <p:cTn id="763" dur="250"/>
                                        <p:tgtEl>
                                          <p:spTgt spid="68"/>
                                        </p:tgtEl>
                                      </p:cBhvr>
                                    </p:animEffect>
                                    <p:set>
                                      <p:cBhvr>
                                        <p:cTn id="764" dur="1" fill="hold">
                                          <p:stCondLst>
                                            <p:cond delay="249"/>
                                          </p:stCondLst>
                                        </p:cTn>
                                        <p:tgtEl>
                                          <p:spTgt spid="68"/>
                                        </p:tgtEl>
                                        <p:attrNameLst>
                                          <p:attrName>style.visibility</p:attrName>
                                        </p:attrNameLst>
                                      </p:cBhvr>
                                      <p:to>
                                        <p:strVal val="hidden"/>
                                      </p:to>
                                    </p:set>
                                  </p:childTnLst>
                                </p:cTn>
                              </p:par>
                              <p:par>
                                <p:cTn id="765" presetID="10" presetClass="exit" presetSubtype="0" fill="hold" grpId="1" nodeType="withEffect">
                                  <p:stCondLst>
                                    <p:cond delay="0"/>
                                  </p:stCondLst>
                                  <p:childTnLst>
                                    <p:animEffect transition="out" filter="fade">
                                      <p:cBhvr>
                                        <p:cTn id="766" dur="250"/>
                                        <p:tgtEl>
                                          <p:spTgt spid="69"/>
                                        </p:tgtEl>
                                      </p:cBhvr>
                                    </p:animEffect>
                                    <p:set>
                                      <p:cBhvr>
                                        <p:cTn id="767" dur="1" fill="hold">
                                          <p:stCondLst>
                                            <p:cond delay="249"/>
                                          </p:stCondLst>
                                        </p:cTn>
                                        <p:tgtEl>
                                          <p:spTgt spid="69"/>
                                        </p:tgtEl>
                                        <p:attrNameLst>
                                          <p:attrName>style.visibility</p:attrName>
                                        </p:attrNameLst>
                                      </p:cBhvr>
                                      <p:to>
                                        <p:strVal val="hidden"/>
                                      </p:to>
                                    </p:set>
                                  </p:childTnLst>
                                </p:cTn>
                              </p:par>
                              <p:par>
                                <p:cTn id="768" presetID="10" presetClass="exit" presetSubtype="0" fill="hold" grpId="1" nodeType="withEffect">
                                  <p:stCondLst>
                                    <p:cond delay="0"/>
                                  </p:stCondLst>
                                  <p:childTnLst>
                                    <p:animEffect transition="out" filter="fade">
                                      <p:cBhvr>
                                        <p:cTn id="769" dur="250"/>
                                        <p:tgtEl>
                                          <p:spTgt spid="70"/>
                                        </p:tgtEl>
                                      </p:cBhvr>
                                    </p:animEffect>
                                    <p:set>
                                      <p:cBhvr>
                                        <p:cTn id="770" dur="1" fill="hold">
                                          <p:stCondLst>
                                            <p:cond delay="249"/>
                                          </p:stCondLst>
                                        </p:cTn>
                                        <p:tgtEl>
                                          <p:spTgt spid="70"/>
                                        </p:tgtEl>
                                        <p:attrNameLst>
                                          <p:attrName>style.visibility</p:attrName>
                                        </p:attrNameLst>
                                      </p:cBhvr>
                                      <p:to>
                                        <p:strVal val="hidden"/>
                                      </p:to>
                                    </p:set>
                                  </p:childTnLst>
                                </p:cTn>
                              </p:par>
                              <p:par>
                                <p:cTn id="771" presetID="10" presetClass="exit" presetSubtype="0" fill="hold" grpId="1" nodeType="withEffect">
                                  <p:stCondLst>
                                    <p:cond delay="0"/>
                                  </p:stCondLst>
                                  <p:childTnLst>
                                    <p:animEffect transition="out" filter="fade">
                                      <p:cBhvr>
                                        <p:cTn id="772" dur="250"/>
                                        <p:tgtEl>
                                          <p:spTgt spid="71"/>
                                        </p:tgtEl>
                                      </p:cBhvr>
                                    </p:animEffect>
                                    <p:set>
                                      <p:cBhvr>
                                        <p:cTn id="773" dur="1" fill="hold">
                                          <p:stCondLst>
                                            <p:cond delay="249"/>
                                          </p:stCondLst>
                                        </p:cTn>
                                        <p:tgtEl>
                                          <p:spTgt spid="71"/>
                                        </p:tgtEl>
                                        <p:attrNameLst>
                                          <p:attrName>style.visibility</p:attrName>
                                        </p:attrNameLst>
                                      </p:cBhvr>
                                      <p:to>
                                        <p:strVal val="hidden"/>
                                      </p:to>
                                    </p:set>
                                  </p:childTnLst>
                                </p:cTn>
                              </p:par>
                              <p:par>
                                <p:cTn id="774" presetID="10" presetClass="exit" presetSubtype="0" fill="hold" grpId="1" nodeType="withEffect">
                                  <p:stCondLst>
                                    <p:cond delay="0"/>
                                  </p:stCondLst>
                                  <p:childTnLst>
                                    <p:animEffect transition="out" filter="fade">
                                      <p:cBhvr>
                                        <p:cTn id="775" dur="250"/>
                                        <p:tgtEl>
                                          <p:spTgt spid="72"/>
                                        </p:tgtEl>
                                      </p:cBhvr>
                                    </p:animEffect>
                                    <p:set>
                                      <p:cBhvr>
                                        <p:cTn id="776" dur="1" fill="hold">
                                          <p:stCondLst>
                                            <p:cond delay="249"/>
                                          </p:stCondLst>
                                        </p:cTn>
                                        <p:tgtEl>
                                          <p:spTgt spid="72"/>
                                        </p:tgtEl>
                                        <p:attrNameLst>
                                          <p:attrName>style.visibility</p:attrName>
                                        </p:attrNameLst>
                                      </p:cBhvr>
                                      <p:to>
                                        <p:strVal val="hidden"/>
                                      </p:to>
                                    </p:set>
                                  </p:childTnLst>
                                </p:cTn>
                              </p:par>
                              <p:par>
                                <p:cTn id="777" presetID="10" presetClass="exit" presetSubtype="0" fill="hold" grpId="1" nodeType="withEffect">
                                  <p:stCondLst>
                                    <p:cond delay="0"/>
                                  </p:stCondLst>
                                  <p:childTnLst>
                                    <p:animEffect transition="out" filter="fade">
                                      <p:cBhvr>
                                        <p:cTn id="778" dur="250"/>
                                        <p:tgtEl>
                                          <p:spTgt spid="73"/>
                                        </p:tgtEl>
                                      </p:cBhvr>
                                    </p:animEffect>
                                    <p:set>
                                      <p:cBhvr>
                                        <p:cTn id="779" dur="1" fill="hold">
                                          <p:stCondLst>
                                            <p:cond delay="249"/>
                                          </p:stCondLst>
                                        </p:cTn>
                                        <p:tgtEl>
                                          <p:spTgt spid="73"/>
                                        </p:tgtEl>
                                        <p:attrNameLst>
                                          <p:attrName>style.visibility</p:attrName>
                                        </p:attrNameLst>
                                      </p:cBhvr>
                                      <p:to>
                                        <p:strVal val="hidden"/>
                                      </p:to>
                                    </p:set>
                                  </p:childTnLst>
                                </p:cTn>
                              </p:par>
                              <p:par>
                                <p:cTn id="780" presetID="10" presetClass="exit" presetSubtype="0" fill="hold" grpId="1" nodeType="withEffect">
                                  <p:stCondLst>
                                    <p:cond delay="0"/>
                                  </p:stCondLst>
                                  <p:childTnLst>
                                    <p:animEffect transition="out" filter="fade">
                                      <p:cBhvr>
                                        <p:cTn id="781" dur="250"/>
                                        <p:tgtEl>
                                          <p:spTgt spid="74"/>
                                        </p:tgtEl>
                                      </p:cBhvr>
                                    </p:animEffect>
                                    <p:set>
                                      <p:cBhvr>
                                        <p:cTn id="782" dur="1" fill="hold">
                                          <p:stCondLst>
                                            <p:cond delay="249"/>
                                          </p:stCondLst>
                                        </p:cTn>
                                        <p:tgtEl>
                                          <p:spTgt spid="74"/>
                                        </p:tgtEl>
                                        <p:attrNameLst>
                                          <p:attrName>style.visibility</p:attrName>
                                        </p:attrNameLst>
                                      </p:cBhvr>
                                      <p:to>
                                        <p:strVal val="hidden"/>
                                      </p:to>
                                    </p:set>
                                  </p:childTnLst>
                                </p:cTn>
                              </p:par>
                              <p:par>
                                <p:cTn id="783" presetID="10" presetClass="exit" presetSubtype="0" fill="hold" grpId="1" nodeType="withEffect">
                                  <p:stCondLst>
                                    <p:cond delay="0"/>
                                  </p:stCondLst>
                                  <p:childTnLst>
                                    <p:animEffect transition="out" filter="fade">
                                      <p:cBhvr>
                                        <p:cTn id="784" dur="250"/>
                                        <p:tgtEl>
                                          <p:spTgt spid="75"/>
                                        </p:tgtEl>
                                      </p:cBhvr>
                                    </p:animEffect>
                                    <p:set>
                                      <p:cBhvr>
                                        <p:cTn id="785" dur="1" fill="hold">
                                          <p:stCondLst>
                                            <p:cond delay="249"/>
                                          </p:stCondLst>
                                        </p:cTn>
                                        <p:tgtEl>
                                          <p:spTgt spid="75"/>
                                        </p:tgtEl>
                                        <p:attrNameLst>
                                          <p:attrName>style.visibility</p:attrName>
                                        </p:attrNameLst>
                                      </p:cBhvr>
                                      <p:to>
                                        <p:strVal val="hidden"/>
                                      </p:to>
                                    </p:set>
                                  </p:childTnLst>
                                </p:cTn>
                              </p:par>
                              <p:par>
                                <p:cTn id="786" presetID="10" presetClass="exit" presetSubtype="0" fill="hold" grpId="1" nodeType="withEffect">
                                  <p:stCondLst>
                                    <p:cond delay="0"/>
                                  </p:stCondLst>
                                  <p:childTnLst>
                                    <p:animEffect transition="out" filter="fade">
                                      <p:cBhvr>
                                        <p:cTn id="787" dur="250"/>
                                        <p:tgtEl>
                                          <p:spTgt spid="76"/>
                                        </p:tgtEl>
                                      </p:cBhvr>
                                    </p:animEffect>
                                    <p:set>
                                      <p:cBhvr>
                                        <p:cTn id="788" dur="1" fill="hold">
                                          <p:stCondLst>
                                            <p:cond delay="249"/>
                                          </p:stCondLst>
                                        </p:cTn>
                                        <p:tgtEl>
                                          <p:spTgt spid="76"/>
                                        </p:tgtEl>
                                        <p:attrNameLst>
                                          <p:attrName>style.visibility</p:attrName>
                                        </p:attrNameLst>
                                      </p:cBhvr>
                                      <p:to>
                                        <p:strVal val="hidden"/>
                                      </p:to>
                                    </p:set>
                                  </p:childTnLst>
                                </p:cTn>
                              </p:par>
                              <p:par>
                                <p:cTn id="789" presetID="10" presetClass="exit" presetSubtype="0" fill="hold" grpId="1" nodeType="withEffect">
                                  <p:stCondLst>
                                    <p:cond delay="0"/>
                                  </p:stCondLst>
                                  <p:childTnLst>
                                    <p:animEffect transition="out" filter="fade">
                                      <p:cBhvr>
                                        <p:cTn id="790" dur="250"/>
                                        <p:tgtEl>
                                          <p:spTgt spid="77"/>
                                        </p:tgtEl>
                                      </p:cBhvr>
                                    </p:animEffect>
                                    <p:set>
                                      <p:cBhvr>
                                        <p:cTn id="791" dur="1" fill="hold">
                                          <p:stCondLst>
                                            <p:cond delay="249"/>
                                          </p:stCondLst>
                                        </p:cTn>
                                        <p:tgtEl>
                                          <p:spTgt spid="77"/>
                                        </p:tgtEl>
                                        <p:attrNameLst>
                                          <p:attrName>style.visibility</p:attrName>
                                        </p:attrNameLst>
                                      </p:cBhvr>
                                      <p:to>
                                        <p:strVal val="hidden"/>
                                      </p:to>
                                    </p:set>
                                  </p:childTnLst>
                                </p:cTn>
                              </p:par>
                              <p:par>
                                <p:cTn id="792" presetID="10" presetClass="exit" presetSubtype="0" fill="hold" grpId="1" nodeType="withEffect">
                                  <p:stCondLst>
                                    <p:cond delay="0"/>
                                  </p:stCondLst>
                                  <p:childTnLst>
                                    <p:animEffect transition="out" filter="fade">
                                      <p:cBhvr>
                                        <p:cTn id="793" dur="250"/>
                                        <p:tgtEl>
                                          <p:spTgt spid="78"/>
                                        </p:tgtEl>
                                      </p:cBhvr>
                                    </p:animEffect>
                                    <p:set>
                                      <p:cBhvr>
                                        <p:cTn id="794" dur="1" fill="hold">
                                          <p:stCondLst>
                                            <p:cond delay="249"/>
                                          </p:stCondLst>
                                        </p:cTn>
                                        <p:tgtEl>
                                          <p:spTgt spid="78"/>
                                        </p:tgtEl>
                                        <p:attrNameLst>
                                          <p:attrName>style.visibility</p:attrName>
                                        </p:attrNameLst>
                                      </p:cBhvr>
                                      <p:to>
                                        <p:strVal val="hidden"/>
                                      </p:to>
                                    </p:set>
                                  </p:childTnLst>
                                </p:cTn>
                              </p:par>
                              <p:par>
                                <p:cTn id="795" presetID="10" presetClass="exit" presetSubtype="0" fill="hold" grpId="1" nodeType="withEffect">
                                  <p:stCondLst>
                                    <p:cond delay="0"/>
                                  </p:stCondLst>
                                  <p:childTnLst>
                                    <p:animEffect transition="out" filter="fade">
                                      <p:cBhvr>
                                        <p:cTn id="796" dur="250"/>
                                        <p:tgtEl>
                                          <p:spTgt spid="79"/>
                                        </p:tgtEl>
                                      </p:cBhvr>
                                    </p:animEffect>
                                    <p:set>
                                      <p:cBhvr>
                                        <p:cTn id="797" dur="1" fill="hold">
                                          <p:stCondLst>
                                            <p:cond delay="249"/>
                                          </p:stCondLst>
                                        </p:cTn>
                                        <p:tgtEl>
                                          <p:spTgt spid="79"/>
                                        </p:tgtEl>
                                        <p:attrNameLst>
                                          <p:attrName>style.visibility</p:attrName>
                                        </p:attrNameLst>
                                      </p:cBhvr>
                                      <p:to>
                                        <p:strVal val="hidden"/>
                                      </p:to>
                                    </p:set>
                                  </p:childTnLst>
                                </p:cTn>
                              </p:par>
                              <p:par>
                                <p:cTn id="798" presetID="10" presetClass="exit" presetSubtype="0" fill="hold" grpId="1" nodeType="withEffect">
                                  <p:stCondLst>
                                    <p:cond delay="0"/>
                                  </p:stCondLst>
                                  <p:childTnLst>
                                    <p:animEffect transition="out" filter="fade">
                                      <p:cBhvr>
                                        <p:cTn id="799" dur="250"/>
                                        <p:tgtEl>
                                          <p:spTgt spid="80"/>
                                        </p:tgtEl>
                                      </p:cBhvr>
                                    </p:animEffect>
                                    <p:set>
                                      <p:cBhvr>
                                        <p:cTn id="800" dur="1" fill="hold">
                                          <p:stCondLst>
                                            <p:cond delay="249"/>
                                          </p:stCondLst>
                                        </p:cTn>
                                        <p:tgtEl>
                                          <p:spTgt spid="80"/>
                                        </p:tgtEl>
                                        <p:attrNameLst>
                                          <p:attrName>style.visibility</p:attrName>
                                        </p:attrNameLst>
                                      </p:cBhvr>
                                      <p:to>
                                        <p:strVal val="hidden"/>
                                      </p:to>
                                    </p:set>
                                  </p:childTnLst>
                                </p:cTn>
                              </p:par>
                              <p:par>
                                <p:cTn id="801" presetID="10" presetClass="exit" presetSubtype="0" fill="hold" grpId="1" nodeType="withEffect">
                                  <p:stCondLst>
                                    <p:cond delay="0"/>
                                  </p:stCondLst>
                                  <p:childTnLst>
                                    <p:animEffect transition="out" filter="fade">
                                      <p:cBhvr>
                                        <p:cTn id="802" dur="250"/>
                                        <p:tgtEl>
                                          <p:spTgt spid="81"/>
                                        </p:tgtEl>
                                      </p:cBhvr>
                                    </p:animEffect>
                                    <p:set>
                                      <p:cBhvr>
                                        <p:cTn id="803" dur="1" fill="hold">
                                          <p:stCondLst>
                                            <p:cond delay="249"/>
                                          </p:stCondLst>
                                        </p:cTn>
                                        <p:tgtEl>
                                          <p:spTgt spid="81"/>
                                        </p:tgtEl>
                                        <p:attrNameLst>
                                          <p:attrName>style.visibility</p:attrName>
                                        </p:attrNameLst>
                                      </p:cBhvr>
                                      <p:to>
                                        <p:strVal val="hidden"/>
                                      </p:to>
                                    </p:set>
                                  </p:childTnLst>
                                </p:cTn>
                              </p:par>
                              <p:par>
                                <p:cTn id="804" presetID="10" presetClass="exit" presetSubtype="0" fill="hold" grpId="1" nodeType="withEffect">
                                  <p:stCondLst>
                                    <p:cond delay="0"/>
                                  </p:stCondLst>
                                  <p:childTnLst>
                                    <p:animEffect transition="out" filter="fade">
                                      <p:cBhvr>
                                        <p:cTn id="805" dur="250"/>
                                        <p:tgtEl>
                                          <p:spTgt spid="82"/>
                                        </p:tgtEl>
                                      </p:cBhvr>
                                    </p:animEffect>
                                    <p:set>
                                      <p:cBhvr>
                                        <p:cTn id="806" dur="1" fill="hold">
                                          <p:stCondLst>
                                            <p:cond delay="249"/>
                                          </p:stCondLst>
                                        </p:cTn>
                                        <p:tgtEl>
                                          <p:spTgt spid="82"/>
                                        </p:tgtEl>
                                        <p:attrNameLst>
                                          <p:attrName>style.visibility</p:attrName>
                                        </p:attrNameLst>
                                      </p:cBhvr>
                                      <p:to>
                                        <p:strVal val="hidden"/>
                                      </p:to>
                                    </p:set>
                                  </p:childTnLst>
                                </p:cTn>
                              </p:par>
                              <p:par>
                                <p:cTn id="807" presetID="10" presetClass="exit" presetSubtype="0" fill="hold" grpId="1" nodeType="withEffect">
                                  <p:stCondLst>
                                    <p:cond delay="0"/>
                                  </p:stCondLst>
                                  <p:childTnLst>
                                    <p:animEffect transition="out" filter="fade">
                                      <p:cBhvr>
                                        <p:cTn id="808" dur="250"/>
                                        <p:tgtEl>
                                          <p:spTgt spid="83"/>
                                        </p:tgtEl>
                                      </p:cBhvr>
                                    </p:animEffect>
                                    <p:set>
                                      <p:cBhvr>
                                        <p:cTn id="809" dur="1" fill="hold">
                                          <p:stCondLst>
                                            <p:cond delay="249"/>
                                          </p:stCondLst>
                                        </p:cTn>
                                        <p:tgtEl>
                                          <p:spTgt spid="83"/>
                                        </p:tgtEl>
                                        <p:attrNameLst>
                                          <p:attrName>style.visibility</p:attrName>
                                        </p:attrNameLst>
                                      </p:cBhvr>
                                      <p:to>
                                        <p:strVal val="hidden"/>
                                      </p:to>
                                    </p:set>
                                  </p:childTnLst>
                                </p:cTn>
                              </p:par>
                              <p:par>
                                <p:cTn id="810" presetID="10" presetClass="exit" presetSubtype="0" fill="hold" grpId="1" nodeType="withEffect">
                                  <p:stCondLst>
                                    <p:cond delay="0"/>
                                  </p:stCondLst>
                                  <p:childTnLst>
                                    <p:animEffect transition="out" filter="fade">
                                      <p:cBhvr>
                                        <p:cTn id="811" dur="250"/>
                                        <p:tgtEl>
                                          <p:spTgt spid="87"/>
                                        </p:tgtEl>
                                      </p:cBhvr>
                                    </p:animEffect>
                                    <p:set>
                                      <p:cBhvr>
                                        <p:cTn id="812" dur="1" fill="hold">
                                          <p:stCondLst>
                                            <p:cond delay="249"/>
                                          </p:stCondLst>
                                        </p:cTn>
                                        <p:tgtEl>
                                          <p:spTgt spid="87"/>
                                        </p:tgtEl>
                                        <p:attrNameLst>
                                          <p:attrName>style.visibility</p:attrName>
                                        </p:attrNameLst>
                                      </p:cBhvr>
                                      <p:to>
                                        <p:strVal val="hidden"/>
                                      </p:to>
                                    </p:set>
                                  </p:childTnLst>
                                </p:cTn>
                              </p:par>
                              <p:par>
                                <p:cTn id="813" presetID="10" presetClass="exit" presetSubtype="0" fill="hold" grpId="1" nodeType="withEffect">
                                  <p:stCondLst>
                                    <p:cond delay="0"/>
                                  </p:stCondLst>
                                  <p:childTnLst>
                                    <p:animEffect transition="out" filter="fade">
                                      <p:cBhvr>
                                        <p:cTn id="814" dur="250"/>
                                        <p:tgtEl>
                                          <p:spTgt spid="88"/>
                                        </p:tgtEl>
                                      </p:cBhvr>
                                    </p:animEffect>
                                    <p:set>
                                      <p:cBhvr>
                                        <p:cTn id="815" dur="1" fill="hold">
                                          <p:stCondLst>
                                            <p:cond delay="249"/>
                                          </p:stCondLst>
                                        </p:cTn>
                                        <p:tgtEl>
                                          <p:spTgt spid="88"/>
                                        </p:tgtEl>
                                        <p:attrNameLst>
                                          <p:attrName>style.visibility</p:attrName>
                                        </p:attrNameLst>
                                      </p:cBhvr>
                                      <p:to>
                                        <p:strVal val="hidden"/>
                                      </p:to>
                                    </p:set>
                                  </p:childTnLst>
                                </p:cTn>
                              </p:par>
                              <p:par>
                                <p:cTn id="816" presetID="10" presetClass="exit" presetSubtype="0" fill="hold" grpId="1" nodeType="withEffect">
                                  <p:stCondLst>
                                    <p:cond delay="0"/>
                                  </p:stCondLst>
                                  <p:childTnLst>
                                    <p:animEffect transition="out" filter="fade">
                                      <p:cBhvr>
                                        <p:cTn id="817" dur="250"/>
                                        <p:tgtEl>
                                          <p:spTgt spid="89"/>
                                        </p:tgtEl>
                                      </p:cBhvr>
                                    </p:animEffect>
                                    <p:set>
                                      <p:cBhvr>
                                        <p:cTn id="818" dur="1" fill="hold">
                                          <p:stCondLst>
                                            <p:cond delay="249"/>
                                          </p:stCondLst>
                                        </p:cTn>
                                        <p:tgtEl>
                                          <p:spTgt spid="89"/>
                                        </p:tgtEl>
                                        <p:attrNameLst>
                                          <p:attrName>style.visibility</p:attrName>
                                        </p:attrNameLst>
                                      </p:cBhvr>
                                      <p:to>
                                        <p:strVal val="hidden"/>
                                      </p:to>
                                    </p:set>
                                  </p:childTnLst>
                                </p:cTn>
                              </p:par>
                              <p:par>
                                <p:cTn id="819" presetID="10" presetClass="exit" presetSubtype="0" fill="hold" grpId="1" nodeType="withEffect">
                                  <p:stCondLst>
                                    <p:cond delay="0"/>
                                  </p:stCondLst>
                                  <p:childTnLst>
                                    <p:animEffect transition="out" filter="fade">
                                      <p:cBhvr>
                                        <p:cTn id="820" dur="250"/>
                                        <p:tgtEl>
                                          <p:spTgt spid="90"/>
                                        </p:tgtEl>
                                      </p:cBhvr>
                                    </p:animEffect>
                                    <p:set>
                                      <p:cBhvr>
                                        <p:cTn id="821" dur="1" fill="hold">
                                          <p:stCondLst>
                                            <p:cond delay="249"/>
                                          </p:stCondLst>
                                        </p:cTn>
                                        <p:tgtEl>
                                          <p:spTgt spid="90"/>
                                        </p:tgtEl>
                                        <p:attrNameLst>
                                          <p:attrName>style.visibility</p:attrName>
                                        </p:attrNameLst>
                                      </p:cBhvr>
                                      <p:to>
                                        <p:strVal val="hidden"/>
                                      </p:to>
                                    </p:set>
                                  </p:childTnLst>
                                </p:cTn>
                              </p:par>
                              <p:par>
                                <p:cTn id="822" presetID="10" presetClass="entr" presetSubtype="0" fill="hold" grpId="0" nodeType="withEffect">
                                  <p:stCondLst>
                                    <p:cond delay="0"/>
                                  </p:stCondLst>
                                  <p:childTnLst>
                                    <p:set>
                                      <p:cBhvr>
                                        <p:cTn id="823" dur="1" fill="hold">
                                          <p:stCondLst>
                                            <p:cond delay="0"/>
                                          </p:stCondLst>
                                        </p:cTn>
                                        <p:tgtEl>
                                          <p:spTgt spid="169"/>
                                        </p:tgtEl>
                                        <p:attrNameLst>
                                          <p:attrName>style.visibility</p:attrName>
                                        </p:attrNameLst>
                                      </p:cBhvr>
                                      <p:to>
                                        <p:strVal val="visible"/>
                                      </p:to>
                                    </p:set>
                                    <p:animEffect transition="in" filter="fade">
                                      <p:cBhvr>
                                        <p:cTn id="824" dur="250"/>
                                        <p:tgtEl>
                                          <p:spTgt spid="169"/>
                                        </p:tgtEl>
                                      </p:cBhvr>
                                    </p:animEffect>
                                  </p:childTnLst>
                                </p:cTn>
                              </p:par>
                              <p:par>
                                <p:cTn id="825" presetID="10" presetClass="entr" presetSubtype="0" fill="hold" grpId="0" nodeType="withEffect">
                                  <p:stCondLst>
                                    <p:cond delay="0"/>
                                  </p:stCondLst>
                                  <p:childTnLst>
                                    <p:set>
                                      <p:cBhvr>
                                        <p:cTn id="826" dur="1" fill="hold">
                                          <p:stCondLst>
                                            <p:cond delay="0"/>
                                          </p:stCondLst>
                                        </p:cTn>
                                        <p:tgtEl>
                                          <p:spTgt spid="171"/>
                                        </p:tgtEl>
                                        <p:attrNameLst>
                                          <p:attrName>style.visibility</p:attrName>
                                        </p:attrNameLst>
                                      </p:cBhvr>
                                      <p:to>
                                        <p:strVal val="visible"/>
                                      </p:to>
                                    </p:set>
                                    <p:animEffect transition="in" filter="fade">
                                      <p:cBhvr>
                                        <p:cTn id="827" dur="250"/>
                                        <p:tgtEl>
                                          <p:spTgt spid="171"/>
                                        </p:tgtEl>
                                      </p:cBhvr>
                                    </p:animEffect>
                                  </p:childTnLst>
                                </p:cTn>
                              </p:par>
                            </p:childTnLst>
                          </p:cTn>
                        </p:par>
                        <p:par>
                          <p:cTn id="828" fill="hold">
                            <p:stCondLst>
                              <p:cond delay="600"/>
                            </p:stCondLst>
                            <p:childTnLst>
                              <p:par>
                                <p:cTn id="829" presetID="10" presetClass="entr" presetSubtype="0" fill="hold" grpId="0" nodeType="afterEffect">
                                  <p:stCondLst>
                                    <p:cond delay="0"/>
                                  </p:stCondLst>
                                  <p:childTnLst>
                                    <p:set>
                                      <p:cBhvr>
                                        <p:cTn id="830" dur="1" fill="hold">
                                          <p:stCondLst>
                                            <p:cond delay="0"/>
                                          </p:stCondLst>
                                        </p:cTn>
                                        <p:tgtEl>
                                          <p:spTgt spid="170"/>
                                        </p:tgtEl>
                                        <p:attrNameLst>
                                          <p:attrName>style.visibility</p:attrName>
                                        </p:attrNameLst>
                                      </p:cBhvr>
                                      <p:to>
                                        <p:strVal val="visible"/>
                                      </p:to>
                                    </p:set>
                                    <p:animEffect transition="in" filter="fade">
                                      <p:cBhvr>
                                        <p:cTn id="831" dur="250"/>
                                        <p:tgtEl>
                                          <p:spTgt spid="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3" grpId="1" animBg="1"/>
      <p:bldP spid="45" grpId="0" animBg="1"/>
      <p:bldP spid="46" grpId="0" animBg="1"/>
      <p:bldP spid="47" grpId="0" animBg="1"/>
      <p:bldP spid="48" grpId="0" animBg="1"/>
      <p:bldP spid="49" grpId="0" animBg="1"/>
      <p:bldP spid="50" grpId="0" animBg="1"/>
      <p:bldP spid="51" grpId="0" animBg="1"/>
      <p:bldP spid="52" grpId="0" animBg="1"/>
      <p:bldP spid="53" grpId="0" animBg="1"/>
      <p:bldP spid="86" grpId="0" animBg="1"/>
      <p:bldP spid="91" grpId="0" animBg="1"/>
      <p:bldP spid="54" grpId="0" animBg="1"/>
      <p:bldP spid="55" grpId="0" animBg="1"/>
      <p:bldP spid="56" grpId="0" animBg="1"/>
      <p:bldP spid="57" grpId="0" animBg="1"/>
      <p:bldP spid="87" grpId="0" animBg="1"/>
      <p:bldP spid="88" grpId="0" animBg="1"/>
      <p:bldP spid="89" grpId="0" animBg="1"/>
      <p:bldP spid="90" grpId="0" animBg="1"/>
      <p:bldP spid="58" grpId="0" animBg="1"/>
      <p:bldP spid="84"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5" grpId="0" animBg="1"/>
      <p:bldP spid="92" grpId="0" animBg="1"/>
      <p:bldP spid="93" grpId="0" animBg="1"/>
      <p:bldP spid="94" grpId="0" animBg="1"/>
      <p:bldP spid="121"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93" grpId="1" animBg="1"/>
      <p:bldP spid="94" grpId="1" animBg="1"/>
      <p:bldP spid="95" grpId="1" animBg="1"/>
      <p:bldP spid="96" grpId="1" animBg="1"/>
      <p:bldP spid="97" grpId="1" animBg="1"/>
      <p:bldP spid="98" grpId="1" animBg="1"/>
      <p:bldP spid="99" grpId="1" animBg="1"/>
      <p:bldP spid="100" grpId="1" animBg="1"/>
      <p:bldP spid="101" grpId="1" animBg="1"/>
      <p:bldP spid="102" grpId="1" animBg="1"/>
      <p:bldP spid="103" grpId="1" animBg="1"/>
      <p:bldP spid="104" grpId="1" animBg="1"/>
      <p:bldP spid="105" grpId="1" animBg="1"/>
      <p:bldP spid="106" grpId="1" animBg="1"/>
      <p:bldP spid="107" grpId="1" animBg="1"/>
      <p:bldP spid="108" grpId="1" animBg="1"/>
      <p:bldP spid="109" grpId="1" animBg="1"/>
      <p:bldP spid="110" grpId="1" animBg="1"/>
      <p:bldP spid="111" grpId="1" animBg="1"/>
      <p:bldP spid="112" grpId="1" animBg="1"/>
      <p:bldP spid="113" grpId="1" animBg="1"/>
      <p:bldP spid="114" grpId="1" animBg="1"/>
      <p:bldP spid="115" grpId="1" animBg="1"/>
      <p:bldP spid="116" grpId="1" animBg="1"/>
      <p:bldP spid="117" grpId="1" animBg="1"/>
      <p:bldP spid="118" grpId="1" animBg="1"/>
      <p:bldP spid="119" grpId="0" animBg="1"/>
      <p:bldP spid="120" grpId="0" animBg="1"/>
      <p:bldP spid="92" grpId="1" animBg="1"/>
      <p:bldP spid="122" grpId="0" animBg="1"/>
      <p:bldP spid="124" grpId="0" animBg="1"/>
      <p:bldP spid="123" grpId="0" animBg="1"/>
      <p:bldP spid="122" grpId="1" animBg="1"/>
      <p:bldP spid="125" grpId="0" animBg="1"/>
      <p:bldP spid="132" grpId="0" animBg="1"/>
      <p:bldP spid="126" grpId="0" animBg="1"/>
      <p:bldP spid="127" grpId="0" animBg="1"/>
      <p:bldP spid="128" grpId="0" animBg="1"/>
      <p:bldP spid="129" grpId="0" animBg="1"/>
      <p:bldP spid="130" grpId="0" animBg="1"/>
      <p:bldP spid="131" grpId="0" animBg="1"/>
      <p:bldP spid="125" grpId="1" animBg="1"/>
      <p:bldP spid="123" grpId="1" animBg="1"/>
      <p:bldP spid="128" grpId="1" animBg="1"/>
      <p:bldP spid="129" grpId="1" animBg="1"/>
      <p:bldP spid="130" grpId="1" animBg="1"/>
      <p:bldP spid="131" grpId="1" animBg="1"/>
      <p:bldP spid="133" grpId="0" animBg="1"/>
      <p:bldP spid="134" grpId="0" animBg="1"/>
      <p:bldP spid="146"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34" grpId="1" animBg="1"/>
      <p:bldP spid="135" grpId="1" animBg="1"/>
      <p:bldP spid="136" grpId="1" animBg="1"/>
      <p:bldP spid="137" grpId="1" animBg="1"/>
      <p:bldP spid="138" grpId="1" animBg="1"/>
      <p:bldP spid="139" grpId="1" animBg="1"/>
      <p:bldP spid="140" grpId="1" animBg="1"/>
      <p:bldP spid="141" grpId="1" animBg="1"/>
      <p:bldP spid="142" grpId="1" animBg="1"/>
      <p:bldP spid="143" grpId="1" animBg="1"/>
      <p:bldP spid="144" grpId="1" animBg="1"/>
      <p:bldP spid="145" grpId="0" animBg="1"/>
      <p:bldP spid="133" grpId="1" animBg="1"/>
      <p:bldP spid="119" grpId="1" animBg="1"/>
      <p:bldP spid="120" grpId="1" animBg="1"/>
      <p:bldP spid="126" grpId="1" animBg="1"/>
      <p:bldP spid="127" grpId="1" animBg="1"/>
      <p:bldP spid="145" grpId="1" animBg="1"/>
      <p:bldP spid="147" grpId="0" animBg="1"/>
      <p:bldP spid="155" grpId="0" animBg="1"/>
      <p:bldP spid="150" grpId="0" animBg="1"/>
      <p:bldP spid="151" grpId="0" animBg="1"/>
      <p:bldP spid="147" grpId="1" animBg="1"/>
      <p:bldP spid="148" grpId="0" animBg="1"/>
      <p:bldP spid="152" grpId="0" animBg="1"/>
      <p:bldP spid="148" grpId="1" animBg="1"/>
      <p:bldP spid="149" grpId="0" animBg="1"/>
      <p:bldP spid="153" grpId="0" animBg="1"/>
      <p:bldP spid="154" grpId="0" animBg="1"/>
      <p:bldP spid="149" grpId="1" animBg="1"/>
      <p:bldP spid="150" grpId="1" animBg="1"/>
      <p:bldP spid="151" grpId="1" animBg="1"/>
      <p:bldP spid="152" grpId="1" animBg="1"/>
      <p:bldP spid="153" grpId="1" animBg="1"/>
      <p:bldP spid="154" grpId="1" animBg="1"/>
      <p:bldP spid="156" grpId="0" animBg="1"/>
      <p:bldP spid="157" grpId="0" animBg="1"/>
      <p:bldP spid="158" grpId="0" animBg="1"/>
      <p:bldP spid="168" grpId="0" animBg="1"/>
      <p:bldP spid="159" grpId="0" animBg="1"/>
      <p:bldP spid="157" grpId="1" animBg="1"/>
      <p:bldP spid="158" grpId="1" animBg="1"/>
      <p:bldP spid="159" grpId="1" animBg="1"/>
      <p:bldP spid="160" grpId="0" animBg="1"/>
      <p:bldP spid="161" grpId="0" animBg="1"/>
      <p:bldP spid="162" grpId="0" animBg="1"/>
      <p:bldP spid="156" grpId="1" animBg="1"/>
      <p:bldP spid="163" grpId="0" animBg="1"/>
      <p:bldP spid="164" grpId="0" animBg="1"/>
      <p:bldP spid="163" grpId="1" animBg="1"/>
      <p:bldP spid="167" grpId="0" animBg="1"/>
      <p:bldP spid="165" grpId="0" animBg="1"/>
      <p:bldP spid="166" grpId="0" animBg="1"/>
      <p:bldP spid="167" grpId="1" animBg="1"/>
      <p:bldP spid="160" grpId="1" animBg="1"/>
      <p:bldP spid="161" grpId="1" animBg="1"/>
      <p:bldP spid="162" grpId="1" animBg="1"/>
      <p:bldP spid="164" grpId="1" animBg="1"/>
      <p:bldP spid="165" grpId="1" animBg="1"/>
      <p:bldP spid="166" grpId="1" animBg="1"/>
      <p:bldP spid="84" grpId="1" animBg="1"/>
      <p:bldP spid="85" grpId="1" animBg="1"/>
      <p:bldP spid="45" grpId="1" animBg="1"/>
      <p:bldP spid="46" grpId="1" animBg="1"/>
      <p:bldP spid="47" grpId="1" animBg="1"/>
      <p:bldP spid="48" grpId="1" animBg="1"/>
      <p:bldP spid="49" grpId="1" animBg="1"/>
      <p:bldP spid="50" grpId="1" animBg="1"/>
      <p:bldP spid="51" grpId="1" animBg="1"/>
      <p:bldP spid="52" grpId="1" animBg="1"/>
      <p:bldP spid="53" grpId="1" animBg="1"/>
      <p:bldP spid="54" grpId="1" animBg="1"/>
      <p:bldP spid="55" grpId="1" animBg="1"/>
      <p:bldP spid="56" grpId="1" animBg="1"/>
      <p:bldP spid="57" grpId="1" animBg="1"/>
      <p:bldP spid="58" grpId="1" animBg="1"/>
      <p:bldP spid="59" grpId="1" animBg="1"/>
      <p:bldP spid="60" grpId="1" animBg="1"/>
      <p:bldP spid="61" grpId="1" animBg="1"/>
      <p:bldP spid="62" grpId="1" animBg="1"/>
      <p:bldP spid="63" grpId="1" animBg="1"/>
      <p:bldP spid="64" grpId="1" animBg="1"/>
      <p:bldP spid="65" grpId="1" animBg="1"/>
      <p:bldP spid="66" grpId="1" animBg="1"/>
      <p:bldP spid="67" grpId="1" animBg="1"/>
      <p:bldP spid="68" grpId="1" animBg="1"/>
      <p:bldP spid="69" grpId="1" animBg="1"/>
      <p:bldP spid="70" grpId="1" animBg="1"/>
      <p:bldP spid="71" grpId="1" animBg="1"/>
      <p:bldP spid="72" grpId="1" animBg="1"/>
      <p:bldP spid="73" grpId="1" animBg="1"/>
      <p:bldP spid="74" grpId="1" animBg="1"/>
      <p:bldP spid="75" grpId="1" animBg="1"/>
      <p:bldP spid="76" grpId="1" animBg="1"/>
      <p:bldP spid="77" grpId="1" animBg="1"/>
      <p:bldP spid="78" grpId="1" animBg="1"/>
      <p:bldP spid="79" grpId="1" animBg="1"/>
      <p:bldP spid="80" grpId="1" animBg="1"/>
      <p:bldP spid="81" grpId="1" animBg="1"/>
      <p:bldP spid="82" grpId="1" animBg="1"/>
      <p:bldP spid="83" grpId="1" animBg="1"/>
      <p:bldP spid="87" grpId="1" animBg="1"/>
      <p:bldP spid="88" grpId="1" animBg="1"/>
      <p:bldP spid="89" grpId="1" animBg="1"/>
      <p:bldP spid="90" grpId="1" animBg="1"/>
      <p:bldP spid="169" grpId="0" animBg="1"/>
      <p:bldP spid="171" grpId="0" animBg="1"/>
      <p:bldP spid="170"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p:nvPr/>
        </p:nvSpPr>
        <p:spPr>
          <a:xfrm>
            <a:off x="285750" y="100012"/>
            <a:ext cx="8572500" cy="357187"/>
          </a:xfrm>
          <a:prstGeom prst="rect">
            <a:avLst/>
          </a:prstGeom>
          <a:noFill/>
          <a:ln>
            <a:noFill/>
          </a:ln>
        </p:spPr>
        <p:txBody>
          <a:bodyPr rtlCol="0" anchor="ctr" wrap="square" lIns="0" rIns="0" tIns="0" bIns="0"/>
          <a:lstStyle/>
          <a:p>
            <a:pPr algn="l"/>
            <a:r>
              <a:rPr sz="1800" b="1">
                <a:solidFill>
                  <a:srgbClr val="12343B"/>
                </a:solidFill>
                <a:latin typeface="Calibri"/>
              </a:rPr>
              <a:t>Scan cells: shift, update, capture</a:t>
            </a:r>
          </a:p>
        </p:txBody>
      </p:sp>
      <p:sp>
        <p:nvSpPr>
          <p:cNvPr id="3" name="SC xbar"/>
          <p:cNvSpPr/>
          <p:nvPr/>
        </p:nvSpPr>
        <p:spPr>
          <a:xfrm>
            <a:off x="3571875" y="1071562"/>
            <a:ext cx="1857375" cy="1821656"/>
          </a:xfrm>
          <a:prstGeom prst="roundRect">
            <a:avLst>
              <a:gd name="adj" fmla="val 3921"/>
            </a:avLst>
          </a:prstGeom>
          <a:solidFill>
            <a:srgbClr val="F4F8FB"/>
          </a:solidFill>
          <a:ln w="25400">
            <a:solidFill>
              <a:srgbClr val="1E5A8C"/>
            </a:solidFill>
          </a:ln>
        </p:spPr>
        <p:txBody>
          <a:bodyPr rtlCol="0" anchor="t" wrap="square" lIns="57150" rIns="57150" tIns="57150" bIns="57150"/>
          <a:lstStyle/>
          <a:p>
            <a:pPr algn="ctr"/>
            <a:r>
              <a:rPr sz="1125" b="1">
                <a:solidFill>
                  <a:srgbClr val="1E5A8C"/>
                </a:solidFill>
                <a:latin typeface="Calibri"/>
              </a:rPr>
              <a:t>Crossbar</a:t>
            </a:r>
          </a:p>
          <a:p>
            <a:pPr algn="ctr"/>
            <a:r>
              <a:rPr sz="787" b="0">
                <a:solidFill>
                  <a:srgbClr val="1E5A8C"/>
                </a:solidFill>
                <a:latin typeface="Calibri"/>
              </a:rPr>
              <a:t>routes by address</a:t>
            </a:r>
          </a:p>
        </p:txBody>
      </p:sp>
      <p:sp>
        <p:nvSpPr>
          <p:cNvPr id="4" name="SC frame Manager-side cut"/>
          <p:cNvSpPr/>
          <p:nvPr/>
        </p:nvSpPr>
        <p:spPr>
          <a:xfrm>
            <a:off x="1071562" y="1071562"/>
            <a:ext cx="2128837" cy="1821656"/>
          </a:xfrm>
          <a:prstGeom prst="roundRect">
            <a:avLst>
              <a:gd name="adj" fmla="val 3921"/>
            </a:avLst>
          </a:prstGeom>
          <a:solidFill>
            <a:srgbClr val="FFFFFF"/>
          </a:solidFill>
          <a:ln w="19050">
            <a:solidFill>
              <a:srgbClr val="00897B"/>
            </a:solidFill>
          </a:ln>
        </p:spPr>
        <p:txBody>
          <a:bodyPr rtlCol="0" anchor="t" wrap="square" lIns="28575" rIns="28575" tIns="28575" bIns="28575"/>
          <a:lstStyle/>
          <a:p>
            <a:pPr algn="ctr"/>
            <a:r>
              <a:rPr sz="843" b="1">
                <a:solidFill>
                  <a:srgbClr val="00897B"/>
                </a:solidFill>
                <a:latin typeface="Calibri"/>
              </a:rPr>
              <a:t>Manager-side cut</a:t>
            </a:r>
          </a:p>
        </p:txBody>
      </p:sp>
      <p:sp>
        <p:nvSpPr>
          <p:cNvPr id="5" name="SC lab Manager-side cut in"/>
          <p:cNvSpPr/>
          <p:nvPr/>
        </p:nvSpPr>
        <p:spPr>
          <a:xfrm>
            <a:off x="1171575" y="1264443"/>
            <a:ext cx="1928812" cy="142875"/>
          </a:xfrm>
          <a:prstGeom prst="rect">
            <a:avLst/>
          </a:prstGeom>
          <a:noFill/>
          <a:ln>
            <a:noFill/>
          </a:ln>
        </p:spPr>
        <p:txBody>
          <a:bodyPr rtlCol="0" anchor="ctr" wrap="square" lIns="0" rIns="0" tIns="0" bIns="0"/>
          <a:lstStyle/>
          <a:p>
            <a:pPr algn="l"/>
            <a:r>
              <a:rPr sz="675" b="1">
                <a:solidFill>
                  <a:srgbClr val="9E9E9E"/>
                </a:solidFill>
                <a:latin typeface="Calibri"/>
              </a:rPr>
              <a:t>input (from the bus)</a:t>
            </a:r>
          </a:p>
        </p:txBody>
      </p:sp>
      <p:sp>
        <p:nvSpPr>
          <p:cNvPr id="6" name="SC lab Manager-side cut sh"/>
          <p:cNvSpPr/>
          <p:nvPr/>
        </p:nvSpPr>
        <p:spPr>
          <a:xfrm>
            <a:off x="1171575" y="1793081"/>
            <a:ext cx="1928812" cy="142875"/>
          </a:xfrm>
          <a:prstGeom prst="rect">
            <a:avLst/>
          </a:prstGeom>
          <a:noFill/>
          <a:ln>
            <a:noFill/>
          </a:ln>
        </p:spPr>
        <p:txBody>
          <a:bodyPr rtlCol="0" anchor="ctr" wrap="square" lIns="0" rIns="0" tIns="0" bIns="0"/>
          <a:lstStyle/>
          <a:p>
            <a:pPr algn="l"/>
            <a:r>
              <a:rPr sz="675" b="1">
                <a:solidFill>
                  <a:srgbClr val="9E9E9E"/>
                </a:solidFill>
                <a:latin typeface="Calibri"/>
              </a:rPr>
              <a:t>shift stage (on the scan chain)</a:t>
            </a:r>
          </a:p>
        </p:txBody>
      </p:sp>
      <p:sp>
        <p:nvSpPr>
          <p:cNvPr id="7" name="SC lab Manager-side cut up"/>
          <p:cNvSpPr/>
          <p:nvPr/>
        </p:nvSpPr>
        <p:spPr>
          <a:xfrm>
            <a:off x="1171575" y="2321718"/>
            <a:ext cx="1928812" cy="142875"/>
          </a:xfrm>
          <a:prstGeom prst="rect">
            <a:avLst/>
          </a:prstGeom>
          <a:noFill/>
          <a:ln>
            <a:noFill/>
          </a:ln>
        </p:spPr>
        <p:txBody>
          <a:bodyPr rtlCol="0" anchor="ctr" wrap="square" lIns="0" rIns="0" tIns="0" bIns="0"/>
          <a:lstStyle/>
          <a:p>
            <a:pPr algn="l"/>
            <a:r>
              <a:rPr sz="675" b="1">
                <a:solidFill>
                  <a:srgbClr val="9E9E9E"/>
                </a:solidFill>
                <a:latin typeface="Calibri"/>
              </a:rPr>
              <a:t>update stage (drives the bus)</a:t>
            </a:r>
          </a:p>
        </p:txBody>
      </p:sp>
      <p:sp>
        <p:nvSpPr>
          <p:cNvPr id="8" name="SC frame Subordinate-side cut"/>
          <p:cNvSpPr/>
          <p:nvPr/>
        </p:nvSpPr>
        <p:spPr>
          <a:xfrm>
            <a:off x="5800725" y="1071562"/>
            <a:ext cx="2128837" cy="1821656"/>
          </a:xfrm>
          <a:prstGeom prst="roundRect">
            <a:avLst>
              <a:gd name="adj" fmla="val 3921"/>
            </a:avLst>
          </a:prstGeom>
          <a:solidFill>
            <a:srgbClr val="FFFFFF"/>
          </a:solidFill>
          <a:ln w="19050">
            <a:solidFill>
              <a:srgbClr val="00897B"/>
            </a:solidFill>
          </a:ln>
        </p:spPr>
        <p:txBody>
          <a:bodyPr rtlCol="0" anchor="t" wrap="square" lIns="28575" rIns="28575" tIns="28575" bIns="28575"/>
          <a:lstStyle/>
          <a:p>
            <a:pPr algn="ctr"/>
            <a:r>
              <a:rPr sz="843" b="1">
                <a:solidFill>
                  <a:srgbClr val="00897B"/>
                </a:solidFill>
                <a:latin typeface="Calibri"/>
              </a:rPr>
              <a:t>Subordinate-side cut</a:t>
            </a:r>
          </a:p>
        </p:txBody>
      </p:sp>
      <p:sp>
        <p:nvSpPr>
          <p:cNvPr id="9" name="SC lab Subordinate-side cut in"/>
          <p:cNvSpPr/>
          <p:nvPr/>
        </p:nvSpPr>
        <p:spPr>
          <a:xfrm>
            <a:off x="5900737" y="1264443"/>
            <a:ext cx="1928812" cy="142875"/>
          </a:xfrm>
          <a:prstGeom prst="rect">
            <a:avLst/>
          </a:prstGeom>
          <a:noFill/>
          <a:ln>
            <a:noFill/>
          </a:ln>
        </p:spPr>
        <p:txBody>
          <a:bodyPr rtlCol="0" anchor="ctr" wrap="square" lIns="0" rIns="0" tIns="0" bIns="0"/>
          <a:lstStyle/>
          <a:p>
            <a:pPr algn="l"/>
            <a:r>
              <a:rPr sz="675" b="1">
                <a:solidFill>
                  <a:srgbClr val="9E9E9E"/>
                </a:solidFill>
                <a:latin typeface="Calibri"/>
              </a:rPr>
              <a:t>input (from the bus)</a:t>
            </a:r>
          </a:p>
        </p:txBody>
      </p:sp>
      <p:sp>
        <p:nvSpPr>
          <p:cNvPr id="10" name="SC lab Subordinate-side cut sh"/>
          <p:cNvSpPr/>
          <p:nvPr/>
        </p:nvSpPr>
        <p:spPr>
          <a:xfrm>
            <a:off x="5900737" y="1793081"/>
            <a:ext cx="1928812" cy="142875"/>
          </a:xfrm>
          <a:prstGeom prst="rect">
            <a:avLst/>
          </a:prstGeom>
          <a:noFill/>
          <a:ln>
            <a:noFill/>
          </a:ln>
        </p:spPr>
        <p:txBody>
          <a:bodyPr rtlCol="0" anchor="ctr" wrap="square" lIns="0" rIns="0" tIns="0" bIns="0"/>
          <a:lstStyle/>
          <a:p>
            <a:pPr algn="l"/>
            <a:r>
              <a:rPr sz="675" b="1">
                <a:solidFill>
                  <a:srgbClr val="9E9E9E"/>
                </a:solidFill>
                <a:latin typeface="Calibri"/>
              </a:rPr>
              <a:t>shift stage (on the scan chain)</a:t>
            </a:r>
          </a:p>
        </p:txBody>
      </p:sp>
      <p:sp>
        <p:nvSpPr>
          <p:cNvPr id="11" name="SC lab Subordinate-side cut up"/>
          <p:cNvSpPr/>
          <p:nvPr/>
        </p:nvSpPr>
        <p:spPr>
          <a:xfrm>
            <a:off x="5900737" y="2321718"/>
            <a:ext cx="1928812" cy="142875"/>
          </a:xfrm>
          <a:prstGeom prst="rect">
            <a:avLst/>
          </a:prstGeom>
          <a:noFill/>
          <a:ln>
            <a:noFill/>
          </a:ln>
        </p:spPr>
        <p:txBody>
          <a:bodyPr rtlCol="0" anchor="ctr" wrap="square" lIns="0" rIns="0" tIns="0" bIns="0"/>
          <a:lstStyle/>
          <a:p>
            <a:pPr algn="l"/>
            <a:r>
              <a:rPr sz="675" b="1">
                <a:solidFill>
                  <a:srgbClr val="9E9E9E"/>
                </a:solidFill>
                <a:latin typeface="Calibri"/>
              </a:rPr>
              <a:t>update stage (drives the bus)</a:t>
            </a:r>
          </a:p>
        </p:txBody>
      </p:sp>
      <p:sp>
        <p:nvSpPr>
          <p:cNvPr id="12" name="SC cell in 0"/>
          <p:cNvSpPr/>
          <p:nvPr/>
        </p:nvSpPr>
        <p:spPr>
          <a:xfrm>
            <a:off x="1200150" y="1414462"/>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13" name="SC cell sh 0"/>
          <p:cNvSpPr/>
          <p:nvPr/>
        </p:nvSpPr>
        <p:spPr>
          <a:xfrm>
            <a:off x="1200150" y="1943100"/>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14" name="SC cell up 0"/>
          <p:cNvSpPr/>
          <p:nvPr/>
        </p:nvSpPr>
        <p:spPr>
          <a:xfrm>
            <a:off x="1200150" y="2471737"/>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15" name="SC head 0"/>
          <p:cNvSpPr/>
          <p:nvPr/>
        </p:nvSpPr>
        <p:spPr>
          <a:xfrm>
            <a:off x="1200150" y="914400"/>
            <a:ext cx="428625" cy="128587"/>
          </a:xfrm>
          <a:prstGeom prst="rect">
            <a:avLst/>
          </a:prstGeom>
          <a:noFill/>
          <a:ln>
            <a:noFill/>
          </a:ln>
        </p:spPr>
        <p:txBody>
          <a:bodyPr rtlCol="0" anchor="ctr" wrap="square" lIns="0" rIns="0" tIns="0" bIns="0"/>
          <a:lstStyle/>
          <a:p>
            <a:pPr algn="ctr"/>
            <a:r>
              <a:rPr sz="618" b="1">
                <a:solidFill>
                  <a:srgbClr val="9E9E9E"/>
                </a:solidFill>
                <a:latin typeface="Calibri"/>
              </a:rPr>
              <a:t>valid</a:t>
            </a:r>
          </a:p>
        </p:txBody>
      </p:sp>
      <p:sp>
        <p:nvSpPr>
          <p:cNvPr id="16" name="SC cell in 1"/>
          <p:cNvSpPr/>
          <p:nvPr/>
        </p:nvSpPr>
        <p:spPr>
          <a:xfrm>
            <a:off x="1685925" y="1414462"/>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17" name="SC cell sh 1"/>
          <p:cNvSpPr/>
          <p:nvPr/>
        </p:nvSpPr>
        <p:spPr>
          <a:xfrm>
            <a:off x="1685925" y="1943100"/>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18" name="SC cell up 1"/>
          <p:cNvSpPr/>
          <p:nvPr/>
        </p:nvSpPr>
        <p:spPr>
          <a:xfrm>
            <a:off x="1685925" y="2471737"/>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19" name="SC head 1"/>
          <p:cNvSpPr/>
          <p:nvPr/>
        </p:nvSpPr>
        <p:spPr>
          <a:xfrm>
            <a:off x="1685925" y="914400"/>
            <a:ext cx="428625" cy="128587"/>
          </a:xfrm>
          <a:prstGeom prst="rect">
            <a:avLst/>
          </a:prstGeom>
          <a:noFill/>
          <a:ln>
            <a:noFill/>
          </a:ln>
        </p:spPr>
        <p:txBody>
          <a:bodyPr rtlCol="0" anchor="ctr" wrap="square" lIns="0" rIns="0" tIns="0" bIns="0"/>
          <a:lstStyle/>
          <a:p>
            <a:pPr algn="ctr"/>
            <a:r>
              <a:rPr sz="618" b="1">
                <a:solidFill>
                  <a:srgbClr val="9E9E9E"/>
                </a:solidFill>
                <a:latin typeface="Calibri"/>
              </a:rPr>
              <a:t>p2</a:t>
            </a:r>
          </a:p>
        </p:txBody>
      </p:sp>
      <p:sp>
        <p:nvSpPr>
          <p:cNvPr id="20" name="SC cell in 2"/>
          <p:cNvSpPr/>
          <p:nvPr/>
        </p:nvSpPr>
        <p:spPr>
          <a:xfrm>
            <a:off x="2171700" y="1414462"/>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21" name="SC cell sh 2"/>
          <p:cNvSpPr/>
          <p:nvPr/>
        </p:nvSpPr>
        <p:spPr>
          <a:xfrm>
            <a:off x="2171700" y="1943100"/>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22" name="SC cell up 2"/>
          <p:cNvSpPr/>
          <p:nvPr/>
        </p:nvSpPr>
        <p:spPr>
          <a:xfrm>
            <a:off x="2171700" y="2471737"/>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23" name="SC head 2"/>
          <p:cNvSpPr/>
          <p:nvPr/>
        </p:nvSpPr>
        <p:spPr>
          <a:xfrm>
            <a:off x="2171700" y="914400"/>
            <a:ext cx="428625" cy="128587"/>
          </a:xfrm>
          <a:prstGeom prst="rect">
            <a:avLst/>
          </a:prstGeom>
          <a:noFill/>
          <a:ln>
            <a:noFill/>
          </a:ln>
        </p:spPr>
        <p:txBody>
          <a:bodyPr rtlCol="0" anchor="ctr" wrap="square" lIns="0" rIns="0" tIns="0" bIns="0"/>
          <a:lstStyle/>
          <a:p>
            <a:pPr algn="ctr"/>
            <a:r>
              <a:rPr sz="618" b="1">
                <a:solidFill>
                  <a:srgbClr val="9E9E9E"/>
                </a:solidFill>
                <a:latin typeface="Calibri"/>
              </a:rPr>
              <a:t>p1</a:t>
            </a:r>
          </a:p>
        </p:txBody>
      </p:sp>
      <p:sp>
        <p:nvSpPr>
          <p:cNvPr id="24" name="SC cell in 3"/>
          <p:cNvSpPr/>
          <p:nvPr/>
        </p:nvSpPr>
        <p:spPr>
          <a:xfrm>
            <a:off x="2657475" y="1414462"/>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25" name="SC cell sh 3"/>
          <p:cNvSpPr/>
          <p:nvPr/>
        </p:nvSpPr>
        <p:spPr>
          <a:xfrm>
            <a:off x="2657475" y="1943100"/>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26" name="SC cell up 3"/>
          <p:cNvSpPr/>
          <p:nvPr/>
        </p:nvSpPr>
        <p:spPr>
          <a:xfrm>
            <a:off x="2657475" y="2471737"/>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27" name="SC head 3"/>
          <p:cNvSpPr/>
          <p:nvPr/>
        </p:nvSpPr>
        <p:spPr>
          <a:xfrm>
            <a:off x="2657475" y="914400"/>
            <a:ext cx="428625" cy="128587"/>
          </a:xfrm>
          <a:prstGeom prst="rect">
            <a:avLst/>
          </a:prstGeom>
          <a:noFill/>
          <a:ln>
            <a:noFill/>
          </a:ln>
        </p:spPr>
        <p:txBody>
          <a:bodyPr rtlCol="0" anchor="ctr" wrap="square" lIns="0" rIns="0" tIns="0" bIns="0"/>
          <a:lstStyle/>
          <a:p>
            <a:pPr algn="ctr"/>
            <a:r>
              <a:rPr sz="618" b="1">
                <a:solidFill>
                  <a:srgbClr val="9E9E9E"/>
                </a:solidFill>
                <a:latin typeface="Calibri"/>
              </a:rPr>
              <a:t>p0</a:t>
            </a:r>
          </a:p>
        </p:txBody>
      </p:sp>
      <p:sp>
        <p:nvSpPr>
          <p:cNvPr id="28" name="SC cell in 4"/>
          <p:cNvSpPr/>
          <p:nvPr/>
        </p:nvSpPr>
        <p:spPr>
          <a:xfrm>
            <a:off x="5929312" y="1414462"/>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29" name="SC cell sh 4"/>
          <p:cNvSpPr/>
          <p:nvPr/>
        </p:nvSpPr>
        <p:spPr>
          <a:xfrm>
            <a:off x="5929312" y="1943100"/>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30" name="SC cell up 4"/>
          <p:cNvSpPr/>
          <p:nvPr/>
        </p:nvSpPr>
        <p:spPr>
          <a:xfrm>
            <a:off x="5929312" y="2471737"/>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31" name="SC head 4"/>
          <p:cNvSpPr/>
          <p:nvPr/>
        </p:nvSpPr>
        <p:spPr>
          <a:xfrm>
            <a:off x="5929312" y="914400"/>
            <a:ext cx="428625" cy="128587"/>
          </a:xfrm>
          <a:prstGeom prst="rect">
            <a:avLst/>
          </a:prstGeom>
          <a:noFill/>
          <a:ln>
            <a:noFill/>
          </a:ln>
        </p:spPr>
        <p:txBody>
          <a:bodyPr rtlCol="0" anchor="ctr" wrap="square" lIns="0" rIns="0" tIns="0" bIns="0"/>
          <a:lstStyle/>
          <a:p>
            <a:pPr algn="ctr"/>
            <a:r>
              <a:rPr sz="618" b="1">
                <a:solidFill>
                  <a:srgbClr val="9E9E9E"/>
                </a:solidFill>
                <a:latin typeface="Calibri"/>
              </a:rPr>
              <a:t>valid</a:t>
            </a:r>
          </a:p>
        </p:txBody>
      </p:sp>
      <p:sp>
        <p:nvSpPr>
          <p:cNvPr id="32" name="SC cell in 5"/>
          <p:cNvSpPr/>
          <p:nvPr/>
        </p:nvSpPr>
        <p:spPr>
          <a:xfrm>
            <a:off x="6415087" y="1414462"/>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33" name="SC cell sh 5"/>
          <p:cNvSpPr/>
          <p:nvPr/>
        </p:nvSpPr>
        <p:spPr>
          <a:xfrm>
            <a:off x="6415087" y="1943100"/>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34" name="SC cell up 5"/>
          <p:cNvSpPr/>
          <p:nvPr/>
        </p:nvSpPr>
        <p:spPr>
          <a:xfrm>
            <a:off x="6415087" y="2471737"/>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35" name="SC head 5"/>
          <p:cNvSpPr/>
          <p:nvPr/>
        </p:nvSpPr>
        <p:spPr>
          <a:xfrm>
            <a:off x="6415087" y="914400"/>
            <a:ext cx="428625" cy="128587"/>
          </a:xfrm>
          <a:prstGeom prst="rect">
            <a:avLst/>
          </a:prstGeom>
          <a:noFill/>
          <a:ln>
            <a:noFill/>
          </a:ln>
        </p:spPr>
        <p:txBody>
          <a:bodyPr rtlCol="0" anchor="ctr" wrap="square" lIns="0" rIns="0" tIns="0" bIns="0"/>
          <a:lstStyle/>
          <a:p>
            <a:pPr algn="ctr"/>
            <a:r>
              <a:rPr sz="618" b="1">
                <a:solidFill>
                  <a:srgbClr val="9E9E9E"/>
                </a:solidFill>
                <a:latin typeface="Calibri"/>
              </a:rPr>
              <a:t>p2</a:t>
            </a:r>
          </a:p>
        </p:txBody>
      </p:sp>
      <p:sp>
        <p:nvSpPr>
          <p:cNvPr id="36" name="SC cell in 6"/>
          <p:cNvSpPr/>
          <p:nvPr/>
        </p:nvSpPr>
        <p:spPr>
          <a:xfrm>
            <a:off x="6900862" y="1414462"/>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37" name="SC cell sh 6"/>
          <p:cNvSpPr/>
          <p:nvPr/>
        </p:nvSpPr>
        <p:spPr>
          <a:xfrm>
            <a:off x="6900862" y="1943100"/>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38" name="SC cell up 6"/>
          <p:cNvSpPr/>
          <p:nvPr/>
        </p:nvSpPr>
        <p:spPr>
          <a:xfrm>
            <a:off x="6900862" y="2471737"/>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39" name="SC head 6"/>
          <p:cNvSpPr/>
          <p:nvPr/>
        </p:nvSpPr>
        <p:spPr>
          <a:xfrm>
            <a:off x="6900862" y="914400"/>
            <a:ext cx="428625" cy="128587"/>
          </a:xfrm>
          <a:prstGeom prst="rect">
            <a:avLst/>
          </a:prstGeom>
          <a:noFill/>
          <a:ln>
            <a:noFill/>
          </a:ln>
        </p:spPr>
        <p:txBody>
          <a:bodyPr rtlCol="0" anchor="ctr" wrap="square" lIns="0" rIns="0" tIns="0" bIns="0"/>
          <a:lstStyle/>
          <a:p>
            <a:pPr algn="ctr"/>
            <a:r>
              <a:rPr sz="618" b="1">
                <a:solidFill>
                  <a:srgbClr val="9E9E9E"/>
                </a:solidFill>
                <a:latin typeface="Calibri"/>
              </a:rPr>
              <a:t>p1</a:t>
            </a:r>
          </a:p>
        </p:txBody>
      </p:sp>
      <p:sp>
        <p:nvSpPr>
          <p:cNvPr id="40" name="SC cell in 7"/>
          <p:cNvSpPr/>
          <p:nvPr/>
        </p:nvSpPr>
        <p:spPr>
          <a:xfrm>
            <a:off x="7386637" y="1414462"/>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41" name="SC cell sh 7"/>
          <p:cNvSpPr/>
          <p:nvPr/>
        </p:nvSpPr>
        <p:spPr>
          <a:xfrm>
            <a:off x="7386637" y="1943100"/>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42" name="SC cell up 7"/>
          <p:cNvSpPr/>
          <p:nvPr/>
        </p:nvSpPr>
        <p:spPr>
          <a:xfrm>
            <a:off x="7386637" y="2471737"/>
            <a:ext cx="428625" cy="314325"/>
          </a:xfrm>
          <a:prstGeom prst="rect">
            <a:avLst/>
          </a:prstGeom>
          <a:solidFill>
            <a:srgbClr val="FFFFFF"/>
          </a:solidFill>
          <a:ln w="12700">
            <a:solidFill>
              <a:srgbClr val="9E9E9E"/>
            </a:solidFill>
          </a:ln>
        </p:spPr>
        <p:txBody>
          <a:bodyPr rtlCol="0" anchor="ctr" wrap="square" lIns="28575" rIns="28575" tIns="28575" bIns="28575"/>
          <a:lstStyle/>
          <a:p>
            <a:pPr algn="ctr"/>
          </a:p>
        </p:txBody>
      </p:sp>
      <p:sp>
        <p:nvSpPr>
          <p:cNvPr id="43" name="SC head 7"/>
          <p:cNvSpPr/>
          <p:nvPr/>
        </p:nvSpPr>
        <p:spPr>
          <a:xfrm>
            <a:off x="7386637" y="914400"/>
            <a:ext cx="428625" cy="128587"/>
          </a:xfrm>
          <a:prstGeom prst="rect">
            <a:avLst/>
          </a:prstGeom>
          <a:noFill/>
          <a:ln>
            <a:noFill/>
          </a:ln>
        </p:spPr>
        <p:txBody>
          <a:bodyPr rtlCol="0" anchor="ctr" wrap="square" lIns="0" rIns="0" tIns="0" bIns="0"/>
          <a:lstStyle/>
          <a:p>
            <a:pPr algn="ctr"/>
            <a:r>
              <a:rPr sz="618" b="1">
                <a:solidFill>
                  <a:srgbClr val="9E9E9E"/>
                </a:solidFill>
                <a:latin typeface="Calibri"/>
              </a:rPr>
              <a:t>p0</a:t>
            </a:r>
          </a:p>
        </p:txBody>
      </p:sp>
      <p:sp>
        <p:nvSpPr>
          <p:cNvPr id="44" name="SC mgr"/>
          <p:cNvSpPr/>
          <p:nvPr/>
        </p:nvSpPr>
        <p:spPr>
          <a:xfrm>
            <a:off x="142875" y="1400175"/>
            <a:ext cx="842962" cy="342900"/>
          </a:xfrm>
          <a:prstGeom prst="roundRect">
            <a:avLst>
              <a:gd name="adj" fmla="val 15000"/>
            </a:avLst>
          </a:prstGeom>
          <a:solidFill>
            <a:srgbClr val="EDE7F6"/>
          </a:solidFill>
          <a:ln w="19050">
            <a:solidFill>
              <a:srgbClr val="93005F"/>
            </a:solidFill>
          </a:ln>
        </p:spPr>
        <p:txBody>
          <a:bodyPr rtlCol="0" anchor="ctr" wrap="square" lIns="14287" rIns="14287" tIns="14287" bIns="14287"/>
          <a:lstStyle/>
          <a:p>
            <a:pPr algn="ctr"/>
            <a:r>
              <a:rPr sz="787" b="1">
                <a:solidFill>
                  <a:srgbClr val="12343B"/>
                </a:solidFill>
                <a:latin typeface="Calibri"/>
              </a:rPr>
              <a:t>Manager</a:t>
            </a:r>
          </a:p>
          <a:p>
            <a:pPr algn="ctr"/>
            <a:r>
              <a:rPr sz="675" b="0">
                <a:solidFill>
                  <a:srgbClr val="9E9E9E"/>
                </a:solidFill>
                <a:latin typeface="Calibri"/>
              </a:rPr>
              <a:t>stalled</a:t>
            </a:r>
          </a:p>
        </p:txBody>
      </p:sp>
      <p:cxnSp>
        <p:nvCxnSpPr>
          <p:cNvPr id="45" name="SC mgr link"/>
          <p:cNvCxnSpPr/>
          <p:nvPr/>
        </p:nvCxnSpPr>
        <p:spPr>
          <a:xfrm>
            <a:off x="985837" y="1571625"/>
            <a:ext cx="85725" cy="0"/>
          </a:xfrm>
          <a:prstGeom prst="line">
            <a:avLst/>
          </a:prstGeom>
          <a:ln w="19050">
            <a:solidFill>
              <a:srgbClr val="9E9E9E"/>
            </a:solidFill>
            <a:tailEnd type="triangle" w="med" len="med"/>
          </a:ln>
        </p:spPr>
      </p:cxnSp>
      <p:cxnSp>
        <p:nvCxnSpPr>
          <p:cNvPr id="46" name="SC up link"/>
          <p:cNvCxnSpPr/>
          <p:nvPr/>
        </p:nvCxnSpPr>
        <p:spPr>
          <a:xfrm>
            <a:off x="3200400" y="2628900"/>
            <a:ext cx="371475" cy="0"/>
          </a:xfrm>
          <a:prstGeom prst="line">
            <a:avLst/>
          </a:prstGeom>
          <a:ln w="19050">
            <a:solidFill>
              <a:srgbClr val="9E9E9E"/>
            </a:solidFill>
            <a:tailEnd type="triangle" w="med" len="med"/>
          </a:ln>
        </p:spPr>
      </p:cxnSp>
      <p:cxnSp>
        <p:nvCxnSpPr>
          <p:cNvPr id="47" name="SC sub link"/>
          <p:cNvCxnSpPr/>
          <p:nvPr/>
        </p:nvCxnSpPr>
        <p:spPr>
          <a:xfrm>
            <a:off x="5429250" y="1571625"/>
            <a:ext cx="371475" cy="0"/>
          </a:xfrm>
          <a:prstGeom prst="line">
            <a:avLst/>
          </a:prstGeom>
          <a:ln w="19050">
            <a:solidFill>
              <a:srgbClr val="9E9E9E"/>
            </a:solidFill>
            <a:tailEnd type="triangle" w="med" len="med"/>
          </a:ln>
        </p:spPr>
      </p:cxnSp>
      <p:sp>
        <p:nvSpPr>
          <p:cNvPr id="48" name="SC sub"/>
          <p:cNvSpPr/>
          <p:nvPr/>
        </p:nvSpPr>
        <p:spPr>
          <a:xfrm>
            <a:off x="8001000" y="2428875"/>
            <a:ext cx="1071562" cy="400050"/>
          </a:xfrm>
          <a:prstGeom prst="roundRect">
            <a:avLst>
              <a:gd name="adj" fmla="val 15000"/>
            </a:avLst>
          </a:prstGeom>
          <a:solidFill>
            <a:srgbClr val="E3F2FD"/>
          </a:solidFill>
          <a:ln w="19050">
            <a:solidFill>
              <a:srgbClr val="1E5A8C"/>
            </a:solidFill>
          </a:ln>
        </p:spPr>
        <p:txBody>
          <a:bodyPr rtlCol="0" anchor="ctr" wrap="square" lIns="14287" rIns="14287" tIns="14287" bIns="14287"/>
          <a:lstStyle/>
          <a:p>
            <a:pPr algn="ctr"/>
            <a:r>
              <a:rPr sz="787" b="1">
                <a:solidFill>
                  <a:srgbClr val="12343B"/>
                </a:solidFill>
                <a:latin typeface="Calibri"/>
              </a:rPr>
              <a:t>Subordinate</a:t>
            </a:r>
          </a:p>
          <a:p>
            <a:pPr algn="ctr"/>
            <a:r>
              <a:rPr sz="675" b="0">
                <a:solidFill>
                  <a:srgbClr val="9E9E9E"/>
                </a:solidFill>
                <a:latin typeface="Calibri"/>
              </a:rPr>
              <a:t>req held at 0</a:t>
            </a:r>
          </a:p>
        </p:txBody>
      </p:sp>
      <p:cxnSp>
        <p:nvCxnSpPr>
          <p:cNvPr id="49" name="SC sub out"/>
          <p:cNvCxnSpPr/>
          <p:nvPr/>
        </p:nvCxnSpPr>
        <p:spPr>
          <a:xfrm>
            <a:off x="7929562" y="2628900"/>
            <a:ext cx="71438" cy="0"/>
          </a:xfrm>
          <a:prstGeom prst="line">
            <a:avLst/>
          </a:prstGeom>
          <a:ln w="19050">
            <a:solidFill>
              <a:srgbClr val="9E9E9E"/>
            </a:solidFill>
            <a:tailEnd type="triangle" w="med" len="med"/>
          </a:ln>
        </p:spPr>
      </p:cxnSp>
      <p:sp>
        <p:nvSpPr>
          <p:cNvPr id="50" name="SC tdi"/>
          <p:cNvSpPr/>
          <p:nvPr/>
        </p:nvSpPr>
        <p:spPr>
          <a:xfrm>
            <a:off x="142875" y="1985962"/>
            <a:ext cx="785812" cy="228600"/>
          </a:xfrm>
          <a:prstGeom prst="rect">
            <a:avLst/>
          </a:prstGeom>
          <a:noFill/>
          <a:ln>
            <a:noFill/>
          </a:ln>
        </p:spPr>
        <p:txBody>
          <a:bodyPr rtlCol="0" anchor="ctr" wrap="square" lIns="28575" rIns="28575" tIns="28575" bIns="28575"/>
          <a:lstStyle/>
          <a:p>
            <a:pPr algn="l"/>
            <a:r>
              <a:rPr sz="956" b="1">
                <a:solidFill>
                  <a:srgbClr val="E39B2D"/>
                </a:solidFill>
                <a:latin typeface="Calibri"/>
              </a:rPr>
              <a:t>TDI</a:t>
            </a:r>
          </a:p>
        </p:txBody>
      </p:sp>
      <p:cxnSp>
        <p:nvCxnSpPr>
          <p:cNvPr id="51" name="SC tdi w"/>
          <p:cNvCxnSpPr/>
          <p:nvPr/>
        </p:nvCxnSpPr>
        <p:spPr>
          <a:xfrm>
            <a:off x="500062" y="2100262"/>
            <a:ext cx="700088" cy="0"/>
          </a:xfrm>
          <a:prstGeom prst="line">
            <a:avLst/>
          </a:prstGeom>
          <a:ln w="31750">
            <a:solidFill>
              <a:srgbClr val="E39B2D"/>
            </a:solidFill>
            <a:tailEnd type="triangle" w="med" len="med"/>
          </a:ln>
        </p:spPr>
      </p:cxnSp>
      <p:cxnSp>
        <p:nvCxnSpPr>
          <p:cNvPr id="52" name="SC ch 1"/>
          <p:cNvCxnSpPr/>
          <p:nvPr/>
        </p:nvCxnSpPr>
        <p:spPr>
          <a:xfrm>
            <a:off x="3086100" y="2100262"/>
            <a:ext cx="300037" cy="0"/>
          </a:xfrm>
          <a:prstGeom prst="line">
            <a:avLst/>
          </a:prstGeom>
          <a:ln w="31750">
            <a:solidFill>
              <a:srgbClr val="E39B2D"/>
            </a:solidFill>
            <a:prstDash val="dash"/>
          </a:ln>
        </p:spPr>
      </p:cxnSp>
      <p:cxnSp>
        <p:nvCxnSpPr>
          <p:cNvPr id="53" name="SC ch 2"/>
          <p:cNvCxnSpPr/>
          <p:nvPr/>
        </p:nvCxnSpPr>
        <p:spPr>
          <a:xfrm flipV="1">
            <a:off x="3386137" y="800100"/>
            <a:ext cx="0" cy="1300162"/>
          </a:xfrm>
          <a:prstGeom prst="line">
            <a:avLst/>
          </a:prstGeom>
          <a:ln w="31750">
            <a:solidFill>
              <a:srgbClr val="E39B2D"/>
            </a:solidFill>
            <a:prstDash val="dash"/>
          </a:ln>
        </p:spPr>
      </p:cxnSp>
      <p:cxnSp>
        <p:nvCxnSpPr>
          <p:cNvPr id="54" name="SC ch 3"/>
          <p:cNvCxnSpPr/>
          <p:nvPr/>
        </p:nvCxnSpPr>
        <p:spPr>
          <a:xfrm>
            <a:off x="3386137" y="800100"/>
            <a:ext cx="2243138" cy="0"/>
          </a:xfrm>
          <a:prstGeom prst="line">
            <a:avLst/>
          </a:prstGeom>
          <a:ln w="31750">
            <a:solidFill>
              <a:srgbClr val="E39B2D"/>
            </a:solidFill>
            <a:prstDash val="dash"/>
          </a:ln>
        </p:spPr>
      </p:cxnSp>
      <p:cxnSp>
        <p:nvCxnSpPr>
          <p:cNvPr id="55" name="SC ch 4"/>
          <p:cNvCxnSpPr/>
          <p:nvPr/>
        </p:nvCxnSpPr>
        <p:spPr>
          <a:xfrm>
            <a:off x="5629275" y="800100"/>
            <a:ext cx="0" cy="1300162"/>
          </a:xfrm>
          <a:prstGeom prst="line">
            <a:avLst/>
          </a:prstGeom>
          <a:ln w="31750">
            <a:solidFill>
              <a:srgbClr val="E39B2D"/>
            </a:solidFill>
            <a:prstDash val="dash"/>
          </a:ln>
        </p:spPr>
      </p:cxnSp>
      <p:cxnSp>
        <p:nvCxnSpPr>
          <p:cNvPr id="56" name="SC ch 5"/>
          <p:cNvCxnSpPr/>
          <p:nvPr/>
        </p:nvCxnSpPr>
        <p:spPr>
          <a:xfrm>
            <a:off x="5629275" y="2100262"/>
            <a:ext cx="300037" cy="0"/>
          </a:xfrm>
          <a:prstGeom prst="line">
            <a:avLst/>
          </a:prstGeom>
          <a:ln w="31750">
            <a:solidFill>
              <a:srgbClr val="E39B2D"/>
            </a:solidFill>
            <a:prstDash val="dash"/>
            <a:tailEnd type="triangle" w="med" len="med"/>
          </a:ln>
        </p:spPr>
      </p:cxnSp>
      <p:sp>
        <p:nvSpPr>
          <p:cNvPr id="57" name="SC ch lab"/>
          <p:cNvSpPr/>
          <p:nvPr/>
        </p:nvSpPr>
        <p:spPr>
          <a:xfrm>
            <a:off x="3714750" y="628650"/>
            <a:ext cx="1571625" cy="157162"/>
          </a:xfrm>
          <a:prstGeom prst="rect">
            <a:avLst/>
          </a:prstGeom>
          <a:noFill/>
          <a:ln>
            <a:noFill/>
          </a:ln>
        </p:spPr>
        <p:txBody>
          <a:bodyPr rtlCol="0" anchor="ctr" wrap="square" lIns="0" rIns="0" tIns="0" bIns="0"/>
          <a:lstStyle/>
          <a:p>
            <a:pPr algn="ctr"/>
            <a:r>
              <a:rPr sz="731" b="1">
                <a:solidFill>
                  <a:srgbClr val="E39B2D"/>
                </a:solidFill>
                <a:latin typeface="Calibri"/>
              </a:rPr>
              <a:t>scan chain</a:t>
            </a:r>
          </a:p>
        </p:txBody>
      </p:sp>
      <p:cxnSp>
        <p:nvCxnSpPr>
          <p:cNvPr id="58" name="SC tdo w"/>
          <p:cNvCxnSpPr/>
          <p:nvPr/>
        </p:nvCxnSpPr>
        <p:spPr>
          <a:xfrm>
            <a:off x="7815262" y="2100262"/>
            <a:ext cx="400050" cy="0"/>
          </a:xfrm>
          <a:prstGeom prst="line">
            <a:avLst/>
          </a:prstGeom>
          <a:ln w="31750">
            <a:solidFill>
              <a:srgbClr val="E39B2D"/>
            </a:solidFill>
            <a:tailEnd type="triangle" w="med" len="med"/>
          </a:ln>
        </p:spPr>
      </p:cxnSp>
      <p:sp>
        <p:nvSpPr>
          <p:cNvPr id="59" name="SC tdo"/>
          <p:cNvSpPr/>
          <p:nvPr/>
        </p:nvSpPr>
        <p:spPr>
          <a:xfrm>
            <a:off x="8243887" y="1985962"/>
            <a:ext cx="785812" cy="228600"/>
          </a:xfrm>
          <a:prstGeom prst="rect">
            <a:avLst/>
          </a:prstGeom>
          <a:noFill/>
          <a:ln>
            <a:noFill/>
          </a:ln>
        </p:spPr>
        <p:txBody>
          <a:bodyPr rtlCol="0" anchor="ctr" wrap="square" lIns="28575" rIns="28575" tIns="28575" bIns="28575"/>
          <a:lstStyle/>
          <a:p>
            <a:pPr algn="l"/>
            <a:r>
              <a:rPr sz="956" b="1">
                <a:solidFill>
                  <a:srgbClr val="E39B2D"/>
                </a:solidFill>
                <a:latin typeface="Calibri"/>
              </a:rPr>
              <a:t>TDO</a:t>
            </a:r>
          </a:p>
        </p:txBody>
      </p:sp>
      <p:sp>
        <p:nvSpPr>
          <p:cNvPr id="60" name="SC tdo lab"/>
          <p:cNvSpPr/>
          <p:nvPr/>
        </p:nvSpPr>
        <p:spPr>
          <a:xfrm>
            <a:off x="8001000" y="1614487"/>
            <a:ext cx="1071562" cy="128587"/>
          </a:xfrm>
          <a:prstGeom prst="rect">
            <a:avLst/>
          </a:prstGeom>
          <a:noFill/>
          <a:ln>
            <a:noFill/>
          </a:ln>
        </p:spPr>
        <p:txBody>
          <a:bodyPr rtlCol="0" anchor="ctr" wrap="square" lIns="0" rIns="0" tIns="0" bIns="0"/>
          <a:lstStyle/>
          <a:p>
            <a:pPr algn="ctr"/>
            <a:r>
              <a:rPr sz="618" b="1">
                <a:solidFill>
                  <a:srgbClr val="9E9E9E"/>
                </a:solidFill>
                <a:latin typeface="Calibri"/>
              </a:rPr>
              <a:t>read out</a:t>
            </a:r>
          </a:p>
        </p:txBody>
      </p:sp>
      <p:sp>
        <p:nvSpPr>
          <p:cNvPr id="61" name="SC tdi lab"/>
          <p:cNvSpPr/>
          <p:nvPr/>
        </p:nvSpPr>
        <p:spPr>
          <a:xfrm>
            <a:off x="100012" y="2228850"/>
            <a:ext cx="928687" cy="128587"/>
          </a:xfrm>
          <a:prstGeom prst="rect">
            <a:avLst/>
          </a:prstGeom>
          <a:noFill/>
          <a:ln>
            <a:noFill/>
          </a:ln>
        </p:spPr>
        <p:txBody>
          <a:bodyPr rtlCol="0" anchor="ctr" wrap="square" lIns="0" rIns="0" tIns="0" bIns="0"/>
          <a:lstStyle/>
          <a:p>
            <a:pPr algn="ctr"/>
            <a:r>
              <a:rPr sz="618" b="1">
                <a:solidFill>
                  <a:srgbClr val="9E9E9E"/>
                </a:solidFill>
                <a:latin typeface="Calibri"/>
              </a:rPr>
              <a:t>still to shift in</a:t>
            </a:r>
          </a:p>
        </p:txBody>
      </p:sp>
      <p:sp>
        <p:nvSpPr>
          <p:cNvPr id="62" name="SC op 0"/>
          <p:cNvSpPr/>
          <p:nvPr/>
        </p:nvSpPr>
        <p:spPr>
          <a:xfrm>
            <a:off x="285750" y="3357562"/>
            <a:ext cx="2071687" cy="771525"/>
          </a:xfrm>
          <a:prstGeom prst="roundRect">
            <a:avLst>
              <a:gd name="adj" fmla="val 9259"/>
            </a:avLst>
          </a:prstGeom>
          <a:solidFill>
            <a:srgbClr val="F5F5F5"/>
          </a:solidFill>
          <a:ln w="12700">
            <a:solidFill>
              <a:srgbClr val="DDDDDD"/>
            </a:solidFill>
          </a:ln>
        </p:spPr>
        <p:txBody>
          <a:bodyPr rtlCol="0" anchor="ctr" wrap="square" lIns="28575" rIns="28575" tIns="28575" bIns="28575"/>
          <a:lstStyle/>
          <a:p>
            <a:pPr algn="ctr"/>
            <a:r>
              <a:rPr sz="1068" b="1">
                <a:solidFill>
                  <a:srgbClr val="12343B"/>
                </a:solidFill>
                <a:latin typeface="Calibri"/>
              </a:rPr>
              <a:t>Capture-DR</a:t>
            </a:r>
          </a:p>
          <a:p>
            <a:pPr algn="ctr"/>
            <a:r>
              <a:rPr sz="843" b="0">
                <a:solidFill>
                  <a:srgbClr val="12343B"/>
                </a:solidFill>
                <a:latin typeface="Calibri"/>
              </a:rPr>
              <a:t>input → shift stage</a:t>
            </a:r>
          </a:p>
          <a:p>
            <a:pPr algn="ctr"/>
            <a:r>
              <a:rPr sz="787" b="0">
                <a:solidFill>
                  <a:srgbClr val="9E9E9E"/>
                </a:solidFill>
                <a:latin typeface="Calibri"/>
              </a:rPr>
              <a:t>all bits at once</a:t>
            </a:r>
          </a:p>
        </p:txBody>
      </p:sp>
      <p:sp>
        <p:nvSpPr>
          <p:cNvPr id="63" name="SC op 1"/>
          <p:cNvSpPr/>
          <p:nvPr/>
        </p:nvSpPr>
        <p:spPr>
          <a:xfrm>
            <a:off x="2443162" y="3357562"/>
            <a:ext cx="2071687" cy="771525"/>
          </a:xfrm>
          <a:prstGeom prst="roundRect">
            <a:avLst>
              <a:gd name="adj" fmla="val 9259"/>
            </a:avLst>
          </a:prstGeom>
          <a:solidFill>
            <a:srgbClr val="F5F5F5"/>
          </a:solidFill>
          <a:ln w="12700">
            <a:solidFill>
              <a:srgbClr val="DDDDDD"/>
            </a:solidFill>
          </a:ln>
        </p:spPr>
        <p:txBody>
          <a:bodyPr rtlCol="0" anchor="ctr" wrap="square" lIns="28575" rIns="28575" tIns="28575" bIns="28575"/>
          <a:lstStyle/>
          <a:p>
            <a:pPr algn="ctr"/>
            <a:r>
              <a:rPr sz="1068" b="1">
                <a:solidFill>
                  <a:srgbClr val="12343B"/>
                </a:solidFill>
                <a:latin typeface="Calibri"/>
              </a:rPr>
              <a:t>Shift-DR</a:t>
            </a:r>
          </a:p>
          <a:p>
            <a:pPr algn="ctr"/>
            <a:r>
              <a:rPr sz="843" b="0">
                <a:solidFill>
                  <a:srgbClr val="12343B"/>
                </a:solidFill>
                <a:latin typeface="Calibri"/>
              </a:rPr>
              <a:t>TDI → … → TDO</a:t>
            </a:r>
          </a:p>
          <a:p>
            <a:pPr algn="ctr"/>
            <a:r>
              <a:rPr sz="787" b="0">
                <a:solidFill>
                  <a:srgbClr val="9E9E9E"/>
                </a:solidFill>
                <a:latin typeface="Calibri"/>
              </a:rPr>
              <a:t>one bit per TCK</a:t>
            </a:r>
          </a:p>
        </p:txBody>
      </p:sp>
      <p:sp>
        <p:nvSpPr>
          <p:cNvPr id="64" name="SC op 2"/>
          <p:cNvSpPr/>
          <p:nvPr/>
        </p:nvSpPr>
        <p:spPr>
          <a:xfrm>
            <a:off x="4600575" y="3357562"/>
            <a:ext cx="2071687" cy="771525"/>
          </a:xfrm>
          <a:prstGeom prst="roundRect">
            <a:avLst>
              <a:gd name="adj" fmla="val 9259"/>
            </a:avLst>
          </a:prstGeom>
          <a:solidFill>
            <a:srgbClr val="F5F5F5"/>
          </a:solidFill>
          <a:ln w="12700">
            <a:solidFill>
              <a:srgbClr val="DDDDDD"/>
            </a:solidFill>
          </a:ln>
        </p:spPr>
        <p:txBody>
          <a:bodyPr rtlCol="0" anchor="ctr" wrap="square" lIns="28575" rIns="28575" tIns="28575" bIns="28575"/>
          <a:lstStyle/>
          <a:p>
            <a:pPr algn="ctr"/>
            <a:r>
              <a:rPr sz="1068" b="1">
                <a:solidFill>
                  <a:srgbClr val="12343B"/>
                </a:solidFill>
                <a:latin typeface="Calibri"/>
              </a:rPr>
              <a:t>Update-DR</a:t>
            </a:r>
          </a:p>
          <a:p>
            <a:pPr algn="ctr"/>
            <a:r>
              <a:rPr sz="843" b="0">
                <a:solidFill>
                  <a:srgbClr val="12343B"/>
                </a:solidFill>
                <a:latin typeface="Calibri"/>
              </a:rPr>
              <a:t>shift → update stage</a:t>
            </a:r>
          </a:p>
          <a:p>
            <a:pPr algn="ctr"/>
            <a:r>
              <a:rPr sz="787" b="0">
                <a:solidFill>
                  <a:srgbClr val="9E9E9E"/>
                </a:solidFill>
                <a:latin typeface="Calibri"/>
              </a:rPr>
              <a:t>all bits at once</a:t>
            </a:r>
          </a:p>
        </p:txBody>
      </p:sp>
      <p:sp>
        <p:nvSpPr>
          <p:cNvPr id="65" name="SC op 3"/>
          <p:cNvSpPr/>
          <p:nvPr/>
        </p:nvSpPr>
        <p:spPr>
          <a:xfrm>
            <a:off x="6757987" y="3357562"/>
            <a:ext cx="2071687" cy="771525"/>
          </a:xfrm>
          <a:prstGeom prst="roundRect">
            <a:avLst>
              <a:gd name="adj" fmla="val 9259"/>
            </a:avLst>
          </a:prstGeom>
          <a:solidFill>
            <a:srgbClr val="F5F5F5"/>
          </a:solidFill>
          <a:ln w="12700">
            <a:solidFill>
              <a:srgbClr val="DDDDDD"/>
            </a:solidFill>
          </a:ln>
        </p:spPr>
        <p:txBody>
          <a:bodyPr rtlCol="0" anchor="ctr" wrap="square" lIns="28575" rIns="28575" tIns="28575" bIns="28575"/>
          <a:lstStyle/>
          <a:p>
            <a:pPr algn="ctr"/>
            <a:r>
              <a:rPr sz="1068" b="1">
                <a:solidFill>
                  <a:srgbClr val="12343B"/>
                </a:solidFill>
                <a:latin typeface="Calibri"/>
              </a:rPr>
              <a:t>Step</a:t>
            </a:r>
          </a:p>
          <a:p>
            <a:pPr algn="ctr"/>
            <a:r>
              <a:rPr sz="843" b="0">
                <a:solidFill>
                  <a:srgbClr val="12343B"/>
                </a:solidFill>
                <a:latin typeface="Calibri"/>
              </a:rPr>
              <a:t>update stage drives</a:t>
            </a:r>
          </a:p>
          <a:p>
            <a:pPr algn="ctr"/>
            <a:r>
              <a:rPr sz="787" b="0">
                <a:solidFill>
                  <a:srgbClr val="9E9E9E"/>
                </a:solidFill>
                <a:latin typeface="Calibri"/>
              </a:rPr>
              <a:t>the bus for 1 TCK</a:t>
            </a:r>
          </a:p>
        </p:txBody>
      </p:sp>
      <p:cxnSp>
        <p:nvCxnSpPr>
          <p:cNvPr id="66" name="SC op arr 0"/>
          <p:cNvCxnSpPr/>
          <p:nvPr/>
        </p:nvCxnSpPr>
        <p:spPr>
          <a:xfrm>
            <a:off x="2357437" y="3743325"/>
            <a:ext cx="85725" cy="0"/>
          </a:xfrm>
          <a:prstGeom prst="line">
            <a:avLst/>
          </a:prstGeom>
          <a:ln w="19050">
            <a:solidFill>
              <a:srgbClr val="9E9E9E"/>
            </a:solidFill>
            <a:tailEnd type="triangle" w="med" len="med"/>
          </a:ln>
        </p:spPr>
      </p:cxnSp>
      <p:cxnSp>
        <p:nvCxnSpPr>
          <p:cNvPr id="67" name="SC op arr 1"/>
          <p:cNvCxnSpPr/>
          <p:nvPr/>
        </p:nvCxnSpPr>
        <p:spPr>
          <a:xfrm>
            <a:off x="4514850" y="3743325"/>
            <a:ext cx="85725" cy="0"/>
          </a:xfrm>
          <a:prstGeom prst="line">
            <a:avLst/>
          </a:prstGeom>
          <a:ln w="19050">
            <a:solidFill>
              <a:srgbClr val="9E9E9E"/>
            </a:solidFill>
            <a:tailEnd type="triangle" w="med" len="med"/>
          </a:ln>
        </p:spPr>
      </p:cxnSp>
      <p:cxnSp>
        <p:nvCxnSpPr>
          <p:cNvPr id="68" name="SC op arr 2"/>
          <p:cNvCxnSpPr/>
          <p:nvPr/>
        </p:nvCxnSpPr>
        <p:spPr>
          <a:xfrm>
            <a:off x="6672262" y="3743325"/>
            <a:ext cx="85725" cy="0"/>
          </a:xfrm>
          <a:prstGeom prst="line">
            <a:avLst/>
          </a:prstGeom>
          <a:ln w="19050">
            <a:solidFill>
              <a:srgbClr val="9E9E9E"/>
            </a:solidFill>
            <a:tailEnd type="triangle" w="med" len="med"/>
          </a:ln>
        </p:spPr>
      </p:cxnSp>
      <p:sp>
        <p:nvSpPr>
          <p:cNvPr id="69" name="SC sh0 0"/>
          <p:cNvSpPr/>
          <p:nvPr/>
        </p:nvSpPr>
        <p:spPr>
          <a:xfrm>
            <a:off x="1200150"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70" name="SC in0 0"/>
          <p:cNvSpPr/>
          <p:nvPr/>
        </p:nvSpPr>
        <p:spPr>
          <a:xfrm>
            <a:off x="1200150" y="1414462"/>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71" name="SC up0 0"/>
          <p:cNvSpPr/>
          <p:nvPr/>
        </p:nvSpPr>
        <p:spPr>
          <a:xfrm>
            <a:off x="1200150" y="2471737"/>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72" name="SC sh0 1"/>
          <p:cNvSpPr/>
          <p:nvPr/>
        </p:nvSpPr>
        <p:spPr>
          <a:xfrm>
            <a:off x="1685925"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73" name="SC in0 1"/>
          <p:cNvSpPr/>
          <p:nvPr/>
        </p:nvSpPr>
        <p:spPr>
          <a:xfrm>
            <a:off x="1685925" y="1414462"/>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74" name="SC up0 1"/>
          <p:cNvSpPr/>
          <p:nvPr/>
        </p:nvSpPr>
        <p:spPr>
          <a:xfrm>
            <a:off x="1685925" y="2471737"/>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75" name="SC sh0 2"/>
          <p:cNvSpPr/>
          <p:nvPr/>
        </p:nvSpPr>
        <p:spPr>
          <a:xfrm>
            <a:off x="2171700"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76" name="SC in0 2"/>
          <p:cNvSpPr/>
          <p:nvPr/>
        </p:nvSpPr>
        <p:spPr>
          <a:xfrm>
            <a:off x="2171700" y="1414462"/>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77" name="SC up0 2"/>
          <p:cNvSpPr/>
          <p:nvPr/>
        </p:nvSpPr>
        <p:spPr>
          <a:xfrm>
            <a:off x="2171700" y="2471737"/>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78" name="SC sh0 3"/>
          <p:cNvSpPr/>
          <p:nvPr/>
        </p:nvSpPr>
        <p:spPr>
          <a:xfrm>
            <a:off x="2657475"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79" name="SC in0 3"/>
          <p:cNvSpPr/>
          <p:nvPr/>
        </p:nvSpPr>
        <p:spPr>
          <a:xfrm>
            <a:off x="2657475" y="1414462"/>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80" name="SC up0 3"/>
          <p:cNvSpPr/>
          <p:nvPr/>
        </p:nvSpPr>
        <p:spPr>
          <a:xfrm>
            <a:off x="2657475" y="2471737"/>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81" name="SC sh0 4"/>
          <p:cNvSpPr/>
          <p:nvPr/>
        </p:nvSpPr>
        <p:spPr>
          <a:xfrm>
            <a:off x="592931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82" name="SC in0 4"/>
          <p:cNvSpPr/>
          <p:nvPr/>
        </p:nvSpPr>
        <p:spPr>
          <a:xfrm>
            <a:off x="5929312" y="1414462"/>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83" name="SC up0 4"/>
          <p:cNvSpPr/>
          <p:nvPr/>
        </p:nvSpPr>
        <p:spPr>
          <a:xfrm>
            <a:off x="5929312" y="2471737"/>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84" name="SC sh0 5"/>
          <p:cNvSpPr/>
          <p:nvPr/>
        </p:nvSpPr>
        <p:spPr>
          <a:xfrm>
            <a:off x="641508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85" name="SC in0 5"/>
          <p:cNvSpPr/>
          <p:nvPr/>
        </p:nvSpPr>
        <p:spPr>
          <a:xfrm>
            <a:off x="6415087" y="1414462"/>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86" name="SC up0 5"/>
          <p:cNvSpPr/>
          <p:nvPr/>
        </p:nvSpPr>
        <p:spPr>
          <a:xfrm>
            <a:off x="6415087" y="2471737"/>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87" name="SC sh0 6"/>
          <p:cNvSpPr/>
          <p:nvPr/>
        </p:nvSpPr>
        <p:spPr>
          <a:xfrm>
            <a:off x="690086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88" name="SC in0 6"/>
          <p:cNvSpPr/>
          <p:nvPr/>
        </p:nvSpPr>
        <p:spPr>
          <a:xfrm>
            <a:off x="6900862" y="1414462"/>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89" name="SC up0 6"/>
          <p:cNvSpPr/>
          <p:nvPr/>
        </p:nvSpPr>
        <p:spPr>
          <a:xfrm>
            <a:off x="6900862" y="2471737"/>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90" name="SC sh0 7"/>
          <p:cNvSpPr/>
          <p:nvPr/>
        </p:nvSpPr>
        <p:spPr>
          <a:xfrm>
            <a:off x="738663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91" name="SC in0 7"/>
          <p:cNvSpPr/>
          <p:nvPr/>
        </p:nvSpPr>
        <p:spPr>
          <a:xfrm>
            <a:off x="7386637" y="1414462"/>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92" name="SC up0 7"/>
          <p:cNvSpPr/>
          <p:nvPr/>
        </p:nvSpPr>
        <p:spPr>
          <a:xfrm>
            <a:off x="7386637" y="2471737"/>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93" name="SC cap 0"/>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Every cut register is one scan cell: a shift stage on the JTAG chain and an update stage</a:t>
            </a:r>
          </a:p>
          <a:p>
            <a:pPr algn="l"/>
            <a:r>
              <a:rPr sz="1237" b="0">
                <a:solidFill>
                  <a:srgbClr val="FFFFFF"/>
                </a:solidFill>
                <a:latin typeface="Calibri"/>
              </a:rPr>
              <a:t>that drives the bus. Here: two cuts with a valid bit and a 3-bit payload. Click to step through.</a:t>
            </a:r>
          </a:p>
        </p:txBody>
      </p:sp>
      <p:sp>
        <p:nvSpPr>
          <p:cNvPr id="94" name="SC op hl 1"/>
          <p:cNvSpPr/>
          <p:nvPr/>
        </p:nvSpPr>
        <p:spPr>
          <a:xfrm>
            <a:off x="2443162" y="3357562"/>
            <a:ext cx="2071687" cy="771525"/>
          </a:xfrm>
          <a:prstGeom prst="roundRect">
            <a:avLst>
              <a:gd name="adj" fmla="val 9259"/>
            </a:avLst>
          </a:prstGeom>
          <a:solidFill>
            <a:srgbClr val="FFF3E0"/>
          </a:solidFill>
          <a:ln w="38100">
            <a:solidFill>
              <a:srgbClr val="E39B2D"/>
            </a:solidFill>
          </a:ln>
        </p:spPr>
        <p:txBody>
          <a:bodyPr rtlCol="0" anchor="ctr" wrap="square" lIns="28575" rIns="28575" tIns="28575" bIns="28575"/>
          <a:lstStyle/>
          <a:p>
            <a:pPr algn="ctr"/>
            <a:r>
              <a:rPr sz="1068" b="1">
                <a:solidFill>
                  <a:srgbClr val="E39B2D"/>
                </a:solidFill>
                <a:latin typeface="Calibri"/>
              </a:rPr>
              <a:t>Shift-DR</a:t>
            </a:r>
          </a:p>
          <a:p>
            <a:pPr algn="ctr"/>
            <a:r>
              <a:rPr sz="843" b="1">
                <a:solidFill>
                  <a:srgbClr val="12343B"/>
                </a:solidFill>
                <a:latin typeface="Calibri"/>
              </a:rPr>
              <a:t>TDI → … → TDO</a:t>
            </a:r>
          </a:p>
          <a:p>
            <a:pPr algn="ctr"/>
            <a:r>
              <a:rPr sz="787" b="0">
                <a:solidFill>
                  <a:srgbClr val="12343B"/>
                </a:solidFill>
                <a:latin typeface="Calibri"/>
              </a:rPr>
              <a:t>one bit per TCK</a:t>
            </a:r>
          </a:p>
        </p:txBody>
      </p:sp>
      <p:sp>
        <p:nvSpPr>
          <p:cNvPr id="95" name="SC q a 0"/>
          <p:cNvSpPr/>
          <p:nvPr/>
        </p:nvSpPr>
        <p:spPr>
          <a:xfrm>
            <a:off x="0" y="2357437"/>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1101 0000</a:t>
            </a:r>
          </a:p>
        </p:txBody>
      </p:sp>
      <p:sp>
        <p:nvSpPr>
          <p:cNvPr id="96" name="SC o a 0"/>
          <p:cNvSpPr/>
          <p:nvPr/>
        </p:nvSpPr>
        <p:spPr>
          <a:xfrm>
            <a:off x="8072437" y="1743075"/>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
            </a:r>
          </a:p>
        </p:txBody>
      </p:sp>
      <p:sp>
        <p:nvSpPr>
          <p:cNvPr id="97" name="SC sh a 0 0"/>
          <p:cNvSpPr/>
          <p:nvPr/>
        </p:nvSpPr>
        <p:spPr>
          <a:xfrm>
            <a:off x="120015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98" name="SC sh a 0 1"/>
          <p:cNvSpPr/>
          <p:nvPr/>
        </p:nvSpPr>
        <p:spPr>
          <a:xfrm>
            <a:off x="1685925"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99" name="SC sh a 0 2"/>
          <p:cNvSpPr/>
          <p:nvPr/>
        </p:nvSpPr>
        <p:spPr>
          <a:xfrm>
            <a:off x="2171700"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100" name="SC sh a 0 3"/>
          <p:cNvSpPr/>
          <p:nvPr/>
        </p:nvSpPr>
        <p:spPr>
          <a:xfrm>
            <a:off x="2657475"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101" name="SC sh a 0 4"/>
          <p:cNvSpPr/>
          <p:nvPr/>
        </p:nvSpPr>
        <p:spPr>
          <a:xfrm>
            <a:off x="592931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102" name="SC sh a 0 5"/>
          <p:cNvSpPr/>
          <p:nvPr/>
        </p:nvSpPr>
        <p:spPr>
          <a:xfrm>
            <a:off x="641508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103" name="SC sh a 0 6"/>
          <p:cNvSpPr/>
          <p:nvPr/>
        </p:nvSpPr>
        <p:spPr>
          <a:xfrm>
            <a:off x="690086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104" name="SC sh a 0 7"/>
          <p:cNvSpPr/>
          <p:nvPr/>
        </p:nvSpPr>
        <p:spPr>
          <a:xfrm>
            <a:off x="738663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105" name="SC q a 1"/>
          <p:cNvSpPr/>
          <p:nvPr/>
        </p:nvSpPr>
        <p:spPr>
          <a:xfrm>
            <a:off x="0" y="2357437"/>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1101 000</a:t>
            </a:r>
          </a:p>
        </p:txBody>
      </p:sp>
      <p:sp>
        <p:nvSpPr>
          <p:cNvPr id="106" name="SC o a 1"/>
          <p:cNvSpPr/>
          <p:nvPr/>
        </p:nvSpPr>
        <p:spPr>
          <a:xfrm>
            <a:off x="8072437" y="1743075"/>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1</a:t>
            </a:r>
          </a:p>
        </p:txBody>
      </p:sp>
      <p:sp>
        <p:nvSpPr>
          <p:cNvPr id="107" name="SC tck a 0"/>
          <p:cNvSpPr/>
          <p:nvPr/>
        </p:nvSpPr>
        <p:spPr>
          <a:xfrm>
            <a:off x="7143750" y="142875"/>
            <a:ext cx="1714500" cy="285750"/>
          </a:xfrm>
          <a:prstGeom prst="rect">
            <a:avLst/>
          </a:prstGeom>
          <a:solidFill>
            <a:srgbClr val="FFFFFF"/>
          </a:solidFill>
          <a:ln>
            <a:noFill/>
          </a:ln>
        </p:spPr>
        <p:txBody>
          <a:bodyPr rtlCol="0" anchor="ctr" wrap="square" lIns="0" rIns="0" tIns="0" bIns="0"/>
          <a:lstStyle/>
          <a:p>
            <a:pPr algn="r"/>
            <a:r>
              <a:rPr sz="1012" b="1">
                <a:solidFill>
                  <a:srgbClr val="E39B2D"/>
                </a:solidFill>
                <a:latin typeface="Calibri"/>
              </a:rPr>
              <a:t>TCK 1 / 8</a:t>
            </a:r>
          </a:p>
        </p:txBody>
      </p:sp>
      <p:sp>
        <p:nvSpPr>
          <p:cNvPr id="108" name="SC sh a 1 0"/>
          <p:cNvSpPr/>
          <p:nvPr/>
        </p:nvSpPr>
        <p:spPr>
          <a:xfrm>
            <a:off x="120015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09" name="SC sh a 1 1"/>
          <p:cNvSpPr/>
          <p:nvPr/>
        </p:nvSpPr>
        <p:spPr>
          <a:xfrm>
            <a:off x="168592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10" name="SC sh a 1 2"/>
          <p:cNvSpPr/>
          <p:nvPr/>
        </p:nvSpPr>
        <p:spPr>
          <a:xfrm>
            <a:off x="2171700"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111" name="SC sh a 1 3"/>
          <p:cNvSpPr/>
          <p:nvPr/>
        </p:nvSpPr>
        <p:spPr>
          <a:xfrm>
            <a:off x="2657475"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112" name="SC sh a 1 4"/>
          <p:cNvSpPr/>
          <p:nvPr/>
        </p:nvSpPr>
        <p:spPr>
          <a:xfrm>
            <a:off x="592931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113" name="SC sh a 1 5"/>
          <p:cNvSpPr/>
          <p:nvPr/>
        </p:nvSpPr>
        <p:spPr>
          <a:xfrm>
            <a:off x="641508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114" name="SC sh a 1 6"/>
          <p:cNvSpPr/>
          <p:nvPr/>
        </p:nvSpPr>
        <p:spPr>
          <a:xfrm>
            <a:off x="690086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115" name="SC sh a 1 7"/>
          <p:cNvSpPr/>
          <p:nvPr/>
        </p:nvSpPr>
        <p:spPr>
          <a:xfrm>
            <a:off x="738663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116" name="SC q a 2"/>
          <p:cNvSpPr/>
          <p:nvPr/>
        </p:nvSpPr>
        <p:spPr>
          <a:xfrm>
            <a:off x="0" y="2357437"/>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1101 00</a:t>
            </a:r>
          </a:p>
        </p:txBody>
      </p:sp>
      <p:sp>
        <p:nvSpPr>
          <p:cNvPr id="117" name="SC o a 2"/>
          <p:cNvSpPr/>
          <p:nvPr/>
        </p:nvSpPr>
        <p:spPr>
          <a:xfrm>
            <a:off x="8072437" y="1743075"/>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01</a:t>
            </a:r>
          </a:p>
        </p:txBody>
      </p:sp>
      <p:sp>
        <p:nvSpPr>
          <p:cNvPr id="118" name="SC tck a 1"/>
          <p:cNvSpPr/>
          <p:nvPr/>
        </p:nvSpPr>
        <p:spPr>
          <a:xfrm>
            <a:off x="7143750" y="142875"/>
            <a:ext cx="1714500" cy="285750"/>
          </a:xfrm>
          <a:prstGeom prst="rect">
            <a:avLst/>
          </a:prstGeom>
          <a:solidFill>
            <a:srgbClr val="FFFFFF"/>
          </a:solidFill>
          <a:ln>
            <a:noFill/>
          </a:ln>
        </p:spPr>
        <p:txBody>
          <a:bodyPr rtlCol="0" anchor="ctr" wrap="square" lIns="0" rIns="0" tIns="0" bIns="0"/>
          <a:lstStyle/>
          <a:p>
            <a:pPr algn="r"/>
            <a:r>
              <a:rPr sz="1012" b="1">
                <a:solidFill>
                  <a:srgbClr val="E39B2D"/>
                </a:solidFill>
                <a:latin typeface="Calibri"/>
              </a:rPr>
              <a:t>TCK 2 / 8</a:t>
            </a:r>
          </a:p>
        </p:txBody>
      </p:sp>
      <p:sp>
        <p:nvSpPr>
          <p:cNvPr id="119" name="SC sh a 2 0"/>
          <p:cNvSpPr/>
          <p:nvPr/>
        </p:nvSpPr>
        <p:spPr>
          <a:xfrm>
            <a:off x="120015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20" name="SC sh a 2 1"/>
          <p:cNvSpPr/>
          <p:nvPr/>
        </p:nvSpPr>
        <p:spPr>
          <a:xfrm>
            <a:off x="168592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21" name="SC sh a 2 2"/>
          <p:cNvSpPr/>
          <p:nvPr/>
        </p:nvSpPr>
        <p:spPr>
          <a:xfrm>
            <a:off x="217170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22" name="SC sh a 2 3"/>
          <p:cNvSpPr/>
          <p:nvPr/>
        </p:nvSpPr>
        <p:spPr>
          <a:xfrm>
            <a:off x="2657475"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123" name="SC sh a 2 4"/>
          <p:cNvSpPr/>
          <p:nvPr/>
        </p:nvSpPr>
        <p:spPr>
          <a:xfrm>
            <a:off x="592931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124" name="SC sh a 2 5"/>
          <p:cNvSpPr/>
          <p:nvPr/>
        </p:nvSpPr>
        <p:spPr>
          <a:xfrm>
            <a:off x="641508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125" name="SC sh a 2 6"/>
          <p:cNvSpPr/>
          <p:nvPr/>
        </p:nvSpPr>
        <p:spPr>
          <a:xfrm>
            <a:off x="690086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126" name="SC sh a 2 7"/>
          <p:cNvSpPr/>
          <p:nvPr/>
        </p:nvSpPr>
        <p:spPr>
          <a:xfrm>
            <a:off x="738663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127" name="SC q a 3"/>
          <p:cNvSpPr/>
          <p:nvPr/>
        </p:nvSpPr>
        <p:spPr>
          <a:xfrm>
            <a:off x="0" y="2357437"/>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1101 0</a:t>
            </a:r>
          </a:p>
        </p:txBody>
      </p:sp>
      <p:sp>
        <p:nvSpPr>
          <p:cNvPr id="128" name="SC o a 3"/>
          <p:cNvSpPr/>
          <p:nvPr/>
        </p:nvSpPr>
        <p:spPr>
          <a:xfrm>
            <a:off x="8072437" y="1743075"/>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001</a:t>
            </a:r>
          </a:p>
        </p:txBody>
      </p:sp>
      <p:sp>
        <p:nvSpPr>
          <p:cNvPr id="129" name="SC tck a 2"/>
          <p:cNvSpPr/>
          <p:nvPr/>
        </p:nvSpPr>
        <p:spPr>
          <a:xfrm>
            <a:off x="7143750" y="142875"/>
            <a:ext cx="1714500" cy="285750"/>
          </a:xfrm>
          <a:prstGeom prst="rect">
            <a:avLst/>
          </a:prstGeom>
          <a:solidFill>
            <a:srgbClr val="FFFFFF"/>
          </a:solidFill>
          <a:ln>
            <a:noFill/>
          </a:ln>
        </p:spPr>
        <p:txBody>
          <a:bodyPr rtlCol="0" anchor="ctr" wrap="square" lIns="0" rIns="0" tIns="0" bIns="0"/>
          <a:lstStyle/>
          <a:p>
            <a:pPr algn="r"/>
            <a:r>
              <a:rPr sz="1012" b="1">
                <a:solidFill>
                  <a:srgbClr val="E39B2D"/>
                </a:solidFill>
                <a:latin typeface="Calibri"/>
              </a:rPr>
              <a:t>TCK 3 / 8</a:t>
            </a:r>
          </a:p>
        </p:txBody>
      </p:sp>
      <p:sp>
        <p:nvSpPr>
          <p:cNvPr id="130" name="SC sh a 3 0"/>
          <p:cNvSpPr/>
          <p:nvPr/>
        </p:nvSpPr>
        <p:spPr>
          <a:xfrm>
            <a:off x="120015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31" name="SC sh a 3 1"/>
          <p:cNvSpPr/>
          <p:nvPr/>
        </p:nvSpPr>
        <p:spPr>
          <a:xfrm>
            <a:off x="168592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32" name="SC sh a 3 2"/>
          <p:cNvSpPr/>
          <p:nvPr/>
        </p:nvSpPr>
        <p:spPr>
          <a:xfrm>
            <a:off x="217170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33" name="SC sh a 3 3"/>
          <p:cNvSpPr/>
          <p:nvPr/>
        </p:nvSpPr>
        <p:spPr>
          <a:xfrm>
            <a:off x="265747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34" name="SC sh a 3 4"/>
          <p:cNvSpPr/>
          <p:nvPr/>
        </p:nvSpPr>
        <p:spPr>
          <a:xfrm>
            <a:off x="592931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135" name="SC sh a 3 5"/>
          <p:cNvSpPr/>
          <p:nvPr/>
        </p:nvSpPr>
        <p:spPr>
          <a:xfrm>
            <a:off x="641508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136" name="SC sh a 3 6"/>
          <p:cNvSpPr/>
          <p:nvPr/>
        </p:nvSpPr>
        <p:spPr>
          <a:xfrm>
            <a:off x="690086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137" name="SC sh a 3 7"/>
          <p:cNvSpPr/>
          <p:nvPr/>
        </p:nvSpPr>
        <p:spPr>
          <a:xfrm>
            <a:off x="738663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138" name="SC q a 4"/>
          <p:cNvSpPr/>
          <p:nvPr/>
        </p:nvSpPr>
        <p:spPr>
          <a:xfrm>
            <a:off x="0" y="2357437"/>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1101</a:t>
            </a:r>
          </a:p>
        </p:txBody>
      </p:sp>
      <p:sp>
        <p:nvSpPr>
          <p:cNvPr id="139" name="SC o a 4"/>
          <p:cNvSpPr/>
          <p:nvPr/>
        </p:nvSpPr>
        <p:spPr>
          <a:xfrm>
            <a:off x="8072437" y="1743075"/>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1001</a:t>
            </a:r>
          </a:p>
        </p:txBody>
      </p:sp>
      <p:sp>
        <p:nvSpPr>
          <p:cNvPr id="140" name="SC tck a 3"/>
          <p:cNvSpPr/>
          <p:nvPr/>
        </p:nvSpPr>
        <p:spPr>
          <a:xfrm>
            <a:off x="7143750" y="142875"/>
            <a:ext cx="1714500" cy="285750"/>
          </a:xfrm>
          <a:prstGeom prst="rect">
            <a:avLst/>
          </a:prstGeom>
          <a:solidFill>
            <a:srgbClr val="FFFFFF"/>
          </a:solidFill>
          <a:ln>
            <a:noFill/>
          </a:ln>
        </p:spPr>
        <p:txBody>
          <a:bodyPr rtlCol="0" anchor="ctr" wrap="square" lIns="0" rIns="0" tIns="0" bIns="0"/>
          <a:lstStyle/>
          <a:p>
            <a:pPr algn="r"/>
            <a:r>
              <a:rPr sz="1012" b="1">
                <a:solidFill>
                  <a:srgbClr val="E39B2D"/>
                </a:solidFill>
                <a:latin typeface="Calibri"/>
              </a:rPr>
              <a:t>TCK 4 / 8</a:t>
            </a:r>
          </a:p>
        </p:txBody>
      </p:sp>
      <p:sp>
        <p:nvSpPr>
          <p:cNvPr id="141" name="SC sh a 4 0"/>
          <p:cNvSpPr/>
          <p:nvPr/>
        </p:nvSpPr>
        <p:spPr>
          <a:xfrm>
            <a:off x="120015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1</a:t>
            </a:r>
          </a:p>
        </p:txBody>
      </p:sp>
      <p:sp>
        <p:nvSpPr>
          <p:cNvPr id="142" name="SC sh a 4 1"/>
          <p:cNvSpPr/>
          <p:nvPr/>
        </p:nvSpPr>
        <p:spPr>
          <a:xfrm>
            <a:off x="168592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43" name="SC sh a 4 2"/>
          <p:cNvSpPr/>
          <p:nvPr/>
        </p:nvSpPr>
        <p:spPr>
          <a:xfrm>
            <a:off x="217170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44" name="SC sh a 4 3"/>
          <p:cNvSpPr/>
          <p:nvPr/>
        </p:nvSpPr>
        <p:spPr>
          <a:xfrm>
            <a:off x="265747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45" name="SC sh a 4 4"/>
          <p:cNvSpPr/>
          <p:nvPr/>
        </p:nvSpPr>
        <p:spPr>
          <a:xfrm>
            <a:off x="5929312"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46" name="SC sh a 4 5"/>
          <p:cNvSpPr/>
          <p:nvPr/>
        </p:nvSpPr>
        <p:spPr>
          <a:xfrm>
            <a:off x="641508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147" name="SC sh a 4 6"/>
          <p:cNvSpPr/>
          <p:nvPr/>
        </p:nvSpPr>
        <p:spPr>
          <a:xfrm>
            <a:off x="690086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148" name="SC sh a 4 7"/>
          <p:cNvSpPr/>
          <p:nvPr/>
        </p:nvSpPr>
        <p:spPr>
          <a:xfrm>
            <a:off x="738663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149" name="SC q a 5"/>
          <p:cNvSpPr/>
          <p:nvPr/>
        </p:nvSpPr>
        <p:spPr>
          <a:xfrm>
            <a:off x="0" y="2357437"/>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110</a:t>
            </a:r>
          </a:p>
        </p:txBody>
      </p:sp>
      <p:sp>
        <p:nvSpPr>
          <p:cNvPr id="150" name="SC o a 5"/>
          <p:cNvSpPr/>
          <p:nvPr/>
        </p:nvSpPr>
        <p:spPr>
          <a:xfrm>
            <a:off x="8072437" y="1743075"/>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0100 1</a:t>
            </a:r>
          </a:p>
        </p:txBody>
      </p:sp>
      <p:sp>
        <p:nvSpPr>
          <p:cNvPr id="151" name="SC tck a 4"/>
          <p:cNvSpPr/>
          <p:nvPr/>
        </p:nvSpPr>
        <p:spPr>
          <a:xfrm>
            <a:off x="7143750" y="142875"/>
            <a:ext cx="1714500" cy="285750"/>
          </a:xfrm>
          <a:prstGeom prst="rect">
            <a:avLst/>
          </a:prstGeom>
          <a:solidFill>
            <a:srgbClr val="FFFFFF"/>
          </a:solidFill>
          <a:ln>
            <a:noFill/>
          </a:ln>
        </p:spPr>
        <p:txBody>
          <a:bodyPr rtlCol="0" anchor="ctr" wrap="square" lIns="0" rIns="0" tIns="0" bIns="0"/>
          <a:lstStyle/>
          <a:p>
            <a:pPr algn="r"/>
            <a:r>
              <a:rPr sz="1012" b="1">
                <a:solidFill>
                  <a:srgbClr val="E39B2D"/>
                </a:solidFill>
                <a:latin typeface="Calibri"/>
              </a:rPr>
              <a:t>TCK 5 / 8</a:t>
            </a:r>
          </a:p>
        </p:txBody>
      </p:sp>
      <p:sp>
        <p:nvSpPr>
          <p:cNvPr id="152" name="SC sh a 5 0"/>
          <p:cNvSpPr/>
          <p:nvPr/>
        </p:nvSpPr>
        <p:spPr>
          <a:xfrm>
            <a:off x="120015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53" name="SC sh a 5 1"/>
          <p:cNvSpPr/>
          <p:nvPr/>
        </p:nvSpPr>
        <p:spPr>
          <a:xfrm>
            <a:off x="168592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1</a:t>
            </a:r>
          </a:p>
        </p:txBody>
      </p:sp>
      <p:sp>
        <p:nvSpPr>
          <p:cNvPr id="154" name="SC sh a 5 2"/>
          <p:cNvSpPr/>
          <p:nvPr/>
        </p:nvSpPr>
        <p:spPr>
          <a:xfrm>
            <a:off x="217170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55" name="SC sh a 5 3"/>
          <p:cNvSpPr/>
          <p:nvPr/>
        </p:nvSpPr>
        <p:spPr>
          <a:xfrm>
            <a:off x="265747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56" name="SC sh a 5 4"/>
          <p:cNvSpPr/>
          <p:nvPr/>
        </p:nvSpPr>
        <p:spPr>
          <a:xfrm>
            <a:off x="5929312"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57" name="SC sh a 5 5"/>
          <p:cNvSpPr/>
          <p:nvPr/>
        </p:nvSpPr>
        <p:spPr>
          <a:xfrm>
            <a:off x="6415087"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58" name="SC sh a 5 6"/>
          <p:cNvSpPr/>
          <p:nvPr/>
        </p:nvSpPr>
        <p:spPr>
          <a:xfrm>
            <a:off x="690086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159" name="SC sh a 5 7"/>
          <p:cNvSpPr/>
          <p:nvPr/>
        </p:nvSpPr>
        <p:spPr>
          <a:xfrm>
            <a:off x="738663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160" name="SC q a 6"/>
          <p:cNvSpPr/>
          <p:nvPr/>
        </p:nvSpPr>
        <p:spPr>
          <a:xfrm>
            <a:off x="0" y="2357437"/>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11</a:t>
            </a:r>
          </a:p>
        </p:txBody>
      </p:sp>
      <p:sp>
        <p:nvSpPr>
          <p:cNvPr id="161" name="SC o a 6"/>
          <p:cNvSpPr/>
          <p:nvPr/>
        </p:nvSpPr>
        <p:spPr>
          <a:xfrm>
            <a:off x="8072437" y="1743075"/>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1010 01</a:t>
            </a:r>
          </a:p>
        </p:txBody>
      </p:sp>
      <p:sp>
        <p:nvSpPr>
          <p:cNvPr id="162" name="SC tck a 5"/>
          <p:cNvSpPr/>
          <p:nvPr/>
        </p:nvSpPr>
        <p:spPr>
          <a:xfrm>
            <a:off x="7143750" y="142875"/>
            <a:ext cx="1714500" cy="285750"/>
          </a:xfrm>
          <a:prstGeom prst="rect">
            <a:avLst/>
          </a:prstGeom>
          <a:solidFill>
            <a:srgbClr val="FFFFFF"/>
          </a:solidFill>
          <a:ln>
            <a:noFill/>
          </a:ln>
        </p:spPr>
        <p:txBody>
          <a:bodyPr rtlCol="0" anchor="ctr" wrap="square" lIns="0" rIns="0" tIns="0" bIns="0"/>
          <a:lstStyle/>
          <a:p>
            <a:pPr algn="r"/>
            <a:r>
              <a:rPr sz="1012" b="1">
                <a:solidFill>
                  <a:srgbClr val="E39B2D"/>
                </a:solidFill>
                <a:latin typeface="Calibri"/>
              </a:rPr>
              <a:t>TCK 6 / 8</a:t>
            </a:r>
          </a:p>
        </p:txBody>
      </p:sp>
      <p:sp>
        <p:nvSpPr>
          <p:cNvPr id="163" name="SC sh a 6 0"/>
          <p:cNvSpPr/>
          <p:nvPr/>
        </p:nvSpPr>
        <p:spPr>
          <a:xfrm>
            <a:off x="120015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1</a:t>
            </a:r>
          </a:p>
        </p:txBody>
      </p:sp>
      <p:sp>
        <p:nvSpPr>
          <p:cNvPr id="164" name="SC sh a 6 1"/>
          <p:cNvSpPr/>
          <p:nvPr/>
        </p:nvSpPr>
        <p:spPr>
          <a:xfrm>
            <a:off x="168592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65" name="SC sh a 6 2"/>
          <p:cNvSpPr/>
          <p:nvPr/>
        </p:nvSpPr>
        <p:spPr>
          <a:xfrm>
            <a:off x="217170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1</a:t>
            </a:r>
          </a:p>
        </p:txBody>
      </p:sp>
      <p:sp>
        <p:nvSpPr>
          <p:cNvPr id="166" name="SC sh a 6 3"/>
          <p:cNvSpPr/>
          <p:nvPr/>
        </p:nvSpPr>
        <p:spPr>
          <a:xfrm>
            <a:off x="265747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67" name="SC sh a 6 4"/>
          <p:cNvSpPr/>
          <p:nvPr/>
        </p:nvSpPr>
        <p:spPr>
          <a:xfrm>
            <a:off x="5929312"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68" name="SC sh a 6 5"/>
          <p:cNvSpPr/>
          <p:nvPr/>
        </p:nvSpPr>
        <p:spPr>
          <a:xfrm>
            <a:off x="6415087"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69" name="SC sh a 6 6"/>
          <p:cNvSpPr/>
          <p:nvPr/>
        </p:nvSpPr>
        <p:spPr>
          <a:xfrm>
            <a:off x="6900862"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70" name="SC sh a 6 7"/>
          <p:cNvSpPr/>
          <p:nvPr/>
        </p:nvSpPr>
        <p:spPr>
          <a:xfrm>
            <a:off x="738663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171" name="SC q a 7"/>
          <p:cNvSpPr/>
          <p:nvPr/>
        </p:nvSpPr>
        <p:spPr>
          <a:xfrm>
            <a:off x="0" y="2357437"/>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1</a:t>
            </a:r>
          </a:p>
        </p:txBody>
      </p:sp>
      <p:sp>
        <p:nvSpPr>
          <p:cNvPr id="172" name="SC o a 7"/>
          <p:cNvSpPr/>
          <p:nvPr/>
        </p:nvSpPr>
        <p:spPr>
          <a:xfrm>
            <a:off x="8072437" y="1743075"/>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1101 001</a:t>
            </a:r>
          </a:p>
        </p:txBody>
      </p:sp>
      <p:sp>
        <p:nvSpPr>
          <p:cNvPr id="173" name="SC tck a 6"/>
          <p:cNvSpPr/>
          <p:nvPr/>
        </p:nvSpPr>
        <p:spPr>
          <a:xfrm>
            <a:off x="7143750" y="142875"/>
            <a:ext cx="1714500" cy="285750"/>
          </a:xfrm>
          <a:prstGeom prst="rect">
            <a:avLst/>
          </a:prstGeom>
          <a:solidFill>
            <a:srgbClr val="FFFFFF"/>
          </a:solidFill>
          <a:ln>
            <a:noFill/>
          </a:ln>
        </p:spPr>
        <p:txBody>
          <a:bodyPr rtlCol="0" anchor="ctr" wrap="square" lIns="0" rIns="0" tIns="0" bIns="0"/>
          <a:lstStyle/>
          <a:p>
            <a:pPr algn="r"/>
            <a:r>
              <a:rPr sz="1012" b="1">
                <a:solidFill>
                  <a:srgbClr val="E39B2D"/>
                </a:solidFill>
                <a:latin typeface="Calibri"/>
              </a:rPr>
              <a:t>TCK 7 / 8</a:t>
            </a:r>
          </a:p>
        </p:txBody>
      </p:sp>
      <p:sp>
        <p:nvSpPr>
          <p:cNvPr id="174" name="SC sh a 7 0"/>
          <p:cNvSpPr/>
          <p:nvPr/>
        </p:nvSpPr>
        <p:spPr>
          <a:xfrm>
            <a:off x="120015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1</a:t>
            </a:r>
          </a:p>
        </p:txBody>
      </p:sp>
      <p:sp>
        <p:nvSpPr>
          <p:cNvPr id="175" name="SC sh a 7 1"/>
          <p:cNvSpPr/>
          <p:nvPr/>
        </p:nvSpPr>
        <p:spPr>
          <a:xfrm>
            <a:off x="168592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1</a:t>
            </a:r>
          </a:p>
        </p:txBody>
      </p:sp>
      <p:sp>
        <p:nvSpPr>
          <p:cNvPr id="176" name="SC sh a 7 2"/>
          <p:cNvSpPr/>
          <p:nvPr/>
        </p:nvSpPr>
        <p:spPr>
          <a:xfrm>
            <a:off x="217170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77" name="SC sh a 7 3"/>
          <p:cNvSpPr/>
          <p:nvPr/>
        </p:nvSpPr>
        <p:spPr>
          <a:xfrm>
            <a:off x="265747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1</a:t>
            </a:r>
          </a:p>
        </p:txBody>
      </p:sp>
      <p:sp>
        <p:nvSpPr>
          <p:cNvPr id="178" name="SC sh a 7 4"/>
          <p:cNvSpPr/>
          <p:nvPr/>
        </p:nvSpPr>
        <p:spPr>
          <a:xfrm>
            <a:off x="5929312"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79" name="SC sh a 7 5"/>
          <p:cNvSpPr/>
          <p:nvPr/>
        </p:nvSpPr>
        <p:spPr>
          <a:xfrm>
            <a:off x="6415087"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80" name="SC sh a 7 6"/>
          <p:cNvSpPr/>
          <p:nvPr/>
        </p:nvSpPr>
        <p:spPr>
          <a:xfrm>
            <a:off x="6900862"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81" name="SC sh a 7 7"/>
          <p:cNvSpPr/>
          <p:nvPr/>
        </p:nvSpPr>
        <p:spPr>
          <a:xfrm>
            <a:off x="7386637"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182" name="SC q a 8"/>
          <p:cNvSpPr/>
          <p:nvPr/>
        </p:nvSpPr>
        <p:spPr>
          <a:xfrm>
            <a:off x="0" y="2357437"/>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
            </a:r>
          </a:p>
        </p:txBody>
      </p:sp>
      <p:sp>
        <p:nvSpPr>
          <p:cNvPr id="183" name="SC o a 8"/>
          <p:cNvSpPr/>
          <p:nvPr/>
        </p:nvSpPr>
        <p:spPr>
          <a:xfrm>
            <a:off x="8072437" y="1743075"/>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0110 1001</a:t>
            </a:r>
          </a:p>
        </p:txBody>
      </p:sp>
      <p:sp>
        <p:nvSpPr>
          <p:cNvPr id="184" name="SC tck a 7"/>
          <p:cNvSpPr/>
          <p:nvPr/>
        </p:nvSpPr>
        <p:spPr>
          <a:xfrm>
            <a:off x="7143750" y="142875"/>
            <a:ext cx="1714500" cy="285750"/>
          </a:xfrm>
          <a:prstGeom prst="rect">
            <a:avLst/>
          </a:prstGeom>
          <a:solidFill>
            <a:srgbClr val="FFFFFF"/>
          </a:solidFill>
          <a:ln>
            <a:noFill/>
          </a:ln>
        </p:spPr>
        <p:txBody>
          <a:bodyPr rtlCol="0" anchor="ctr" wrap="square" lIns="0" rIns="0" tIns="0" bIns="0"/>
          <a:lstStyle/>
          <a:p>
            <a:pPr algn="r"/>
            <a:r>
              <a:rPr sz="1012" b="1">
                <a:solidFill>
                  <a:srgbClr val="E39B2D"/>
                </a:solidFill>
                <a:latin typeface="Calibri"/>
              </a:rPr>
              <a:t>TCK 8 / 8</a:t>
            </a:r>
          </a:p>
        </p:txBody>
      </p:sp>
      <p:sp>
        <p:nvSpPr>
          <p:cNvPr id="185" name="SC cap 1"/>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Shift-DR: one bit moves one place per TCK, from TDI toward TDO. The manager-side cut gets</a:t>
            </a:r>
          </a:p>
          <a:p>
            <a:pPr algn="l"/>
            <a:r>
              <a:rPr sz="1237" b="0">
                <a:solidFill>
                  <a:srgbClr val="FFFFFF"/>
                </a:solidFill>
                <a:latin typeface="Calibri"/>
              </a:rPr>
              <a:t>valid = 1 and a payload; the old contents leave at TDO. The bus sees none of this.</a:t>
            </a:r>
          </a:p>
        </p:txBody>
      </p:sp>
      <p:sp>
        <p:nvSpPr>
          <p:cNvPr id="186" name="SC op hl 2"/>
          <p:cNvSpPr/>
          <p:nvPr/>
        </p:nvSpPr>
        <p:spPr>
          <a:xfrm>
            <a:off x="4600575" y="3357562"/>
            <a:ext cx="2071687" cy="771525"/>
          </a:xfrm>
          <a:prstGeom prst="roundRect">
            <a:avLst>
              <a:gd name="adj" fmla="val 9259"/>
            </a:avLst>
          </a:prstGeom>
          <a:solidFill>
            <a:srgbClr val="FFF3E0"/>
          </a:solidFill>
          <a:ln w="38100">
            <a:solidFill>
              <a:srgbClr val="E39B2D"/>
            </a:solidFill>
          </a:ln>
        </p:spPr>
        <p:txBody>
          <a:bodyPr rtlCol="0" anchor="ctr" wrap="square" lIns="28575" rIns="28575" tIns="28575" bIns="28575"/>
          <a:lstStyle/>
          <a:p>
            <a:pPr algn="ctr"/>
            <a:r>
              <a:rPr sz="1068" b="1">
                <a:solidFill>
                  <a:srgbClr val="E39B2D"/>
                </a:solidFill>
                <a:latin typeface="Calibri"/>
              </a:rPr>
              <a:t>Update-DR</a:t>
            </a:r>
          </a:p>
          <a:p>
            <a:pPr algn="ctr"/>
            <a:r>
              <a:rPr sz="843" b="1">
                <a:solidFill>
                  <a:srgbClr val="12343B"/>
                </a:solidFill>
                <a:latin typeface="Calibri"/>
              </a:rPr>
              <a:t>shift → update stage</a:t>
            </a:r>
          </a:p>
          <a:p>
            <a:pPr algn="ctr"/>
            <a:r>
              <a:rPr sz="787" b="0">
                <a:solidFill>
                  <a:srgbClr val="12343B"/>
                </a:solidFill>
                <a:latin typeface="Calibri"/>
              </a:rPr>
              <a:t>all bits at once</a:t>
            </a:r>
          </a:p>
        </p:txBody>
      </p:sp>
      <p:cxnSp>
        <p:nvCxnSpPr>
          <p:cNvPr id="187" name="SC arr up 0"/>
          <p:cNvCxnSpPr/>
          <p:nvPr/>
        </p:nvCxnSpPr>
        <p:spPr>
          <a:xfrm>
            <a:off x="1414462" y="2257425"/>
            <a:ext cx="0" cy="214312"/>
          </a:xfrm>
          <a:prstGeom prst="line">
            <a:avLst/>
          </a:prstGeom>
          <a:ln w="31750">
            <a:solidFill>
              <a:srgbClr val="E39B2D"/>
            </a:solidFill>
            <a:tailEnd type="triangle" w="med" len="med"/>
          </a:ln>
        </p:spPr>
      </p:cxnSp>
      <p:cxnSp>
        <p:nvCxnSpPr>
          <p:cNvPr id="188" name="SC arr up 1"/>
          <p:cNvCxnSpPr/>
          <p:nvPr/>
        </p:nvCxnSpPr>
        <p:spPr>
          <a:xfrm>
            <a:off x="1900237" y="2257425"/>
            <a:ext cx="0" cy="214312"/>
          </a:xfrm>
          <a:prstGeom prst="line">
            <a:avLst/>
          </a:prstGeom>
          <a:ln w="31750">
            <a:solidFill>
              <a:srgbClr val="E39B2D"/>
            </a:solidFill>
            <a:tailEnd type="triangle" w="med" len="med"/>
          </a:ln>
        </p:spPr>
      </p:cxnSp>
      <p:cxnSp>
        <p:nvCxnSpPr>
          <p:cNvPr id="189" name="SC arr up 2"/>
          <p:cNvCxnSpPr/>
          <p:nvPr/>
        </p:nvCxnSpPr>
        <p:spPr>
          <a:xfrm>
            <a:off x="2386012" y="2257425"/>
            <a:ext cx="0" cy="214312"/>
          </a:xfrm>
          <a:prstGeom prst="line">
            <a:avLst/>
          </a:prstGeom>
          <a:ln w="31750">
            <a:solidFill>
              <a:srgbClr val="E39B2D"/>
            </a:solidFill>
            <a:tailEnd type="triangle" w="med" len="med"/>
          </a:ln>
        </p:spPr>
      </p:cxnSp>
      <p:cxnSp>
        <p:nvCxnSpPr>
          <p:cNvPr id="190" name="SC arr up 3"/>
          <p:cNvCxnSpPr/>
          <p:nvPr/>
        </p:nvCxnSpPr>
        <p:spPr>
          <a:xfrm>
            <a:off x="2871787" y="2257425"/>
            <a:ext cx="0" cy="214312"/>
          </a:xfrm>
          <a:prstGeom prst="line">
            <a:avLst/>
          </a:prstGeom>
          <a:ln w="31750">
            <a:solidFill>
              <a:srgbClr val="E39B2D"/>
            </a:solidFill>
            <a:tailEnd type="triangle" w="med" len="med"/>
          </a:ln>
        </p:spPr>
      </p:cxnSp>
      <p:cxnSp>
        <p:nvCxnSpPr>
          <p:cNvPr id="191" name="SC arr up 4"/>
          <p:cNvCxnSpPr/>
          <p:nvPr/>
        </p:nvCxnSpPr>
        <p:spPr>
          <a:xfrm>
            <a:off x="6143625" y="2257425"/>
            <a:ext cx="0" cy="214312"/>
          </a:xfrm>
          <a:prstGeom prst="line">
            <a:avLst/>
          </a:prstGeom>
          <a:ln w="31750">
            <a:solidFill>
              <a:srgbClr val="E39B2D"/>
            </a:solidFill>
            <a:tailEnd type="triangle" w="med" len="med"/>
          </a:ln>
        </p:spPr>
      </p:cxnSp>
      <p:cxnSp>
        <p:nvCxnSpPr>
          <p:cNvPr id="192" name="SC arr up 5"/>
          <p:cNvCxnSpPr/>
          <p:nvPr/>
        </p:nvCxnSpPr>
        <p:spPr>
          <a:xfrm>
            <a:off x="6629400" y="2257425"/>
            <a:ext cx="0" cy="214312"/>
          </a:xfrm>
          <a:prstGeom prst="line">
            <a:avLst/>
          </a:prstGeom>
          <a:ln w="31750">
            <a:solidFill>
              <a:srgbClr val="E39B2D"/>
            </a:solidFill>
            <a:tailEnd type="triangle" w="med" len="med"/>
          </a:ln>
        </p:spPr>
      </p:cxnSp>
      <p:cxnSp>
        <p:nvCxnSpPr>
          <p:cNvPr id="193" name="SC arr up 6"/>
          <p:cNvCxnSpPr/>
          <p:nvPr/>
        </p:nvCxnSpPr>
        <p:spPr>
          <a:xfrm>
            <a:off x="7115175" y="2257425"/>
            <a:ext cx="0" cy="214312"/>
          </a:xfrm>
          <a:prstGeom prst="line">
            <a:avLst/>
          </a:prstGeom>
          <a:ln w="31750">
            <a:solidFill>
              <a:srgbClr val="E39B2D"/>
            </a:solidFill>
            <a:tailEnd type="triangle" w="med" len="med"/>
          </a:ln>
        </p:spPr>
      </p:cxnSp>
      <p:cxnSp>
        <p:nvCxnSpPr>
          <p:cNvPr id="194" name="SC arr up 7"/>
          <p:cNvCxnSpPr/>
          <p:nvPr/>
        </p:nvCxnSpPr>
        <p:spPr>
          <a:xfrm>
            <a:off x="7600950" y="2257425"/>
            <a:ext cx="0" cy="214312"/>
          </a:xfrm>
          <a:prstGeom prst="line">
            <a:avLst/>
          </a:prstGeom>
          <a:ln w="31750">
            <a:solidFill>
              <a:srgbClr val="E39B2D"/>
            </a:solidFill>
            <a:tailEnd type="triangle" w="med" len="med"/>
          </a:ln>
        </p:spPr>
      </p:cxnSp>
      <p:sp>
        <p:nvSpPr>
          <p:cNvPr id="195" name="SC up1 0"/>
          <p:cNvSpPr/>
          <p:nvPr/>
        </p:nvSpPr>
        <p:spPr>
          <a:xfrm>
            <a:off x="1200150" y="2471737"/>
            <a:ext cx="428625" cy="314325"/>
          </a:xfrm>
          <a:prstGeom prst="rect">
            <a:avLst/>
          </a:prstGeom>
          <a:solidFill>
            <a:srgbClr val="FFF3E0"/>
          </a:solidFill>
          <a:ln w="20320">
            <a:solidFill>
              <a:srgbClr val="E39B2D"/>
            </a:solidFill>
          </a:ln>
        </p:spPr>
        <p:txBody>
          <a:bodyPr rtlCol="0" anchor="ctr" wrap="square" lIns="0" rIns="0" tIns="0" bIns="0"/>
          <a:lstStyle/>
          <a:p>
            <a:pPr algn="ctr"/>
            <a:r>
              <a:rPr sz="1125" b="1">
                <a:solidFill>
                  <a:srgbClr val="12343B"/>
                </a:solidFill>
                <a:latin typeface="Consolas"/>
              </a:rPr>
              <a:t>1</a:t>
            </a:r>
          </a:p>
        </p:txBody>
      </p:sp>
      <p:sp>
        <p:nvSpPr>
          <p:cNvPr id="196" name="SC up1 1"/>
          <p:cNvSpPr/>
          <p:nvPr/>
        </p:nvSpPr>
        <p:spPr>
          <a:xfrm>
            <a:off x="1685925" y="2471737"/>
            <a:ext cx="428625" cy="314325"/>
          </a:xfrm>
          <a:prstGeom prst="rect">
            <a:avLst/>
          </a:prstGeom>
          <a:solidFill>
            <a:srgbClr val="FFF3E0"/>
          </a:solidFill>
          <a:ln w="20320">
            <a:solidFill>
              <a:srgbClr val="E39B2D"/>
            </a:solidFill>
          </a:ln>
        </p:spPr>
        <p:txBody>
          <a:bodyPr rtlCol="0" anchor="ctr" wrap="square" lIns="0" rIns="0" tIns="0" bIns="0"/>
          <a:lstStyle/>
          <a:p>
            <a:pPr algn="ctr"/>
            <a:r>
              <a:rPr sz="1125" b="1">
                <a:solidFill>
                  <a:srgbClr val="12343B"/>
                </a:solidFill>
                <a:latin typeface="Consolas"/>
              </a:rPr>
              <a:t>1</a:t>
            </a:r>
          </a:p>
        </p:txBody>
      </p:sp>
      <p:sp>
        <p:nvSpPr>
          <p:cNvPr id="197" name="SC up1 2"/>
          <p:cNvSpPr/>
          <p:nvPr/>
        </p:nvSpPr>
        <p:spPr>
          <a:xfrm>
            <a:off x="2171700" y="2471737"/>
            <a:ext cx="428625" cy="314325"/>
          </a:xfrm>
          <a:prstGeom prst="rect">
            <a:avLst/>
          </a:prstGeom>
          <a:solidFill>
            <a:srgbClr val="FFF3E0"/>
          </a:solidFill>
          <a:ln w="20320">
            <a:solidFill>
              <a:srgbClr val="E39B2D"/>
            </a:solidFill>
          </a:ln>
        </p:spPr>
        <p:txBody>
          <a:bodyPr rtlCol="0" anchor="ctr" wrap="square" lIns="0" rIns="0" tIns="0" bIns="0"/>
          <a:lstStyle/>
          <a:p>
            <a:pPr algn="ctr"/>
            <a:r>
              <a:rPr sz="1125" b="1">
                <a:solidFill>
                  <a:srgbClr val="12343B"/>
                </a:solidFill>
                <a:latin typeface="Consolas"/>
              </a:rPr>
              <a:t>0</a:t>
            </a:r>
          </a:p>
        </p:txBody>
      </p:sp>
      <p:sp>
        <p:nvSpPr>
          <p:cNvPr id="198" name="SC up1 3"/>
          <p:cNvSpPr/>
          <p:nvPr/>
        </p:nvSpPr>
        <p:spPr>
          <a:xfrm>
            <a:off x="2657475" y="2471737"/>
            <a:ext cx="428625" cy="314325"/>
          </a:xfrm>
          <a:prstGeom prst="rect">
            <a:avLst/>
          </a:prstGeom>
          <a:solidFill>
            <a:srgbClr val="FFF3E0"/>
          </a:solidFill>
          <a:ln w="20320">
            <a:solidFill>
              <a:srgbClr val="E39B2D"/>
            </a:solidFill>
          </a:ln>
        </p:spPr>
        <p:txBody>
          <a:bodyPr rtlCol="0" anchor="ctr" wrap="square" lIns="0" rIns="0" tIns="0" bIns="0"/>
          <a:lstStyle/>
          <a:p>
            <a:pPr algn="ctr"/>
            <a:r>
              <a:rPr sz="1125" b="1">
                <a:solidFill>
                  <a:srgbClr val="12343B"/>
                </a:solidFill>
                <a:latin typeface="Consolas"/>
              </a:rPr>
              <a:t>1</a:t>
            </a:r>
          </a:p>
        </p:txBody>
      </p:sp>
      <p:sp>
        <p:nvSpPr>
          <p:cNvPr id="199" name="SC up1 4"/>
          <p:cNvSpPr/>
          <p:nvPr/>
        </p:nvSpPr>
        <p:spPr>
          <a:xfrm>
            <a:off x="5929312" y="2471737"/>
            <a:ext cx="428625" cy="314325"/>
          </a:xfrm>
          <a:prstGeom prst="rect">
            <a:avLst/>
          </a:prstGeom>
          <a:solidFill>
            <a:srgbClr val="FFF3E0"/>
          </a:solidFill>
          <a:ln w="20320">
            <a:solidFill>
              <a:srgbClr val="E39B2D"/>
            </a:solidFill>
          </a:ln>
        </p:spPr>
        <p:txBody>
          <a:bodyPr rtlCol="0" anchor="ctr" wrap="square" lIns="0" rIns="0" tIns="0" bIns="0"/>
          <a:lstStyle/>
          <a:p>
            <a:pPr algn="ctr"/>
            <a:r>
              <a:rPr sz="1125" b="1">
                <a:solidFill>
                  <a:srgbClr val="12343B"/>
                </a:solidFill>
                <a:latin typeface="Consolas"/>
              </a:rPr>
              <a:t>0</a:t>
            </a:r>
          </a:p>
        </p:txBody>
      </p:sp>
      <p:sp>
        <p:nvSpPr>
          <p:cNvPr id="200" name="SC up1 5"/>
          <p:cNvSpPr/>
          <p:nvPr/>
        </p:nvSpPr>
        <p:spPr>
          <a:xfrm>
            <a:off x="6415087" y="2471737"/>
            <a:ext cx="428625" cy="314325"/>
          </a:xfrm>
          <a:prstGeom prst="rect">
            <a:avLst/>
          </a:prstGeom>
          <a:solidFill>
            <a:srgbClr val="FFF3E0"/>
          </a:solidFill>
          <a:ln w="20320">
            <a:solidFill>
              <a:srgbClr val="E39B2D"/>
            </a:solidFill>
          </a:ln>
        </p:spPr>
        <p:txBody>
          <a:bodyPr rtlCol="0" anchor="ctr" wrap="square" lIns="0" rIns="0" tIns="0" bIns="0"/>
          <a:lstStyle/>
          <a:p>
            <a:pPr algn="ctr"/>
            <a:r>
              <a:rPr sz="1125" b="1">
                <a:solidFill>
                  <a:srgbClr val="12343B"/>
                </a:solidFill>
                <a:latin typeface="Consolas"/>
              </a:rPr>
              <a:t>0</a:t>
            </a:r>
          </a:p>
        </p:txBody>
      </p:sp>
      <p:sp>
        <p:nvSpPr>
          <p:cNvPr id="201" name="SC up1 6"/>
          <p:cNvSpPr/>
          <p:nvPr/>
        </p:nvSpPr>
        <p:spPr>
          <a:xfrm>
            <a:off x="6900862" y="2471737"/>
            <a:ext cx="428625" cy="314325"/>
          </a:xfrm>
          <a:prstGeom prst="rect">
            <a:avLst/>
          </a:prstGeom>
          <a:solidFill>
            <a:srgbClr val="FFF3E0"/>
          </a:solidFill>
          <a:ln w="20320">
            <a:solidFill>
              <a:srgbClr val="E39B2D"/>
            </a:solidFill>
          </a:ln>
        </p:spPr>
        <p:txBody>
          <a:bodyPr rtlCol="0" anchor="ctr" wrap="square" lIns="0" rIns="0" tIns="0" bIns="0"/>
          <a:lstStyle/>
          <a:p>
            <a:pPr algn="ctr"/>
            <a:r>
              <a:rPr sz="1125" b="1">
                <a:solidFill>
                  <a:srgbClr val="12343B"/>
                </a:solidFill>
                <a:latin typeface="Consolas"/>
              </a:rPr>
              <a:t>0</a:t>
            </a:r>
          </a:p>
        </p:txBody>
      </p:sp>
      <p:sp>
        <p:nvSpPr>
          <p:cNvPr id="202" name="SC up1 7"/>
          <p:cNvSpPr/>
          <p:nvPr/>
        </p:nvSpPr>
        <p:spPr>
          <a:xfrm>
            <a:off x="7386637" y="2471737"/>
            <a:ext cx="428625" cy="314325"/>
          </a:xfrm>
          <a:prstGeom prst="rect">
            <a:avLst/>
          </a:prstGeom>
          <a:solidFill>
            <a:srgbClr val="FFF3E0"/>
          </a:solidFill>
          <a:ln w="20320">
            <a:solidFill>
              <a:srgbClr val="E39B2D"/>
            </a:solidFill>
          </a:ln>
        </p:spPr>
        <p:txBody>
          <a:bodyPr rtlCol="0" anchor="ctr" wrap="square" lIns="0" rIns="0" tIns="0" bIns="0"/>
          <a:lstStyle/>
          <a:p>
            <a:pPr algn="ctr"/>
            <a:r>
              <a:rPr sz="1125" b="1">
                <a:solidFill>
                  <a:srgbClr val="12343B"/>
                </a:solidFill>
                <a:latin typeface="Consolas"/>
              </a:rPr>
              <a:t>0</a:t>
            </a:r>
          </a:p>
        </p:txBody>
      </p:sp>
      <p:sp>
        <p:nvSpPr>
          <p:cNvPr id="203" name="SC cap 2"/>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Update-DR copies every shift-stage bit into the update stage at the same moment.</a:t>
            </a:r>
          </a:p>
          <a:p>
            <a:pPr algn="l"/>
            <a:r>
              <a:rPr sz="1237" b="0">
                <a:solidFill>
                  <a:srgbClr val="FFFFFF"/>
                </a:solidFill>
                <a:latin typeface="Calibri"/>
              </a:rPr>
              <a:t>Only now does the new request appear at the cut's output.</a:t>
            </a:r>
          </a:p>
        </p:txBody>
      </p:sp>
      <p:sp>
        <p:nvSpPr>
          <p:cNvPr id="204" name="SC lab 150 up b"/>
          <p:cNvSpPr/>
          <p:nvPr/>
        </p:nvSpPr>
        <p:spPr>
          <a:xfrm>
            <a:off x="1171575" y="2321718"/>
            <a:ext cx="1928812" cy="142875"/>
          </a:xfrm>
          <a:prstGeom prst="rect">
            <a:avLst/>
          </a:prstGeom>
          <a:noFill/>
          <a:ln>
            <a:noFill/>
          </a:ln>
        </p:spPr>
        <p:txBody>
          <a:bodyPr rtlCol="0" anchor="ctr" wrap="square" lIns="0" rIns="0" tIns="0" bIns="0"/>
          <a:lstStyle/>
          <a:p>
            <a:pPr algn="l"/>
            <a:r>
              <a:rPr sz="675" b="1">
                <a:solidFill>
                  <a:srgbClr val="9E9E9E"/>
                </a:solidFill>
                <a:latin typeface="Calibri"/>
              </a:rPr>
              <a:t>update stage (drives the bus)</a:t>
            </a:r>
          </a:p>
        </p:txBody>
      </p:sp>
      <p:sp>
        <p:nvSpPr>
          <p:cNvPr id="205" name="SC lab 812 up b"/>
          <p:cNvSpPr/>
          <p:nvPr/>
        </p:nvSpPr>
        <p:spPr>
          <a:xfrm>
            <a:off x="5900737" y="2321718"/>
            <a:ext cx="1928812" cy="142875"/>
          </a:xfrm>
          <a:prstGeom prst="rect">
            <a:avLst/>
          </a:prstGeom>
          <a:noFill/>
          <a:ln>
            <a:noFill/>
          </a:ln>
        </p:spPr>
        <p:txBody>
          <a:bodyPr rtlCol="0" anchor="ctr" wrap="square" lIns="0" rIns="0" tIns="0" bIns="0"/>
          <a:lstStyle/>
          <a:p>
            <a:pPr algn="l"/>
            <a:r>
              <a:rPr sz="675" b="1">
                <a:solidFill>
                  <a:srgbClr val="9E9E9E"/>
                </a:solidFill>
                <a:latin typeface="Calibri"/>
              </a:rPr>
              <a:t>update stage (drives the bus)</a:t>
            </a:r>
          </a:p>
        </p:txBody>
      </p:sp>
      <p:sp>
        <p:nvSpPr>
          <p:cNvPr id="206" name="SC op hl 3"/>
          <p:cNvSpPr/>
          <p:nvPr/>
        </p:nvSpPr>
        <p:spPr>
          <a:xfrm>
            <a:off x="6757987" y="3357562"/>
            <a:ext cx="2071687" cy="771525"/>
          </a:xfrm>
          <a:prstGeom prst="roundRect">
            <a:avLst>
              <a:gd name="adj" fmla="val 9259"/>
            </a:avLst>
          </a:prstGeom>
          <a:solidFill>
            <a:srgbClr val="FFF3E0"/>
          </a:solidFill>
          <a:ln w="38100">
            <a:solidFill>
              <a:srgbClr val="E39B2D"/>
            </a:solidFill>
          </a:ln>
        </p:spPr>
        <p:txBody>
          <a:bodyPr rtlCol="0" anchor="ctr" wrap="square" lIns="28575" rIns="28575" tIns="28575" bIns="28575"/>
          <a:lstStyle/>
          <a:p>
            <a:pPr algn="ctr"/>
            <a:r>
              <a:rPr sz="1068" b="1">
                <a:solidFill>
                  <a:srgbClr val="E39B2D"/>
                </a:solidFill>
                <a:latin typeface="Calibri"/>
              </a:rPr>
              <a:t>Step</a:t>
            </a:r>
          </a:p>
          <a:p>
            <a:pPr algn="ctr"/>
            <a:r>
              <a:rPr sz="843" b="1">
                <a:solidFill>
                  <a:srgbClr val="12343B"/>
                </a:solidFill>
                <a:latin typeface="Calibri"/>
              </a:rPr>
              <a:t>update stage drives</a:t>
            </a:r>
          </a:p>
          <a:p>
            <a:pPr algn="ctr"/>
            <a:r>
              <a:rPr sz="787" b="0">
                <a:solidFill>
                  <a:srgbClr val="12343B"/>
                </a:solidFill>
                <a:latin typeface="Calibri"/>
              </a:rPr>
              <a:t>the bus for 1 TCK</a:t>
            </a:r>
          </a:p>
        </p:txBody>
      </p:sp>
      <p:cxnSp>
        <p:nvCxnSpPr>
          <p:cNvPr id="207" name="SC bus 1"/>
          <p:cNvCxnSpPr/>
          <p:nvPr/>
        </p:nvCxnSpPr>
        <p:spPr>
          <a:xfrm>
            <a:off x="3200400" y="2628900"/>
            <a:ext cx="371475" cy="0"/>
          </a:xfrm>
          <a:prstGeom prst="line">
            <a:avLst/>
          </a:prstGeom>
          <a:ln w="50800">
            <a:solidFill>
              <a:srgbClr val="E39B2D"/>
            </a:solidFill>
            <a:tailEnd type="triangle" w="med" len="med"/>
          </a:ln>
        </p:spPr>
      </p:cxnSp>
      <p:cxnSp>
        <p:nvCxnSpPr>
          <p:cNvPr id="208" name="SC bus 2"/>
          <p:cNvCxnSpPr/>
          <p:nvPr/>
        </p:nvCxnSpPr>
        <p:spPr>
          <a:xfrm flipV="1">
            <a:off x="3571875" y="1571625"/>
            <a:ext cx="1857375" cy="1057275"/>
          </a:xfrm>
          <a:prstGeom prst="line">
            <a:avLst/>
          </a:prstGeom>
          <a:ln w="50800">
            <a:solidFill>
              <a:srgbClr val="E39B2D"/>
            </a:solidFill>
            <a:tailEnd type="triangle" w="med" len="med"/>
          </a:ln>
        </p:spPr>
      </p:cxnSp>
      <p:cxnSp>
        <p:nvCxnSpPr>
          <p:cNvPr id="209" name="SC bus 3"/>
          <p:cNvCxnSpPr/>
          <p:nvPr/>
        </p:nvCxnSpPr>
        <p:spPr>
          <a:xfrm>
            <a:off x="5429250" y="1571625"/>
            <a:ext cx="500062" cy="0"/>
          </a:xfrm>
          <a:prstGeom prst="line">
            <a:avLst/>
          </a:prstGeom>
          <a:ln w="50800">
            <a:solidFill>
              <a:srgbClr val="E39B2D"/>
            </a:solidFill>
            <a:tailEnd type="triangle" w="med" len="med"/>
          </a:ln>
        </p:spPr>
      </p:cxnSp>
      <p:sp>
        <p:nvSpPr>
          <p:cNvPr id="210" name="SC req tag"/>
          <p:cNvSpPr/>
          <p:nvPr/>
        </p:nvSpPr>
        <p:spPr>
          <a:xfrm>
            <a:off x="3714750" y="2143125"/>
            <a:ext cx="1571625" cy="185737"/>
          </a:xfrm>
          <a:prstGeom prst="roundRect">
            <a:avLst>
              <a:gd name="adj" fmla="val 15000"/>
            </a:avLst>
          </a:prstGeom>
          <a:solidFill>
            <a:srgbClr val="FFFFFF"/>
          </a:solidFill>
          <a:ln w="15240">
            <a:solidFill>
              <a:srgbClr val="E39B2D"/>
            </a:solidFill>
          </a:ln>
        </p:spPr>
        <p:txBody>
          <a:bodyPr rtlCol="0" anchor="ctr" wrap="square" lIns="0" rIns="0" tIns="0" bIns="0"/>
          <a:lstStyle/>
          <a:p>
            <a:pPr algn="ctr"/>
            <a:r>
              <a:rPr sz="787" b="1">
                <a:solidFill>
                  <a:srgbClr val="E39B2D"/>
                </a:solidFill>
                <a:latin typeface="Calibri"/>
              </a:rPr>
              <a:t>req = 1 for one TCK</a:t>
            </a:r>
          </a:p>
        </p:txBody>
      </p:sp>
      <p:sp>
        <p:nvSpPr>
          <p:cNvPr id="211" name="SC in1 4"/>
          <p:cNvSpPr/>
          <p:nvPr/>
        </p:nvSpPr>
        <p:spPr>
          <a:xfrm>
            <a:off x="5929312" y="1414462"/>
            <a:ext cx="428625" cy="314325"/>
          </a:xfrm>
          <a:prstGeom prst="rect">
            <a:avLst/>
          </a:prstGeom>
          <a:solidFill>
            <a:srgbClr val="E8F5E9"/>
          </a:solidFill>
          <a:ln w="20320">
            <a:solidFill>
              <a:srgbClr val="2E7D32"/>
            </a:solidFill>
          </a:ln>
        </p:spPr>
        <p:txBody>
          <a:bodyPr rtlCol="0" anchor="ctr" wrap="square" lIns="0" rIns="0" tIns="0" bIns="0"/>
          <a:lstStyle/>
          <a:p>
            <a:pPr algn="ctr"/>
            <a:r>
              <a:rPr sz="1125" b="1">
                <a:solidFill>
                  <a:srgbClr val="12343B"/>
                </a:solidFill>
                <a:latin typeface="Consolas"/>
              </a:rPr>
              <a:t>1</a:t>
            </a:r>
          </a:p>
        </p:txBody>
      </p:sp>
      <p:sp>
        <p:nvSpPr>
          <p:cNvPr id="212" name="SC in1 5"/>
          <p:cNvSpPr/>
          <p:nvPr/>
        </p:nvSpPr>
        <p:spPr>
          <a:xfrm>
            <a:off x="6415087" y="1414462"/>
            <a:ext cx="428625" cy="314325"/>
          </a:xfrm>
          <a:prstGeom prst="rect">
            <a:avLst/>
          </a:prstGeom>
          <a:solidFill>
            <a:srgbClr val="E8F5E9"/>
          </a:solidFill>
          <a:ln w="20320">
            <a:solidFill>
              <a:srgbClr val="2E7D32"/>
            </a:solidFill>
          </a:ln>
        </p:spPr>
        <p:txBody>
          <a:bodyPr rtlCol="0" anchor="ctr" wrap="square" lIns="0" rIns="0" tIns="0" bIns="0"/>
          <a:lstStyle/>
          <a:p>
            <a:pPr algn="ctr"/>
            <a:r>
              <a:rPr sz="1125" b="1">
                <a:solidFill>
                  <a:srgbClr val="12343B"/>
                </a:solidFill>
                <a:latin typeface="Consolas"/>
              </a:rPr>
              <a:t>1</a:t>
            </a:r>
          </a:p>
        </p:txBody>
      </p:sp>
      <p:sp>
        <p:nvSpPr>
          <p:cNvPr id="213" name="SC in1 6"/>
          <p:cNvSpPr/>
          <p:nvPr/>
        </p:nvSpPr>
        <p:spPr>
          <a:xfrm>
            <a:off x="6900862" y="1414462"/>
            <a:ext cx="428625" cy="314325"/>
          </a:xfrm>
          <a:prstGeom prst="rect">
            <a:avLst/>
          </a:prstGeom>
          <a:solidFill>
            <a:srgbClr val="E8F5E9"/>
          </a:solidFill>
          <a:ln w="20320">
            <a:solidFill>
              <a:srgbClr val="2E7D32"/>
            </a:solidFill>
          </a:ln>
        </p:spPr>
        <p:txBody>
          <a:bodyPr rtlCol="0" anchor="ctr" wrap="square" lIns="0" rIns="0" tIns="0" bIns="0"/>
          <a:lstStyle/>
          <a:p>
            <a:pPr algn="ctr"/>
            <a:r>
              <a:rPr sz="1125" b="1">
                <a:solidFill>
                  <a:srgbClr val="12343B"/>
                </a:solidFill>
                <a:latin typeface="Consolas"/>
              </a:rPr>
              <a:t>0</a:t>
            </a:r>
          </a:p>
        </p:txBody>
      </p:sp>
      <p:sp>
        <p:nvSpPr>
          <p:cNvPr id="214" name="SC in1 7"/>
          <p:cNvSpPr/>
          <p:nvPr/>
        </p:nvSpPr>
        <p:spPr>
          <a:xfrm>
            <a:off x="7386637" y="1414462"/>
            <a:ext cx="428625" cy="314325"/>
          </a:xfrm>
          <a:prstGeom prst="rect">
            <a:avLst/>
          </a:prstGeom>
          <a:solidFill>
            <a:srgbClr val="E8F5E9"/>
          </a:solidFill>
          <a:ln w="20320">
            <a:solidFill>
              <a:srgbClr val="2E7D32"/>
            </a:solidFill>
          </a:ln>
        </p:spPr>
        <p:txBody>
          <a:bodyPr rtlCol="0" anchor="ctr" wrap="square" lIns="0" rIns="0" tIns="0" bIns="0"/>
          <a:lstStyle/>
          <a:p>
            <a:pPr algn="ctr"/>
            <a:r>
              <a:rPr sz="1125" b="1">
                <a:solidFill>
                  <a:srgbClr val="12343B"/>
                </a:solidFill>
                <a:latin typeface="Consolas"/>
              </a:rPr>
              <a:t>1</a:t>
            </a:r>
          </a:p>
        </p:txBody>
      </p:sp>
      <p:sp>
        <p:nvSpPr>
          <p:cNvPr id="215" name="SC req0 tag"/>
          <p:cNvSpPr/>
          <p:nvPr/>
        </p:nvSpPr>
        <p:spPr>
          <a:xfrm>
            <a:off x="3714750" y="2143125"/>
            <a:ext cx="1571625" cy="185737"/>
          </a:xfrm>
          <a:prstGeom prst="roundRect">
            <a:avLst>
              <a:gd name="adj" fmla="val 15000"/>
            </a:avLst>
          </a:prstGeom>
          <a:solidFill>
            <a:srgbClr val="FFFFFF"/>
          </a:solidFill>
          <a:ln w="15240">
            <a:solidFill>
              <a:srgbClr val="9E9E9E"/>
            </a:solidFill>
          </a:ln>
        </p:spPr>
        <p:txBody>
          <a:bodyPr rtlCol="0" anchor="ctr" wrap="square" lIns="0" rIns="0" tIns="0" bIns="0"/>
          <a:lstStyle/>
          <a:p>
            <a:pPr algn="ctr"/>
            <a:r>
              <a:rPr sz="787" b="1">
                <a:solidFill>
                  <a:srgbClr val="9E9E9E"/>
                </a:solidFill>
                <a:latin typeface="Calibri"/>
              </a:rPr>
              <a:t>next cycle: req = 0</a:t>
            </a:r>
          </a:p>
        </p:txBody>
      </p:sp>
      <p:sp>
        <p:nvSpPr>
          <p:cNvPr id="216" name="SC cap 3"/>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The step: for exactly one TCK cycle the update stage drives req + payload. The crossbar routes it</a:t>
            </a:r>
          </a:p>
          <a:p>
            <a:pPr algn="l"/>
            <a:r>
              <a:rPr sz="1237" b="0">
                <a:solidFill>
                  <a:srgbClr val="FFFFFF"/>
                </a:solidFill>
                <a:latin typeface="Calibri"/>
              </a:rPr>
              <a:t>and the subordinate-side cut samples what arrives. Then req drops, so it is sent only once.</a:t>
            </a:r>
          </a:p>
        </p:txBody>
      </p:sp>
      <p:sp>
        <p:nvSpPr>
          <p:cNvPr id="217" name="SC op hl 0"/>
          <p:cNvSpPr/>
          <p:nvPr/>
        </p:nvSpPr>
        <p:spPr>
          <a:xfrm>
            <a:off x="285750" y="3357562"/>
            <a:ext cx="2071687" cy="771525"/>
          </a:xfrm>
          <a:prstGeom prst="roundRect">
            <a:avLst>
              <a:gd name="adj" fmla="val 9259"/>
            </a:avLst>
          </a:prstGeom>
          <a:solidFill>
            <a:srgbClr val="FFF3E0"/>
          </a:solidFill>
          <a:ln w="38100">
            <a:solidFill>
              <a:srgbClr val="E39B2D"/>
            </a:solidFill>
          </a:ln>
        </p:spPr>
        <p:txBody>
          <a:bodyPr rtlCol="0" anchor="ctr" wrap="square" lIns="28575" rIns="28575" tIns="28575" bIns="28575"/>
          <a:lstStyle/>
          <a:p>
            <a:pPr algn="ctr"/>
            <a:r>
              <a:rPr sz="1068" b="1">
                <a:solidFill>
                  <a:srgbClr val="E39B2D"/>
                </a:solidFill>
                <a:latin typeface="Calibri"/>
              </a:rPr>
              <a:t>Capture-DR</a:t>
            </a:r>
          </a:p>
          <a:p>
            <a:pPr algn="ctr"/>
            <a:r>
              <a:rPr sz="843" b="1">
                <a:solidFill>
                  <a:srgbClr val="12343B"/>
                </a:solidFill>
                <a:latin typeface="Calibri"/>
              </a:rPr>
              <a:t>input → shift stage</a:t>
            </a:r>
          </a:p>
          <a:p>
            <a:pPr algn="ctr"/>
            <a:r>
              <a:rPr sz="787" b="0">
                <a:solidFill>
                  <a:srgbClr val="12343B"/>
                </a:solidFill>
                <a:latin typeface="Calibri"/>
              </a:rPr>
              <a:t>all bits at once</a:t>
            </a:r>
          </a:p>
        </p:txBody>
      </p:sp>
      <p:cxnSp>
        <p:nvCxnSpPr>
          <p:cNvPr id="218" name="SC arr cap 0"/>
          <p:cNvCxnSpPr/>
          <p:nvPr/>
        </p:nvCxnSpPr>
        <p:spPr>
          <a:xfrm>
            <a:off x="1414462" y="1728787"/>
            <a:ext cx="0" cy="214313"/>
          </a:xfrm>
          <a:prstGeom prst="line">
            <a:avLst/>
          </a:prstGeom>
          <a:ln w="31750">
            <a:solidFill>
              <a:srgbClr val="2E7D32"/>
            </a:solidFill>
            <a:tailEnd type="triangle" w="med" len="med"/>
          </a:ln>
        </p:spPr>
      </p:cxnSp>
      <p:cxnSp>
        <p:nvCxnSpPr>
          <p:cNvPr id="219" name="SC arr cap 1"/>
          <p:cNvCxnSpPr/>
          <p:nvPr/>
        </p:nvCxnSpPr>
        <p:spPr>
          <a:xfrm>
            <a:off x="1900237" y="1728787"/>
            <a:ext cx="0" cy="214313"/>
          </a:xfrm>
          <a:prstGeom prst="line">
            <a:avLst/>
          </a:prstGeom>
          <a:ln w="31750">
            <a:solidFill>
              <a:srgbClr val="2E7D32"/>
            </a:solidFill>
            <a:tailEnd type="triangle" w="med" len="med"/>
          </a:ln>
        </p:spPr>
      </p:cxnSp>
      <p:cxnSp>
        <p:nvCxnSpPr>
          <p:cNvPr id="220" name="SC arr cap 2"/>
          <p:cNvCxnSpPr/>
          <p:nvPr/>
        </p:nvCxnSpPr>
        <p:spPr>
          <a:xfrm>
            <a:off x="2386012" y="1728787"/>
            <a:ext cx="0" cy="214313"/>
          </a:xfrm>
          <a:prstGeom prst="line">
            <a:avLst/>
          </a:prstGeom>
          <a:ln w="31750">
            <a:solidFill>
              <a:srgbClr val="2E7D32"/>
            </a:solidFill>
            <a:tailEnd type="triangle" w="med" len="med"/>
          </a:ln>
        </p:spPr>
      </p:cxnSp>
      <p:cxnSp>
        <p:nvCxnSpPr>
          <p:cNvPr id="221" name="SC arr cap 3"/>
          <p:cNvCxnSpPr/>
          <p:nvPr/>
        </p:nvCxnSpPr>
        <p:spPr>
          <a:xfrm>
            <a:off x="2871787" y="1728787"/>
            <a:ext cx="0" cy="214313"/>
          </a:xfrm>
          <a:prstGeom prst="line">
            <a:avLst/>
          </a:prstGeom>
          <a:ln w="31750">
            <a:solidFill>
              <a:srgbClr val="2E7D32"/>
            </a:solidFill>
            <a:tailEnd type="triangle" w="med" len="med"/>
          </a:ln>
        </p:spPr>
      </p:cxnSp>
      <p:cxnSp>
        <p:nvCxnSpPr>
          <p:cNvPr id="222" name="SC arr cap 4"/>
          <p:cNvCxnSpPr/>
          <p:nvPr/>
        </p:nvCxnSpPr>
        <p:spPr>
          <a:xfrm>
            <a:off x="6143625" y="1728787"/>
            <a:ext cx="0" cy="214313"/>
          </a:xfrm>
          <a:prstGeom prst="line">
            <a:avLst/>
          </a:prstGeom>
          <a:ln w="31750">
            <a:solidFill>
              <a:srgbClr val="2E7D32"/>
            </a:solidFill>
            <a:tailEnd type="triangle" w="med" len="med"/>
          </a:ln>
        </p:spPr>
      </p:cxnSp>
      <p:cxnSp>
        <p:nvCxnSpPr>
          <p:cNvPr id="223" name="SC arr cap 5"/>
          <p:cNvCxnSpPr/>
          <p:nvPr/>
        </p:nvCxnSpPr>
        <p:spPr>
          <a:xfrm>
            <a:off x="6629400" y="1728787"/>
            <a:ext cx="0" cy="214313"/>
          </a:xfrm>
          <a:prstGeom prst="line">
            <a:avLst/>
          </a:prstGeom>
          <a:ln w="31750">
            <a:solidFill>
              <a:srgbClr val="2E7D32"/>
            </a:solidFill>
            <a:tailEnd type="triangle" w="med" len="med"/>
          </a:ln>
        </p:spPr>
      </p:cxnSp>
      <p:cxnSp>
        <p:nvCxnSpPr>
          <p:cNvPr id="224" name="SC arr cap 6"/>
          <p:cNvCxnSpPr/>
          <p:nvPr/>
        </p:nvCxnSpPr>
        <p:spPr>
          <a:xfrm>
            <a:off x="7115175" y="1728787"/>
            <a:ext cx="0" cy="214313"/>
          </a:xfrm>
          <a:prstGeom prst="line">
            <a:avLst/>
          </a:prstGeom>
          <a:ln w="31750">
            <a:solidFill>
              <a:srgbClr val="2E7D32"/>
            </a:solidFill>
            <a:tailEnd type="triangle" w="med" len="med"/>
          </a:ln>
        </p:spPr>
      </p:cxnSp>
      <p:cxnSp>
        <p:nvCxnSpPr>
          <p:cNvPr id="225" name="SC arr cap 7"/>
          <p:cNvCxnSpPr/>
          <p:nvPr/>
        </p:nvCxnSpPr>
        <p:spPr>
          <a:xfrm>
            <a:off x="7600950" y="1728787"/>
            <a:ext cx="0" cy="214313"/>
          </a:xfrm>
          <a:prstGeom prst="line">
            <a:avLst/>
          </a:prstGeom>
          <a:ln w="31750">
            <a:solidFill>
              <a:srgbClr val="2E7D32"/>
            </a:solidFill>
            <a:tailEnd type="triangle" w="med" len="med"/>
          </a:ln>
        </p:spPr>
      </p:cxnSp>
      <p:sp>
        <p:nvSpPr>
          <p:cNvPr id="226" name="SC sh2 0"/>
          <p:cNvSpPr/>
          <p:nvPr/>
        </p:nvSpPr>
        <p:spPr>
          <a:xfrm>
            <a:off x="1200150"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27" name="SC sh2 1"/>
          <p:cNvSpPr/>
          <p:nvPr/>
        </p:nvSpPr>
        <p:spPr>
          <a:xfrm>
            <a:off x="1685925"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28" name="SC sh2 2"/>
          <p:cNvSpPr/>
          <p:nvPr/>
        </p:nvSpPr>
        <p:spPr>
          <a:xfrm>
            <a:off x="2171700"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29" name="SC sh2 3"/>
          <p:cNvSpPr/>
          <p:nvPr/>
        </p:nvSpPr>
        <p:spPr>
          <a:xfrm>
            <a:off x="2657475"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30" name="SC sh2 4"/>
          <p:cNvSpPr/>
          <p:nvPr/>
        </p:nvSpPr>
        <p:spPr>
          <a:xfrm>
            <a:off x="5929312" y="1943100"/>
            <a:ext cx="428625" cy="314325"/>
          </a:xfrm>
          <a:prstGeom prst="rect">
            <a:avLst/>
          </a:prstGeom>
          <a:solidFill>
            <a:srgbClr val="E8F5E9"/>
          </a:solidFill>
          <a:ln w="20320">
            <a:solidFill>
              <a:srgbClr val="2E7D32"/>
            </a:solidFill>
          </a:ln>
        </p:spPr>
        <p:txBody>
          <a:bodyPr rtlCol="0" anchor="ctr" wrap="square" lIns="0" rIns="0" tIns="0" bIns="0"/>
          <a:lstStyle/>
          <a:p>
            <a:pPr algn="ctr"/>
            <a:r>
              <a:rPr sz="1125" b="1">
                <a:solidFill>
                  <a:srgbClr val="12343B"/>
                </a:solidFill>
                <a:latin typeface="Consolas"/>
              </a:rPr>
              <a:t>1</a:t>
            </a:r>
          </a:p>
        </p:txBody>
      </p:sp>
      <p:sp>
        <p:nvSpPr>
          <p:cNvPr id="231" name="SC sh2 5"/>
          <p:cNvSpPr/>
          <p:nvPr/>
        </p:nvSpPr>
        <p:spPr>
          <a:xfrm>
            <a:off x="6415087" y="1943100"/>
            <a:ext cx="428625" cy="314325"/>
          </a:xfrm>
          <a:prstGeom prst="rect">
            <a:avLst/>
          </a:prstGeom>
          <a:solidFill>
            <a:srgbClr val="E8F5E9"/>
          </a:solidFill>
          <a:ln w="20320">
            <a:solidFill>
              <a:srgbClr val="2E7D32"/>
            </a:solidFill>
          </a:ln>
        </p:spPr>
        <p:txBody>
          <a:bodyPr rtlCol="0" anchor="ctr" wrap="square" lIns="0" rIns="0" tIns="0" bIns="0"/>
          <a:lstStyle/>
          <a:p>
            <a:pPr algn="ctr"/>
            <a:r>
              <a:rPr sz="1125" b="1">
                <a:solidFill>
                  <a:srgbClr val="12343B"/>
                </a:solidFill>
                <a:latin typeface="Consolas"/>
              </a:rPr>
              <a:t>1</a:t>
            </a:r>
          </a:p>
        </p:txBody>
      </p:sp>
      <p:sp>
        <p:nvSpPr>
          <p:cNvPr id="232" name="SC sh2 6"/>
          <p:cNvSpPr/>
          <p:nvPr/>
        </p:nvSpPr>
        <p:spPr>
          <a:xfrm>
            <a:off x="6900862" y="1943100"/>
            <a:ext cx="428625" cy="314325"/>
          </a:xfrm>
          <a:prstGeom prst="rect">
            <a:avLst/>
          </a:prstGeom>
          <a:solidFill>
            <a:srgbClr val="E8F5E9"/>
          </a:solidFill>
          <a:ln w="20320">
            <a:solidFill>
              <a:srgbClr val="2E7D32"/>
            </a:solidFill>
          </a:ln>
        </p:spPr>
        <p:txBody>
          <a:bodyPr rtlCol="0" anchor="ctr" wrap="square" lIns="0" rIns="0" tIns="0" bIns="0"/>
          <a:lstStyle/>
          <a:p>
            <a:pPr algn="ctr"/>
            <a:r>
              <a:rPr sz="1125" b="1">
                <a:solidFill>
                  <a:srgbClr val="12343B"/>
                </a:solidFill>
                <a:latin typeface="Consolas"/>
              </a:rPr>
              <a:t>0</a:t>
            </a:r>
          </a:p>
        </p:txBody>
      </p:sp>
      <p:sp>
        <p:nvSpPr>
          <p:cNvPr id="233" name="SC sh2 7"/>
          <p:cNvSpPr/>
          <p:nvPr/>
        </p:nvSpPr>
        <p:spPr>
          <a:xfrm>
            <a:off x="7386637" y="1943100"/>
            <a:ext cx="428625" cy="314325"/>
          </a:xfrm>
          <a:prstGeom prst="rect">
            <a:avLst/>
          </a:prstGeom>
          <a:solidFill>
            <a:srgbClr val="E8F5E9"/>
          </a:solidFill>
          <a:ln w="20320">
            <a:solidFill>
              <a:srgbClr val="2E7D32"/>
            </a:solidFill>
          </a:ln>
        </p:spPr>
        <p:txBody>
          <a:bodyPr rtlCol="0" anchor="ctr" wrap="square" lIns="0" rIns="0" tIns="0" bIns="0"/>
          <a:lstStyle/>
          <a:p>
            <a:pPr algn="ctr"/>
            <a:r>
              <a:rPr sz="1125" b="1">
                <a:solidFill>
                  <a:srgbClr val="12343B"/>
                </a:solidFill>
                <a:latin typeface="Consolas"/>
              </a:rPr>
              <a:t>1</a:t>
            </a:r>
          </a:p>
        </p:txBody>
      </p:sp>
      <p:sp>
        <p:nvSpPr>
          <p:cNvPr id="234" name="SC cap 4"/>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Capture-DR copies every input into the shift stage at the same moment. The subordinate-side cut</a:t>
            </a:r>
          </a:p>
          <a:p>
            <a:pPr algn="l"/>
            <a:r>
              <a:rPr sz="1237" b="0">
                <a:solidFill>
                  <a:srgbClr val="FFFFFF"/>
                </a:solidFill>
                <a:latin typeface="Calibri"/>
              </a:rPr>
              <a:t>now holds the request that crossed the crossbar; the idle manager side holds 0.</a:t>
            </a:r>
          </a:p>
        </p:txBody>
      </p:sp>
      <p:sp>
        <p:nvSpPr>
          <p:cNvPr id="235" name="SC lab 150 sh b"/>
          <p:cNvSpPr/>
          <p:nvPr/>
        </p:nvSpPr>
        <p:spPr>
          <a:xfrm>
            <a:off x="1171575" y="1793081"/>
            <a:ext cx="1928812" cy="142875"/>
          </a:xfrm>
          <a:prstGeom prst="rect">
            <a:avLst/>
          </a:prstGeom>
          <a:noFill/>
          <a:ln>
            <a:noFill/>
          </a:ln>
        </p:spPr>
        <p:txBody>
          <a:bodyPr rtlCol="0" anchor="ctr" wrap="square" lIns="0" rIns="0" tIns="0" bIns="0"/>
          <a:lstStyle/>
          <a:p>
            <a:pPr algn="l"/>
            <a:r>
              <a:rPr sz="675" b="1">
                <a:solidFill>
                  <a:srgbClr val="9E9E9E"/>
                </a:solidFill>
                <a:latin typeface="Calibri"/>
              </a:rPr>
              <a:t>shift stage (on the scan chain)</a:t>
            </a:r>
          </a:p>
        </p:txBody>
      </p:sp>
      <p:sp>
        <p:nvSpPr>
          <p:cNvPr id="236" name="SC lab 812 sh b"/>
          <p:cNvSpPr/>
          <p:nvPr/>
        </p:nvSpPr>
        <p:spPr>
          <a:xfrm>
            <a:off x="5900737" y="1793081"/>
            <a:ext cx="1928812" cy="142875"/>
          </a:xfrm>
          <a:prstGeom prst="rect">
            <a:avLst/>
          </a:prstGeom>
          <a:noFill/>
          <a:ln>
            <a:noFill/>
          </a:ln>
        </p:spPr>
        <p:txBody>
          <a:bodyPr rtlCol="0" anchor="ctr" wrap="square" lIns="0" rIns="0" tIns="0" bIns="0"/>
          <a:lstStyle/>
          <a:p>
            <a:pPr algn="l"/>
            <a:r>
              <a:rPr sz="675" b="1">
                <a:solidFill>
                  <a:srgbClr val="9E9E9E"/>
                </a:solidFill>
                <a:latin typeface="Calibri"/>
              </a:rPr>
              <a:t>shift stage (on the scan chain)</a:t>
            </a:r>
          </a:p>
        </p:txBody>
      </p:sp>
      <p:sp>
        <p:nvSpPr>
          <p:cNvPr id="237" name="SC op hl 1"/>
          <p:cNvSpPr/>
          <p:nvPr/>
        </p:nvSpPr>
        <p:spPr>
          <a:xfrm>
            <a:off x="2443162" y="3357562"/>
            <a:ext cx="2071687" cy="771525"/>
          </a:xfrm>
          <a:prstGeom prst="roundRect">
            <a:avLst>
              <a:gd name="adj" fmla="val 9259"/>
            </a:avLst>
          </a:prstGeom>
          <a:solidFill>
            <a:srgbClr val="FFF3E0"/>
          </a:solidFill>
          <a:ln w="38100">
            <a:solidFill>
              <a:srgbClr val="E39B2D"/>
            </a:solidFill>
          </a:ln>
        </p:spPr>
        <p:txBody>
          <a:bodyPr rtlCol="0" anchor="ctr" wrap="square" lIns="28575" rIns="28575" tIns="28575" bIns="28575"/>
          <a:lstStyle/>
          <a:p>
            <a:pPr algn="ctr"/>
            <a:r>
              <a:rPr sz="1068" b="1">
                <a:solidFill>
                  <a:srgbClr val="E39B2D"/>
                </a:solidFill>
                <a:latin typeface="Calibri"/>
              </a:rPr>
              <a:t>Shift-DR</a:t>
            </a:r>
          </a:p>
          <a:p>
            <a:pPr algn="ctr"/>
            <a:r>
              <a:rPr sz="843" b="1">
                <a:solidFill>
                  <a:srgbClr val="12343B"/>
                </a:solidFill>
                <a:latin typeface="Calibri"/>
              </a:rPr>
              <a:t>TDI → … → TDO</a:t>
            </a:r>
          </a:p>
          <a:p>
            <a:pPr algn="ctr"/>
            <a:r>
              <a:rPr sz="787" b="0">
                <a:solidFill>
                  <a:srgbClr val="12343B"/>
                </a:solidFill>
                <a:latin typeface="Calibri"/>
              </a:rPr>
              <a:t>one bit per TCK</a:t>
            </a:r>
          </a:p>
        </p:txBody>
      </p:sp>
      <p:sp>
        <p:nvSpPr>
          <p:cNvPr id="238" name="SC q b 0"/>
          <p:cNvSpPr/>
          <p:nvPr/>
        </p:nvSpPr>
        <p:spPr>
          <a:xfrm>
            <a:off x="0" y="2357437"/>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0000 0000</a:t>
            </a:r>
          </a:p>
        </p:txBody>
      </p:sp>
      <p:sp>
        <p:nvSpPr>
          <p:cNvPr id="239" name="SC o b 0"/>
          <p:cNvSpPr/>
          <p:nvPr/>
        </p:nvSpPr>
        <p:spPr>
          <a:xfrm>
            <a:off x="8072437" y="1743075"/>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
            </a:r>
          </a:p>
        </p:txBody>
      </p:sp>
      <p:sp>
        <p:nvSpPr>
          <p:cNvPr id="240" name="SC sh b 0 0"/>
          <p:cNvSpPr/>
          <p:nvPr/>
        </p:nvSpPr>
        <p:spPr>
          <a:xfrm>
            <a:off x="120015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41" name="SC sh b 0 1"/>
          <p:cNvSpPr/>
          <p:nvPr/>
        </p:nvSpPr>
        <p:spPr>
          <a:xfrm>
            <a:off x="1685925"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42" name="SC sh b 0 2"/>
          <p:cNvSpPr/>
          <p:nvPr/>
        </p:nvSpPr>
        <p:spPr>
          <a:xfrm>
            <a:off x="2171700"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43" name="SC sh b 0 3"/>
          <p:cNvSpPr/>
          <p:nvPr/>
        </p:nvSpPr>
        <p:spPr>
          <a:xfrm>
            <a:off x="2657475"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44" name="SC sh b 0 4"/>
          <p:cNvSpPr/>
          <p:nvPr/>
        </p:nvSpPr>
        <p:spPr>
          <a:xfrm>
            <a:off x="592931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45" name="SC sh b 0 5"/>
          <p:cNvSpPr/>
          <p:nvPr/>
        </p:nvSpPr>
        <p:spPr>
          <a:xfrm>
            <a:off x="641508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246" name="SC sh b 0 6"/>
          <p:cNvSpPr/>
          <p:nvPr/>
        </p:nvSpPr>
        <p:spPr>
          <a:xfrm>
            <a:off x="690086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247" name="SC sh b 0 7"/>
          <p:cNvSpPr/>
          <p:nvPr/>
        </p:nvSpPr>
        <p:spPr>
          <a:xfrm>
            <a:off x="738663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48" name="SC q b 1"/>
          <p:cNvSpPr/>
          <p:nvPr/>
        </p:nvSpPr>
        <p:spPr>
          <a:xfrm>
            <a:off x="0" y="2357437"/>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0000 000</a:t>
            </a:r>
          </a:p>
        </p:txBody>
      </p:sp>
      <p:sp>
        <p:nvSpPr>
          <p:cNvPr id="249" name="SC o b 1"/>
          <p:cNvSpPr/>
          <p:nvPr/>
        </p:nvSpPr>
        <p:spPr>
          <a:xfrm>
            <a:off x="8072437" y="1743075"/>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1</a:t>
            </a:r>
          </a:p>
        </p:txBody>
      </p:sp>
      <p:sp>
        <p:nvSpPr>
          <p:cNvPr id="250" name="SC tck b 0"/>
          <p:cNvSpPr/>
          <p:nvPr/>
        </p:nvSpPr>
        <p:spPr>
          <a:xfrm>
            <a:off x="7143750" y="142875"/>
            <a:ext cx="1714500" cy="285750"/>
          </a:xfrm>
          <a:prstGeom prst="rect">
            <a:avLst/>
          </a:prstGeom>
          <a:solidFill>
            <a:srgbClr val="FFFFFF"/>
          </a:solidFill>
          <a:ln>
            <a:noFill/>
          </a:ln>
        </p:spPr>
        <p:txBody>
          <a:bodyPr rtlCol="0" anchor="ctr" wrap="square" lIns="0" rIns="0" tIns="0" bIns="0"/>
          <a:lstStyle/>
          <a:p>
            <a:pPr algn="r"/>
            <a:r>
              <a:rPr sz="1012" b="1">
                <a:solidFill>
                  <a:srgbClr val="E39B2D"/>
                </a:solidFill>
                <a:latin typeface="Calibri"/>
              </a:rPr>
              <a:t>TCK 1 / 8</a:t>
            </a:r>
          </a:p>
        </p:txBody>
      </p:sp>
      <p:sp>
        <p:nvSpPr>
          <p:cNvPr id="251" name="SC sh b 1 0"/>
          <p:cNvSpPr/>
          <p:nvPr/>
        </p:nvSpPr>
        <p:spPr>
          <a:xfrm>
            <a:off x="120015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52" name="SC sh b 1 1"/>
          <p:cNvSpPr/>
          <p:nvPr/>
        </p:nvSpPr>
        <p:spPr>
          <a:xfrm>
            <a:off x="168592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53" name="SC sh b 1 2"/>
          <p:cNvSpPr/>
          <p:nvPr/>
        </p:nvSpPr>
        <p:spPr>
          <a:xfrm>
            <a:off x="2171700"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54" name="SC sh b 1 3"/>
          <p:cNvSpPr/>
          <p:nvPr/>
        </p:nvSpPr>
        <p:spPr>
          <a:xfrm>
            <a:off x="2657475"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55" name="SC sh b 1 4"/>
          <p:cNvSpPr/>
          <p:nvPr/>
        </p:nvSpPr>
        <p:spPr>
          <a:xfrm>
            <a:off x="592931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56" name="SC sh b 1 5"/>
          <p:cNvSpPr/>
          <p:nvPr/>
        </p:nvSpPr>
        <p:spPr>
          <a:xfrm>
            <a:off x="641508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57" name="SC sh b 1 6"/>
          <p:cNvSpPr/>
          <p:nvPr/>
        </p:nvSpPr>
        <p:spPr>
          <a:xfrm>
            <a:off x="690086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258" name="SC sh b 1 7"/>
          <p:cNvSpPr/>
          <p:nvPr/>
        </p:nvSpPr>
        <p:spPr>
          <a:xfrm>
            <a:off x="738663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259" name="SC q b 2"/>
          <p:cNvSpPr/>
          <p:nvPr/>
        </p:nvSpPr>
        <p:spPr>
          <a:xfrm>
            <a:off x="0" y="2357437"/>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0000 00</a:t>
            </a:r>
          </a:p>
        </p:txBody>
      </p:sp>
      <p:sp>
        <p:nvSpPr>
          <p:cNvPr id="260" name="SC o b 2"/>
          <p:cNvSpPr/>
          <p:nvPr/>
        </p:nvSpPr>
        <p:spPr>
          <a:xfrm>
            <a:off x="8072437" y="1743075"/>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01</a:t>
            </a:r>
          </a:p>
        </p:txBody>
      </p:sp>
      <p:sp>
        <p:nvSpPr>
          <p:cNvPr id="261" name="SC tck b 1"/>
          <p:cNvSpPr/>
          <p:nvPr/>
        </p:nvSpPr>
        <p:spPr>
          <a:xfrm>
            <a:off x="7143750" y="142875"/>
            <a:ext cx="1714500" cy="285750"/>
          </a:xfrm>
          <a:prstGeom prst="rect">
            <a:avLst/>
          </a:prstGeom>
          <a:solidFill>
            <a:srgbClr val="FFFFFF"/>
          </a:solidFill>
          <a:ln>
            <a:noFill/>
          </a:ln>
        </p:spPr>
        <p:txBody>
          <a:bodyPr rtlCol="0" anchor="ctr" wrap="square" lIns="0" rIns="0" tIns="0" bIns="0"/>
          <a:lstStyle/>
          <a:p>
            <a:pPr algn="r"/>
            <a:r>
              <a:rPr sz="1012" b="1">
                <a:solidFill>
                  <a:srgbClr val="E39B2D"/>
                </a:solidFill>
                <a:latin typeface="Calibri"/>
              </a:rPr>
              <a:t>TCK 2 / 8</a:t>
            </a:r>
          </a:p>
        </p:txBody>
      </p:sp>
      <p:sp>
        <p:nvSpPr>
          <p:cNvPr id="262" name="SC sh b 2 0"/>
          <p:cNvSpPr/>
          <p:nvPr/>
        </p:nvSpPr>
        <p:spPr>
          <a:xfrm>
            <a:off x="120015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63" name="SC sh b 2 1"/>
          <p:cNvSpPr/>
          <p:nvPr/>
        </p:nvSpPr>
        <p:spPr>
          <a:xfrm>
            <a:off x="168592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64" name="SC sh b 2 2"/>
          <p:cNvSpPr/>
          <p:nvPr/>
        </p:nvSpPr>
        <p:spPr>
          <a:xfrm>
            <a:off x="217170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65" name="SC sh b 2 3"/>
          <p:cNvSpPr/>
          <p:nvPr/>
        </p:nvSpPr>
        <p:spPr>
          <a:xfrm>
            <a:off x="2657475"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66" name="SC sh b 2 4"/>
          <p:cNvSpPr/>
          <p:nvPr/>
        </p:nvSpPr>
        <p:spPr>
          <a:xfrm>
            <a:off x="592931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67" name="SC sh b 2 5"/>
          <p:cNvSpPr/>
          <p:nvPr/>
        </p:nvSpPr>
        <p:spPr>
          <a:xfrm>
            <a:off x="641508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68" name="SC sh b 2 6"/>
          <p:cNvSpPr/>
          <p:nvPr/>
        </p:nvSpPr>
        <p:spPr>
          <a:xfrm>
            <a:off x="690086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69" name="SC sh b 2 7"/>
          <p:cNvSpPr/>
          <p:nvPr/>
        </p:nvSpPr>
        <p:spPr>
          <a:xfrm>
            <a:off x="738663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1</a:t>
            </a:r>
          </a:p>
        </p:txBody>
      </p:sp>
      <p:sp>
        <p:nvSpPr>
          <p:cNvPr id="270" name="SC q b 3"/>
          <p:cNvSpPr/>
          <p:nvPr/>
        </p:nvSpPr>
        <p:spPr>
          <a:xfrm>
            <a:off x="0" y="2357437"/>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0000 0</a:t>
            </a:r>
          </a:p>
        </p:txBody>
      </p:sp>
      <p:sp>
        <p:nvSpPr>
          <p:cNvPr id="271" name="SC o b 3"/>
          <p:cNvSpPr/>
          <p:nvPr/>
        </p:nvSpPr>
        <p:spPr>
          <a:xfrm>
            <a:off x="8072437" y="1743075"/>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101</a:t>
            </a:r>
          </a:p>
        </p:txBody>
      </p:sp>
      <p:sp>
        <p:nvSpPr>
          <p:cNvPr id="272" name="SC tck b 2"/>
          <p:cNvSpPr/>
          <p:nvPr/>
        </p:nvSpPr>
        <p:spPr>
          <a:xfrm>
            <a:off x="7143750" y="142875"/>
            <a:ext cx="1714500" cy="285750"/>
          </a:xfrm>
          <a:prstGeom prst="rect">
            <a:avLst/>
          </a:prstGeom>
          <a:solidFill>
            <a:srgbClr val="FFFFFF"/>
          </a:solidFill>
          <a:ln>
            <a:noFill/>
          </a:ln>
        </p:spPr>
        <p:txBody>
          <a:bodyPr rtlCol="0" anchor="ctr" wrap="square" lIns="0" rIns="0" tIns="0" bIns="0"/>
          <a:lstStyle/>
          <a:p>
            <a:pPr algn="r"/>
            <a:r>
              <a:rPr sz="1012" b="1">
                <a:solidFill>
                  <a:srgbClr val="E39B2D"/>
                </a:solidFill>
                <a:latin typeface="Calibri"/>
              </a:rPr>
              <a:t>TCK 3 / 8</a:t>
            </a:r>
          </a:p>
        </p:txBody>
      </p:sp>
      <p:sp>
        <p:nvSpPr>
          <p:cNvPr id="273" name="SC sh b 3 0"/>
          <p:cNvSpPr/>
          <p:nvPr/>
        </p:nvSpPr>
        <p:spPr>
          <a:xfrm>
            <a:off x="120015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74" name="SC sh b 3 1"/>
          <p:cNvSpPr/>
          <p:nvPr/>
        </p:nvSpPr>
        <p:spPr>
          <a:xfrm>
            <a:off x="168592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75" name="SC sh b 3 2"/>
          <p:cNvSpPr/>
          <p:nvPr/>
        </p:nvSpPr>
        <p:spPr>
          <a:xfrm>
            <a:off x="217170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76" name="SC sh b 3 3"/>
          <p:cNvSpPr/>
          <p:nvPr/>
        </p:nvSpPr>
        <p:spPr>
          <a:xfrm>
            <a:off x="265747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77" name="SC sh b 3 4"/>
          <p:cNvSpPr/>
          <p:nvPr/>
        </p:nvSpPr>
        <p:spPr>
          <a:xfrm>
            <a:off x="592931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78" name="SC sh b 3 5"/>
          <p:cNvSpPr/>
          <p:nvPr/>
        </p:nvSpPr>
        <p:spPr>
          <a:xfrm>
            <a:off x="641508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79" name="SC sh b 3 6"/>
          <p:cNvSpPr/>
          <p:nvPr/>
        </p:nvSpPr>
        <p:spPr>
          <a:xfrm>
            <a:off x="690086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80" name="SC sh b 3 7"/>
          <p:cNvSpPr/>
          <p:nvPr/>
        </p:nvSpPr>
        <p:spPr>
          <a:xfrm>
            <a:off x="738663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81" name="SC q b 4"/>
          <p:cNvSpPr/>
          <p:nvPr/>
        </p:nvSpPr>
        <p:spPr>
          <a:xfrm>
            <a:off x="0" y="2357437"/>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0000</a:t>
            </a:r>
          </a:p>
        </p:txBody>
      </p:sp>
      <p:sp>
        <p:nvSpPr>
          <p:cNvPr id="282" name="SC o b 4"/>
          <p:cNvSpPr/>
          <p:nvPr/>
        </p:nvSpPr>
        <p:spPr>
          <a:xfrm>
            <a:off x="8072437" y="1743075"/>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1101</a:t>
            </a:r>
          </a:p>
        </p:txBody>
      </p:sp>
      <p:sp>
        <p:nvSpPr>
          <p:cNvPr id="283" name="SC tck b 3"/>
          <p:cNvSpPr/>
          <p:nvPr/>
        </p:nvSpPr>
        <p:spPr>
          <a:xfrm>
            <a:off x="7143750" y="142875"/>
            <a:ext cx="1714500" cy="285750"/>
          </a:xfrm>
          <a:prstGeom prst="rect">
            <a:avLst/>
          </a:prstGeom>
          <a:solidFill>
            <a:srgbClr val="FFFFFF"/>
          </a:solidFill>
          <a:ln>
            <a:noFill/>
          </a:ln>
        </p:spPr>
        <p:txBody>
          <a:bodyPr rtlCol="0" anchor="ctr" wrap="square" lIns="0" rIns="0" tIns="0" bIns="0"/>
          <a:lstStyle/>
          <a:p>
            <a:pPr algn="r"/>
            <a:r>
              <a:rPr sz="1012" b="1">
                <a:solidFill>
                  <a:srgbClr val="E39B2D"/>
                </a:solidFill>
                <a:latin typeface="Calibri"/>
              </a:rPr>
              <a:t>TCK 4 / 8</a:t>
            </a:r>
          </a:p>
        </p:txBody>
      </p:sp>
      <p:sp>
        <p:nvSpPr>
          <p:cNvPr id="284" name="SC sh b 4 0"/>
          <p:cNvSpPr/>
          <p:nvPr/>
        </p:nvSpPr>
        <p:spPr>
          <a:xfrm>
            <a:off x="120015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85" name="SC sh b 4 1"/>
          <p:cNvSpPr/>
          <p:nvPr/>
        </p:nvSpPr>
        <p:spPr>
          <a:xfrm>
            <a:off x="168592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86" name="SC sh b 4 2"/>
          <p:cNvSpPr/>
          <p:nvPr/>
        </p:nvSpPr>
        <p:spPr>
          <a:xfrm>
            <a:off x="217170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87" name="SC sh b 4 3"/>
          <p:cNvSpPr/>
          <p:nvPr/>
        </p:nvSpPr>
        <p:spPr>
          <a:xfrm>
            <a:off x="265747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88" name="SC sh b 4 4"/>
          <p:cNvSpPr/>
          <p:nvPr/>
        </p:nvSpPr>
        <p:spPr>
          <a:xfrm>
            <a:off x="5929312"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89" name="SC sh b 4 5"/>
          <p:cNvSpPr/>
          <p:nvPr/>
        </p:nvSpPr>
        <p:spPr>
          <a:xfrm>
            <a:off x="641508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90" name="SC sh b 4 6"/>
          <p:cNvSpPr/>
          <p:nvPr/>
        </p:nvSpPr>
        <p:spPr>
          <a:xfrm>
            <a:off x="690086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91" name="SC sh b 4 7"/>
          <p:cNvSpPr/>
          <p:nvPr/>
        </p:nvSpPr>
        <p:spPr>
          <a:xfrm>
            <a:off x="738663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292" name="SC q b 5"/>
          <p:cNvSpPr/>
          <p:nvPr/>
        </p:nvSpPr>
        <p:spPr>
          <a:xfrm>
            <a:off x="0" y="2357437"/>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000</a:t>
            </a:r>
          </a:p>
        </p:txBody>
      </p:sp>
      <p:sp>
        <p:nvSpPr>
          <p:cNvPr id="293" name="SC o b 5"/>
          <p:cNvSpPr/>
          <p:nvPr/>
        </p:nvSpPr>
        <p:spPr>
          <a:xfrm>
            <a:off x="8072437" y="1743075"/>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0110 1</a:t>
            </a:r>
          </a:p>
        </p:txBody>
      </p:sp>
      <p:sp>
        <p:nvSpPr>
          <p:cNvPr id="294" name="SC tck b 4"/>
          <p:cNvSpPr/>
          <p:nvPr/>
        </p:nvSpPr>
        <p:spPr>
          <a:xfrm>
            <a:off x="7143750" y="142875"/>
            <a:ext cx="1714500" cy="285750"/>
          </a:xfrm>
          <a:prstGeom prst="rect">
            <a:avLst/>
          </a:prstGeom>
          <a:solidFill>
            <a:srgbClr val="FFFFFF"/>
          </a:solidFill>
          <a:ln>
            <a:noFill/>
          </a:ln>
        </p:spPr>
        <p:txBody>
          <a:bodyPr rtlCol="0" anchor="ctr" wrap="square" lIns="0" rIns="0" tIns="0" bIns="0"/>
          <a:lstStyle/>
          <a:p>
            <a:pPr algn="r"/>
            <a:r>
              <a:rPr sz="1012" b="1">
                <a:solidFill>
                  <a:srgbClr val="E39B2D"/>
                </a:solidFill>
                <a:latin typeface="Calibri"/>
              </a:rPr>
              <a:t>TCK 5 / 8</a:t>
            </a:r>
          </a:p>
        </p:txBody>
      </p:sp>
      <p:sp>
        <p:nvSpPr>
          <p:cNvPr id="295" name="SC sh b 5 0"/>
          <p:cNvSpPr/>
          <p:nvPr/>
        </p:nvSpPr>
        <p:spPr>
          <a:xfrm>
            <a:off x="120015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96" name="SC sh b 5 1"/>
          <p:cNvSpPr/>
          <p:nvPr/>
        </p:nvSpPr>
        <p:spPr>
          <a:xfrm>
            <a:off x="168592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97" name="SC sh b 5 2"/>
          <p:cNvSpPr/>
          <p:nvPr/>
        </p:nvSpPr>
        <p:spPr>
          <a:xfrm>
            <a:off x="217170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98" name="SC sh b 5 3"/>
          <p:cNvSpPr/>
          <p:nvPr/>
        </p:nvSpPr>
        <p:spPr>
          <a:xfrm>
            <a:off x="265747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299" name="SC sh b 5 4"/>
          <p:cNvSpPr/>
          <p:nvPr/>
        </p:nvSpPr>
        <p:spPr>
          <a:xfrm>
            <a:off x="5929312"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300" name="SC sh b 5 5"/>
          <p:cNvSpPr/>
          <p:nvPr/>
        </p:nvSpPr>
        <p:spPr>
          <a:xfrm>
            <a:off x="6415087"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301" name="SC sh b 5 6"/>
          <p:cNvSpPr/>
          <p:nvPr/>
        </p:nvSpPr>
        <p:spPr>
          <a:xfrm>
            <a:off x="6900862"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302" name="SC sh b 5 7"/>
          <p:cNvSpPr/>
          <p:nvPr/>
        </p:nvSpPr>
        <p:spPr>
          <a:xfrm>
            <a:off x="738663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303" name="SC q b 6"/>
          <p:cNvSpPr/>
          <p:nvPr/>
        </p:nvSpPr>
        <p:spPr>
          <a:xfrm>
            <a:off x="0" y="2357437"/>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00</a:t>
            </a:r>
          </a:p>
        </p:txBody>
      </p:sp>
      <p:sp>
        <p:nvSpPr>
          <p:cNvPr id="304" name="SC o b 6"/>
          <p:cNvSpPr/>
          <p:nvPr/>
        </p:nvSpPr>
        <p:spPr>
          <a:xfrm>
            <a:off x="8072437" y="1743075"/>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0011 01</a:t>
            </a:r>
          </a:p>
        </p:txBody>
      </p:sp>
      <p:sp>
        <p:nvSpPr>
          <p:cNvPr id="305" name="SC tck b 5"/>
          <p:cNvSpPr/>
          <p:nvPr/>
        </p:nvSpPr>
        <p:spPr>
          <a:xfrm>
            <a:off x="7143750" y="142875"/>
            <a:ext cx="1714500" cy="285750"/>
          </a:xfrm>
          <a:prstGeom prst="rect">
            <a:avLst/>
          </a:prstGeom>
          <a:solidFill>
            <a:srgbClr val="FFFFFF"/>
          </a:solidFill>
          <a:ln>
            <a:noFill/>
          </a:ln>
        </p:spPr>
        <p:txBody>
          <a:bodyPr rtlCol="0" anchor="ctr" wrap="square" lIns="0" rIns="0" tIns="0" bIns="0"/>
          <a:lstStyle/>
          <a:p>
            <a:pPr algn="r"/>
            <a:r>
              <a:rPr sz="1012" b="1">
                <a:solidFill>
                  <a:srgbClr val="E39B2D"/>
                </a:solidFill>
                <a:latin typeface="Calibri"/>
              </a:rPr>
              <a:t>TCK 6 / 8</a:t>
            </a:r>
          </a:p>
        </p:txBody>
      </p:sp>
      <p:sp>
        <p:nvSpPr>
          <p:cNvPr id="306" name="SC sh b 6 0"/>
          <p:cNvSpPr/>
          <p:nvPr/>
        </p:nvSpPr>
        <p:spPr>
          <a:xfrm>
            <a:off x="120015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307" name="SC sh b 6 1"/>
          <p:cNvSpPr/>
          <p:nvPr/>
        </p:nvSpPr>
        <p:spPr>
          <a:xfrm>
            <a:off x="168592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308" name="SC sh b 6 2"/>
          <p:cNvSpPr/>
          <p:nvPr/>
        </p:nvSpPr>
        <p:spPr>
          <a:xfrm>
            <a:off x="217170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309" name="SC sh b 6 3"/>
          <p:cNvSpPr/>
          <p:nvPr/>
        </p:nvSpPr>
        <p:spPr>
          <a:xfrm>
            <a:off x="265747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310" name="SC sh b 6 4"/>
          <p:cNvSpPr/>
          <p:nvPr/>
        </p:nvSpPr>
        <p:spPr>
          <a:xfrm>
            <a:off x="5929312"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311" name="SC sh b 6 5"/>
          <p:cNvSpPr/>
          <p:nvPr/>
        </p:nvSpPr>
        <p:spPr>
          <a:xfrm>
            <a:off x="6415087"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312" name="SC sh b 6 6"/>
          <p:cNvSpPr/>
          <p:nvPr/>
        </p:nvSpPr>
        <p:spPr>
          <a:xfrm>
            <a:off x="6900862"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313" name="SC sh b 6 7"/>
          <p:cNvSpPr/>
          <p:nvPr/>
        </p:nvSpPr>
        <p:spPr>
          <a:xfrm>
            <a:off x="7386637" y="1943100"/>
            <a:ext cx="428625" cy="314325"/>
          </a:xfrm>
          <a:prstGeom prst="rect">
            <a:avLst/>
          </a:prstGeom>
          <a:solidFill>
            <a:srgbClr val="FFFFFF"/>
          </a:solidFill>
          <a:ln w="20320">
            <a:solidFill>
              <a:srgbClr val="9E9E9E"/>
            </a:solidFill>
          </a:ln>
        </p:spPr>
        <p:txBody>
          <a:bodyPr rtlCol="0" anchor="ctr" wrap="square" lIns="0" rIns="0" tIns="0" bIns="0"/>
          <a:lstStyle/>
          <a:p>
            <a:pPr algn="ctr"/>
            <a:r>
              <a:rPr sz="1125" b="1">
                <a:solidFill>
                  <a:srgbClr val="9E9E9E"/>
                </a:solidFill>
                <a:latin typeface="Consolas"/>
              </a:rPr>
              <a:t>0</a:t>
            </a:r>
          </a:p>
        </p:txBody>
      </p:sp>
      <p:sp>
        <p:nvSpPr>
          <p:cNvPr id="314" name="SC q b 7"/>
          <p:cNvSpPr/>
          <p:nvPr/>
        </p:nvSpPr>
        <p:spPr>
          <a:xfrm>
            <a:off x="0" y="2357437"/>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0</a:t>
            </a:r>
          </a:p>
        </p:txBody>
      </p:sp>
      <p:sp>
        <p:nvSpPr>
          <p:cNvPr id="315" name="SC o b 7"/>
          <p:cNvSpPr/>
          <p:nvPr/>
        </p:nvSpPr>
        <p:spPr>
          <a:xfrm>
            <a:off x="8072437" y="1743075"/>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0001 101</a:t>
            </a:r>
          </a:p>
        </p:txBody>
      </p:sp>
      <p:sp>
        <p:nvSpPr>
          <p:cNvPr id="316" name="SC tck b 6"/>
          <p:cNvSpPr/>
          <p:nvPr/>
        </p:nvSpPr>
        <p:spPr>
          <a:xfrm>
            <a:off x="7143750" y="142875"/>
            <a:ext cx="1714500" cy="285750"/>
          </a:xfrm>
          <a:prstGeom prst="rect">
            <a:avLst/>
          </a:prstGeom>
          <a:solidFill>
            <a:srgbClr val="FFFFFF"/>
          </a:solidFill>
          <a:ln>
            <a:noFill/>
          </a:ln>
        </p:spPr>
        <p:txBody>
          <a:bodyPr rtlCol="0" anchor="ctr" wrap="square" lIns="0" rIns="0" tIns="0" bIns="0"/>
          <a:lstStyle/>
          <a:p>
            <a:pPr algn="r"/>
            <a:r>
              <a:rPr sz="1012" b="1">
                <a:solidFill>
                  <a:srgbClr val="E39B2D"/>
                </a:solidFill>
                <a:latin typeface="Calibri"/>
              </a:rPr>
              <a:t>TCK 7 / 8</a:t>
            </a:r>
          </a:p>
        </p:txBody>
      </p:sp>
      <p:sp>
        <p:nvSpPr>
          <p:cNvPr id="317" name="SC sh b 7 0"/>
          <p:cNvSpPr/>
          <p:nvPr/>
        </p:nvSpPr>
        <p:spPr>
          <a:xfrm>
            <a:off x="120015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318" name="SC sh b 7 1"/>
          <p:cNvSpPr/>
          <p:nvPr/>
        </p:nvSpPr>
        <p:spPr>
          <a:xfrm>
            <a:off x="168592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319" name="SC sh b 7 2"/>
          <p:cNvSpPr/>
          <p:nvPr/>
        </p:nvSpPr>
        <p:spPr>
          <a:xfrm>
            <a:off x="2171700"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320" name="SC sh b 7 3"/>
          <p:cNvSpPr/>
          <p:nvPr/>
        </p:nvSpPr>
        <p:spPr>
          <a:xfrm>
            <a:off x="2657475"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321" name="SC sh b 7 4"/>
          <p:cNvSpPr/>
          <p:nvPr/>
        </p:nvSpPr>
        <p:spPr>
          <a:xfrm>
            <a:off x="5929312"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322" name="SC sh b 7 5"/>
          <p:cNvSpPr/>
          <p:nvPr/>
        </p:nvSpPr>
        <p:spPr>
          <a:xfrm>
            <a:off x="6415087"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323" name="SC sh b 7 6"/>
          <p:cNvSpPr/>
          <p:nvPr/>
        </p:nvSpPr>
        <p:spPr>
          <a:xfrm>
            <a:off x="6900862"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324" name="SC sh b 7 7"/>
          <p:cNvSpPr/>
          <p:nvPr/>
        </p:nvSpPr>
        <p:spPr>
          <a:xfrm>
            <a:off x="7386637" y="1943100"/>
            <a:ext cx="428625" cy="314325"/>
          </a:xfrm>
          <a:prstGeom prst="rect">
            <a:avLst/>
          </a:prstGeom>
          <a:solidFill>
            <a:srgbClr val="FFF3E0"/>
          </a:solidFill>
          <a:ln w="20320">
            <a:solidFill>
              <a:srgbClr val="9E9E9E"/>
            </a:solidFill>
          </a:ln>
        </p:spPr>
        <p:txBody>
          <a:bodyPr rtlCol="0" anchor="ctr" wrap="square" lIns="0" rIns="0" tIns="0" bIns="0"/>
          <a:lstStyle/>
          <a:p>
            <a:pPr algn="ctr"/>
            <a:r>
              <a:rPr sz="1125" b="1">
                <a:solidFill>
                  <a:srgbClr val="12343B"/>
                </a:solidFill>
                <a:latin typeface="Consolas"/>
              </a:rPr>
              <a:t>0</a:t>
            </a:r>
          </a:p>
        </p:txBody>
      </p:sp>
      <p:sp>
        <p:nvSpPr>
          <p:cNvPr id="325" name="SC q b 8"/>
          <p:cNvSpPr/>
          <p:nvPr/>
        </p:nvSpPr>
        <p:spPr>
          <a:xfrm>
            <a:off x="0" y="2357437"/>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
            </a:r>
          </a:p>
        </p:txBody>
      </p:sp>
      <p:sp>
        <p:nvSpPr>
          <p:cNvPr id="326" name="SC o b 8"/>
          <p:cNvSpPr/>
          <p:nvPr/>
        </p:nvSpPr>
        <p:spPr>
          <a:xfrm>
            <a:off x="8072437" y="1743075"/>
            <a:ext cx="928687" cy="200025"/>
          </a:xfrm>
          <a:prstGeom prst="rect">
            <a:avLst/>
          </a:prstGeom>
          <a:solidFill>
            <a:srgbClr val="FFFFFF"/>
          </a:solidFill>
          <a:ln>
            <a:noFill/>
          </a:ln>
        </p:spPr>
        <p:txBody>
          <a:bodyPr rtlCol="0" anchor="ctr" wrap="square" lIns="0" rIns="0" tIns="0" bIns="0"/>
          <a:lstStyle/>
          <a:p>
            <a:pPr algn="ctr"/>
            <a:r>
              <a:rPr sz="843" b="1">
                <a:solidFill>
                  <a:srgbClr val="E39B2D"/>
                </a:solidFill>
                <a:latin typeface="Consolas"/>
              </a:rPr>
              <a:t>0000 1101</a:t>
            </a:r>
          </a:p>
        </p:txBody>
      </p:sp>
      <p:sp>
        <p:nvSpPr>
          <p:cNvPr id="327" name="SC tck b 7"/>
          <p:cNvSpPr/>
          <p:nvPr/>
        </p:nvSpPr>
        <p:spPr>
          <a:xfrm>
            <a:off x="7143750" y="142875"/>
            <a:ext cx="1714500" cy="285750"/>
          </a:xfrm>
          <a:prstGeom prst="rect">
            <a:avLst/>
          </a:prstGeom>
          <a:solidFill>
            <a:srgbClr val="FFFFFF"/>
          </a:solidFill>
          <a:ln>
            <a:noFill/>
          </a:ln>
        </p:spPr>
        <p:txBody>
          <a:bodyPr rtlCol="0" anchor="ctr" wrap="square" lIns="0" rIns="0" tIns="0" bIns="0"/>
          <a:lstStyle/>
          <a:p>
            <a:pPr algn="r"/>
            <a:r>
              <a:rPr sz="1012" b="1">
                <a:solidFill>
                  <a:srgbClr val="E39B2D"/>
                </a:solidFill>
                <a:latin typeface="Calibri"/>
              </a:rPr>
              <a:t>TCK 8 / 8</a:t>
            </a:r>
          </a:p>
        </p:txBody>
      </p:sp>
      <p:sp>
        <p:nvSpPr>
          <p:cNvPr id="328" name="SC read tag"/>
          <p:cNvSpPr/>
          <p:nvPr/>
        </p:nvSpPr>
        <p:spPr>
          <a:xfrm>
            <a:off x="7943850" y="1071562"/>
            <a:ext cx="1143000" cy="357187"/>
          </a:xfrm>
          <a:prstGeom prst="roundRect">
            <a:avLst>
              <a:gd name="adj" fmla="val 15000"/>
            </a:avLst>
          </a:prstGeom>
          <a:solidFill>
            <a:srgbClr val="E8F5E9"/>
          </a:solidFill>
          <a:ln w="19050">
            <a:solidFill>
              <a:srgbClr val="2E7D32"/>
            </a:solidFill>
          </a:ln>
        </p:spPr>
        <p:txBody>
          <a:bodyPr rtlCol="0" anchor="ctr" wrap="square" lIns="14287" rIns="14287" tIns="14287" bIns="14287"/>
          <a:lstStyle/>
          <a:p>
            <a:pPr algn="ctr"/>
            <a:r>
              <a:rPr sz="731" b="1">
                <a:solidFill>
                  <a:srgbClr val="2E7D32"/>
                </a:solidFill>
                <a:latin typeface="Calibri"/>
              </a:rPr>
              <a:t>sub-side cut: 1101</a:t>
            </a:r>
          </a:p>
          <a:p>
            <a:pPr algn="ctr"/>
            <a:r>
              <a:rPr sz="731" b="1">
                <a:solidFill>
                  <a:srgbClr val="2E7D32"/>
                </a:solidFill>
                <a:latin typeface="Calibri"/>
              </a:rPr>
              <a:t>request arrived ✓</a:t>
            </a:r>
          </a:p>
        </p:txBody>
      </p:sp>
      <p:sp>
        <p:nvSpPr>
          <p:cNvPr id="329" name="SC cap 5"/>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Shift-DR again: the captured bits leave at TDO, and the next pattern goes in at TDI</a:t>
            </a:r>
          </a:p>
          <a:p>
            <a:pPr algn="l"/>
            <a:r>
              <a:rPr sz="1237" b="0">
                <a:solidFill>
                  <a:srgbClr val="FFFFFF"/>
                </a:solidFill>
                <a:latin typeface="Calibri"/>
              </a:rPr>
              <a:t>at the same time. One scan reads the last step and loads the next one.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fade">
                                      <p:cBhvr>
                                        <p:cTn id="7" dur="250"/>
                                        <p:tgtEl>
                                          <p:spTgt spid="9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5"/>
                                        </p:tgtEl>
                                        <p:attrNameLst>
                                          <p:attrName>style.visibility</p:attrName>
                                        </p:attrNameLst>
                                      </p:cBhvr>
                                      <p:to>
                                        <p:strVal val="visible"/>
                                      </p:to>
                                    </p:set>
                                    <p:animEffect transition="in" filter="fade">
                                      <p:cBhvr>
                                        <p:cTn id="10" dur="250"/>
                                        <p:tgtEl>
                                          <p:spTgt spid="185"/>
                                        </p:tgtEl>
                                      </p:cBhvr>
                                    </p:animEffect>
                                  </p:childTnLst>
                                </p:cTn>
                              </p:par>
                            </p:childTnLst>
                          </p:cTn>
                        </p:par>
                        <p:par>
                          <p:cTn id="11" fill="hold">
                            <p:stCondLst>
                              <p:cond delay="300"/>
                            </p:stCondLst>
                            <p:childTnLst>
                              <p:par>
                                <p:cTn id="12" presetID="10" presetClass="entr" presetSubtype="0" fill="hold" grpId="0" nodeType="afterEffect">
                                  <p:stCondLst>
                                    <p:cond delay="0"/>
                                  </p:stCondLst>
                                  <p:childTnLst>
                                    <p:set>
                                      <p:cBhvr>
                                        <p:cTn id="13" dur="1" fill="hold">
                                          <p:stCondLst>
                                            <p:cond delay="0"/>
                                          </p:stCondLst>
                                        </p:cTn>
                                        <p:tgtEl>
                                          <p:spTgt spid="95"/>
                                        </p:tgtEl>
                                        <p:attrNameLst>
                                          <p:attrName>style.visibility</p:attrName>
                                        </p:attrNameLst>
                                      </p:cBhvr>
                                      <p:to>
                                        <p:strVal val="visible"/>
                                      </p:to>
                                    </p:set>
                                    <p:animEffect transition="in" filter="fade">
                                      <p:cBhvr>
                                        <p:cTn id="14" dur="250"/>
                                        <p:tgtEl>
                                          <p:spTgt spid="9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6"/>
                                        </p:tgtEl>
                                        <p:attrNameLst>
                                          <p:attrName>style.visibility</p:attrName>
                                        </p:attrNameLst>
                                      </p:cBhvr>
                                      <p:to>
                                        <p:strVal val="visible"/>
                                      </p:to>
                                    </p:set>
                                    <p:animEffect transition="in" filter="fade">
                                      <p:cBhvr>
                                        <p:cTn id="17" dur="250"/>
                                        <p:tgtEl>
                                          <p:spTgt spid="96"/>
                                        </p:tgtEl>
                                      </p:cBhvr>
                                    </p:animEffect>
                                  </p:childTnLst>
                                </p:cTn>
                              </p:par>
                            </p:childTnLst>
                          </p:cTn>
                        </p:par>
                        <p:par>
                          <p:cTn id="18" fill="hold">
                            <p:stCondLst>
                              <p:cond delay="820"/>
                            </p:stCondLst>
                            <p:childTnLst>
                              <p:par>
                                <p:cTn id="19" presetID="10" presetClass="entr" presetSubtype="0" fill="hold" grpId="0" nodeType="afterEffect">
                                  <p:stCondLst>
                                    <p:cond delay="0"/>
                                  </p:stCondLst>
                                  <p:childTnLst>
                                    <p:set>
                                      <p:cBhvr>
                                        <p:cTn id="20" dur="1" fill="hold">
                                          <p:stCondLst>
                                            <p:cond delay="0"/>
                                          </p:stCondLst>
                                        </p:cTn>
                                        <p:tgtEl>
                                          <p:spTgt spid="97"/>
                                        </p:tgtEl>
                                        <p:attrNameLst>
                                          <p:attrName>style.visibility</p:attrName>
                                        </p:attrNameLst>
                                      </p:cBhvr>
                                      <p:to>
                                        <p:strVal val="visible"/>
                                      </p:to>
                                    </p:set>
                                    <p:animEffect transition="in" filter="fade">
                                      <p:cBhvr>
                                        <p:cTn id="21" dur="250"/>
                                        <p:tgtEl>
                                          <p:spTgt spid="9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8"/>
                                        </p:tgtEl>
                                        <p:attrNameLst>
                                          <p:attrName>style.visibility</p:attrName>
                                        </p:attrNameLst>
                                      </p:cBhvr>
                                      <p:to>
                                        <p:strVal val="visible"/>
                                      </p:to>
                                    </p:set>
                                    <p:animEffect transition="in" filter="fade">
                                      <p:cBhvr>
                                        <p:cTn id="24" dur="250"/>
                                        <p:tgtEl>
                                          <p:spTgt spid="9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9"/>
                                        </p:tgtEl>
                                        <p:attrNameLst>
                                          <p:attrName>style.visibility</p:attrName>
                                        </p:attrNameLst>
                                      </p:cBhvr>
                                      <p:to>
                                        <p:strVal val="visible"/>
                                      </p:to>
                                    </p:set>
                                    <p:animEffect transition="in" filter="fade">
                                      <p:cBhvr>
                                        <p:cTn id="27" dur="250"/>
                                        <p:tgtEl>
                                          <p:spTgt spid="9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0"/>
                                        </p:tgtEl>
                                        <p:attrNameLst>
                                          <p:attrName>style.visibility</p:attrName>
                                        </p:attrNameLst>
                                      </p:cBhvr>
                                      <p:to>
                                        <p:strVal val="visible"/>
                                      </p:to>
                                    </p:set>
                                    <p:animEffect transition="in" filter="fade">
                                      <p:cBhvr>
                                        <p:cTn id="30" dur="250"/>
                                        <p:tgtEl>
                                          <p:spTgt spid="10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1"/>
                                        </p:tgtEl>
                                        <p:attrNameLst>
                                          <p:attrName>style.visibility</p:attrName>
                                        </p:attrNameLst>
                                      </p:cBhvr>
                                      <p:to>
                                        <p:strVal val="visible"/>
                                      </p:to>
                                    </p:set>
                                    <p:animEffect transition="in" filter="fade">
                                      <p:cBhvr>
                                        <p:cTn id="33" dur="250"/>
                                        <p:tgtEl>
                                          <p:spTgt spid="10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2"/>
                                        </p:tgtEl>
                                        <p:attrNameLst>
                                          <p:attrName>style.visibility</p:attrName>
                                        </p:attrNameLst>
                                      </p:cBhvr>
                                      <p:to>
                                        <p:strVal val="visible"/>
                                      </p:to>
                                    </p:set>
                                    <p:animEffect transition="in" filter="fade">
                                      <p:cBhvr>
                                        <p:cTn id="36" dur="250"/>
                                        <p:tgtEl>
                                          <p:spTgt spid="10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3"/>
                                        </p:tgtEl>
                                        <p:attrNameLst>
                                          <p:attrName>style.visibility</p:attrName>
                                        </p:attrNameLst>
                                      </p:cBhvr>
                                      <p:to>
                                        <p:strVal val="visible"/>
                                      </p:to>
                                    </p:set>
                                    <p:animEffect transition="in" filter="fade">
                                      <p:cBhvr>
                                        <p:cTn id="39" dur="250"/>
                                        <p:tgtEl>
                                          <p:spTgt spid="10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4"/>
                                        </p:tgtEl>
                                        <p:attrNameLst>
                                          <p:attrName>style.visibility</p:attrName>
                                        </p:attrNameLst>
                                      </p:cBhvr>
                                      <p:to>
                                        <p:strVal val="visible"/>
                                      </p:to>
                                    </p:set>
                                    <p:animEffect transition="in" filter="fade">
                                      <p:cBhvr>
                                        <p:cTn id="42" dur="250"/>
                                        <p:tgtEl>
                                          <p:spTgt spid="10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05"/>
                                        </p:tgtEl>
                                        <p:attrNameLst>
                                          <p:attrName>style.visibility</p:attrName>
                                        </p:attrNameLst>
                                      </p:cBhvr>
                                      <p:to>
                                        <p:strVal val="visible"/>
                                      </p:to>
                                    </p:set>
                                    <p:animEffect transition="in" filter="fade">
                                      <p:cBhvr>
                                        <p:cTn id="45" dur="250"/>
                                        <p:tgtEl>
                                          <p:spTgt spid="10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06"/>
                                        </p:tgtEl>
                                        <p:attrNameLst>
                                          <p:attrName>style.visibility</p:attrName>
                                        </p:attrNameLst>
                                      </p:cBhvr>
                                      <p:to>
                                        <p:strVal val="visible"/>
                                      </p:to>
                                    </p:set>
                                    <p:animEffect transition="in" filter="fade">
                                      <p:cBhvr>
                                        <p:cTn id="48" dur="250"/>
                                        <p:tgtEl>
                                          <p:spTgt spid="10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07"/>
                                        </p:tgtEl>
                                        <p:attrNameLst>
                                          <p:attrName>style.visibility</p:attrName>
                                        </p:attrNameLst>
                                      </p:cBhvr>
                                      <p:to>
                                        <p:strVal val="visible"/>
                                      </p:to>
                                    </p:set>
                                    <p:animEffect transition="in" filter="fade">
                                      <p:cBhvr>
                                        <p:cTn id="51" dur="250"/>
                                        <p:tgtEl>
                                          <p:spTgt spid="107"/>
                                        </p:tgtEl>
                                      </p:cBhvr>
                                    </p:animEffect>
                                  </p:childTnLst>
                                </p:cTn>
                              </p:par>
                            </p:childTnLst>
                          </p:cTn>
                        </p:par>
                        <p:par>
                          <p:cTn id="52" fill="hold">
                            <p:stCondLst>
                              <p:cond delay="1340"/>
                            </p:stCondLst>
                            <p:childTnLst>
                              <p:par>
                                <p:cTn id="53" presetID="10" presetClass="entr" presetSubtype="0" fill="hold" grpId="0" nodeType="afterEffect">
                                  <p:stCondLst>
                                    <p:cond delay="0"/>
                                  </p:stCondLst>
                                  <p:childTnLst>
                                    <p:set>
                                      <p:cBhvr>
                                        <p:cTn id="54" dur="1" fill="hold">
                                          <p:stCondLst>
                                            <p:cond delay="0"/>
                                          </p:stCondLst>
                                        </p:cTn>
                                        <p:tgtEl>
                                          <p:spTgt spid="108"/>
                                        </p:tgtEl>
                                        <p:attrNameLst>
                                          <p:attrName>style.visibility</p:attrName>
                                        </p:attrNameLst>
                                      </p:cBhvr>
                                      <p:to>
                                        <p:strVal val="visible"/>
                                      </p:to>
                                    </p:set>
                                    <p:animEffect transition="in" filter="fade">
                                      <p:cBhvr>
                                        <p:cTn id="55" dur="250"/>
                                        <p:tgtEl>
                                          <p:spTgt spid="10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09"/>
                                        </p:tgtEl>
                                        <p:attrNameLst>
                                          <p:attrName>style.visibility</p:attrName>
                                        </p:attrNameLst>
                                      </p:cBhvr>
                                      <p:to>
                                        <p:strVal val="visible"/>
                                      </p:to>
                                    </p:set>
                                    <p:animEffect transition="in" filter="fade">
                                      <p:cBhvr>
                                        <p:cTn id="58" dur="250"/>
                                        <p:tgtEl>
                                          <p:spTgt spid="10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10"/>
                                        </p:tgtEl>
                                        <p:attrNameLst>
                                          <p:attrName>style.visibility</p:attrName>
                                        </p:attrNameLst>
                                      </p:cBhvr>
                                      <p:to>
                                        <p:strVal val="visible"/>
                                      </p:to>
                                    </p:set>
                                    <p:animEffect transition="in" filter="fade">
                                      <p:cBhvr>
                                        <p:cTn id="61" dur="250"/>
                                        <p:tgtEl>
                                          <p:spTgt spid="11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11"/>
                                        </p:tgtEl>
                                        <p:attrNameLst>
                                          <p:attrName>style.visibility</p:attrName>
                                        </p:attrNameLst>
                                      </p:cBhvr>
                                      <p:to>
                                        <p:strVal val="visible"/>
                                      </p:to>
                                    </p:set>
                                    <p:animEffect transition="in" filter="fade">
                                      <p:cBhvr>
                                        <p:cTn id="64" dur="250"/>
                                        <p:tgtEl>
                                          <p:spTgt spid="11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12"/>
                                        </p:tgtEl>
                                        <p:attrNameLst>
                                          <p:attrName>style.visibility</p:attrName>
                                        </p:attrNameLst>
                                      </p:cBhvr>
                                      <p:to>
                                        <p:strVal val="visible"/>
                                      </p:to>
                                    </p:set>
                                    <p:animEffect transition="in" filter="fade">
                                      <p:cBhvr>
                                        <p:cTn id="67" dur="250"/>
                                        <p:tgtEl>
                                          <p:spTgt spid="11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13"/>
                                        </p:tgtEl>
                                        <p:attrNameLst>
                                          <p:attrName>style.visibility</p:attrName>
                                        </p:attrNameLst>
                                      </p:cBhvr>
                                      <p:to>
                                        <p:strVal val="visible"/>
                                      </p:to>
                                    </p:set>
                                    <p:animEffect transition="in" filter="fade">
                                      <p:cBhvr>
                                        <p:cTn id="70" dur="250"/>
                                        <p:tgtEl>
                                          <p:spTgt spid="11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14"/>
                                        </p:tgtEl>
                                        <p:attrNameLst>
                                          <p:attrName>style.visibility</p:attrName>
                                        </p:attrNameLst>
                                      </p:cBhvr>
                                      <p:to>
                                        <p:strVal val="visible"/>
                                      </p:to>
                                    </p:set>
                                    <p:animEffect transition="in" filter="fade">
                                      <p:cBhvr>
                                        <p:cTn id="73" dur="250"/>
                                        <p:tgtEl>
                                          <p:spTgt spid="11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15"/>
                                        </p:tgtEl>
                                        <p:attrNameLst>
                                          <p:attrName>style.visibility</p:attrName>
                                        </p:attrNameLst>
                                      </p:cBhvr>
                                      <p:to>
                                        <p:strVal val="visible"/>
                                      </p:to>
                                    </p:set>
                                    <p:animEffect transition="in" filter="fade">
                                      <p:cBhvr>
                                        <p:cTn id="76" dur="250"/>
                                        <p:tgtEl>
                                          <p:spTgt spid="11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16"/>
                                        </p:tgtEl>
                                        <p:attrNameLst>
                                          <p:attrName>style.visibility</p:attrName>
                                        </p:attrNameLst>
                                      </p:cBhvr>
                                      <p:to>
                                        <p:strVal val="visible"/>
                                      </p:to>
                                    </p:set>
                                    <p:animEffect transition="in" filter="fade">
                                      <p:cBhvr>
                                        <p:cTn id="79" dur="250"/>
                                        <p:tgtEl>
                                          <p:spTgt spid="116"/>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17"/>
                                        </p:tgtEl>
                                        <p:attrNameLst>
                                          <p:attrName>style.visibility</p:attrName>
                                        </p:attrNameLst>
                                      </p:cBhvr>
                                      <p:to>
                                        <p:strVal val="visible"/>
                                      </p:to>
                                    </p:set>
                                    <p:animEffect transition="in" filter="fade">
                                      <p:cBhvr>
                                        <p:cTn id="82" dur="250"/>
                                        <p:tgtEl>
                                          <p:spTgt spid="117"/>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18"/>
                                        </p:tgtEl>
                                        <p:attrNameLst>
                                          <p:attrName>style.visibility</p:attrName>
                                        </p:attrNameLst>
                                      </p:cBhvr>
                                      <p:to>
                                        <p:strVal val="visible"/>
                                      </p:to>
                                    </p:set>
                                    <p:animEffect transition="in" filter="fade">
                                      <p:cBhvr>
                                        <p:cTn id="85" dur="250"/>
                                        <p:tgtEl>
                                          <p:spTgt spid="118"/>
                                        </p:tgtEl>
                                      </p:cBhvr>
                                    </p:animEffect>
                                  </p:childTnLst>
                                </p:cTn>
                              </p:par>
                            </p:childTnLst>
                          </p:cTn>
                        </p:par>
                        <p:par>
                          <p:cTn id="86" fill="hold">
                            <p:stCondLst>
                              <p:cond delay="1860"/>
                            </p:stCondLst>
                            <p:childTnLst>
                              <p:par>
                                <p:cTn id="87" presetID="10" presetClass="entr" presetSubtype="0" fill="hold" grpId="0" nodeType="afterEffect">
                                  <p:stCondLst>
                                    <p:cond delay="0"/>
                                  </p:stCondLst>
                                  <p:childTnLst>
                                    <p:set>
                                      <p:cBhvr>
                                        <p:cTn id="88" dur="1" fill="hold">
                                          <p:stCondLst>
                                            <p:cond delay="0"/>
                                          </p:stCondLst>
                                        </p:cTn>
                                        <p:tgtEl>
                                          <p:spTgt spid="119"/>
                                        </p:tgtEl>
                                        <p:attrNameLst>
                                          <p:attrName>style.visibility</p:attrName>
                                        </p:attrNameLst>
                                      </p:cBhvr>
                                      <p:to>
                                        <p:strVal val="visible"/>
                                      </p:to>
                                    </p:set>
                                    <p:animEffect transition="in" filter="fade">
                                      <p:cBhvr>
                                        <p:cTn id="89" dur="250"/>
                                        <p:tgtEl>
                                          <p:spTgt spid="119"/>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120"/>
                                        </p:tgtEl>
                                        <p:attrNameLst>
                                          <p:attrName>style.visibility</p:attrName>
                                        </p:attrNameLst>
                                      </p:cBhvr>
                                      <p:to>
                                        <p:strVal val="visible"/>
                                      </p:to>
                                    </p:set>
                                    <p:animEffect transition="in" filter="fade">
                                      <p:cBhvr>
                                        <p:cTn id="92" dur="250"/>
                                        <p:tgtEl>
                                          <p:spTgt spid="12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121"/>
                                        </p:tgtEl>
                                        <p:attrNameLst>
                                          <p:attrName>style.visibility</p:attrName>
                                        </p:attrNameLst>
                                      </p:cBhvr>
                                      <p:to>
                                        <p:strVal val="visible"/>
                                      </p:to>
                                    </p:set>
                                    <p:animEffect transition="in" filter="fade">
                                      <p:cBhvr>
                                        <p:cTn id="95" dur="250"/>
                                        <p:tgtEl>
                                          <p:spTgt spid="12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122"/>
                                        </p:tgtEl>
                                        <p:attrNameLst>
                                          <p:attrName>style.visibility</p:attrName>
                                        </p:attrNameLst>
                                      </p:cBhvr>
                                      <p:to>
                                        <p:strVal val="visible"/>
                                      </p:to>
                                    </p:set>
                                    <p:animEffect transition="in" filter="fade">
                                      <p:cBhvr>
                                        <p:cTn id="98" dur="250"/>
                                        <p:tgtEl>
                                          <p:spTgt spid="12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123"/>
                                        </p:tgtEl>
                                        <p:attrNameLst>
                                          <p:attrName>style.visibility</p:attrName>
                                        </p:attrNameLst>
                                      </p:cBhvr>
                                      <p:to>
                                        <p:strVal val="visible"/>
                                      </p:to>
                                    </p:set>
                                    <p:animEffect transition="in" filter="fade">
                                      <p:cBhvr>
                                        <p:cTn id="101" dur="250"/>
                                        <p:tgtEl>
                                          <p:spTgt spid="12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124"/>
                                        </p:tgtEl>
                                        <p:attrNameLst>
                                          <p:attrName>style.visibility</p:attrName>
                                        </p:attrNameLst>
                                      </p:cBhvr>
                                      <p:to>
                                        <p:strVal val="visible"/>
                                      </p:to>
                                    </p:set>
                                    <p:animEffect transition="in" filter="fade">
                                      <p:cBhvr>
                                        <p:cTn id="104" dur="250"/>
                                        <p:tgtEl>
                                          <p:spTgt spid="124"/>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125"/>
                                        </p:tgtEl>
                                        <p:attrNameLst>
                                          <p:attrName>style.visibility</p:attrName>
                                        </p:attrNameLst>
                                      </p:cBhvr>
                                      <p:to>
                                        <p:strVal val="visible"/>
                                      </p:to>
                                    </p:set>
                                    <p:animEffect transition="in" filter="fade">
                                      <p:cBhvr>
                                        <p:cTn id="107" dur="250"/>
                                        <p:tgtEl>
                                          <p:spTgt spid="125"/>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126"/>
                                        </p:tgtEl>
                                        <p:attrNameLst>
                                          <p:attrName>style.visibility</p:attrName>
                                        </p:attrNameLst>
                                      </p:cBhvr>
                                      <p:to>
                                        <p:strVal val="visible"/>
                                      </p:to>
                                    </p:set>
                                    <p:animEffect transition="in" filter="fade">
                                      <p:cBhvr>
                                        <p:cTn id="110" dur="250"/>
                                        <p:tgtEl>
                                          <p:spTgt spid="126"/>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127"/>
                                        </p:tgtEl>
                                        <p:attrNameLst>
                                          <p:attrName>style.visibility</p:attrName>
                                        </p:attrNameLst>
                                      </p:cBhvr>
                                      <p:to>
                                        <p:strVal val="visible"/>
                                      </p:to>
                                    </p:set>
                                    <p:animEffect transition="in" filter="fade">
                                      <p:cBhvr>
                                        <p:cTn id="113" dur="250"/>
                                        <p:tgtEl>
                                          <p:spTgt spid="127"/>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128"/>
                                        </p:tgtEl>
                                        <p:attrNameLst>
                                          <p:attrName>style.visibility</p:attrName>
                                        </p:attrNameLst>
                                      </p:cBhvr>
                                      <p:to>
                                        <p:strVal val="visible"/>
                                      </p:to>
                                    </p:set>
                                    <p:animEffect transition="in" filter="fade">
                                      <p:cBhvr>
                                        <p:cTn id="116" dur="250"/>
                                        <p:tgtEl>
                                          <p:spTgt spid="128"/>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129"/>
                                        </p:tgtEl>
                                        <p:attrNameLst>
                                          <p:attrName>style.visibility</p:attrName>
                                        </p:attrNameLst>
                                      </p:cBhvr>
                                      <p:to>
                                        <p:strVal val="visible"/>
                                      </p:to>
                                    </p:set>
                                    <p:animEffect transition="in" filter="fade">
                                      <p:cBhvr>
                                        <p:cTn id="119" dur="250"/>
                                        <p:tgtEl>
                                          <p:spTgt spid="129"/>
                                        </p:tgtEl>
                                      </p:cBhvr>
                                    </p:animEffect>
                                  </p:childTnLst>
                                </p:cTn>
                              </p:par>
                            </p:childTnLst>
                          </p:cTn>
                        </p:par>
                        <p:par>
                          <p:cTn id="120" fill="hold">
                            <p:stCondLst>
                              <p:cond delay="2380"/>
                            </p:stCondLst>
                            <p:childTnLst>
                              <p:par>
                                <p:cTn id="121" presetID="10" presetClass="entr" presetSubtype="0" fill="hold" grpId="0" nodeType="afterEffect">
                                  <p:stCondLst>
                                    <p:cond delay="0"/>
                                  </p:stCondLst>
                                  <p:childTnLst>
                                    <p:set>
                                      <p:cBhvr>
                                        <p:cTn id="122" dur="1" fill="hold">
                                          <p:stCondLst>
                                            <p:cond delay="0"/>
                                          </p:stCondLst>
                                        </p:cTn>
                                        <p:tgtEl>
                                          <p:spTgt spid="130"/>
                                        </p:tgtEl>
                                        <p:attrNameLst>
                                          <p:attrName>style.visibility</p:attrName>
                                        </p:attrNameLst>
                                      </p:cBhvr>
                                      <p:to>
                                        <p:strVal val="visible"/>
                                      </p:to>
                                    </p:set>
                                    <p:animEffect transition="in" filter="fade">
                                      <p:cBhvr>
                                        <p:cTn id="123" dur="250"/>
                                        <p:tgtEl>
                                          <p:spTgt spid="130"/>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131"/>
                                        </p:tgtEl>
                                        <p:attrNameLst>
                                          <p:attrName>style.visibility</p:attrName>
                                        </p:attrNameLst>
                                      </p:cBhvr>
                                      <p:to>
                                        <p:strVal val="visible"/>
                                      </p:to>
                                    </p:set>
                                    <p:animEffect transition="in" filter="fade">
                                      <p:cBhvr>
                                        <p:cTn id="126" dur="250"/>
                                        <p:tgtEl>
                                          <p:spTgt spid="131"/>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132"/>
                                        </p:tgtEl>
                                        <p:attrNameLst>
                                          <p:attrName>style.visibility</p:attrName>
                                        </p:attrNameLst>
                                      </p:cBhvr>
                                      <p:to>
                                        <p:strVal val="visible"/>
                                      </p:to>
                                    </p:set>
                                    <p:animEffect transition="in" filter="fade">
                                      <p:cBhvr>
                                        <p:cTn id="129" dur="250"/>
                                        <p:tgtEl>
                                          <p:spTgt spid="132"/>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133"/>
                                        </p:tgtEl>
                                        <p:attrNameLst>
                                          <p:attrName>style.visibility</p:attrName>
                                        </p:attrNameLst>
                                      </p:cBhvr>
                                      <p:to>
                                        <p:strVal val="visible"/>
                                      </p:to>
                                    </p:set>
                                    <p:animEffect transition="in" filter="fade">
                                      <p:cBhvr>
                                        <p:cTn id="132" dur="250"/>
                                        <p:tgtEl>
                                          <p:spTgt spid="133"/>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134"/>
                                        </p:tgtEl>
                                        <p:attrNameLst>
                                          <p:attrName>style.visibility</p:attrName>
                                        </p:attrNameLst>
                                      </p:cBhvr>
                                      <p:to>
                                        <p:strVal val="visible"/>
                                      </p:to>
                                    </p:set>
                                    <p:animEffect transition="in" filter="fade">
                                      <p:cBhvr>
                                        <p:cTn id="135" dur="250"/>
                                        <p:tgtEl>
                                          <p:spTgt spid="134"/>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135"/>
                                        </p:tgtEl>
                                        <p:attrNameLst>
                                          <p:attrName>style.visibility</p:attrName>
                                        </p:attrNameLst>
                                      </p:cBhvr>
                                      <p:to>
                                        <p:strVal val="visible"/>
                                      </p:to>
                                    </p:set>
                                    <p:animEffect transition="in" filter="fade">
                                      <p:cBhvr>
                                        <p:cTn id="138" dur="250"/>
                                        <p:tgtEl>
                                          <p:spTgt spid="135"/>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136"/>
                                        </p:tgtEl>
                                        <p:attrNameLst>
                                          <p:attrName>style.visibility</p:attrName>
                                        </p:attrNameLst>
                                      </p:cBhvr>
                                      <p:to>
                                        <p:strVal val="visible"/>
                                      </p:to>
                                    </p:set>
                                    <p:animEffect transition="in" filter="fade">
                                      <p:cBhvr>
                                        <p:cTn id="141" dur="250"/>
                                        <p:tgtEl>
                                          <p:spTgt spid="136"/>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137"/>
                                        </p:tgtEl>
                                        <p:attrNameLst>
                                          <p:attrName>style.visibility</p:attrName>
                                        </p:attrNameLst>
                                      </p:cBhvr>
                                      <p:to>
                                        <p:strVal val="visible"/>
                                      </p:to>
                                    </p:set>
                                    <p:animEffect transition="in" filter="fade">
                                      <p:cBhvr>
                                        <p:cTn id="144" dur="250"/>
                                        <p:tgtEl>
                                          <p:spTgt spid="137"/>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138"/>
                                        </p:tgtEl>
                                        <p:attrNameLst>
                                          <p:attrName>style.visibility</p:attrName>
                                        </p:attrNameLst>
                                      </p:cBhvr>
                                      <p:to>
                                        <p:strVal val="visible"/>
                                      </p:to>
                                    </p:set>
                                    <p:animEffect transition="in" filter="fade">
                                      <p:cBhvr>
                                        <p:cTn id="147" dur="250"/>
                                        <p:tgtEl>
                                          <p:spTgt spid="138"/>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139"/>
                                        </p:tgtEl>
                                        <p:attrNameLst>
                                          <p:attrName>style.visibility</p:attrName>
                                        </p:attrNameLst>
                                      </p:cBhvr>
                                      <p:to>
                                        <p:strVal val="visible"/>
                                      </p:to>
                                    </p:set>
                                    <p:animEffect transition="in" filter="fade">
                                      <p:cBhvr>
                                        <p:cTn id="150" dur="250"/>
                                        <p:tgtEl>
                                          <p:spTgt spid="139"/>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140"/>
                                        </p:tgtEl>
                                        <p:attrNameLst>
                                          <p:attrName>style.visibility</p:attrName>
                                        </p:attrNameLst>
                                      </p:cBhvr>
                                      <p:to>
                                        <p:strVal val="visible"/>
                                      </p:to>
                                    </p:set>
                                    <p:animEffect transition="in" filter="fade">
                                      <p:cBhvr>
                                        <p:cTn id="153" dur="250"/>
                                        <p:tgtEl>
                                          <p:spTgt spid="140"/>
                                        </p:tgtEl>
                                      </p:cBhvr>
                                    </p:animEffect>
                                  </p:childTnLst>
                                </p:cTn>
                              </p:par>
                            </p:childTnLst>
                          </p:cTn>
                        </p:par>
                        <p:par>
                          <p:cTn id="154" fill="hold">
                            <p:stCondLst>
                              <p:cond delay="2900"/>
                            </p:stCondLst>
                            <p:childTnLst>
                              <p:par>
                                <p:cTn id="155" presetID="10" presetClass="entr" presetSubtype="0" fill="hold" grpId="0" nodeType="afterEffect">
                                  <p:stCondLst>
                                    <p:cond delay="0"/>
                                  </p:stCondLst>
                                  <p:childTnLst>
                                    <p:set>
                                      <p:cBhvr>
                                        <p:cTn id="156" dur="1" fill="hold">
                                          <p:stCondLst>
                                            <p:cond delay="0"/>
                                          </p:stCondLst>
                                        </p:cTn>
                                        <p:tgtEl>
                                          <p:spTgt spid="141"/>
                                        </p:tgtEl>
                                        <p:attrNameLst>
                                          <p:attrName>style.visibility</p:attrName>
                                        </p:attrNameLst>
                                      </p:cBhvr>
                                      <p:to>
                                        <p:strVal val="visible"/>
                                      </p:to>
                                    </p:set>
                                    <p:animEffect transition="in" filter="fade">
                                      <p:cBhvr>
                                        <p:cTn id="157" dur="250"/>
                                        <p:tgtEl>
                                          <p:spTgt spid="141"/>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142"/>
                                        </p:tgtEl>
                                        <p:attrNameLst>
                                          <p:attrName>style.visibility</p:attrName>
                                        </p:attrNameLst>
                                      </p:cBhvr>
                                      <p:to>
                                        <p:strVal val="visible"/>
                                      </p:to>
                                    </p:set>
                                    <p:animEffect transition="in" filter="fade">
                                      <p:cBhvr>
                                        <p:cTn id="160" dur="250"/>
                                        <p:tgtEl>
                                          <p:spTgt spid="142"/>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143"/>
                                        </p:tgtEl>
                                        <p:attrNameLst>
                                          <p:attrName>style.visibility</p:attrName>
                                        </p:attrNameLst>
                                      </p:cBhvr>
                                      <p:to>
                                        <p:strVal val="visible"/>
                                      </p:to>
                                    </p:set>
                                    <p:animEffect transition="in" filter="fade">
                                      <p:cBhvr>
                                        <p:cTn id="163" dur="250"/>
                                        <p:tgtEl>
                                          <p:spTgt spid="143"/>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144"/>
                                        </p:tgtEl>
                                        <p:attrNameLst>
                                          <p:attrName>style.visibility</p:attrName>
                                        </p:attrNameLst>
                                      </p:cBhvr>
                                      <p:to>
                                        <p:strVal val="visible"/>
                                      </p:to>
                                    </p:set>
                                    <p:animEffect transition="in" filter="fade">
                                      <p:cBhvr>
                                        <p:cTn id="166" dur="250"/>
                                        <p:tgtEl>
                                          <p:spTgt spid="144"/>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145"/>
                                        </p:tgtEl>
                                        <p:attrNameLst>
                                          <p:attrName>style.visibility</p:attrName>
                                        </p:attrNameLst>
                                      </p:cBhvr>
                                      <p:to>
                                        <p:strVal val="visible"/>
                                      </p:to>
                                    </p:set>
                                    <p:animEffect transition="in" filter="fade">
                                      <p:cBhvr>
                                        <p:cTn id="169" dur="250"/>
                                        <p:tgtEl>
                                          <p:spTgt spid="145"/>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146"/>
                                        </p:tgtEl>
                                        <p:attrNameLst>
                                          <p:attrName>style.visibility</p:attrName>
                                        </p:attrNameLst>
                                      </p:cBhvr>
                                      <p:to>
                                        <p:strVal val="visible"/>
                                      </p:to>
                                    </p:set>
                                    <p:animEffect transition="in" filter="fade">
                                      <p:cBhvr>
                                        <p:cTn id="172" dur="250"/>
                                        <p:tgtEl>
                                          <p:spTgt spid="146"/>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147"/>
                                        </p:tgtEl>
                                        <p:attrNameLst>
                                          <p:attrName>style.visibility</p:attrName>
                                        </p:attrNameLst>
                                      </p:cBhvr>
                                      <p:to>
                                        <p:strVal val="visible"/>
                                      </p:to>
                                    </p:set>
                                    <p:animEffect transition="in" filter="fade">
                                      <p:cBhvr>
                                        <p:cTn id="175" dur="250"/>
                                        <p:tgtEl>
                                          <p:spTgt spid="147"/>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148"/>
                                        </p:tgtEl>
                                        <p:attrNameLst>
                                          <p:attrName>style.visibility</p:attrName>
                                        </p:attrNameLst>
                                      </p:cBhvr>
                                      <p:to>
                                        <p:strVal val="visible"/>
                                      </p:to>
                                    </p:set>
                                    <p:animEffect transition="in" filter="fade">
                                      <p:cBhvr>
                                        <p:cTn id="178" dur="250"/>
                                        <p:tgtEl>
                                          <p:spTgt spid="148"/>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149"/>
                                        </p:tgtEl>
                                        <p:attrNameLst>
                                          <p:attrName>style.visibility</p:attrName>
                                        </p:attrNameLst>
                                      </p:cBhvr>
                                      <p:to>
                                        <p:strVal val="visible"/>
                                      </p:to>
                                    </p:set>
                                    <p:animEffect transition="in" filter="fade">
                                      <p:cBhvr>
                                        <p:cTn id="181" dur="250"/>
                                        <p:tgtEl>
                                          <p:spTgt spid="149"/>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150"/>
                                        </p:tgtEl>
                                        <p:attrNameLst>
                                          <p:attrName>style.visibility</p:attrName>
                                        </p:attrNameLst>
                                      </p:cBhvr>
                                      <p:to>
                                        <p:strVal val="visible"/>
                                      </p:to>
                                    </p:set>
                                    <p:animEffect transition="in" filter="fade">
                                      <p:cBhvr>
                                        <p:cTn id="184" dur="250"/>
                                        <p:tgtEl>
                                          <p:spTgt spid="150"/>
                                        </p:tgtEl>
                                      </p:cBhvr>
                                    </p:animEffect>
                                  </p:childTnLst>
                                </p:cTn>
                              </p:par>
                              <p:par>
                                <p:cTn id="185" presetID="10" presetClass="entr" presetSubtype="0" fill="hold" grpId="0" nodeType="withEffect">
                                  <p:stCondLst>
                                    <p:cond delay="0"/>
                                  </p:stCondLst>
                                  <p:childTnLst>
                                    <p:set>
                                      <p:cBhvr>
                                        <p:cTn id="186" dur="1" fill="hold">
                                          <p:stCondLst>
                                            <p:cond delay="0"/>
                                          </p:stCondLst>
                                        </p:cTn>
                                        <p:tgtEl>
                                          <p:spTgt spid="151"/>
                                        </p:tgtEl>
                                        <p:attrNameLst>
                                          <p:attrName>style.visibility</p:attrName>
                                        </p:attrNameLst>
                                      </p:cBhvr>
                                      <p:to>
                                        <p:strVal val="visible"/>
                                      </p:to>
                                    </p:set>
                                    <p:animEffect transition="in" filter="fade">
                                      <p:cBhvr>
                                        <p:cTn id="187" dur="250"/>
                                        <p:tgtEl>
                                          <p:spTgt spid="151"/>
                                        </p:tgtEl>
                                      </p:cBhvr>
                                    </p:animEffect>
                                  </p:childTnLst>
                                </p:cTn>
                              </p:par>
                            </p:childTnLst>
                          </p:cTn>
                        </p:par>
                        <p:par>
                          <p:cTn id="188" fill="hold">
                            <p:stCondLst>
                              <p:cond delay="3420"/>
                            </p:stCondLst>
                            <p:childTnLst>
                              <p:par>
                                <p:cTn id="189" presetID="10" presetClass="entr" presetSubtype="0" fill="hold" grpId="0" nodeType="afterEffect">
                                  <p:stCondLst>
                                    <p:cond delay="0"/>
                                  </p:stCondLst>
                                  <p:childTnLst>
                                    <p:set>
                                      <p:cBhvr>
                                        <p:cTn id="190" dur="1" fill="hold">
                                          <p:stCondLst>
                                            <p:cond delay="0"/>
                                          </p:stCondLst>
                                        </p:cTn>
                                        <p:tgtEl>
                                          <p:spTgt spid="152"/>
                                        </p:tgtEl>
                                        <p:attrNameLst>
                                          <p:attrName>style.visibility</p:attrName>
                                        </p:attrNameLst>
                                      </p:cBhvr>
                                      <p:to>
                                        <p:strVal val="visible"/>
                                      </p:to>
                                    </p:set>
                                    <p:animEffect transition="in" filter="fade">
                                      <p:cBhvr>
                                        <p:cTn id="191" dur="250"/>
                                        <p:tgtEl>
                                          <p:spTgt spid="152"/>
                                        </p:tgtEl>
                                      </p:cBhvr>
                                    </p:animEffect>
                                  </p:childTnLst>
                                </p:cTn>
                              </p:par>
                              <p:par>
                                <p:cTn id="192" presetID="10" presetClass="entr" presetSubtype="0" fill="hold" grpId="0" nodeType="withEffect">
                                  <p:stCondLst>
                                    <p:cond delay="0"/>
                                  </p:stCondLst>
                                  <p:childTnLst>
                                    <p:set>
                                      <p:cBhvr>
                                        <p:cTn id="193" dur="1" fill="hold">
                                          <p:stCondLst>
                                            <p:cond delay="0"/>
                                          </p:stCondLst>
                                        </p:cTn>
                                        <p:tgtEl>
                                          <p:spTgt spid="153"/>
                                        </p:tgtEl>
                                        <p:attrNameLst>
                                          <p:attrName>style.visibility</p:attrName>
                                        </p:attrNameLst>
                                      </p:cBhvr>
                                      <p:to>
                                        <p:strVal val="visible"/>
                                      </p:to>
                                    </p:set>
                                    <p:animEffect transition="in" filter="fade">
                                      <p:cBhvr>
                                        <p:cTn id="194" dur="250"/>
                                        <p:tgtEl>
                                          <p:spTgt spid="153"/>
                                        </p:tgtEl>
                                      </p:cBhvr>
                                    </p:animEffect>
                                  </p:childTnLst>
                                </p:cTn>
                              </p:par>
                              <p:par>
                                <p:cTn id="195" presetID="10" presetClass="entr" presetSubtype="0" fill="hold" grpId="0" nodeType="withEffect">
                                  <p:stCondLst>
                                    <p:cond delay="0"/>
                                  </p:stCondLst>
                                  <p:childTnLst>
                                    <p:set>
                                      <p:cBhvr>
                                        <p:cTn id="196" dur="1" fill="hold">
                                          <p:stCondLst>
                                            <p:cond delay="0"/>
                                          </p:stCondLst>
                                        </p:cTn>
                                        <p:tgtEl>
                                          <p:spTgt spid="154"/>
                                        </p:tgtEl>
                                        <p:attrNameLst>
                                          <p:attrName>style.visibility</p:attrName>
                                        </p:attrNameLst>
                                      </p:cBhvr>
                                      <p:to>
                                        <p:strVal val="visible"/>
                                      </p:to>
                                    </p:set>
                                    <p:animEffect transition="in" filter="fade">
                                      <p:cBhvr>
                                        <p:cTn id="197" dur="250"/>
                                        <p:tgtEl>
                                          <p:spTgt spid="154"/>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155"/>
                                        </p:tgtEl>
                                        <p:attrNameLst>
                                          <p:attrName>style.visibility</p:attrName>
                                        </p:attrNameLst>
                                      </p:cBhvr>
                                      <p:to>
                                        <p:strVal val="visible"/>
                                      </p:to>
                                    </p:set>
                                    <p:animEffect transition="in" filter="fade">
                                      <p:cBhvr>
                                        <p:cTn id="200" dur="250"/>
                                        <p:tgtEl>
                                          <p:spTgt spid="155"/>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156"/>
                                        </p:tgtEl>
                                        <p:attrNameLst>
                                          <p:attrName>style.visibility</p:attrName>
                                        </p:attrNameLst>
                                      </p:cBhvr>
                                      <p:to>
                                        <p:strVal val="visible"/>
                                      </p:to>
                                    </p:set>
                                    <p:animEffect transition="in" filter="fade">
                                      <p:cBhvr>
                                        <p:cTn id="203" dur="250"/>
                                        <p:tgtEl>
                                          <p:spTgt spid="156"/>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157"/>
                                        </p:tgtEl>
                                        <p:attrNameLst>
                                          <p:attrName>style.visibility</p:attrName>
                                        </p:attrNameLst>
                                      </p:cBhvr>
                                      <p:to>
                                        <p:strVal val="visible"/>
                                      </p:to>
                                    </p:set>
                                    <p:animEffect transition="in" filter="fade">
                                      <p:cBhvr>
                                        <p:cTn id="206" dur="250"/>
                                        <p:tgtEl>
                                          <p:spTgt spid="157"/>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158"/>
                                        </p:tgtEl>
                                        <p:attrNameLst>
                                          <p:attrName>style.visibility</p:attrName>
                                        </p:attrNameLst>
                                      </p:cBhvr>
                                      <p:to>
                                        <p:strVal val="visible"/>
                                      </p:to>
                                    </p:set>
                                    <p:animEffect transition="in" filter="fade">
                                      <p:cBhvr>
                                        <p:cTn id="209" dur="250"/>
                                        <p:tgtEl>
                                          <p:spTgt spid="158"/>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159"/>
                                        </p:tgtEl>
                                        <p:attrNameLst>
                                          <p:attrName>style.visibility</p:attrName>
                                        </p:attrNameLst>
                                      </p:cBhvr>
                                      <p:to>
                                        <p:strVal val="visible"/>
                                      </p:to>
                                    </p:set>
                                    <p:animEffect transition="in" filter="fade">
                                      <p:cBhvr>
                                        <p:cTn id="212" dur="250"/>
                                        <p:tgtEl>
                                          <p:spTgt spid="159"/>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160"/>
                                        </p:tgtEl>
                                        <p:attrNameLst>
                                          <p:attrName>style.visibility</p:attrName>
                                        </p:attrNameLst>
                                      </p:cBhvr>
                                      <p:to>
                                        <p:strVal val="visible"/>
                                      </p:to>
                                    </p:set>
                                    <p:animEffect transition="in" filter="fade">
                                      <p:cBhvr>
                                        <p:cTn id="215" dur="250"/>
                                        <p:tgtEl>
                                          <p:spTgt spid="160"/>
                                        </p:tgtEl>
                                      </p:cBhvr>
                                    </p:animEffect>
                                  </p:childTnLst>
                                </p:cTn>
                              </p:par>
                              <p:par>
                                <p:cTn id="216" presetID="10" presetClass="entr" presetSubtype="0" fill="hold" grpId="0" nodeType="withEffect">
                                  <p:stCondLst>
                                    <p:cond delay="0"/>
                                  </p:stCondLst>
                                  <p:childTnLst>
                                    <p:set>
                                      <p:cBhvr>
                                        <p:cTn id="217" dur="1" fill="hold">
                                          <p:stCondLst>
                                            <p:cond delay="0"/>
                                          </p:stCondLst>
                                        </p:cTn>
                                        <p:tgtEl>
                                          <p:spTgt spid="161"/>
                                        </p:tgtEl>
                                        <p:attrNameLst>
                                          <p:attrName>style.visibility</p:attrName>
                                        </p:attrNameLst>
                                      </p:cBhvr>
                                      <p:to>
                                        <p:strVal val="visible"/>
                                      </p:to>
                                    </p:set>
                                    <p:animEffect transition="in" filter="fade">
                                      <p:cBhvr>
                                        <p:cTn id="218" dur="250"/>
                                        <p:tgtEl>
                                          <p:spTgt spid="161"/>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162"/>
                                        </p:tgtEl>
                                        <p:attrNameLst>
                                          <p:attrName>style.visibility</p:attrName>
                                        </p:attrNameLst>
                                      </p:cBhvr>
                                      <p:to>
                                        <p:strVal val="visible"/>
                                      </p:to>
                                    </p:set>
                                    <p:animEffect transition="in" filter="fade">
                                      <p:cBhvr>
                                        <p:cTn id="221" dur="250"/>
                                        <p:tgtEl>
                                          <p:spTgt spid="162"/>
                                        </p:tgtEl>
                                      </p:cBhvr>
                                    </p:animEffect>
                                  </p:childTnLst>
                                </p:cTn>
                              </p:par>
                            </p:childTnLst>
                          </p:cTn>
                        </p:par>
                        <p:par>
                          <p:cTn id="222" fill="hold">
                            <p:stCondLst>
                              <p:cond delay="3940"/>
                            </p:stCondLst>
                            <p:childTnLst>
                              <p:par>
                                <p:cTn id="223" presetID="10" presetClass="entr" presetSubtype="0" fill="hold" grpId="0" nodeType="afterEffect">
                                  <p:stCondLst>
                                    <p:cond delay="0"/>
                                  </p:stCondLst>
                                  <p:childTnLst>
                                    <p:set>
                                      <p:cBhvr>
                                        <p:cTn id="224" dur="1" fill="hold">
                                          <p:stCondLst>
                                            <p:cond delay="0"/>
                                          </p:stCondLst>
                                        </p:cTn>
                                        <p:tgtEl>
                                          <p:spTgt spid="163"/>
                                        </p:tgtEl>
                                        <p:attrNameLst>
                                          <p:attrName>style.visibility</p:attrName>
                                        </p:attrNameLst>
                                      </p:cBhvr>
                                      <p:to>
                                        <p:strVal val="visible"/>
                                      </p:to>
                                    </p:set>
                                    <p:animEffect transition="in" filter="fade">
                                      <p:cBhvr>
                                        <p:cTn id="225" dur="250"/>
                                        <p:tgtEl>
                                          <p:spTgt spid="163"/>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164"/>
                                        </p:tgtEl>
                                        <p:attrNameLst>
                                          <p:attrName>style.visibility</p:attrName>
                                        </p:attrNameLst>
                                      </p:cBhvr>
                                      <p:to>
                                        <p:strVal val="visible"/>
                                      </p:to>
                                    </p:set>
                                    <p:animEffect transition="in" filter="fade">
                                      <p:cBhvr>
                                        <p:cTn id="228" dur="250"/>
                                        <p:tgtEl>
                                          <p:spTgt spid="164"/>
                                        </p:tgtEl>
                                      </p:cBhvr>
                                    </p:animEffect>
                                  </p:childTnLst>
                                </p:cTn>
                              </p:par>
                              <p:par>
                                <p:cTn id="229" presetID="10" presetClass="entr" presetSubtype="0" fill="hold" grpId="0" nodeType="withEffect">
                                  <p:stCondLst>
                                    <p:cond delay="0"/>
                                  </p:stCondLst>
                                  <p:childTnLst>
                                    <p:set>
                                      <p:cBhvr>
                                        <p:cTn id="230" dur="1" fill="hold">
                                          <p:stCondLst>
                                            <p:cond delay="0"/>
                                          </p:stCondLst>
                                        </p:cTn>
                                        <p:tgtEl>
                                          <p:spTgt spid="165"/>
                                        </p:tgtEl>
                                        <p:attrNameLst>
                                          <p:attrName>style.visibility</p:attrName>
                                        </p:attrNameLst>
                                      </p:cBhvr>
                                      <p:to>
                                        <p:strVal val="visible"/>
                                      </p:to>
                                    </p:set>
                                    <p:animEffect transition="in" filter="fade">
                                      <p:cBhvr>
                                        <p:cTn id="231" dur="250"/>
                                        <p:tgtEl>
                                          <p:spTgt spid="165"/>
                                        </p:tgtEl>
                                      </p:cBhvr>
                                    </p:animEffect>
                                  </p:childTnLst>
                                </p:cTn>
                              </p:par>
                              <p:par>
                                <p:cTn id="232" presetID="10" presetClass="entr" presetSubtype="0" fill="hold" grpId="0" nodeType="withEffect">
                                  <p:stCondLst>
                                    <p:cond delay="0"/>
                                  </p:stCondLst>
                                  <p:childTnLst>
                                    <p:set>
                                      <p:cBhvr>
                                        <p:cTn id="233" dur="1" fill="hold">
                                          <p:stCondLst>
                                            <p:cond delay="0"/>
                                          </p:stCondLst>
                                        </p:cTn>
                                        <p:tgtEl>
                                          <p:spTgt spid="166"/>
                                        </p:tgtEl>
                                        <p:attrNameLst>
                                          <p:attrName>style.visibility</p:attrName>
                                        </p:attrNameLst>
                                      </p:cBhvr>
                                      <p:to>
                                        <p:strVal val="visible"/>
                                      </p:to>
                                    </p:set>
                                    <p:animEffect transition="in" filter="fade">
                                      <p:cBhvr>
                                        <p:cTn id="234" dur="250"/>
                                        <p:tgtEl>
                                          <p:spTgt spid="166"/>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167"/>
                                        </p:tgtEl>
                                        <p:attrNameLst>
                                          <p:attrName>style.visibility</p:attrName>
                                        </p:attrNameLst>
                                      </p:cBhvr>
                                      <p:to>
                                        <p:strVal val="visible"/>
                                      </p:to>
                                    </p:set>
                                    <p:animEffect transition="in" filter="fade">
                                      <p:cBhvr>
                                        <p:cTn id="237" dur="250"/>
                                        <p:tgtEl>
                                          <p:spTgt spid="167"/>
                                        </p:tgtEl>
                                      </p:cBhvr>
                                    </p:animEffect>
                                  </p:childTnLst>
                                </p:cTn>
                              </p:par>
                              <p:par>
                                <p:cTn id="238" presetID="10" presetClass="entr" presetSubtype="0" fill="hold" grpId="0" nodeType="withEffect">
                                  <p:stCondLst>
                                    <p:cond delay="0"/>
                                  </p:stCondLst>
                                  <p:childTnLst>
                                    <p:set>
                                      <p:cBhvr>
                                        <p:cTn id="239" dur="1" fill="hold">
                                          <p:stCondLst>
                                            <p:cond delay="0"/>
                                          </p:stCondLst>
                                        </p:cTn>
                                        <p:tgtEl>
                                          <p:spTgt spid="168"/>
                                        </p:tgtEl>
                                        <p:attrNameLst>
                                          <p:attrName>style.visibility</p:attrName>
                                        </p:attrNameLst>
                                      </p:cBhvr>
                                      <p:to>
                                        <p:strVal val="visible"/>
                                      </p:to>
                                    </p:set>
                                    <p:animEffect transition="in" filter="fade">
                                      <p:cBhvr>
                                        <p:cTn id="240" dur="250"/>
                                        <p:tgtEl>
                                          <p:spTgt spid="168"/>
                                        </p:tgtEl>
                                      </p:cBhvr>
                                    </p:animEffect>
                                  </p:childTnLst>
                                </p:cTn>
                              </p:par>
                              <p:par>
                                <p:cTn id="241" presetID="10" presetClass="entr" presetSubtype="0" fill="hold" grpId="0" nodeType="withEffect">
                                  <p:stCondLst>
                                    <p:cond delay="0"/>
                                  </p:stCondLst>
                                  <p:childTnLst>
                                    <p:set>
                                      <p:cBhvr>
                                        <p:cTn id="242" dur="1" fill="hold">
                                          <p:stCondLst>
                                            <p:cond delay="0"/>
                                          </p:stCondLst>
                                        </p:cTn>
                                        <p:tgtEl>
                                          <p:spTgt spid="169"/>
                                        </p:tgtEl>
                                        <p:attrNameLst>
                                          <p:attrName>style.visibility</p:attrName>
                                        </p:attrNameLst>
                                      </p:cBhvr>
                                      <p:to>
                                        <p:strVal val="visible"/>
                                      </p:to>
                                    </p:set>
                                    <p:animEffect transition="in" filter="fade">
                                      <p:cBhvr>
                                        <p:cTn id="243" dur="250"/>
                                        <p:tgtEl>
                                          <p:spTgt spid="169"/>
                                        </p:tgtEl>
                                      </p:cBhvr>
                                    </p:animEffect>
                                  </p:childTnLst>
                                </p:cTn>
                              </p:par>
                              <p:par>
                                <p:cTn id="244" presetID="10" presetClass="entr" presetSubtype="0" fill="hold" grpId="0" nodeType="withEffect">
                                  <p:stCondLst>
                                    <p:cond delay="0"/>
                                  </p:stCondLst>
                                  <p:childTnLst>
                                    <p:set>
                                      <p:cBhvr>
                                        <p:cTn id="245" dur="1" fill="hold">
                                          <p:stCondLst>
                                            <p:cond delay="0"/>
                                          </p:stCondLst>
                                        </p:cTn>
                                        <p:tgtEl>
                                          <p:spTgt spid="170"/>
                                        </p:tgtEl>
                                        <p:attrNameLst>
                                          <p:attrName>style.visibility</p:attrName>
                                        </p:attrNameLst>
                                      </p:cBhvr>
                                      <p:to>
                                        <p:strVal val="visible"/>
                                      </p:to>
                                    </p:set>
                                    <p:animEffect transition="in" filter="fade">
                                      <p:cBhvr>
                                        <p:cTn id="246" dur="250"/>
                                        <p:tgtEl>
                                          <p:spTgt spid="170"/>
                                        </p:tgtEl>
                                      </p:cBhvr>
                                    </p:animEffect>
                                  </p:childTnLst>
                                </p:cTn>
                              </p:par>
                              <p:par>
                                <p:cTn id="247" presetID="10" presetClass="entr" presetSubtype="0" fill="hold" grpId="0" nodeType="withEffect">
                                  <p:stCondLst>
                                    <p:cond delay="0"/>
                                  </p:stCondLst>
                                  <p:childTnLst>
                                    <p:set>
                                      <p:cBhvr>
                                        <p:cTn id="248" dur="1" fill="hold">
                                          <p:stCondLst>
                                            <p:cond delay="0"/>
                                          </p:stCondLst>
                                        </p:cTn>
                                        <p:tgtEl>
                                          <p:spTgt spid="171"/>
                                        </p:tgtEl>
                                        <p:attrNameLst>
                                          <p:attrName>style.visibility</p:attrName>
                                        </p:attrNameLst>
                                      </p:cBhvr>
                                      <p:to>
                                        <p:strVal val="visible"/>
                                      </p:to>
                                    </p:set>
                                    <p:animEffect transition="in" filter="fade">
                                      <p:cBhvr>
                                        <p:cTn id="249" dur="250"/>
                                        <p:tgtEl>
                                          <p:spTgt spid="171"/>
                                        </p:tgtEl>
                                      </p:cBhvr>
                                    </p:animEffect>
                                  </p:childTnLst>
                                </p:cTn>
                              </p:par>
                              <p:par>
                                <p:cTn id="250" presetID="10" presetClass="entr" presetSubtype="0" fill="hold" grpId="0" nodeType="withEffect">
                                  <p:stCondLst>
                                    <p:cond delay="0"/>
                                  </p:stCondLst>
                                  <p:childTnLst>
                                    <p:set>
                                      <p:cBhvr>
                                        <p:cTn id="251" dur="1" fill="hold">
                                          <p:stCondLst>
                                            <p:cond delay="0"/>
                                          </p:stCondLst>
                                        </p:cTn>
                                        <p:tgtEl>
                                          <p:spTgt spid="172"/>
                                        </p:tgtEl>
                                        <p:attrNameLst>
                                          <p:attrName>style.visibility</p:attrName>
                                        </p:attrNameLst>
                                      </p:cBhvr>
                                      <p:to>
                                        <p:strVal val="visible"/>
                                      </p:to>
                                    </p:set>
                                    <p:animEffect transition="in" filter="fade">
                                      <p:cBhvr>
                                        <p:cTn id="252" dur="250"/>
                                        <p:tgtEl>
                                          <p:spTgt spid="172"/>
                                        </p:tgtEl>
                                      </p:cBhvr>
                                    </p:animEffect>
                                  </p:childTnLst>
                                </p:cTn>
                              </p:par>
                              <p:par>
                                <p:cTn id="253" presetID="10" presetClass="entr" presetSubtype="0" fill="hold" grpId="0" nodeType="withEffect">
                                  <p:stCondLst>
                                    <p:cond delay="0"/>
                                  </p:stCondLst>
                                  <p:childTnLst>
                                    <p:set>
                                      <p:cBhvr>
                                        <p:cTn id="254" dur="1" fill="hold">
                                          <p:stCondLst>
                                            <p:cond delay="0"/>
                                          </p:stCondLst>
                                        </p:cTn>
                                        <p:tgtEl>
                                          <p:spTgt spid="173"/>
                                        </p:tgtEl>
                                        <p:attrNameLst>
                                          <p:attrName>style.visibility</p:attrName>
                                        </p:attrNameLst>
                                      </p:cBhvr>
                                      <p:to>
                                        <p:strVal val="visible"/>
                                      </p:to>
                                    </p:set>
                                    <p:animEffect transition="in" filter="fade">
                                      <p:cBhvr>
                                        <p:cTn id="255" dur="250"/>
                                        <p:tgtEl>
                                          <p:spTgt spid="173"/>
                                        </p:tgtEl>
                                      </p:cBhvr>
                                    </p:animEffect>
                                  </p:childTnLst>
                                </p:cTn>
                              </p:par>
                            </p:childTnLst>
                          </p:cTn>
                        </p:par>
                        <p:par>
                          <p:cTn id="256" fill="hold">
                            <p:stCondLst>
                              <p:cond delay="4460"/>
                            </p:stCondLst>
                            <p:childTnLst>
                              <p:par>
                                <p:cTn id="257" presetID="10" presetClass="entr" presetSubtype="0" fill="hold" grpId="0" nodeType="afterEffect">
                                  <p:stCondLst>
                                    <p:cond delay="0"/>
                                  </p:stCondLst>
                                  <p:childTnLst>
                                    <p:set>
                                      <p:cBhvr>
                                        <p:cTn id="258" dur="1" fill="hold">
                                          <p:stCondLst>
                                            <p:cond delay="0"/>
                                          </p:stCondLst>
                                        </p:cTn>
                                        <p:tgtEl>
                                          <p:spTgt spid="174"/>
                                        </p:tgtEl>
                                        <p:attrNameLst>
                                          <p:attrName>style.visibility</p:attrName>
                                        </p:attrNameLst>
                                      </p:cBhvr>
                                      <p:to>
                                        <p:strVal val="visible"/>
                                      </p:to>
                                    </p:set>
                                    <p:animEffect transition="in" filter="fade">
                                      <p:cBhvr>
                                        <p:cTn id="259" dur="250"/>
                                        <p:tgtEl>
                                          <p:spTgt spid="174"/>
                                        </p:tgtEl>
                                      </p:cBhvr>
                                    </p:animEffect>
                                  </p:childTnLst>
                                </p:cTn>
                              </p:par>
                              <p:par>
                                <p:cTn id="260" presetID="10" presetClass="entr" presetSubtype="0" fill="hold" grpId="0" nodeType="withEffect">
                                  <p:stCondLst>
                                    <p:cond delay="0"/>
                                  </p:stCondLst>
                                  <p:childTnLst>
                                    <p:set>
                                      <p:cBhvr>
                                        <p:cTn id="261" dur="1" fill="hold">
                                          <p:stCondLst>
                                            <p:cond delay="0"/>
                                          </p:stCondLst>
                                        </p:cTn>
                                        <p:tgtEl>
                                          <p:spTgt spid="175"/>
                                        </p:tgtEl>
                                        <p:attrNameLst>
                                          <p:attrName>style.visibility</p:attrName>
                                        </p:attrNameLst>
                                      </p:cBhvr>
                                      <p:to>
                                        <p:strVal val="visible"/>
                                      </p:to>
                                    </p:set>
                                    <p:animEffect transition="in" filter="fade">
                                      <p:cBhvr>
                                        <p:cTn id="262" dur="250"/>
                                        <p:tgtEl>
                                          <p:spTgt spid="175"/>
                                        </p:tgtEl>
                                      </p:cBhvr>
                                    </p:animEffect>
                                  </p:childTnLst>
                                </p:cTn>
                              </p:par>
                              <p:par>
                                <p:cTn id="263" presetID="10" presetClass="entr" presetSubtype="0" fill="hold" grpId="0" nodeType="withEffect">
                                  <p:stCondLst>
                                    <p:cond delay="0"/>
                                  </p:stCondLst>
                                  <p:childTnLst>
                                    <p:set>
                                      <p:cBhvr>
                                        <p:cTn id="264" dur="1" fill="hold">
                                          <p:stCondLst>
                                            <p:cond delay="0"/>
                                          </p:stCondLst>
                                        </p:cTn>
                                        <p:tgtEl>
                                          <p:spTgt spid="176"/>
                                        </p:tgtEl>
                                        <p:attrNameLst>
                                          <p:attrName>style.visibility</p:attrName>
                                        </p:attrNameLst>
                                      </p:cBhvr>
                                      <p:to>
                                        <p:strVal val="visible"/>
                                      </p:to>
                                    </p:set>
                                    <p:animEffect transition="in" filter="fade">
                                      <p:cBhvr>
                                        <p:cTn id="265" dur="250"/>
                                        <p:tgtEl>
                                          <p:spTgt spid="176"/>
                                        </p:tgtEl>
                                      </p:cBhvr>
                                    </p:animEffect>
                                  </p:childTnLst>
                                </p:cTn>
                              </p:par>
                              <p:par>
                                <p:cTn id="266" presetID="10" presetClass="entr" presetSubtype="0" fill="hold" grpId="0" nodeType="withEffect">
                                  <p:stCondLst>
                                    <p:cond delay="0"/>
                                  </p:stCondLst>
                                  <p:childTnLst>
                                    <p:set>
                                      <p:cBhvr>
                                        <p:cTn id="267" dur="1" fill="hold">
                                          <p:stCondLst>
                                            <p:cond delay="0"/>
                                          </p:stCondLst>
                                        </p:cTn>
                                        <p:tgtEl>
                                          <p:spTgt spid="177"/>
                                        </p:tgtEl>
                                        <p:attrNameLst>
                                          <p:attrName>style.visibility</p:attrName>
                                        </p:attrNameLst>
                                      </p:cBhvr>
                                      <p:to>
                                        <p:strVal val="visible"/>
                                      </p:to>
                                    </p:set>
                                    <p:animEffect transition="in" filter="fade">
                                      <p:cBhvr>
                                        <p:cTn id="268" dur="250"/>
                                        <p:tgtEl>
                                          <p:spTgt spid="177"/>
                                        </p:tgtEl>
                                      </p:cBhvr>
                                    </p:animEffect>
                                  </p:childTnLst>
                                </p:cTn>
                              </p:par>
                              <p:par>
                                <p:cTn id="269" presetID="10" presetClass="entr" presetSubtype="0" fill="hold" grpId="0" nodeType="withEffect">
                                  <p:stCondLst>
                                    <p:cond delay="0"/>
                                  </p:stCondLst>
                                  <p:childTnLst>
                                    <p:set>
                                      <p:cBhvr>
                                        <p:cTn id="270" dur="1" fill="hold">
                                          <p:stCondLst>
                                            <p:cond delay="0"/>
                                          </p:stCondLst>
                                        </p:cTn>
                                        <p:tgtEl>
                                          <p:spTgt spid="178"/>
                                        </p:tgtEl>
                                        <p:attrNameLst>
                                          <p:attrName>style.visibility</p:attrName>
                                        </p:attrNameLst>
                                      </p:cBhvr>
                                      <p:to>
                                        <p:strVal val="visible"/>
                                      </p:to>
                                    </p:set>
                                    <p:animEffect transition="in" filter="fade">
                                      <p:cBhvr>
                                        <p:cTn id="271" dur="250"/>
                                        <p:tgtEl>
                                          <p:spTgt spid="178"/>
                                        </p:tgtEl>
                                      </p:cBhvr>
                                    </p:animEffect>
                                  </p:childTnLst>
                                </p:cTn>
                              </p:par>
                              <p:par>
                                <p:cTn id="272" presetID="10" presetClass="entr" presetSubtype="0" fill="hold" grpId="0" nodeType="withEffect">
                                  <p:stCondLst>
                                    <p:cond delay="0"/>
                                  </p:stCondLst>
                                  <p:childTnLst>
                                    <p:set>
                                      <p:cBhvr>
                                        <p:cTn id="273" dur="1" fill="hold">
                                          <p:stCondLst>
                                            <p:cond delay="0"/>
                                          </p:stCondLst>
                                        </p:cTn>
                                        <p:tgtEl>
                                          <p:spTgt spid="179"/>
                                        </p:tgtEl>
                                        <p:attrNameLst>
                                          <p:attrName>style.visibility</p:attrName>
                                        </p:attrNameLst>
                                      </p:cBhvr>
                                      <p:to>
                                        <p:strVal val="visible"/>
                                      </p:to>
                                    </p:set>
                                    <p:animEffect transition="in" filter="fade">
                                      <p:cBhvr>
                                        <p:cTn id="274" dur="250"/>
                                        <p:tgtEl>
                                          <p:spTgt spid="179"/>
                                        </p:tgtEl>
                                      </p:cBhvr>
                                    </p:animEffect>
                                  </p:childTnLst>
                                </p:cTn>
                              </p:par>
                              <p:par>
                                <p:cTn id="275" presetID="10" presetClass="entr" presetSubtype="0" fill="hold" grpId="0" nodeType="withEffect">
                                  <p:stCondLst>
                                    <p:cond delay="0"/>
                                  </p:stCondLst>
                                  <p:childTnLst>
                                    <p:set>
                                      <p:cBhvr>
                                        <p:cTn id="276" dur="1" fill="hold">
                                          <p:stCondLst>
                                            <p:cond delay="0"/>
                                          </p:stCondLst>
                                        </p:cTn>
                                        <p:tgtEl>
                                          <p:spTgt spid="180"/>
                                        </p:tgtEl>
                                        <p:attrNameLst>
                                          <p:attrName>style.visibility</p:attrName>
                                        </p:attrNameLst>
                                      </p:cBhvr>
                                      <p:to>
                                        <p:strVal val="visible"/>
                                      </p:to>
                                    </p:set>
                                    <p:animEffect transition="in" filter="fade">
                                      <p:cBhvr>
                                        <p:cTn id="277" dur="250"/>
                                        <p:tgtEl>
                                          <p:spTgt spid="180"/>
                                        </p:tgtEl>
                                      </p:cBhvr>
                                    </p:animEffect>
                                  </p:childTnLst>
                                </p:cTn>
                              </p:par>
                              <p:par>
                                <p:cTn id="278" presetID="10" presetClass="entr" presetSubtype="0" fill="hold" grpId="0" nodeType="withEffect">
                                  <p:stCondLst>
                                    <p:cond delay="0"/>
                                  </p:stCondLst>
                                  <p:childTnLst>
                                    <p:set>
                                      <p:cBhvr>
                                        <p:cTn id="279" dur="1" fill="hold">
                                          <p:stCondLst>
                                            <p:cond delay="0"/>
                                          </p:stCondLst>
                                        </p:cTn>
                                        <p:tgtEl>
                                          <p:spTgt spid="181"/>
                                        </p:tgtEl>
                                        <p:attrNameLst>
                                          <p:attrName>style.visibility</p:attrName>
                                        </p:attrNameLst>
                                      </p:cBhvr>
                                      <p:to>
                                        <p:strVal val="visible"/>
                                      </p:to>
                                    </p:set>
                                    <p:animEffect transition="in" filter="fade">
                                      <p:cBhvr>
                                        <p:cTn id="280" dur="250"/>
                                        <p:tgtEl>
                                          <p:spTgt spid="181"/>
                                        </p:tgtEl>
                                      </p:cBhvr>
                                    </p:animEffect>
                                  </p:childTnLst>
                                </p:cTn>
                              </p:par>
                              <p:par>
                                <p:cTn id="281" presetID="10" presetClass="entr" presetSubtype="0" fill="hold" grpId="0" nodeType="withEffect">
                                  <p:stCondLst>
                                    <p:cond delay="0"/>
                                  </p:stCondLst>
                                  <p:childTnLst>
                                    <p:set>
                                      <p:cBhvr>
                                        <p:cTn id="282" dur="1" fill="hold">
                                          <p:stCondLst>
                                            <p:cond delay="0"/>
                                          </p:stCondLst>
                                        </p:cTn>
                                        <p:tgtEl>
                                          <p:spTgt spid="182"/>
                                        </p:tgtEl>
                                        <p:attrNameLst>
                                          <p:attrName>style.visibility</p:attrName>
                                        </p:attrNameLst>
                                      </p:cBhvr>
                                      <p:to>
                                        <p:strVal val="visible"/>
                                      </p:to>
                                    </p:set>
                                    <p:animEffect transition="in" filter="fade">
                                      <p:cBhvr>
                                        <p:cTn id="283" dur="250"/>
                                        <p:tgtEl>
                                          <p:spTgt spid="182"/>
                                        </p:tgtEl>
                                      </p:cBhvr>
                                    </p:animEffect>
                                  </p:childTnLst>
                                </p:cTn>
                              </p:par>
                              <p:par>
                                <p:cTn id="284" presetID="10" presetClass="entr" presetSubtype="0" fill="hold" grpId="0" nodeType="withEffect">
                                  <p:stCondLst>
                                    <p:cond delay="0"/>
                                  </p:stCondLst>
                                  <p:childTnLst>
                                    <p:set>
                                      <p:cBhvr>
                                        <p:cTn id="285" dur="1" fill="hold">
                                          <p:stCondLst>
                                            <p:cond delay="0"/>
                                          </p:stCondLst>
                                        </p:cTn>
                                        <p:tgtEl>
                                          <p:spTgt spid="183"/>
                                        </p:tgtEl>
                                        <p:attrNameLst>
                                          <p:attrName>style.visibility</p:attrName>
                                        </p:attrNameLst>
                                      </p:cBhvr>
                                      <p:to>
                                        <p:strVal val="visible"/>
                                      </p:to>
                                    </p:set>
                                    <p:animEffect transition="in" filter="fade">
                                      <p:cBhvr>
                                        <p:cTn id="286" dur="250"/>
                                        <p:tgtEl>
                                          <p:spTgt spid="183"/>
                                        </p:tgtEl>
                                      </p:cBhvr>
                                    </p:animEffect>
                                  </p:childTnLst>
                                </p:cTn>
                              </p:par>
                              <p:par>
                                <p:cTn id="287" presetID="10" presetClass="entr" presetSubtype="0" fill="hold" grpId="0" nodeType="withEffect">
                                  <p:stCondLst>
                                    <p:cond delay="0"/>
                                  </p:stCondLst>
                                  <p:childTnLst>
                                    <p:set>
                                      <p:cBhvr>
                                        <p:cTn id="288" dur="1" fill="hold">
                                          <p:stCondLst>
                                            <p:cond delay="0"/>
                                          </p:stCondLst>
                                        </p:cTn>
                                        <p:tgtEl>
                                          <p:spTgt spid="184"/>
                                        </p:tgtEl>
                                        <p:attrNameLst>
                                          <p:attrName>style.visibility</p:attrName>
                                        </p:attrNameLst>
                                      </p:cBhvr>
                                      <p:to>
                                        <p:strVal val="visible"/>
                                      </p:to>
                                    </p:set>
                                    <p:animEffect transition="in" filter="fade">
                                      <p:cBhvr>
                                        <p:cTn id="289" dur="250"/>
                                        <p:tgtEl>
                                          <p:spTgt spid="184"/>
                                        </p:tgtEl>
                                      </p:cBhvr>
                                    </p:animEffect>
                                  </p:childTnLst>
                                </p:cTn>
                              </p:par>
                            </p:childTnLst>
                          </p:cTn>
                        </p:par>
                      </p:childTnLst>
                    </p:cTn>
                  </p:par>
                  <p:par>
                    <p:cTn id="290" fill="hold">
                      <p:stCondLst>
                        <p:cond delay="indefinite"/>
                      </p:stCondLst>
                      <p:childTnLst>
                        <p:par>
                          <p:cTn id="291" fill="hold">
                            <p:stCondLst>
                              <p:cond delay="0"/>
                            </p:stCondLst>
                            <p:childTnLst>
                              <p:par>
                                <p:cTn id="292" presetID="10" presetClass="exit" presetSubtype="0" fill="hold" grpId="1" nodeType="clickEffect">
                                  <p:stCondLst>
                                    <p:cond delay="0"/>
                                  </p:stCondLst>
                                  <p:childTnLst>
                                    <p:animEffect transition="out" filter="fade">
                                      <p:cBhvr>
                                        <p:cTn id="293" dur="250"/>
                                        <p:tgtEl>
                                          <p:spTgt spid="94"/>
                                        </p:tgtEl>
                                      </p:cBhvr>
                                    </p:animEffect>
                                    <p:set>
                                      <p:cBhvr>
                                        <p:cTn id="294" dur="1" fill="hold">
                                          <p:stCondLst>
                                            <p:cond delay="249"/>
                                          </p:stCondLst>
                                        </p:cTn>
                                        <p:tgtEl>
                                          <p:spTgt spid="94"/>
                                        </p:tgtEl>
                                        <p:attrNameLst>
                                          <p:attrName>style.visibility</p:attrName>
                                        </p:attrNameLst>
                                      </p:cBhvr>
                                      <p:to>
                                        <p:strVal val="hidden"/>
                                      </p:to>
                                    </p:set>
                                  </p:childTnLst>
                                </p:cTn>
                              </p:par>
                              <p:par>
                                <p:cTn id="295" presetID="10" presetClass="exit" presetSubtype="0" fill="hold" grpId="1" nodeType="withEffect">
                                  <p:stCondLst>
                                    <p:cond delay="0"/>
                                  </p:stCondLst>
                                  <p:childTnLst>
                                    <p:animEffect transition="out" filter="fade">
                                      <p:cBhvr>
                                        <p:cTn id="296" dur="250"/>
                                        <p:tgtEl>
                                          <p:spTgt spid="95"/>
                                        </p:tgtEl>
                                      </p:cBhvr>
                                    </p:animEffect>
                                    <p:set>
                                      <p:cBhvr>
                                        <p:cTn id="297" dur="1" fill="hold">
                                          <p:stCondLst>
                                            <p:cond delay="249"/>
                                          </p:stCondLst>
                                        </p:cTn>
                                        <p:tgtEl>
                                          <p:spTgt spid="95"/>
                                        </p:tgtEl>
                                        <p:attrNameLst>
                                          <p:attrName>style.visibility</p:attrName>
                                        </p:attrNameLst>
                                      </p:cBhvr>
                                      <p:to>
                                        <p:strVal val="hidden"/>
                                      </p:to>
                                    </p:set>
                                  </p:childTnLst>
                                </p:cTn>
                              </p:par>
                              <p:par>
                                <p:cTn id="298" presetID="10" presetClass="exit" presetSubtype="0" fill="hold" grpId="1" nodeType="withEffect">
                                  <p:stCondLst>
                                    <p:cond delay="0"/>
                                  </p:stCondLst>
                                  <p:childTnLst>
                                    <p:animEffect transition="out" filter="fade">
                                      <p:cBhvr>
                                        <p:cTn id="299" dur="250"/>
                                        <p:tgtEl>
                                          <p:spTgt spid="96"/>
                                        </p:tgtEl>
                                      </p:cBhvr>
                                    </p:animEffect>
                                    <p:set>
                                      <p:cBhvr>
                                        <p:cTn id="300" dur="1" fill="hold">
                                          <p:stCondLst>
                                            <p:cond delay="249"/>
                                          </p:stCondLst>
                                        </p:cTn>
                                        <p:tgtEl>
                                          <p:spTgt spid="96"/>
                                        </p:tgtEl>
                                        <p:attrNameLst>
                                          <p:attrName>style.visibility</p:attrName>
                                        </p:attrNameLst>
                                      </p:cBhvr>
                                      <p:to>
                                        <p:strVal val="hidden"/>
                                      </p:to>
                                    </p:set>
                                  </p:childTnLst>
                                </p:cTn>
                              </p:par>
                              <p:par>
                                <p:cTn id="301" presetID="10" presetClass="exit" presetSubtype="0" fill="hold" grpId="1" nodeType="withEffect">
                                  <p:stCondLst>
                                    <p:cond delay="0"/>
                                  </p:stCondLst>
                                  <p:childTnLst>
                                    <p:animEffect transition="out" filter="fade">
                                      <p:cBhvr>
                                        <p:cTn id="302" dur="250"/>
                                        <p:tgtEl>
                                          <p:spTgt spid="105"/>
                                        </p:tgtEl>
                                      </p:cBhvr>
                                    </p:animEffect>
                                    <p:set>
                                      <p:cBhvr>
                                        <p:cTn id="303" dur="1" fill="hold">
                                          <p:stCondLst>
                                            <p:cond delay="249"/>
                                          </p:stCondLst>
                                        </p:cTn>
                                        <p:tgtEl>
                                          <p:spTgt spid="105"/>
                                        </p:tgtEl>
                                        <p:attrNameLst>
                                          <p:attrName>style.visibility</p:attrName>
                                        </p:attrNameLst>
                                      </p:cBhvr>
                                      <p:to>
                                        <p:strVal val="hidden"/>
                                      </p:to>
                                    </p:set>
                                  </p:childTnLst>
                                </p:cTn>
                              </p:par>
                              <p:par>
                                <p:cTn id="304" presetID="10" presetClass="exit" presetSubtype="0" fill="hold" grpId="1" nodeType="withEffect">
                                  <p:stCondLst>
                                    <p:cond delay="0"/>
                                  </p:stCondLst>
                                  <p:childTnLst>
                                    <p:animEffect transition="out" filter="fade">
                                      <p:cBhvr>
                                        <p:cTn id="305" dur="250"/>
                                        <p:tgtEl>
                                          <p:spTgt spid="106"/>
                                        </p:tgtEl>
                                      </p:cBhvr>
                                    </p:animEffect>
                                    <p:set>
                                      <p:cBhvr>
                                        <p:cTn id="306" dur="1" fill="hold">
                                          <p:stCondLst>
                                            <p:cond delay="249"/>
                                          </p:stCondLst>
                                        </p:cTn>
                                        <p:tgtEl>
                                          <p:spTgt spid="106"/>
                                        </p:tgtEl>
                                        <p:attrNameLst>
                                          <p:attrName>style.visibility</p:attrName>
                                        </p:attrNameLst>
                                      </p:cBhvr>
                                      <p:to>
                                        <p:strVal val="hidden"/>
                                      </p:to>
                                    </p:set>
                                  </p:childTnLst>
                                </p:cTn>
                              </p:par>
                              <p:par>
                                <p:cTn id="307" presetID="10" presetClass="exit" presetSubtype="0" fill="hold" grpId="1" nodeType="withEffect">
                                  <p:stCondLst>
                                    <p:cond delay="0"/>
                                  </p:stCondLst>
                                  <p:childTnLst>
                                    <p:animEffect transition="out" filter="fade">
                                      <p:cBhvr>
                                        <p:cTn id="308" dur="250"/>
                                        <p:tgtEl>
                                          <p:spTgt spid="107"/>
                                        </p:tgtEl>
                                      </p:cBhvr>
                                    </p:animEffect>
                                    <p:set>
                                      <p:cBhvr>
                                        <p:cTn id="309" dur="1" fill="hold">
                                          <p:stCondLst>
                                            <p:cond delay="249"/>
                                          </p:stCondLst>
                                        </p:cTn>
                                        <p:tgtEl>
                                          <p:spTgt spid="107"/>
                                        </p:tgtEl>
                                        <p:attrNameLst>
                                          <p:attrName>style.visibility</p:attrName>
                                        </p:attrNameLst>
                                      </p:cBhvr>
                                      <p:to>
                                        <p:strVal val="hidden"/>
                                      </p:to>
                                    </p:set>
                                  </p:childTnLst>
                                </p:cTn>
                              </p:par>
                              <p:par>
                                <p:cTn id="310" presetID="10" presetClass="exit" presetSubtype="0" fill="hold" grpId="1" nodeType="withEffect">
                                  <p:stCondLst>
                                    <p:cond delay="0"/>
                                  </p:stCondLst>
                                  <p:childTnLst>
                                    <p:animEffect transition="out" filter="fade">
                                      <p:cBhvr>
                                        <p:cTn id="311" dur="250"/>
                                        <p:tgtEl>
                                          <p:spTgt spid="116"/>
                                        </p:tgtEl>
                                      </p:cBhvr>
                                    </p:animEffect>
                                    <p:set>
                                      <p:cBhvr>
                                        <p:cTn id="312" dur="1" fill="hold">
                                          <p:stCondLst>
                                            <p:cond delay="249"/>
                                          </p:stCondLst>
                                        </p:cTn>
                                        <p:tgtEl>
                                          <p:spTgt spid="116"/>
                                        </p:tgtEl>
                                        <p:attrNameLst>
                                          <p:attrName>style.visibility</p:attrName>
                                        </p:attrNameLst>
                                      </p:cBhvr>
                                      <p:to>
                                        <p:strVal val="hidden"/>
                                      </p:to>
                                    </p:set>
                                  </p:childTnLst>
                                </p:cTn>
                              </p:par>
                              <p:par>
                                <p:cTn id="313" presetID="10" presetClass="exit" presetSubtype="0" fill="hold" grpId="1" nodeType="withEffect">
                                  <p:stCondLst>
                                    <p:cond delay="0"/>
                                  </p:stCondLst>
                                  <p:childTnLst>
                                    <p:animEffect transition="out" filter="fade">
                                      <p:cBhvr>
                                        <p:cTn id="314" dur="250"/>
                                        <p:tgtEl>
                                          <p:spTgt spid="117"/>
                                        </p:tgtEl>
                                      </p:cBhvr>
                                    </p:animEffect>
                                    <p:set>
                                      <p:cBhvr>
                                        <p:cTn id="315" dur="1" fill="hold">
                                          <p:stCondLst>
                                            <p:cond delay="249"/>
                                          </p:stCondLst>
                                        </p:cTn>
                                        <p:tgtEl>
                                          <p:spTgt spid="117"/>
                                        </p:tgtEl>
                                        <p:attrNameLst>
                                          <p:attrName>style.visibility</p:attrName>
                                        </p:attrNameLst>
                                      </p:cBhvr>
                                      <p:to>
                                        <p:strVal val="hidden"/>
                                      </p:to>
                                    </p:set>
                                  </p:childTnLst>
                                </p:cTn>
                              </p:par>
                              <p:par>
                                <p:cTn id="316" presetID="10" presetClass="exit" presetSubtype="0" fill="hold" grpId="1" nodeType="withEffect">
                                  <p:stCondLst>
                                    <p:cond delay="0"/>
                                  </p:stCondLst>
                                  <p:childTnLst>
                                    <p:animEffect transition="out" filter="fade">
                                      <p:cBhvr>
                                        <p:cTn id="317" dur="250"/>
                                        <p:tgtEl>
                                          <p:spTgt spid="118"/>
                                        </p:tgtEl>
                                      </p:cBhvr>
                                    </p:animEffect>
                                    <p:set>
                                      <p:cBhvr>
                                        <p:cTn id="318" dur="1" fill="hold">
                                          <p:stCondLst>
                                            <p:cond delay="249"/>
                                          </p:stCondLst>
                                        </p:cTn>
                                        <p:tgtEl>
                                          <p:spTgt spid="118"/>
                                        </p:tgtEl>
                                        <p:attrNameLst>
                                          <p:attrName>style.visibility</p:attrName>
                                        </p:attrNameLst>
                                      </p:cBhvr>
                                      <p:to>
                                        <p:strVal val="hidden"/>
                                      </p:to>
                                    </p:set>
                                  </p:childTnLst>
                                </p:cTn>
                              </p:par>
                              <p:par>
                                <p:cTn id="319" presetID="10" presetClass="exit" presetSubtype="0" fill="hold" grpId="1" nodeType="withEffect">
                                  <p:stCondLst>
                                    <p:cond delay="0"/>
                                  </p:stCondLst>
                                  <p:childTnLst>
                                    <p:animEffect transition="out" filter="fade">
                                      <p:cBhvr>
                                        <p:cTn id="320" dur="250"/>
                                        <p:tgtEl>
                                          <p:spTgt spid="127"/>
                                        </p:tgtEl>
                                      </p:cBhvr>
                                    </p:animEffect>
                                    <p:set>
                                      <p:cBhvr>
                                        <p:cTn id="321" dur="1" fill="hold">
                                          <p:stCondLst>
                                            <p:cond delay="249"/>
                                          </p:stCondLst>
                                        </p:cTn>
                                        <p:tgtEl>
                                          <p:spTgt spid="127"/>
                                        </p:tgtEl>
                                        <p:attrNameLst>
                                          <p:attrName>style.visibility</p:attrName>
                                        </p:attrNameLst>
                                      </p:cBhvr>
                                      <p:to>
                                        <p:strVal val="hidden"/>
                                      </p:to>
                                    </p:set>
                                  </p:childTnLst>
                                </p:cTn>
                              </p:par>
                              <p:par>
                                <p:cTn id="322" presetID="10" presetClass="exit" presetSubtype="0" fill="hold" grpId="1" nodeType="withEffect">
                                  <p:stCondLst>
                                    <p:cond delay="0"/>
                                  </p:stCondLst>
                                  <p:childTnLst>
                                    <p:animEffect transition="out" filter="fade">
                                      <p:cBhvr>
                                        <p:cTn id="323" dur="250"/>
                                        <p:tgtEl>
                                          <p:spTgt spid="128"/>
                                        </p:tgtEl>
                                      </p:cBhvr>
                                    </p:animEffect>
                                    <p:set>
                                      <p:cBhvr>
                                        <p:cTn id="324" dur="1" fill="hold">
                                          <p:stCondLst>
                                            <p:cond delay="249"/>
                                          </p:stCondLst>
                                        </p:cTn>
                                        <p:tgtEl>
                                          <p:spTgt spid="128"/>
                                        </p:tgtEl>
                                        <p:attrNameLst>
                                          <p:attrName>style.visibility</p:attrName>
                                        </p:attrNameLst>
                                      </p:cBhvr>
                                      <p:to>
                                        <p:strVal val="hidden"/>
                                      </p:to>
                                    </p:set>
                                  </p:childTnLst>
                                </p:cTn>
                              </p:par>
                              <p:par>
                                <p:cTn id="325" presetID="10" presetClass="exit" presetSubtype="0" fill="hold" grpId="1" nodeType="withEffect">
                                  <p:stCondLst>
                                    <p:cond delay="0"/>
                                  </p:stCondLst>
                                  <p:childTnLst>
                                    <p:animEffect transition="out" filter="fade">
                                      <p:cBhvr>
                                        <p:cTn id="326" dur="250"/>
                                        <p:tgtEl>
                                          <p:spTgt spid="129"/>
                                        </p:tgtEl>
                                      </p:cBhvr>
                                    </p:animEffect>
                                    <p:set>
                                      <p:cBhvr>
                                        <p:cTn id="327" dur="1" fill="hold">
                                          <p:stCondLst>
                                            <p:cond delay="249"/>
                                          </p:stCondLst>
                                        </p:cTn>
                                        <p:tgtEl>
                                          <p:spTgt spid="129"/>
                                        </p:tgtEl>
                                        <p:attrNameLst>
                                          <p:attrName>style.visibility</p:attrName>
                                        </p:attrNameLst>
                                      </p:cBhvr>
                                      <p:to>
                                        <p:strVal val="hidden"/>
                                      </p:to>
                                    </p:set>
                                  </p:childTnLst>
                                </p:cTn>
                              </p:par>
                              <p:par>
                                <p:cTn id="328" presetID="10" presetClass="exit" presetSubtype="0" fill="hold" grpId="1" nodeType="withEffect">
                                  <p:stCondLst>
                                    <p:cond delay="0"/>
                                  </p:stCondLst>
                                  <p:childTnLst>
                                    <p:animEffect transition="out" filter="fade">
                                      <p:cBhvr>
                                        <p:cTn id="329" dur="250"/>
                                        <p:tgtEl>
                                          <p:spTgt spid="138"/>
                                        </p:tgtEl>
                                      </p:cBhvr>
                                    </p:animEffect>
                                    <p:set>
                                      <p:cBhvr>
                                        <p:cTn id="330" dur="1" fill="hold">
                                          <p:stCondLst>
                                            <p:cond delay="249"/>
                                          </p:stCondLst>
                                        </p:cTn>
                                        <p:tgtEl>
                                          <p:spTgt spid="138"/>
                                        </p:tgtEl>
                                        <p:attrNameLst>
                                          <p:attrName>style.visibility</p:attrName>
                                        </p:attrNameLst>
                                      </p:cBhvr>
                                      <p:to>
                                        <p:strVal val="hidden"/>
                                      </p:to>
                                    </p:set>
                                  </p:childTnLst>
                                </p:cTn>
                              </p:par>
                              <p:par>
                                <p:cTn id="331" presetID="10" presetClass="exit" presetSubtype="0" fill="hold" grpId="1" nodeType="withEffect">
                                  <p:stCondLst>
                                    <p:cond delay="0"/>
                                  </p:stCondLst>
                                  <p:childTnLst>
                                    <p:animEffect transition="out" filter="fade">
                                      <p:cBhvr>
                                        <p:cTn id="332" dur="250"/>
                                        <p:tgtEl>
                                          <p:spTgt spid="139"/>
                                        </p:tgtEl>
                                      </p:cBhvr>
                                    </p:animEffect>
                                    <p:set>
                                      <p:cBhvr>
                                        <p:cTn id="333" dur="1" fill="hold">
                                          <p:stCondLst>
                                            <p:cond delay="249"/>
                                          </p:stCondLst>
                                        </p:cTn>
                                        <p:tgtEl>
                                          <p:spTgt spid="139"/>
                                        </p:tgtEl>
                                        <p:attrNameLst>
                                          <p:attrName>style.visibility</p:attrName>
                                        </p:attrNameLst>
                                      </p:cBhvr>
                                      <p:to>
                                        <p:strVal val="hidden"/>
                                      </p:to>
                                    </p:set>
                                  </p:childTnLst>
                                </p:cTn>
                              </p:par>
                              <p:par>
                                <p:cTn id="334" presetID="10" presetClass="exit" presetSubtype="0" fill="hold" grpId="1" nodeType="withEffect">
                                  <p:stCondLst>
                                    <p:cond delay="0"/>
                                  </p:stCondLst>
                                  <p:childTnLst>
                                    <p:animEffect transition="out" filter="fade">
                                      <p:cBhvr>
                                        <p:cTn id="335" dur="250"/>
                                        <p:tgtEl>
                                          <p:spTgt spid="140"/>
                                        </p:tgtEl>
                                      </p:cBhvr>
                                    </p:animEffect>
                                    <p:set>
                                      <p:cBhvr>
                                        <p:cTn id="336" dur="1" fill="hold">
                                          <p:stCondLst>
                                            <p:cond delay="249"/>
                                          </p:stCondLst>
                                        </p:cTn>
                                        <p:tgtEl>
                                          <p:spTgt spid="140"/>
                                        </p:tgtEl>
                                        <p:attrNameLst>
                                          <p:attrName>style.visibility</p:attrName>
                                        </p:attrNameLst>
                                      </p:cBhvr>
                                      <p:to>
                                        <p:strVal val="hidden"/>
                                      </p:to>
                                    </p:set>
                                  </p:childTnLst>
                                </p:cTn>
                              </p:par>
                              <p:par>
                                <p:cTn id="337" presetID="10" presetClass="exit" presetSubtype="0" fill="hold" grpId="1" nodeType="withEffect">
                                  <p:stCondLst>
                                    <p:cond delay="0"/>
                                  </p:stCondLst>
                                  <p:childTnLst>
                                    <p:animEffect transition="out" filter="fade">
                                      <p:cBhvr>
                                        <p:cTn id="338" dur="250"/>
                                        <p:tgtEl>
                                          <p:spTgt spid="149"/>
                                        </p:tgtEl>
                                      </p:cBhvr>
                                    </p:animEffect>
                                    <p:set>
                                      <p:cBhvr>
                                        <p:cTn id="339" dur="1" fill="hold">
                                          <p:stCondLst>
                                            <p:cond delay="249"/>
                                          </p:stCondLst>
                                        </p:cTn>
                                        <p:tgtEl>
                                          <p:spTgt spid="149"/>
                                        </p:tgtEl>
                                        <p:attrNameLst>
                                          <p:attrName>style.visibility</p:attrName>
                                        </p:attrNameLst>
                                      </p:cBhvr>
                                      <p:to>
                                        <p:strVal val="hidden"/>
                                      </p:to>
                                    </p:set>
                                  </p:childTnLst>
                                </p:cTn>
                              </p:par>
                              <p:par>
                                <p:cTn id="340" presetID="10" presetClass="exit" presetSubtype="0" fill="hold" grpId="1" nodeType="withEffect">
                                  <p:stCondLst>
                                    <p:cond delay="0"/>
                                  </p:stCondLst>
                                  <p:childTnLst>
                                    <p:animEffect transition="out" filter="fade">
                                      <p:cBhvr>
                                        <p:cTn id="341" dur="250"/>
                                        <p:tgtEl>
                                          <p:spTgt spid="150"/>
                                        </p:tgtEl>
                                      </p:cBhvr>
                                    </p:animEffect>
                                    <p:set>
                                      <p:cBhvr>
                                        <p:cTn id="342" dur="1" fill="hold">
                                          <p:stCondLst>
                                            <p:cond delay="249"/>
                                          </p:stCondLst>
                                        </p:cTn>
                                        <p:tgtEl>
                                          <p:spTgt spid="150"/>
                                        </p:tgtEl>
                                        <p:attrNameLst>
                                          <p:attrName>style.visibility</p:attrName>
                                        </p:attrNameLst>
                                      </p:cBhvr>
                                      <p:to>
                                        <p:strVal val="hidden"/>
                                      </p:to>
                                    </p:set>
                                  </p:childTnLst>
                                </p:cTn>
                              </p:par>
                              <p:par>
                                <p:cTn id="343" presetID="10" presetClass="exit" presetSubtype="0" fill="hold" grpId="1" nodeType="withEffect">
                                  <p:stCondLst>
                                    <p:cond delay="0"/>
                                  </p:stCondLst>
                                  <p:childTnLst>
                                    <p:animEffect transition="out" filter="fade">
                                      <p:cBhvr>
                                        <p:cTn id="344" dur="250"/>
                                        <p:tgtEl>
                                          <p:spTgt spid="151"/>
                                        </p:tgtEl>
                                      </p:cBhvr>
                                    </p:animEffect>
                                    <p:set>
                                      <p:cBhvr>
                                        <p:cTn id="345" dur="1" fill="hold">
                                          <p:stCondLst>
                                            <p:cond delay="249"/>
                                          </p:stCondLst>
                                        </p:cTn>
                                        <p:tgtEl>
                                          <p:spTgt spid="151"/>
                                        </p:tgtEl>
                                        <p:attrNameLst>
                                          <p:attrName>style.visibility</p:attrName>
                                        </p:attrNameLst>
                                      </p:cBhvr>
                                      <p:to>
                                        <p:strVal val="hidden"/>
                                      </p:to>
                                    </p:set>
                                  </p:childTnLst>
                                </p:cTn>
                              </p:par>
                              <p:par>
                                <p:cTn id="346" presetID="10" presetClass="exit" presetSubtype="0" fill="hold" grpId="1" nodeType="withEffect">
                                  <p:stCondLst>
                                    <p:cond delay="0"/>
                                  </p:stCondLst>
                                  <p:childTnLst>
                                    <p:animEffect transition="out" filter="fade">
                                      <p:cBhvr>
                                        <p:cTn id="347" dur="250"/>
                                        <p:tgtEl>
                                          <p:spTgt spid="160"/>
                                        </p:tgtEl>
                                      </p:cBhvr>
                                    </p:animEffect>
                                    <p:set>
                                      <p:cBhvr>
                                        <p:cTn id="348" dur="1" fill="hold">
                                          <p:stCondLst>
                                            <p:cond delay="249"/>
                                          </p:stCondLst>
                                        </p:cTn>
                                        <p:tgtEl>
                                          <p:spTgt spid="160"/>
                                        </p:tgtEl>
                                        <p:attrNameLst>
                                          <p:attrName>style.visibility</p:attrName>
                                        </p:attrNameLst>
                                      </p:cBhvr>
                                      <p:to>
                                        <p:strVal val="hidden"/>
                                      </p:to>
                                    </p:set>
                                  </p:childTnLst>
                                </p:cTn>
                              </p:par>
                              <p:par>
                                <p:cTn id="349" presetID="10" presetClass="exit" presetSubtype="0" fill="hold" grpId="1" nodeType="withEffect">
                                  <p:stCondLst>
                                    <p:cond delay="0"/>
                                  </p:stCondLst>
                                  <p:childTnLst>
                                    <p:animEffect transition="out" filter="fade">
                                      <p:cBhvr>
                                        <p:cTn id="350" dur="250"/>
                                        <p:tgtEl>
                                          <p:spTgt spid="161"/>
                                        </p:tgtEl>
                                      </p:cBhvr>
                                    </p:animEffect>
                                    <p:set>
                                      <p:cBhvr>
                                        <p:cTn id="351" dur="1" fill="hold">
                                          <p:stCondLst>
                                            <p:cond delay="249"/>
                                          </p:stCondLst>
                                        </p:cTn>
                                        <p:tgtEl>
                                          <p:spTgt spid="161"/>
                                        </p:tgtEl>
                                        <p:attrNameLst>
                                          <p:attrName>style.visibility</p:attrName>
                                        </p:attrNameLst>
                                      </p:cBhvr>
                                      <p:to>
                                        <p:strVal val="hidden"/>
                                      </p:to>
                                    </p:set>
                                  </p:childTnLst>
                                </p:cTn>
                              </p:par>
                              <p:par>
                                <p:cTn id="352" presetID="10" presetClass="exit" presetSubtype="0" fill="hold" grpId="1" nodeType="withEffect">
                                  <p:stCondLst>
                                    <p:cond delay="0"/>
                                  </p:stCondLst>
                                  <p:childTnLst>
                                    <p:animEffect transition="out" filter="fade">
                                      <p:cBhvr>
                                        <p:cTn id="353" dur="250"/>
                                        <p:tgtEl>
                                          <p:spTgt spid="162"/>
                                        </p:tgtEl>
                                      </p:cBhvr>
                                    </p:animEffect>
                                    <p:set>
                                      <p:cBhvr>
                                        <p:cTn id="354" dur="1" fill="hold">
                                          <p:stCondLst>
                                            <p:cond delay="249"/>
                                          </p:stCondLst>
                                        </p:cTn>
                                        <p:tgtEl>
                                          <p:spTgt spid="162"/>
                                        </p:tgtEl>
                                        <p:attrNameLst>
                                          <p:attrName>style.visibility</p:attrName>
                                        </p:attrNameLst>
                                      </p:cBhvr>
                                      <p:to>
                                        <p:strVal val="hidden"/>
                                      </p:to>
                                    </p:set>
                                  </p:childTnLst>
                                </p:cTn>
                              </p:par>
                              <p:par>
                                <p:cTn id="355" presetID="10" presetClass="exit" presetSubtype="0" fill="hold" grpId="1" nodeType="withEffect">
                                  <p:stCondLst>
                                    <p:cond delay="0"/>
                                  </p:stCondLst>
                                  <p:childTnLst>
                                    <p:animEffect transition="out" filter="fade">
                                      <p:cBhvr>
                                        <p:cTn id="356" dur="250"/>
                                        <p:tgtEl>
                                          <p:spTgt spid="171"/>
                                        </p:tgtEl>
                                      </p:cBhvr>
                                    </p:animEffect>
                                    <p:set>
                                      <p:cBhvr>
                                        <p:cTn id="357" dur="1" fill="hold">
                                          <p:stCondLst>
                                            <p:cond delay="249"/>
                                          </p:stCondLst>
                                        </p:cTn>
                                        <p:tgtEl>
                                          <p:spTgt spid="171"/>
                                        </p:tgtEl>
                                        <p:attrNameLst>
                                          <p:attrName>style.visibility</p:attrName>
                                        </p:attrNameLst>
                                      </p:cBhvr>
                                      <p:to>
                                        <p:strVal val="hidden"/>
                                      </p:to>
                                    </p:set>
                                  </p:childTnLst>
                                </p:cTn>
                              </p:par>
                              <p:par>
                                <p:cTn id="358" presetID="10" presetClass="exit" presetSubtype="0" fill="hold" grpId="1" nodeType="withEffect">
                                  <p:stCondLst>
                                    <p:cond delay="0"/>
                                  </p:stCondLst>
                                  <p:childTnLst>
                                    <p:animEffect transition="out" filter="fade">
                                      <p:cBhvr>
                                        <p:cTn id="359" dur="250"/>
                                        <p:tgtEl>
                                          <p:spTgt spid="172"/>
                                        </p:tgtEl>
                                      </p:cBhvr>
                                    </p:animEffect>
                                    <p:set>
                                      <p:cBhvr>
                                        <p:cTn id="360" dur="1" fill="hold">
                                          <p:stCondLst>
                                            <p:cond delay="249"/>
                                          </p:stCondLst>
                                        </p:cTn>
                                        <p:tgtEl>
                                          <p:spTgt spid="172"/>
                                        </p:tgtEl>
                                        <p:attrNameLst>
                                          <p:attrName>style.visibility</p:attrName>
                                        </p:attrNameLst>
                                      </p:cBhvr>
                                      <p:to>
                                        <p:strVal val="hidden"/>
                                      </p:to>
                                    </p:set>
                                  </p:childTnLst>
                                </p:cTn>
                              </p:par>
                              <p:par>
                                <p:cTn id="361" presetID="10" presetClass="exit" presetSubtype="0" fill="hold" grpId="1" nodeType="withEffect">
                                  <p:stCondLst>
                                    <p:cond delay="0"/>
                                  </p:stCondLst>
                                  <p:childTnLst>
                                    <p:animEffect transition="out" filter="fade">
                                      <p:cBhvr>
                                        <p:cTn id="362" dur="250"/>
                                        <p:tgtEl>
                                          <p:spTgt spid="173"/>
                                        </p:tgtEl>
                                      </p:cBhvr>
                                    </p:animEffect>
                                    <p:set>
                                      <p:cBhvr>
                                        <p:cTn id="363" dur="1" fill="hold">
                                          <p:stCondLst>
                                            <p:cond delay="249"/>
                                          </p:stCondLst>
                                        </p:cTn>
                                        <p:tgtEl>
                                          <p:spTgt spid="173"/>
                                        </p:tgtEl>
                                        <p:attrNameLst>
                                          <p:attrName>style.visibility</p:attrName>
                                        </p:attrNameLst>
                                      </p:cBhvr>
                                      <p:to>
                                        <p:strVal val="hidden"/>
                                      </p:to>
                                    </p:set>
                                  </p:childTnLst>
                                </p:cTn>
                              </p:par>
                              <p:par>
                                <p:cTn id="364" presetID="10" presetClass="exit" presetSubtype="0" fill="hold" grpId="1" nodeType="withEffect">
                                  <p:stCondLst>
                                    <p:cond delay="0"/>
                                  </p:stCondLst>
                                  <p:childTnLst>
                                    <p:animEffect transition="out" filter="fade">
                                      <p:cBhvr>
                                        <p:cTn id="365" dur="250"/>
                                        <p:tgtEl>
                                          <p:spTgt spid="182"/>
                                        </p:tgtEl>
                                      </p:cBhvr>
                                    </p:animEffect>
                                    <p:set>
                                      <p:cBhvr>
                                        <p:cTn id="366" dur="1" fill="hold">
                                          <p:stCondLst>
                                            <p:cond delay="249"/>
                                          </p:stCondLst>
                                        </p:cTn>
                                        <p:tgtEl>
                                          <p:spTgt spid="182"/>
                                        </p:tgtEl>
                                        <p:attrNameLst>
                                          <p:attrName>style.visibility</p:attrName>
                                        </p:attrNameLst>
                                      </p:cBhvr>
                                      <p:to>
                                        <p:strVal val="hidden"/>
                                      </p:to>
                                    </p:set>
                                  </p:childTnLst>
                                </p:cTn>
                              </p:par>
                              <p:par>
                                <p:cTn id="367" presetID="10" presetClass="exit" presetSubtype="0" fill="hold" grpId="1" nodeType="withEffect">
                                  <p:stCondLst>
                                    <p:cond delay="0"/>
                                  </p:stCondLst>
                                  <p:childTnLst>
                                    <p:animEffect transition="out" filter="fade">
                                      <p:cBhvr>
                                        <p:cTn id="368" dur="250"/>
                                        <p:tgtEl>
                                          <p:spTgt spid="183"/>
                                        </p:tgtEl>
                                      </p:cBhvr>
                                    </p:animEffect>
                                    <p:set>
                                      <p:cBhvr>
                                        <p:cTn id="369" dur="1" fill="hold">
                                          <p:stCondLst>
                                            <p:cond delay="249"/>
                                          </p:stCondLst>
                                        </p:cTn>
                                        <p:tgtEl>
                                          <p:spTgt spid="183"/>
                                        </p:tgtEl>
                                        <p:attrNameLst>
                                          <p:attrName>style.visibility</p:attrName>
                                        </p:attrNameLst>
                                      </p:cBhvr>
                                      <p:to>
                                        <p:strVal val="hidden"/>
                                      </p:to>
                                    </p:set>
                                  </p:childTnLst>
                                </p:cTn>
                              </p:par>
                              <p:par>
                                <p:cTn id="370" presetID="10" presetClass="exit" presetSubtype="0" fill="hold" grpId="1" nodeType="withEffect">
                                  <p:stCondLst>
                                    <p:cond delay="0"/>
                                  </p:stCondLst>
                                  <p:childTnLst>
                                    <p:animEffect transition="out" filter="fade">
                                      <p:cBhvr>
                                        <p:cTn id="371" dur="250"/>
                                        <p:tgtEl>
                                          <p:spTgt spid="184"/>
                                        </p:tgtEl>
                                      </p:cBhvr>
                                    </p:animEffect>
                                    <p:set>
                                      <p:cBhvr>
                                        <p:cTn id="372" dur="1" fill="hold">
                                          <p:stCondLst>
                                            <p:cond delay="249"/>
                                          </p:stCondLst>
                                        </p:cTn>
                                        <p:tgtEl>
                                          <p:spTgt spid="184"/>
                                        </p:tgtEl>
                                        <p:attrNameLst>
                                          <p:attrName>style.visibility</p:attrName>
                                        </p:attrNameLst>
                                      </p:cBhvr>
                                      <p:to>
                                        <p:strVal val="hidden"/>
                                      </p:to>
                                    </p:set>
                                  </p:childTnLst>
                                </p:cTn>
                              </p:par>
                              <p:par>
                                <p:cTn id="373" presetID="10" presetClass="entr" presetSubtype="0" fill="hold" grpId="0" nodeType="withEffect">
                                  <p:stCondLst>
                                    <p:cond delay="0"/>
                                  </p:stCondLst>
                                  <p:childTnLst>
                                    <p:set>
                                      <p:cBhvr>
                                        <p:cTn id="374" dur="1" fill="hold">
                                          <p:stCondLst>
                                            <p:cond delay="0"/>
                                          </p:stCondLst>
                                        </p:cTn>
                                        <p:tgtEl>
                                          <p:spTgt spid="186"/>
                                        </p:tgtEl>
                                        <p:attrNameLst>
                                          <p:attrName>style.visibility</p:attrName>
                                        </p:attrNameLst>
                                      </p:cBhvr>
                                      <p:to>
                                        <p:strVal val="visible"/>
                                      </p:to>
                                    </p:set>
                                    <p:animEffect transition="in" filter="fade">
                                      <p:cBhvr>
                                        <p:cTn id="375" dur="250"/>
                                        <p:tgtEl>
                                          <p:spTgt spid="186"/>
                                        </p:tgtEl>
                                      </p:cBhvr>
                                    </p:animEffect>
                                  </p:childTnLst>
                                </p:cTn>
                              </p:par>
                              <p:par>
                                <p:cTn id="376" presetID="10" presetClass="exit" presetSubtype="0" fill="hold" grpId="1" nodeType="withEffect">
                                  <p:stCondLst>
                                    <p:cond delay="0"/>
                                  </p:stCondLst>
                                  <p:childTnLst>
                                    <p:animEffect transition="out" filter="fade">
                                      <p:cBhvr>
                                        <p:cTn id="377" dur="250"/>
                                        <p:tgtEl>
                                          <p:spTgt spid="7"/>
                                        </p:tgtEl>
                                      </p:cBhvr>
                                    </p:animEffect>
                                    <p:set>
                                      <p:cBhvr>
                                        <p:cTn id="378" dur="1" fill="hold">
                                          <p:stCondLst>
                                            <p:cond delay="249"/>
                                          </p:stCondLst>
                                        </p:cTn>
                                        <p:tgtEl>
                                          <p:spTgt spid="7"/>
                                        </p:tgtEl>
                                        <p:attrNameLst>
                                          <p:attrName>style.visibility</p:attrName>
                                        </p:attrNameLst>
                                      </p:cBhvr>
                                      <p:to>
                                        <p:strVal val="hidden"/>
                                      </p:to>
                                    </p:set>
                                  </p:childTnLst>
                                </p:cTn>
                              </p:par>
                              <p:par>
                                <p:cTn id="379" presetID="10" presetClass="exit" presetSubtype="0" fill="hold" grpId="1" nodeType="withEffect">
                                  <p:stCondLst>
                                    <p:cond delay="0"/>
                                  </p:stCondLst>
                                  <p:childTnLst>
                                    <p:animEffect transition="out" filter="fade">
                                      <p:cBhvr>
                                        <p:cTn id="380" dur="250"/>
                                        <p:tgtEl>
                                          <p:spTgt spid="11"/>
                                        </p:tgtEl>
                                      </p:cBhvr>
                                    </p:animEffect>
                                    <p:set>
                                      <p:cBhvr>
                                        <p:cTn id="381" dur="1" fill="hold">
                                          <p:stCondLst>
                                            <p:cond delay="249"/>
                                          </p:stCondLst>
                                        </p:cTn>
                                        <p:tgtEl>
                                          <p:spTgt spid="11"/>
                                        </p:tgtEl>
                                        <p:attrNameLst>
                                          <p:attrName>style.visibility</p:attrName>
                                        </p:attrNameLst>
                                      </p:cBhvr>
                                      <p:to>
                                        <p:strVal val="hidden"/>
                                      </p:to>
                                    </p:set>
                                  </p:childTnLst>
                                </p:cTn>
                              </p:par>
                              <p:par>
                                <p:cTn id="382" presetID="10" presetClass="entr" presetSubtype="0" fill="hold" grpId="0" nodeType="withEffect">
                                  <p:stCondLst>
                                    <p:cond delay="0"/>
                                  </p:stCondLst>
                                  <p:childTnLst>
                                    <p:set>
                                      <p:cBhvr>
                                        <p:cTn id="383" dur="1" fill="hold">
                                          <p:stCondLst>
                                            <p:cond delay="0"/>
                                          </p:stCondLst>
                                        </p:cTn>
                                        <p:tgtEl>
                                          <p:spTgt spid="203"/>
                                        </p:tgtEl>
                                        <p:attrNameLst>
                                          <p:attrName>style.visibility</p:attrName>
                                        </p:attrNameLst>
                                      </p:cBhvr>
                                      <p:to>
                                        <p:strVal val="visible"/>
                                      </p:to>
                                    </p:set>
                                    <p:animEffect transition="in" filter="fade">
                                      <p:cBhvr>
                                        <p:cTn id="384" dur="250"/>
                                        <p:tgtEl>
                                          <p:spTgt spid="203"/>
                                        </p:tgtEl>
                                      </p:cBhvr>
                                    </p:animEffect>
                                  </p:childTnLst>
                                </p:cTn>
                              </p:par>
                            </p:childTnLst>
                          </p:cTn>
                        </p:par>
                        <p:par>
                          <p:cTn id="385" fill="hold">
                            <p:stCondLst>
                              <p:cond delay="300"/>
                            </p:stCondLst>
                            <p:childTnLst>
                              <p:par>
                                <p:cTn id="386" presetID="10" presetClass="entr" presetSubtype="0" fill="hold" grpId="0" nodeType="afterEffect">
                                  <p:stCondLst>
                                    <p:cond delay="0"/>
                                  </p:stCondLst>
                                  <p:childTnLst>
                                    <p:set>
                                      <p:cBhvr>
                                        <p:cTn id="387" dur="1" fill="hold">
                                          <p:stCondLst>
                                            <p:cond delay="0"/>
                                          </p:stCondLst>
                                        </p:cTn>
                                        <p:tgtEl>
                                          <p:spTgt spid="187"/>
                                        </p:tgtEl>
                                        <p:attrNameLst>
                                          <p:attrName>style.visibility</p:attrName>
                                        </p:attrNameLst>
                                      </p:cBhvr>
                                      <p:to>
                                        <p:strVal val="visible"/>
                                      </p:to>
                                    </p:set>
                                    <p:animEffect transition="in" filter="fade">
                                      <p:cBhvr>
                                        <p:cTn id="388" dur="250"/>
                                        <p:tgtEl>
                                          <p:spTgt spid="187"/>
                                        </p:tgtEl>
                                      </p:cBhvr>
                                    </p:animEffect>
                                  </p:childTnLst>
                                </p:cTn>
                              </p:par>
                              <p:par>
                                <p:cTn id="389" presetID="10" presetClass="entr" presetSubtype="0" fill="hold" grpId="0" nodeType="withEffect">
                                  <p:stCondLst>
                                    <p:cond delay="0"/>
                                  </p:stCondLst>
                                  <p:childTnLst>
                                    <p:set>
                                      <p:cBhvr>
                                        <p:cTn id="390" dur="1" fill="hold">
                                          <p:stCondLst>
                                            <p:cond delay="0"/>
                                          </p:stCondLst>
                                        </p:cTn>
                                        <p:tgtEl>
                                          <p:spTgt spid="188"/>
                                        </p:tgtEl>
                                        <p:attrNameLst>
                                          <p:attrName>style.visibility</p:attrName>
                                        </p:attrNameLst>
                                      </p:cBhvr>
                                      <p:to>
                                        <p:strVal val="visible"/>
                                      </p:to>
                                    </p:set>
                                    <p:animEffect transition="in" filter="fade">
                                      <p:cBhvr>
                                        <p:cTn id="391" dur="250"/>
                                        <p:tgtEl>
                                          <p:spTgt spid="188"/>
                                        </p:tgtEl>
                                      </p:cBhvr>
                                    </p:animEffect>
                                  </p:childTnLst>
                                </p:cTn>
                              </p:par>
                              <p:par>
                                <p:cTn id="392" presetID="10" presetClass="entr" presetSubtype="0" fill="hold" grpId="0" nodeType="withEffect">
                                  <p:stCondLst>
                                    <p:cond delay="0"/>
                                  </p:stCondLst>
                                  <p:childTnLst>
                                    <p:set>
                                      <p:cBhvr>
                                        <p:cTn id="393" dur="1" fill="hold">
                                          <p:stCondLst>
                                            <p:cond delay="0"/>
                                          </p:stCondLst>
                                        </p:cTn>
                                        <p:tgtEl>
                                          <p:spTgt spid="189"/>
                                        </p:tgtEl>
                                        <p:attrNameLst>
                                          <p:attrName>style.visibility</p:attrName>
                                        </p:attrNameLst>
                                      </p:cBhvr>
                                      <p:to>
                                        <p:strVal val="visible"/>
                                      </p:to>
                                    </p:set>
                                    <p:animEffect transition="in" filter="fade">
                                      <p:cBhvr>
                                        <p:cTn id="394" dur="250"/>
                                        <p:tgtEl>
                                          <p:spTgt spid="189"/>
                                        </p:tgtEl>
                                      </p:cBhvr>
                                    </p:animEffect>
                                  </p:childTnLst>
                                </p:cTn>
                              </p:par>
                              <p:par>
                                <p:cTn id="395" presetID="10" presetClass="entr" presetSubtype="0" fill="hold" grpId="0" nodeType="withEffect">
                                  <p:stCondLst>
                                    <p:cond delay="0"/>
                                  </p:stCondLst>
                                  <p:childTnLst>
                                    <p:set>
                                      <p:cBhvr>
                                        <p:cTn id="396" dur="1" fill="hold">
                                          <p:stCondLst>
                                            <p:cond delay="0"/>
                                          </p:stCondLst>
                                        </p:cTn>
                                        <p:tgtEl>
                                          <p:spTgt spid="190"/>
                                        </p:tgtEl>
                                        <p:attrNameLst>
                                          <p:attrName>style.visibility</p:attrName>
                                        </p:attrNameLst>
                                      </p:cBhvr>
                                      <p:to>
                                        <p:strVal val="visible"/>
                                      </p:to>
                                    </p:set>
                                    <p:animEffect transition="in" filter="fade">
                                      <p:cBhvr>
                                        <p:cTn id="397" dur="250"/>
                                        <p:tgtEl>
                                          <p:spTgt spid="190"/>
                                        </p:tgtEl>
                                      </p:cBhvr>
                                    </p:animEffect>
                                  </p:childTnLst>
                                </p:cTn>
                              </p:par>
                              <p:par>
                                <p:cTn id="398" presetID="10" presetClass="entr" presetSubtype="0" fill="hold" grpId="0" nodeType="withEffect">
                                  <p:stCondLst>
                                    <p:cond delay="0"/>
                                  </p:stCondLst>
                                  <p:childTnLst>
                                    <p:set>
                                      <p:cBhvr>
                                        <p:cTn id="399" dur="1" fill="hold">
                                          <p:stCondLst>
                                            <p:cond delay="0"/>
                                          </p:stCondLst>
                                        </p:cTn>
                                        <p:tgtEl>
                                          <p:spTgt spid="191"/>
                                        </p:tgtEl>
                                        <p:attrNameLst>
                                          <p:attrName>style.visibility</p:attrName>
                                        </p:attrNameLst>
                                      </p:cBhvr>
                                      <p:to>
                                        <p:strVal val="visible"/>
                                      </p:to>
                                    </p:set>
                                    <p:animEffect transition="in" filter="fade">
                                      <p:cBhvr>
                                        <p:cTn id="400" dur="250"/>
                                        <p:tgtEl>
                                          <p:spTgt spid="191"/>
                                        </p:tgtEl>
                                      </p:cBhvr>
                                    </p:animEffect>
                                  </p:childTnLst>
                                </p:cTn>
                              </p:par>
                              <p:par>
                                <p:cTn id="401" presetID="10" presetClass="entr" presetSubtype="0" fill="hold" grpId="0" nodeType="withEffect">
                                  <p:stCondLst>
                                    <p:cond delay="0"/>
                                  </p:stCondLst>
                                  <p:childTnLst>
                                    <p:set>
                                      <p:cBhvr>
                                        <p:cTn id="402" dur="1" fill="hold">
                                          <p:stCondLst>
                                            <p:cond delay="0"/>
                                          </p:stCondLst>
                                        </p:cTn>
                                        <p:tgtEl>
                                          <p:spTgt spid="192"/>
                                        </p:tgtEl>
                                        <p:attrNameLst>
                                          <p:attrName>style.visibility</p:attrName>
                                        </p:attrNameLst>
                                      </p:cBhvr>
                                      <p:to>
                                        <p:strVal val="visible"/>
                                      </p:to>
                                    </p:set>
                                    <p:animEffect transition="in" filter="fade">
                                      <p:cBhvr>
                                        <p:cTn id="403" dur="250"/>
                                        <p:tgtEl>
                                          <p:spTgt spid="192"/>
                                        </p:tgtEl>
                                      </p:cBhvr>
                                    </p:animEffect>
                                  </p:childTnLst>
                                </p:cTn>
                              </p:par>
                              <p:par>
                                <p:cTn id="404" presetID="10" presetClass="entr" presetSubtype="0" fill="hold" grpId="0" nodeType="withEffect">
                                  <p:stCondLst>
                                    <p:cond delay="0"/>
                                  </p:stCondLst>
                                  <p:childTnLst>
                                    <p:set>
                                      <p:cBhvr>
                                        <p:cTn id="405" dur="1" fill="hold">
                                          <p:stCondLst>
                                            <p:cond delay="0"/>
                                          </p:stCondLst>
                                        </p:cTn>
                                        <p:tgtEl>
                                          <p:spTgt spid="193"/>
                                        </p:tgtEl>
                                        <p:attrNameLst>
                                          <p:attrName>style.visibility</p:attrName>
                                        </p:attrNameLst>
                                      </p:cBhvr>
                                      <p:to>
                                        <p:strVal val="visible"/>
                                      </p:to>
                                    </p:set>
                                    <p:animEffect transition="in" filter="fade">
                                      <p:cBhvr>
                                        <p:cTn id="406" dur="250"/>
                                        <p:tgtEl>
                                          <p:spTgt spid="193"/>
                                        </p:tgtEl>
                                      </p:cBhvr>
                                    </p:animEffect>
                                  </p:childTnLst>
                                </p:cTn>
                              </p:par>
                              <p:par>
                                <p:cTn id="407" presetID="10" presetClass="entr" presetSubtype="0" fill="hold" grpId="0" nodeType="withEffect">
                                  <p:stCondLst>
                                    <p:cond delay="0"/>
                                  </p:stCondLst>
                                  <p:childTnLst>
                                    <p:set>
                                      <p:cBhvr>
                                        <p:cTn id="408" dur="1" fill="hold">
                                          <p:stCondLst>
                                            <p:cond delay="0"/>
                                          </p:stCondLst>
                                        </p:cTn>
                                        <p:tgtEl>
                                          <p:spTgt spid="194"/>
                                        </p:tgtEl>
                                        <p:attrNameLst>
                                          <p:attrName>style.visibility</p:attrName>
                                        </p:attrNameLst>
                                      </p:cBhvr>
                                      <p:to>
                                        <p:strVal val="visible"/>
                                      </p:to>
                                    </p:set>
                                    <p:animEffect transition="in" filter="fade">
                                      <p:cBhvr>
                                        <p:cTn id="409" dur="250"/>
                                        <p:tgtEl>
                                          <p:spTgt spid="194"/>
                                        </p:tgtEl>
                                      </p:cBhvr>
                                    </p:animEffect>
                                  </p:childTnLst>
                                </p:cTn>
                              </p:par>
                            </p:childTnLst>
                          </p:cTn>
                        </p:par>
                        <p:par>
                          <p:cTn id="410" fill="hold">
                            <p:stCondLst>
                              <p:cond delay="700"/>
                            </p:stCondLst>
                            <p:childTnLst>
                              <p:par>
                                <p:cTn id="411" presetID="10" presetClass="entr" presetSubtype="0" fill="hold" grpId="0" nodeType="afterEffect">
                                  <p:stCondLst>
                                    <p:cond delay="0"/>
                                  </p:stCondLst>
                                  <p:childTnLst>
                                    <p:set>
                                      <p:cBhvr>
                                        <p:cTn id="412" dur="1" fill="hold">
                                          <p:stCondLst>
                                            <p:cond delay="0"/>
                                          </p:stCondLst>
                                        </p:cTn>
                                        <p:tgtEl>
                                          <p:spTgt spid="195"/>
                                        </p:tgtEl>
                                        <p:attrNameLst>
                                          <p:attrName>style.visibility</p:attrName>
                                        </p:attrNameLst>
                                      </p:cBhvr>
                                      <p:to>
                                        <p:strVal val="visible"/>
                                      </p:to>
                                    </p:set>
                                    <p:animEffect transition="in" filter="fade">
                                      <p:cBhvr>
                                        <p:cTn id="413" dur="250"/>
                                        <p:tgtEl>
                                          <p:spTgt spid="195"/>
                                        </p:tgtEl>
                                      </p:cBhvr>
                                    </p:animEffect>
                                  </p:childTnLst>
                                </p:cTn>
                              </p:par>
                              <p:par>
                                <p:cTn id="414" presetID="10" presetClass="entr" presetSubtype="0" fill="hold" grpId="0" nodeType="withEffect">
                                  <p:stCondLst>
                                    <p:cond delay="0"/>
                                  </p:stCondLst>
                                  <p:childTnLst>
                                    <p:set>
                                      <p:cBhvr>
                                        <p:cTn id="415" dur="1" fill="hold">
                                          <p:stCondLst>
                                            <p:cond delay="0"/>
                                          </p:stCondLst>
                                        </p:cTn>
                                        <p:tgtEl>
                                          <p:spTgt spid="196"/>
                                        </p:tgtEl>
                                        <p:attrNameLst>
                                          <p:attrName>style.visibility</p:attrName>
                                        </p:attrNameLst>
                                      </p:cBhvr>
                                      <p:to>
                                        <p:strVal val="visible"/>
                                      </p:to>
                                    </p:set>
                                    <p:animEffect transition="in" filter="fade">
                                      <p:cBhvr>
                                        <p:cTn id="416" dur="250"/>
                                        <p:tgtEl>
                                          <p:spTgt spid="196"/>
                                        </p:tgtEl>
                                      </p:cBhvr>
                                    </p:animEffect>
                                  </p:childTnLst>
                                </p:cTn>
                              </p:par>
                              <p:par>
                                <p:cTn id="417" presetID="10" presetClass="entr" presetSubtype="0" fill="hold" grpId="0" nodeType="withEffect">
                                  <p:stCondLst>
                                    <p:cond delay="0"/>
                                  </p:stCondLst>
                                  <p:childTnLst>
                                    <p:set>
                                      <p:cBhvr>
                                        <p:cTn id="418" dur="1" fill="hold">
                                          <p:stCondLst>
                                            <p:cond delay="0"/>
                                          </p:stCondLst>
                                        </p:cTn>
                                        <p:tgtEl>
                                          <p:spTgt spid="197"/>
                                        </p:tgtEl>
                                        <p:attrNameLst>
                                          <p:attrName>style.visibility</p:attrName>
                                        </p:attrNameLst>
                                      </p:cBhvr>
                                      <p:to>
                                        <p:strVal val="visible"/>
                                      </p:to>
                                    </p:set>
                                    <p:animEffect transition="in" filter="fade">
                                      <p:cBhvr>
                                        <p:cTn id="419" dur="250"/>
                                        <p:tgtEl>
                                          <p:spTgt spid="197"/>
                                        </p:tgtEl>
                                      </p:cBhvr>
                                    </p:animEffect>
                                  </p:childTnLst>
                                </p:cTn>
                              </p:par>
                              <p:par>
                                <p:cTn id="420" presetID="10" presetClass="entr" presetSubtype="0" fill="hold" grpId="0" nodeType="withEffect">
                                  <p:stCondLst>
                                    <p:cond delay="0"/>
                                  </p:stCondLst>
                                  <p:childTnLst>
                                    <p:set>
                                      <p:cBhvr>
                                        <p:cTn id="421" dur="1" fill="hold">
                                          <p:stCondLst>
                                            <p:cond delay="0"/>
                                          </p:stCondLst>
                                        </p:cTn>
                                        <p:tgtEl>
                                          <p:spTgt spid="198"/>
                                        </p:tgtEl>
                                        <p:attrNameLst>
                                          <p:attrName>style.visibility</p:attrName>
                                        </p:attrNameLst>
                                      </p:cBhvr>
                                      <p:to>
                                        <p:strVal val="visible"/>
                                      </p:to>
                                    </p:set>
                                    <p:animEffect transition="in" filter="fade">
                                      <p:cBhvr>
                                        <p:cTn id="422" dur="250"/>
                                        <p:tgtEl>
                                          <p:spTgt spid="198"/>
                                        </p:tgtEl>
                                      </p:cBhvr>
                                    </p:animEffect>
                                  </p:childTnLst>
                                </p:cTn>
                              </p:par>
                              <p:par>
                                <p:cTn id="423" presetID="10" presetClass="entr" presetSubtype="0" fill="hold" grpId="0" nodeType="withEffect">
                                  <p:stCondLst>
                                    <p:cond delay="0"/>
                                  </p:stCondLst>
                                  <p:childTnLst>
                                    <p:set>
                                      <p:cBhvr>
                                        <p:cTn id="424" dur="1" fill="hold">
                                          <p:stCondLst>
                                            <p:cond delay="0"/>
                                          </p:stCondLst>
                                        </p:cTn>
                                        <p:tgtEl>
                                          <p:spTgt spid="199"/>
                                        </p:tgtEl>
                                        <p:attrNameLst>
                                          <p:attrName>style.visibility</p:attrName>
                                        </p:attrNameLst>
                                      </p:cBhvr>
                                      <p:to>
                                        <p:strVal val="visible"/>
                                      </p:to>
                                    </p:set>
                                    <p:animEffect transition="in" filter="fade">
                                      <p:cBhvr>
                                        <p:cTn id="425" dur="250"/>
                                        <p:tgtEl>
                                          <p:spTgt spid="199"/>
                                        </p:tgtEl>
                                      </p:cBhvr>
                                    </p:animEffect>
                                  </p:childTnLst>
                                </p:cTn>
                              </p:par>
                              <p:par>
                                <p:cTn id="426" presetID="10" presetClass="entr" presetSubtype="0" fill="hold" grpId="0" nodeType="withEffect">
                                  <p:stCondLst>
                                    <p:cond delay="0"/>
                                  </p:stCondLst>
                                  <p:childTnLst>
                                    <p:set>
                                      <p:cBhvr>
                                        <p:cTn id="427" dur="1" fill="hold">
                                          <p:stCondLst>
                                            <p:cond delay="0"/>
                                          </p:stCondLst>
                                        </p:cTn>
                                        <p:tgtEl>
                                          <p:spTgt spid="200"/>
                                        </p:tgtEl>
                                        <p:attrNameLst>
                                          <p:attrName>style.visibility</p:attrName>
                                        </p:attrNameLst>
                                      </p:cBhvr>
                                      <p:to>
                                        <p:strVal val="visible"/>
                                      </p:to>
                                    </p:set>
                                    <p:animEffect transition="in" filter="fade">
                                      <p:cBhvr>
                                        <p:cTn id="428" dur="250"/>
                                        <p:tgtEl>
                                          <p:spTgt spid="200"/>
                                        </p:tgtEl>
                                      </p:cBhvr>
                                    </p:animEffect>
                                  </p:childTnLst>
                                </p:cTn>
                              </p:par>
                              <p:par>
                                <p:cTn id="429" presetID="10" presetClass="entr" presetSubtype="0" fill="hold" grpId="0" nodeType="withEffect">
                                  <p:stCondLst>
                                    <p:cond delay="0"/>
                                  </p:stCondLst>
                                  <p:childTnLst>
                                    <p:set>
                                      <p:cBhvr>
                                        <p:cTn id="430" dur="1" fill="hold">
                                          <p:stCondLst>
                                            <p:cond delay="0"/>
                                          </p:stCondLst>
                                        </p:cTn>
                                        <p:tgtEl>
                                          <p:spTgt spid="201"/>
                                        </p:tgtEl>
                                        <p:attrNameLst>
                                          <p:attrName>style.visibility</p:attrName>
                                        </p:attrNameLst>
                                      </p:cBhvr>
                                      <p:to>
                                        <p:strVal val="visible"/>
                                      </p:to>
                                    </p:set>
                                    <p:animEffect transition="in" filter="fade">
                                      <p:cBhvr>
                                        <p:cTn id="431" dur="250"/>
                                        <p:tgtEl>
                                          <p:spTgt spid="201"/>
                                        </p:tgtEl>
                                      </p:cBhvr>
                                    </p:animEffect>
                                  </p:childTnLst>
                                </p:cTn>
                              </p:par>
                              <p:par>
                                <p:cTn id="432" presetID="10" presetClass="entr" presetSubtype="0" fill="hold" grpId="0" nodeType="withEffect">
                                  <p:stCondLst>
                                    <p:cond delay="0"/>
                                  </p:stCondLst>
                                  <p:childTnLst>
                                    <p:set>
                                      <p:cBhvr>
                                        <p:cTn id="433" dur="1" fill="hold">
                                          <p:stCondLst>
                                            <p:cond delay="0"/>
                                          </p:stCondLst>
                                        </p:cTn>
                                        <p:tgtEl>
                                          <p:spTgt spid="202"/>
                                        </p:tgtEl>
                                        <p:attrNameLst>
                                          <p:attrName>style.visibility</p:attrName>
                                        </p:attrNameLst>
                                      </p:cBhvr>
                                      <p:to>
                                        <p:strVal val="visible"/>
                                      </p:to>
                                    </p:set>
                                    <p:animEffect transition="in" filter="fade">
                                      <p:cBhvr>
                                        <p:cTn id="434" dur="250"/>
                                        <p:tgtEl>
                                          <p:spTgt spid="202"/>
                                        </p:tgtEl>
                                      </p:cBhvr>
                                    </p:animEffect>
                                  </p:childTnLst>
                                </p:cTn>
                              </p:par>
                            </p:childTnLst>
                          </p:cTn>
                        </p:par>
                      </p:childTnLst>
                    </p:cTn>
                  </p:par>
                  <p:par>
                    <p:cTn id="435" fill="hold">
                      <p:stCondLst>
                        <p:cond delay="indefinite"/>
                      </p:stCondLst>
                      <p:childTnLst>
                        <p:par>
                          <p:cTn id="436" fill="hold">
                            <p:stCondLst>
                              <p:cond delay="0"/>
                            </p:stCondLst>
                            <p:childTnLst>
                              <p:par>
                                <p:cTn id="437" presetID="10" presetClass="exit" presetSubtype="0" fill="hold" grpId="1" nodeType="clickEffect">
                                  <p:stCondLst>
                                    <p:cond delay="0"/>
                                  </p:stCondLst>
                                  <p:childTnLst>
                                    <p:animEffect transition="out" filter="fade">
                                      <p:cBhvr>
                                        <p:cTn id="438" dur="250"/>
                                        <p:tgtEl>
                                          <p:spTgt spid="186"/>
                                        </p:tgtEl>
                                      </p:cBhvr>
                                    </p:animEffect>
                                    <p:set>
                                      <p:cBhvr>
                                        <p:cTn id="439" dur="1" fill="hold">
                                          <p:stCondLst>
                                            <p:cond delay="249"/>
                                          </p:stCondLst>
                                        </p:cTn>
                                        <p:tgtEl>
                                          <p:spTgt spid="186"/>
                                        </p:tgtEl>
                                        <p:attrNameLst>
                                          <p:attrName>style.visibility</p:attrName>
                                        </p:attrNameLst>
                                      </p:cBhvr>
                                      <p:to>
                                        <p:strVal val="hidden"/>
                                      </p:to>
                                    </p:set>
                                  </p:childTnLst>
                                </p:cTn>
                              </p:par>
                              <p:par>
                                <p:cTn id="440" presetID="10" presetClass="exit" presetSubtype="0" fill="hold" grpId="1" nodeType="withEffect">
                                  <p:stCondLst>
                                    <p:cond delay="0"/>
                                  </p:stCondLst>
                                  <p:childTnLst>
                                    <p:animEffect transition="out" filter="fade">
                                      <p:cBhvr>
                                        <p:cTn id="441" dur="250"/>
                                        <p:tgtEl>
                                          <p:spTgt spid="187"/>
                                        </p:tgtEl>
                                      </p:cBhvr>
                                    </p:animEffect>
                                    <p:set>
                                      <p:cBhvr>
                                        <p:cTn id="442" dur="1" fill="hold">
                                          <p:stCondLst>
                                            <p:cond delay="249"/>
                                          </p:stCondLst>
                                        </p:cTn>
                                        <p:tgtEl>
                                          <p:spTgt spid="187"/>
                                        </p:tgtEl>
                                        <p:attrNameLst>
                                          <p:attrName>style.visibility</p:attrName>
                                        </p:attrNameLst>
                                      </p:cBhvr>
                                      <p:to>
                                        <p:strVal val="hidden"/>
                                      </p:to>
                                    </p:set>
                                  </p:childTnLst>
                                </p:cTn>
                              </p:par>
                              <p:par>
                                <p:cTn id="443" presetID="10" presetClass="exit" presetSubtype="0" fill="hold" grpId="1" nodeType="withEffect">
                                  <p:stCondLst>
                                    <p:cond delay="0"/>
                                  </p:stCondLst>
                                  <p:childTnLst>
                                    <p:animEffect transition="out" filter="fade">
                                      <p:cBhvr>
                                        <p:cTn id="444" dur="250"/>
                                        <p:tgtEl>
                                          <p:spTgt spid="188"/>
                                        </p:tgtEl>
                                      </p:cBhvr>
                                    </p:animEffect>
                                    <p:set>
                                      <p:cBhvr>
                                        <p:cTn id="445" dur="1" fill="hold">
                                          <p:stCondLst>
                                            <p:cond delay="249"/>
                                          </p:stCondLst>
                                        </p:cTn>
                                        <p:tgtEl>
                                          <p:spTgt spid="188"/>
                                        </p:tgtEl>
                                        <p:attrNameLst>
                                          <p:attrName>style.visibility</p:attrName>
                                        </p:attrNameLst>
                                      </p:cBhvr>
                                      <p:to>
                                        <p:strVal val="hidden"/>
                                      </p:to>
                                    </p:set>
                                  </p:childTnLst>
                                </p:cTn>
                              </p:par>
                              <p:par>
                                <p:cTn id="446" presetID="10" presetClass="exit" presetSubtype="0" fill="hold" grpId="1" nodeType="withEffect">
                                  <p:stCondLst>
                                    <p:cond delay="0"/>
                                  </p:stCondLst>
                                  <p:childTnLst>
                                    <p:animEffect transition="out" filter="fade">
                                      <p:cBhvr>
                                        <p:cTn id="447" dur="250"/>
                                        <p:tgtEl>
                                          <p:spTgt spid="189"/>
                                        </p:tgtEl>
                                      </p:cBhvr>
                                    </p:animEffect>
                                    <p:set>
                                      <p:cBhvr>
                                        <p:cTn id="448" dur="1" fill="hold">
                                          <p:stCondLst>
                                            <p:cond delay="249"/>
                                          </p:stCondLst>
                                        </p:cTn>
                                        <p:tgtEl>
                                          <p:spTgt spid="189"/>
                                        </p:tgtEl>
                                        <p:attrNameLst>
                                          <p:attrName>style.visibility</p:attrName>
                                        </p:attrNameLst>
                                      </p:cBhvr>
                                      <p:to>
                                        <p:strVal val="hidden"/>
                                      </p:to>
                                    </p:set>
                                  </p:childTnLst>
                                </p:cTn>
                              </p:par>
                              <p:par>
                                <p:cTn id="449" presetID="10" presetClass="exit" presetSubtype="0" fill="hold" grpId="1" nodeType="withEffect">
                                  <p:stCondLst>
                                    <p:cond delay="0"/>
                                  </p:stCondLst>
                                  <p:childTnLst>
                                    <p:animEffect transition="out" filter="fade">
                                      <p:cBhvr>
                                        <p:cTn id="450" dur="250"/>
                                        <p:tgtEl>
                                          <p:spTgt spid="190"/>
                                        </p:tgtEl>
                                      </p:cBhvr>
                                    </p:animEffect>
                                    <p:set>
                                      <p:cBhvr>
                                        <p:cTn id="451" dur="1" fill="hold">
                                          <p:stCondLst>
                                            <p:cond delay="249"/>
                                          </p:stCondLst>
                                        </p:cTn>
                                        <p:tgtEl>
                                          <p:spTgt spid="190"/>
                                        </p:tgtEl>
                                        <p:attrNameLst>
                                          <p:attrName>style.visibility</p:attrName>
                                        </p:attrNameLst>
                                      </p:cBhvr>
                                      <p:to>
                                        <p:strVal val="hidden"/>
                                      </p:to>
                                    </p:set>
                                  </p:childTnLst>
                                </p:cTn>
                              </p:par>
                              <p:par>
                                <p:cTn id="452" presetID="10" presetClass="exit" presetSubtype="0" fill="hold" grpId="1" nodeType="withEffect">
                                  <p:stCondLst>
                                    <p:cond delay="0"/>
                                  </p:stCondLst>
                                  <p:childTnLst>
                                    <p:animEffect transition="out" filter="fade">
                                      <p:cBhvr>
                                        <p:cTn id="453" dur="250"/>
                                        <p:tgtEl>
                                          <p:spTgt spid="191"/>
                                        </p:tgtEl>
                                      </p:cBhvr>
                                    </p:animEffect>
                                    <p:set>
                                      <p:cBhvr>
                                        <p:cTn id="454" dur="1" fill="hold">
                                          <p:stCondLst>
                                            <p:cond delay="249"/>
                                          </p:stCondLst>
                                        </p:cTn>
                                        <p:tgtEl>
                                          <p:spTgt spid="191"/>
                                        </p:tgtEl>
                                        <p:attrNameLst>
                                          <p:attrName>style.visibility</p:attrName>
                                        </p:attrNameLst>
                                      </p:cBhvr>
                                      <p:to>
                                        <p:strVal val="hidden"/>
                                      </p:to>
                                    </p:set>
                                  </p:childTnLst>
                                </p:cTn>
                              </p:par>
                              <p:par>
                                <p:cTn id="455" presetID="10" presetClass="exit" presetSubtype="0" fill="hold" grpId="1" nodeType="withEffect">
                                  <p:stCondLst>
                                    <p:cond delay="0"/>
                                  </p:stCondLst>
                                  <p:childTnLst>
                                    <p:animEffect transition="out" filter="fade">
                                      <p:cBhvr>
                                        <p:cTn id="456" dur="250"/>
                                        <p:tgtEl>
                                          <p:spTgt spid="192"/>
                                        </p:tgtEl>
                                      </p:cBhvr>
                                    </p:animEffect>
                                    <p:set>
                                      <p:cBhvr>
                                        <p:cTn id="457" dur="1" fill="hold">
                                          <p:stCondLst>
                                            <p:cond delay="249"/>
                                          </p:stCondLst>
                                        </p:cTn>
                                        <p:tgtEl>
                                          <p:spTgt spid="192"/>
                                        </p:tgtEl>
                                        <p:attrNameLst>
                                          <p:attrName>style.visibility</p:attrName>
                                        </p:attrNameLst>
                                      </p:cBhvr>
                                      <p:to>
                                        <p:strVal val="hidden"/>
                                      </p:to>
                                    </p:set>
                                  </p:childTnLst>
                                </p:cTn>
                              </p:par>
                              <p:par>
                                <p:cTn id="458" presetID="10" presetClass="exit" presetSubtype="0" fill="hold" grpId="1" nodeType="withEffect">
                                  <p:stCondLst>
                                    <p:cond delay="0"/>
                                  </p:stCondLst>
                                  <p:childTnLst>
                                    <p:animEffect transition="out" filter="fade">
                                      <p:cBhvr>
                                        <p:cTn id="459" dur="250"/>
                                        <p:tgtEl>
                                          <p:spTgt spid="193"/>
                                        </p:tgtEl>
                                      </p:cBhvr>
                                    </p:animEffect>
                                    <p:set>
                                      <p:cBhvr>
                                        <p:cTn id="460" dur="1" fill="hold">
                                          <p:stCondLst>
                                            <p:cond delay="249"/>
                                          </p:stCondLst>
                                        </p:cTn>
                                        <p:tgtEl>
                                          <p:spTgt spid="193"/>
                                        </p:tgtEl>
                                        <p:attrNameLst>
                                          <p:attrName>style.visibility</p:attrName>
                                        </p:attrNameLst>
                                      </p:cBhvr>
                                      <p:to>
                                        <p:strVal val="hidden"/>
                                      </p:to>
                                    </p:set>
                                  </p:childTnLst>
                                </p:cTn>
                              </p:par>
                              <p:par>
                                <p:cTn id="461" presetID="10" presetClass="exit" presetSubtype="0" fill="hold" grpId="1" nodeType="withEffect">
                                  <p:stCondLst>
                                    <p:cond delay="0"/>
                                  </p:stCondLst>
                                  <p:childTnLst>
                                    <p:animEffect transition="out" filter="fade">
                                      <p:cBhvr>
                                        <p:cTn id="462" dur="250"/>
                                        <p:tgtEl>
                                          <p:spTgt spid="194"/>
                                        </p:tgtEl>
                                      </p:cBhvr>
                                    </p:animEffect>
                                    <p:set>
                                      <p:cBhvr>
                                        <p:cTn id="463" dur="1" fill="hold">
                                          <p:stCondLst>
                                            <p:cond delay="249"/>
                                          </p:stCondLst>
                                        </p:cTn>
                                        <p:tgtEl>
                                          <p:spTgt spid="194"/>
                                        </p:tgtEl>
                                        <p:attrNameLst>
                                          <p:attrName>style.visibility</p:attrName>
                                        </p:attrNameLst>
                                      </p:cBhvr>
                                      <p:to>
                                        <p:strVal val="hidden"/>
                                      </p:to>
                                    </p:set>
                                  </p:childTnLst>
                                </p:cTn>
                              </p:par>
                              <p:par>
                                <p:cTn id="464" presetID="10" presetClass="entr" presetSubtype="0" fill="hold" grpId="0" nodeType="withEffect">
                                  <p:stCondLst>
                                    <p:cond delay="0"/>
                                  </p:stCondLst>
                                  <p:childTnLst>
                                    <p:set>
                                      <p:cBhvr>
                                        <p:cTn id="465" dur="1" fill="hold">
                                          <p:stCondLst>
                                            <p:cond delay="0"/>
                                          </p:stCondLst>
                                        </p:cTn>
                                        <p:tgtEl>
                                          <p:spTgt spid="204"/>
                                        </p:tgtEl>
                                        <p:attrNameLst>
                                          <p:attrName>style.visibility</p:attrName>
                                        </p:attrNameLst>
                                      </p:cBhvr>
                                      <p:to>
                                        <p:strVal val="visible"/>
                                      </p:to>
                                    </p:set>
                                    <p:animEffect transition="in" filter="fade">
                                      <p:cBhvr>
                                        <p:cTn id="466" dur="250"/>
                                        <p:tgtEl>
                                          <p:spTgt spid="204"/>
                                        </p:tgtEl>
                                      </p:cBhvr>
                                    </p:animEffect>
                                  </p:childTnLst>
                                </p:cTn>
                              </p:par>
                              <p:par>
                                <p:cTn id="467" presetID="10" presetClass="entr" presetSubtype="0" fill="hold" grpId="0" nodeType="withEffect">
                                  <p:stCondLst>
                                    <p:cond delay="0"/>
                                  </p:stCondLst>
                                  <p:childTnLst>
                                    <p:set>
                                      <p:cBhvr>
                                        <p:cTn id="468" dur="1" fill="hold">
                                          <p:stCondLst>
                                            <p:cond delay="0"/>
                                          </p:stCondLst>
                                        </p:cTn>
                                        <p:tgtEl>
                                          <p:spTgt spid="205"/>
                                        </p:tgtEl>
                                        <p:attrNameLst>
                                          <p:attrName>style.visibility</p:attrName>
                                        </p:attrNameLst>
                                      </p:cBhvr>
                                      <p:to>
                                        <p:strVal val="visible"/>
                                      </p:to>
                                    </p:set>
                                    <p:animEffect transition="in" filter="fade">
                                      <p:cBhvr>
                                        <p:cTn id="469" dur="250"/>
                                        <p:tgtEl>
                                          <p:spTgt spid="205"/>
                                        </p:tgtEl>
                                      </p:cBhvr>
                                    </p:animEffect>
                                  </p:childTnLst>
                                </p:cTn>
                              </p:par>
                              <p:par>
                                <p:cTn id="470" presetID="10" presetClass="entr" presetSubtype="0" fill="hold" grpId="0" nodeType="withEffect">
                                  <p:stCondLst>
                                    <p:cond delay="0"/>
                                  </p:stCondLst>
                                  <p:childTnLst>
                                    <p:set>
                                      <p:cBhvr>
                                        <p:cTn id="471" dur="1" fill="hold">
                                          <p:stCondLst>
                                            <p:cond delay="0"/>
                                          </p:stCondLst>
                                        </p:cTn>
                                        <p:tgtEl>
                                          <p:spTgt spid="206"/>
                                        </p:tgtEl>
                                        <p:attrNameLst>
                                          <p:attrName>style.visibility</p:attrName>
                                        </p:attrNameLst>
                                      </p:cBhvr>
                                      <p:to>
                                        <p:strVal val="visible"/>
                                      </p:to>
                                    </p:set>
                                    <p:animEffect transition="in" filter="fade">
                                      <p:cBhvr>
                                        <p:cTn id="472" dur="250"/>
                                        <p:tgtEl>
                                          <p:spTgt spid="206"/>
                                        </p:tgtEl>
                                      </p:cBhvr>
                                    </p:animEffect>
                                  </p:childTnLst>
                                </p:cTn>
                              </p:par>
                              <p:par>
                                <p:cTn id="473" presetID="10" presetClass="entr" presetSubtype="0" fill="hold" grpId="0" nodeType="withEffect">
                                  <p:stCondLst>
                                    <p:cond delay="0"/>
                                  </p:stCondLst>
                                  <p:childTnLst>
                                    <p:set>
                                      <p:cBhvr>
                                        <p:cTn id="474" dur="1" fill="hold">
                                          <p:stCondLst>
                                            <p:cond delay="0"/>
                                          </p:stCondLst>
                                        </p:cTn>
                                        <p:tgtEl>
                                          <p:spTgt spid="216"/>
                                        </p:tgtEl>
                                        <p:attrNameLst>
                                          <p:attrName>style.visibility</p:attrName>
                                        </p:attrNameLst>
                                      </p:cBhvr>
                                      <p:to>
                                        <p:strVal val="visible"/>
                                      </p:to>
                                    </p:set>
                                    <p:animEffect transition="in" filter="fade">
                                      <p:cBhvr>
                                        <p:cTn id="475" dur="250"/>
                                        <p:tgtEl>
                                          <p:spTgt spid="216"/>
                                        </p:tgtEl>
                                      </p:cBhvr>
                                    </p:animEffect>
                                  </p:childTnLst>
                                </p:cTn>
                              </p:par>
                            </p:childTnLst>
                          </p:cTn>
                        </p:par>
                        <p:par>
                          <p:cTn id="476" fill="hold">
                            <p:stCondLst>
                              <p:cond delay="300"/>
                            </p:stCondLst>
                            <p:childTnLst>
                              <p:par>
                                <p:cTn id="477" presetID="10" presetClass="entr" presetSubtype="0" fill="hold" grpId="0" nodeType="afterEffect">
                                  <p:stCondLst>
                                    <p:cond delay="0"/>
                                  </p:stCondLst>
                                  <p:childTnLst>
                                    <p:set>
                                      <p:cBhvr>
                                        <p:cTn id="478" dur="1" fill="hold">
                                          <p:stCondLst>
                                            <p:cond delay="0"/>
                                          </p:stCondLst>
                                        </p:cTn>
                                        <p:tgtEl>
                                          <p:spTgt spid="207"/>
                                        </p:tgtEl>
                                        <p:attrNameLst>
                                          <p:attrName>style.visibility</p:attrName>
                                        </p:attrNameLst>
                                      </p:cBhvr>
                                      <p:to>
                                        <p:strVal val="visible"/>
                                      </p:to>
                                    </p:set>
                                    <p:animEffect transition="in" filter="fade">
                                      <p:cBhvr>
                                        <p:cTn id="479" dur="250"/>
                                        <p:tgtEl>
                                          <p:spTgt spid="207"/>
                                        </p:tgtEl>
                                      </p:cBhvr>
                                    </p:animEffect>
                                  </p:childTnLst>
                                </p:cTn>
                              </p:par>
                              <p:par>
                                <p:cTn id="480" presetID="10" presetClass="entr" presetSubtype="0" fill="hold" grpId="0" nodeType="withEffect">
                                  <p:stCondLst>
                                    <p:cond delay="0"/>
                                  </p:stCondLst>
                                  <p:childTnLst>
                                    <p:set>
                                      <p:cBhvr>
                                        <p:cTn id="481" dur="1" fill="hold">
                                          <p:stCondLst>
                                            <p:cond delay="0"/>
                                          </p:stCondLst>
                                        </p:cTn>
                                        <p:tgtEl>
                                          <p:spTgt spid="210"/>
                                        </p:tgtEl>
                                        <p:attrNameLst>
                                          <p:attrName>style.visibility</p:attrName>
                                        </p:attrNameLst>
                                      </p:cBhvr>
                                      <p:to>
                                        <p:strVal val="visible"/>
                                      </p:to>
                                    </p:set>
                                    <p:animEffect transition="in" filter="fade">
                                      <p:cBhvr>
                                        <p:cTn id="482" dur="250"/>
                                        <p:tgtEl>
                                          <p:spTgt spid="210"/>
                                        </p:tgtEl>
                                      </p:cBhvr>
                                    </p:animEffect>
                                  </p:childTnLst>
                                </p:cTn>
                              </p:par>
                            </p:childTnLst>
                          </p:cTn>
                        </p:par>
                        <p:par>
                          <p:cTn id="483" fill="hold">
                            <p:stCondLst>
                              <p:cond delay="650"/>
                            </p:stCondLst>
                            <p:childTnLst>
                              <p:par>
                                <p:cTn id="484" presetID="10" presetClass="entr" presetSubtype="0" fill="hold" grpId="0" nodeType="afterEffect">
                                  <p:stCondLst>
                                    <p:cond delay="0"/>
                                  </p:stCondLst>
                                  <p:childTnLst>
                                    <p:set>
                                      <p:cBhvr>
                                        <p:cTn id="485" dur="1" fill="hold">
                                          <p:stCondLst>
                                            <p:cond delay="0"/>
                                          </p:stCondLst>
                                        </p:cTn>
                                        <p:tgtEl>
                                          <p:spTgt spid="208"/>
                                        </p:tgtEl>
                                        <p:attrNameLst>
                                          <p:attrName>style.visibility</p:attrName>
                                        </p:attrNameLst>
                                      </p:cBhvr>
                                      <p:to>
                                        <p:strVal val="visible"/>
                                      </p:to>
                                    </p:set>
                                    <p:animEffect transition="in" filter="fade">
                                      <p:cBhvr>
                                        <p:cTn id="486" dur="250"/>
                                        <p:tgtEl>
                                          <p:spTgt spid="208"/>
                                        </p:tgtEl>
                                      </p:cBhvr>
                                    </p:animEffect>
                                  </p:childTnLst>
                                </p:cTn>
                              </p:par>
                            </p:childTnLst>
                          </p:cTn>
                        </p:par>
                        <p:par>
                          <p:cTn id="487" fill="hold">
                            <p:stCondLst>
                              <p:cond delay="1000"/>
                            </p:stCondLst>
                            <p:childTnLst>
                              <p:par>
                                <p:cTn id="488" presetID="10" presetClass="entr" presetSubtype="0" fill="hold" grpId="0" nodeType="afterEffect">
                                  <p:stCondLst>
                                    <p:cond delay="0"/>
                                  </p:stCondLst>
                                  <p:childTnLst>
                                    <p:set>
                                      <p:cBhvr>
                                        <p:cTn id="489" dur="1" fill="hold">
                                          <p:stCondLst>
                                            <p:cond delay="0"/>
                                          </p:stCondLst>
                                        </p:cTn>
                                        <p:tgtEl>
                                          <p:spTgt spid="209"/>
                                        </p:tgtEl>
                                        <p:attrNameLst>
                                          <p:attrName>style.visibility</p:attrName>
                                        </p:attrNameLst>
                                      </p:cBhvr>
                                      <p:to>
                                        <p:strVal val="visible"/>
                                      </p:to>
                                    </p:set>
                                    <p:animEffect transition="in" filter="fade">
                                      <p:cBhvr>
                                        <p:cTn id="490" dur="250"/>
                                        <p:tgtEl>
                                          <p:spTgt spid="209"/>
                                        </p:tgtEl>
                                      </p:cBhvr>
                                    </p:animEffect>
                                  </p:childTnLst>
                                </p:cTn>
                              </p:par>
                            </p:childTnLst>
                          </p:cTn>
                        </p:par>
                        <p:par>
                          <p:cTn id="491" fill="hold">
                            <p:stCondLst>
                              <p:cond delay="1400"/>
                            </p:stCondLst>
                            <p:childTnLst>
                              <p:par>
                                <p:cTn id="492" presetID="10" presetClass="entr" presetSubtype="0" fill="hold" grpId="0" nodeType="afterEffect">
                                  <p:stCondLst>
                                    <p:cond delay="0"/>
                                  </p:stCondLst>
                                  <p:childTnLst>
                                    <p:set>
                                      <p:cBhvr>
                                        <p:cTn id="493" dur="1" fill="hold">
                                          <p:stCondLst>
                                            <p:cond delay="0"/>
                                          </p:stCondLst>
                                        </p:cTn>
                                        <p:tgtEl>
                                          <p:spTgt spid="211"/>
                                        </p:tgtEl>
                                        <p:attrNameLst>
                                          <p:attrName>style.visibility</p:attrName>
                                        </p:attrNameLst>
                                      </p:cBhvr>
                                      <p:to>
                                        <p:strVal val="visible"/>
                                      </p:to>
                                    </p:set>
                                    <p:animEffect transition="in" filter="fade">
                                      <p:cBhvr>
                                        <p:cTn id="494" dur="250"/>
                                        <p:tgtEl>
                                          <p:spTgt spid="211"/>
                                        </p:tgtEl>
                                      </p:cBhvr>
                                    </p:animEffect>
                                  </p:childTnLst>
                                </p:cTn>
                              </p:par>
                              <p:par>
                                <p:cTn id="495" presetID="10" presetClass="entr" presetSubtype="0" fill="hold" grpId="0" nodeType="withEffect">
                                  <p:stCondLst>
                                    <p:cond delay="0"/>
                                  </p:stCondLst>
                                  <p:childTnLst>
                                    <p:set>
                                      <p:cBhvr>
                                        <p:cTn id="496" dur="1" fill="hold">
                                          <p:stCondLst>
                                            <p:cond delay="0"/>
                                          </p:stCondLst>
                                        </p:cTn>
                                        <p:tgtEl>
                                          <p:spTgt spid="212"/>
                                        </p:tgtEl>
                                        <p:attrNameLst>
                                          <p:attrName>style.visibility</p:attrName>
                                        </p:attrNameLst>
                                      </p:cBhvr>
                                      <p:to>
                                        <p:strVal val="visible"/>
                                      </p:to>
                                    </p:set>
                                    <p:animEffect transition="in" filter="fade">
                                      <p:cBhvr>
                                        <p:cTn id="497" dur="250"/>
                                        <p:tgtEl>
                                          <p:spTgt spid="212"/>
                                        </p:tgtEl>
                                      </p:cBhvr>
                                    </p:animEffect>
                                  </p:childTnLst>
                                </p:cTn>
                              </p:par>
                              <p:par>
                                <p:cTn id="498" presetID="10" presetClass="entr" presetSubtype="0" fill="hold" grpId="0" nodeType="withEffect">
                                  <p:stCondLst>
                                    <p:cond delay="0"/>
                                  </p:stCondLst>
                                  <p:childTnLst>
                                    <p:set>
                                      <p:cBhvr>
                                        <p:cTn id="499" dur="1" fill="hold">
                                          <p:stCondLst>
                                            <p:cond delay="0"/>
                                          </p:stCondLst>
                                        </p:cTn>
                                        <p:tgtEl>
                                          <p:spTgt spid="213"/>
                                        </p:tgtEl>
                                        <p:attrNameLst>
                                          <p:attrName>style.visibility</p:attrName>
                                        </p:attrNameLst>
                                      </p:cBhvr>
                                      <p:to>
                                        <p:strVal val="visible"/>
                                      </p:to>
                                    </p:set>
                                    <p:animEffect transition="in" filter="fade">
                                      <p:cBhvr>
                                        <p:cTn id="500" dur="250"/>
                                        <p:tgtEl>
                                          <p:spTgt spid="213"/>
                                        </p:tgtEl>
                                      </p:cBhvr>
                                    </p:animEffect>
                                  </p:childTnLst>
                                </p:cTn>
                              </p:par>
                              <p:par>
                                <p:cTn id="501" presetID="10" presetClass="entr" presetSubtype="0" fill="hold" grpId="0" nodeType="withEffect">
                                  <p:stCondLst>
                                    <p:cond delay="0"/>
                                  </p:stCondLst>
                                  <p:childTnLst>
                                    <p:set>
                                      <p:cBhvr>
                                        <p:cTn id="502" dur="1" fill="hold">
                                          <p:stCondLst>
                                            <p:cond delay="0"/>
                                          </p:stCondLst>
                                        </p:cTn>
                                        <p:tgtEl>
                                          <p:spTgt spid="214"/>
                                        </p:tgtEl>
                                        <p:attrNameLst>
                                          <p:attrName>style.visibility</p:attrName>
                                        </p:attrNameLst>
                                      </p:cBhvr>
                                      <p:to>
                                        <p:strVal val="visible"/>
                                      </p:to>
                                    </p:set>
                                    <p:animEffect transition="in" filter="fade">
                                      <p:cBhvr>
                                        <p:cTn id="503" dur="250"/>
                                        <p:tgtEl>
                                          <p:spTgt spid="214"/>
                                        </p:tgtEl>
                                      </p:cBhvr>
                                    </p:animEffect>
                                  </p:childTnLst>
                                </p:cTn>
                              </p:par>
                            </p:childTnLst>
                          </p:cTn>
                        </p:par>
                        <p:par>
                          <p:cTn id="504" fill="hold">
                            <p:stCondLst>
                              <p:cond delay="2400"/>
                            </p:stCondLst>
                            <p:childTnLst>
                              <p:par>
                                <p:cTn id="505" presetID="10" presetClass="exit" presetSubtype="0" fill="hold" grpId="1" nodeType="afterEffect">
                                  <p:stCondLst>
                                    <p:cond delay="0"/>
                                  </p:stCondLst>
                                  <p:childTnLst>
                                    <p:animEffect transition="out" filter="fade">
                                      <p:cBhvr>
                                        <p:cTn id="506" dur="250"/>
                                        <p:tgtEl>
                                          <p:spTgt spid="207"/>
                                        </p:tgtEl>
                                      </p:cBhvr>
                                    </p:animEffect>
                                    <p:set>
                                      <p:cBhvr>
                                        <p:cTn id="507" dur="1" fill="hold">
                                          <p:stCondLst>
                                            <p:cond delay="249"/>
                                          </p:stCondLst>
                                        </p:cTn>
                                        <p:tgtEl>
                                          <p:spTgt spid="207"/>
                                        </p:tgtEl>
                                        <p:attrNameLst>
                                          <p:attrName>style.visibility</p:attrName>
                                        </p:attrNameLst>
                                      </p:cBhvr>
                                      <p:to>
                                        <p:strVal val="hidden"/>
                                      </p:to>
                                    </p:set>
                                  </p:childTnLst>
                                </p:cTn>
                              </p:par>
                              <p:par>
                                <p:cTn id="508" presetID="10" presetClass="exit" presetSubtype="0" fill="hold" grpId="1" nodeType="withEffect">
                                  <p:stCondLst>
                                    <p:cond delay="0"/>
                                  </p:stCondLst>
                                  <p:childTnLst>
                                    <p:animEffect transition="out" filter="fade">
                                      <p:cBhvr>
                                        <p:cTn id="509" dur="250"/>
                                        <p:tgtEl>
                                          <p:spTgt spid="208"/>
                                        </p:tgtEl>
                                      </p:cBhvr>
                                    </p:animEffect>
                                    <p:set>
                                      <p:cBhvr>
                                        <p:cTn id="510" dur="1" fill="hold">
                                          <p:stCondLst>
                                            <p:cond delay="249"/>
                                          </p:stCondLst>
                                        </p:cTn>
                                        <p:tgtEl>
                                          <p:spTgt spid="208"/>
                                        </p:tgtEl>
                                        <p:attrNameLst>
                                          <p:attrName>style.visibility</p:attrName>
                                        </p:attrNameLst>
                                      </p:cBhvr>
                                      <p:to>
                                        <p:strVal val="hidden"/>
                                      </p:to>
                                    </p:set>
                                  </p:childTnLst>
                                </p:cTn>
                              </p:par>
                              <p:par>
                                <p:cTn id="511" presetID="10" presetClass="exit" presetSubtype="0" fill="hold" grpId="1" nodeType="withEffect">
                                  <p:stCondLst>
                                    <p:cond delay="0"/>
                                  </p:stCondLst>
                                  <p:childTnLst>
                                    <p:animEffect transition="out" filter="fade">
                                      <p:cBhvr>
                                        <p:cTn id="512" dur="250"/>
                                        <p:tgtEl>
                                          <p:spTgt spid="209"/>
                                        </p:tgtEl>
                                      </p:cBhvr>
                                    </p:animEffect>
                                    <p:set>
                                      <p:cBhvr>
                                        <p:cTn id="513" dur="1" fill="hold">
                                          <p:stCondLst>
                                            <p:cond delay="249"/>
                                          </p:stCondLst>
                                        </p:cTn>
                                        <p:tgtEl>
                                          <p:spTgt spid="209"/>
                                        </p:tgtEl>
                                        <p:attrNameLst>
                                          <p:attrName>style.visibility</p:attrName>
                                        </p:attrNameLst>
                                      </p:cBhvr>
                                      <p:to>
                                        <p:strVal val="hidden"/>
                                      </p:to>
                                    </p:set>
                                  </p:childTnLst>
                                </p:cTn>
                              </p:par>
                              <p:par>
                                <p:cTn id="514" presetID="10" presetClass="exit" presetSubtype="0" fill="hold" grpId="1" nodeType="withEffect">
                                  <p:stCondLst>
                                    <p:cond delay="0"/>
                                  </p:stCondLst>
                                  <p:childTnLst>
                                    <p:animEffect transition="out" filter="fade">
                                      <p:cBhvr>
                                        <p:cTn id="515" dur="250"/>
                                        <p:tgtEl>
                                          <p:spTgt spid="210"/>
                                        </p:tgtEl>
                                      </p:cBhvr>
                                    </p:animEffect>
                                    <p:set>
                                      <p:cBhvr>
                                        <p:cTn id="516" dur="1" fill="hold">
                                          <p:stCondLst>
                                            <p:cond delay="249"/>
                                          </p:stCondLst>
                                        </p:cTn>
                                        <p:tgtEl>
                                          <p:spTgt spid="210"/>
                                        </p:tgtEl>
                                        <p:attrNameLst>
                                          <p:attrName>style.visibility</p:attrName>
                                        </p:attrNameLst>
                                      </p:cBhvr>
                                      <p:to>
                                        <p:strVal val="hidden"/>
                                      </p:to>
                                    </p:set>
                                  </p:childTnLst>
                                </p:cTn>
                              </p:par>
                              <p:par>
                                <p:cTn id="517" presetID="10" presetClass="entr" presetSubtype="0" fill="hold" grpId="0" nodeType="withEffect">
                                  <p:stCondLst>
                                    <p:cond delay="0"/>
                                  </p:stCondLst>
                                  <p:childTnLst>
                                    <p:set>
                                      <p:cBhvr>
                                        <p:cTn id="518" dur="1" fill="hold">
                                          <p:stCondLst>
                                            <p:cond delay="0"/>
                                          </p:stCondLst>
                                        </p:cTn>
                                        <p:tgtEl>
                                          <p:spTgt spid="215"/>
                                        </p:tgtEl>
                                        <p:attrNameLst>
                                          <p:attrName>style.visibility</p:attrName>
                                        </p:attrNameLst>
                                      </p:cBhvr>
                                      <p:to>
                                        <p:strVal val="visible"/>
                                      </p:to>
                                    </p:set>
                                    <p:animEffect transition="in" filter="fade">
                                      <p:cBhvr>
                                        <p:cTn id="519" dur="250"/>
                                        <p:tgtEl>
                                          <p:spTgt spid="215"/>
                                        </p:tgtEl>
                                      </p:cBhvr>
                                    </p:animEffect>
                                  </p:childTnLst>
                                </p:cTn>
                              </p:par>
                            </p:childTnLst>
                          </p:cTn>
                        </p:par>
                      </p:childTnLst>
                    </p:cTn>
                  </p:par>
                  <p:par>
                    <p:cTn id="520" fill="hold">
                      <p:stCondLst>
                        <p:cond delay="indefinite"/>
                      </p:stCondLst>
                      <p:childTnLst>
                        <p:par>
                          <p:cTn id="521" fill="hold">
                            <p:stCondLst>
                              <p:cond delay="0"/>
                            </p:stCondLst>
                            <p:childTnLst>
                              <p:par>
                                <p:cTn id="522" presetID="10" presetClass="exit" presetSubtype="0" fill="hold" grpId="1" nodeType="clickEffect">
                                  <p:stCondLst>
                                    <p:cond delay="0"/>
                                  </p:stCondLst>
                                  <p:childTnLst>
                                    <p:animEffect transition="out" filter="fade">
                                      <p:cBhvr>
                                        <p:cTn id="523" dur="250"/>
                                        <p:tgtEl>
                                          <p:spTgt spid="206"/>
                                        </p:tgtEl>
                                      </p:cBhvr>
                                    </p:animEffect>
                                    <p:set>
                                      <p:cBhvr>
                                        <p:cTn id="524" dur="1" fill="hold">
                                          <p:stCondLst>
                                            <p:cond delay="249"/>
                                          </p:stCondLst>
                                        </p:cTn>
                                        <p:tgtEl>
                                          <p:spTgt spid="206"/>
                                        </p:tgtEl>
                                        <p:attrNameLst>
                                          <p:attrName>style.visibility</p:attrName>
                                        </p:attrNameLst>
                                      </p:cBhvr>
                                      <p:to>
                                        <p:strVal val="hidden"/>
                                      </p:to>
                                    </p:set>
                                  </p:childTnLst>
                                </p:cTn>
                              </p:par>
                              <p:par>
                                <p:cTn id="525" presetID="10" presetClass="exit" presetSubtype="0" fill="hold" grpId="1" nodeType="withEffect">
                                  <p:stCondLst>
                                    <p:cond delay="0"/>
                                  </p:stCondLst>
                                  <p:childTnLst>
                                    <p:animEffect transition="out" filter="fade">
                                      <p:cBhvr>
                                        <p:cTn id="526" dur="250"/>
                                        <p:tgtEl>
                                          <p:spTgt spid="215"/>
                                        </p:tgtEl>
                                      </p:cBhvr>
                                    </p:animEffect>
                                    <p:set>
                                      <p:cBhvr>
                                        <p:cTn id="527" dur="1" fill="hold">
                                          <p:stCondLst>
                                            <p:cond delay="249"/>
                                          </p:stCondLst>
                                        </p:cTn>
                                        <p:tgtEl>
                                          <p:spTgt spid="215"/>
                                        </p:tgtEl>
                                        <p:attrNameLst>
                                          <p:attrName>style.visibility</p:attrName>
                                        </p:attrNameLst>
                                      </p:cBhvr>
                                      <p:to>
                                        <p:strVal val="hidden"/>
                                      </p:to>
                                    </p:set>
                                  </p:childTnLst>
                                </p:cTn>
                              </p:par>
                              <p:par>
                                <p:cTn id="528" presetID="10" presetClass="entr" presetSubtype="0" fill="hold" grpId="0" nodeType="withEffect">
                                  <p:stCondLst>
                                    <p:cond delay="0"/>
                                  </p:stCondLst>
                                  <p:childTnLst>
                                    <p:set>
                                      <p:cBhvr>
                                        <p:cTn id="529" dur="1" fill="hold">
                                          <p:stCondLst>
                                            <p:cond delay="0"/>
                                          </p:stCondLst>
                                        </p:cTn>
                                        <p:tgtEl>
                                          <p:spTgt spid="217"/>
                                        </p:tgtEl>
                                        <p:attrNameLst>
                                          <p:attrName>style.visibility</p:attrName>
                                        </p:attrNameLst>
                                      </p:cBhvr>
                                      <p:to>
                                        <p:strVal val="visible"/>
                                      </p:to>
                                    </p:set>
                                    <p:animEffect transition="in" filter="fade">
                                      <p:cBhvr>
                                        <p:cTn id="530" dur="250"/>
                                        <p:tgtEl>
                                          <p:spTgt spid="217"/>
                                        </p:tgtEl>
                                      </p:cBhvr>
                                    </p:animEffect>
                                  </p:childTnLst>
                                </p:cTn>
                              </p:par>
                              <p:par>
                                <p:cTn id="531" presetID="10" presetClass="exit" presetSubtype="0" fill="hold" grpId="1" nodeType="withEffect">
                                  <p:stCondLst>
                                    <p:cond delay="0"/>
                                  </p:stCondLst>
                                  <p:childTnLst>
                                    <p:animEffect transition="out" filter="fade">
                                      <p:cBhvr>
                                        <p:cTn id="532" dur="250"/>
                                        <p:tgtEl>
                                          <p:spTgt spid="6"/>
                                        </p:tgtEl>
                                      </p:cBhvr>
                                    </p:animEffect>
                                    <p:set>
                                      <p:cBhvr>
                                        <p:cTn id="533" dur="1" fill="hold">
                                          <p:stCondLst>
                                            <p:cond delay="249"/>
                                          </p:stCondLst>
                                        </p:cTn>
                                        <p:tgtEl>
                                          <p:spTgt spid="6"/>
                                        </p:tgtEl>
                                        <p:attrNameLst>
                                          <p:attrName>style.visibility</p:attrName>
                                        </p:attrNameLst>
                                      </p:cBhvr>
                                      <p:to>
                                        <p:strVal val="hidden"/>
                                      </p:to>
                                    </p:set>
                                  </p:childTnLst>
                                </p:cTn>
                              </p:par>
                              <p:par>
                                <p:cTn id="534" presetID="10" presetClass="exit" presetSubtype="0" fill="hold" grpId="1" nodeType="withEffect">
                                  <p:stCondLst>
                                    <p:cond delay="0"/>
                                  </p:stCondLst>
                                  <p:childTnLst>
                                    <p:animEffect transition="out" filter="fade">
                                      <p:cBhvr>
                                        <p:cTn id="535" dur="250"/>
                                        <p:tgtEl>
                                          <p:spTgt spid="10"/>
                                        </p:tgtEl>
                                      </p:cBhvr>
                                    </p:animEffect>
                                    <p:set>
                                      <p:cBhvr>
                                        <p:cTn id="536" dur="1" fill="hold">
                                          <p:stCondLst>
                                            <p:cond delay="249"/>
                                          </p:stCondLst>
                                        </p:cTn>
                                        <p:tgtEl>
                                          <p:spTgt spid="10"/>
                                        </p:tgtEl>
                                        <p:attrNameLst>
                                          <p:attrName>style.visibility</p:attrName>
                                        </p:attrNameLst>
                                      </p:cBhvr>
                                      <p:to>
                                        <p:strVal val="hidden"/>
                                      </p:to>
                                    </p:set>
                                  </p:childTnLst>
                                </p:cTn>
                              </p:par>
                              <p:par>
                                <p:cTn id="537" presetID="10" presetClass="entr" presetSubtype="0" fill="hold" grpId="0" nodeType="withEffect">
                                  <p:stCondLst>
                                    <p:cond delay="0"/>
                                  </p:stCondLst>
                                  <p:childTnLst>
                                    <p:set>
                                      <p:cBhvr>
                                        <p:cTn id="538" dur="1" fill="hold">
                                          <p:stCondLst>
                                            <p:cond delay="0"/>
                                          </p:stCondLst>
                                        </p:cTn>
                                        <p:tgtEl>
                                          <p:spTgt spid="234"/>
                                        </p:tgtEl>
                                        <p:attrNameLst>
                                          <p:attrName>style.visibility</p:attrName>
                                        </p:attrNameLst>
                                      </p:cBhvr>
                                      <p:to>
                                        <p:strVal val="visible"/>
                                      </p:to>
                                    </p:set>
                                    <p:animEffect transition="in" filter="fade">
                                      <p:cBhvr>
                                        <p:cTn id="539" dur="250"/>
                                        <p:tgtEl>
                                          <p:spTgt spid="234"/>
                                        </p:tgtEl>
                                      </p:cBhvr>
                                    </p:animEffect>
                                  </p:childTnLst>
                                </p:cTn>
                              </p:par>
                            </p:childTnLst>
                          </p:cTn>
                        </p:par>
                        <p:par>
                          <p:cTn id="540" fill="hold">
                            <p:stCondLst>
                              <p:cond delay="300"/>
                            </p:stCondLst>
                            <p:childTnLst>
                              <p:par>
                                <p:cTn id="541" presetID="10" presetClass="entr" presetSubtype="0" fill="hold" grpId="0" nodeType="afterEffect">
                                  <p:stCondLst>
                                    <p:cond delay="0"/>
                                  </p:stCondLst>
                                  <p:childTnLst>
                                    <p:set>
                                      <p:cBhvr>
                                        <p:cTn id="542" dur="1" fill="hold">
                                          <p:stCondLst>
                                            <p:cond delay="0"/>
                                          </p:stCondLst>
                                        </p:cTn>
                                        <p:tgtEl>
                                          <p:spTgt spid="218"/>
                                        </p:tgtEl>
                                        <p:attrNameLst>
                                          <p:attrName>style.visibility</p:attrName>
                                        </p:attrNameLst>
                                      </p:cBhvr>
                                      <p:to>
                                        <p:strVal val="visible"/>
                                      </p:to>
                                    </p:set>
                                    <p:animEffect transition="in" filter="fade">
                                      <p:cBhvr>
                                        <p:cTn id="543" dur="250"/>
                                        <p:tgtEl>
                                          <p:spTgt spid="218"/>
                                        </p:tgtEl>
                                      </p:cBhvr>
                                    </p:animEffect>
                                  </p:childTnLst>
                                </p:cTn>
                              </p:par>
                              <p:par>
                                <p:cTn id="544" presetID="10" presetClass="entr" presetSubtype="0" fill="hold" grpId="0" nodeType="withEffect">
                                  <p:stCondLst>
                                    <p:cond delay="0"/>
                                  </p:stCondLst>
                                  <p:childTnLst>
                                    <p:set>
                                      <p:cBhvr>
                                        <p:cTn id="545" dur="1" fill="hold">
                                          <p:stCondLst>
                                            <p:cond delay="0"/>
                                          </p:stCondLst>
                                        </p:cTn>
                                        <p:tgtEl>
                                          <p:spTgt spid="219"/>
                                        </p:tgtEl>
                                        <p:attrNameLst>
                                          <p:attrName>style.visibility</p:attrName>
                                        </p:attrNameLst>
                                      </p:cBhvr>
                                      <p:to>
                                        <p:strVal val="visible"/>
                                      </p:to>
                                    </p:set>
                                    <p:animEffect transition="in" filter="fade">
                                      <p:cBhvr>
                                        <p:cTn id="546" dur="250"/>
                                        <p:tgtEl>
                                          <p:spTgt spid="219"/>
                                        </p:tgtEl>
                                      </p:cBhvr>
                                    </p:animEffect>
                                  </p:childTnLst>
                                </p:cTn>
                              </p:par>
                              <p:par>
                                <p:cTn id="547" presetID="10" presetClass="entr" presetSubtype="0" fill="hold" grpId="0" nodeType="withEffect">
                                  <p:stCondLst>
                                    <p:cond delay="0"/>
                                  </p:stCondLst>
                                  <p:childTnLst>
                                    <p:set>
                                      <p:cBhvr>
                                        <p:cTn id="548" dur="1" fill="hold">
                                          <p:stCondLst>
                                            <p:cond delay="0"/>
                                          </p:stCondLst>
                                        </p:cTn>
                                        <p:tgtEl>
                                          <p:spTgt spid="220"/>
                                        </p:tgtEl>
                                        <p:attrNameLst>
                                          <p:attrName>style.visibility</p:attrName>
                                        </p:attrNameLst>
                                      </p:cBhvr>
                                      <p:to>
                                        <p:strVal val="visible"/>
                                      </p:to>
                                    </p:set>
                                    <p:animEffect transition="in" filter="fade">
                                      <p:cBhvr>
                                        <p:cTn id="549" dur="250"/>
                                        <p:tgtEl>
                                          <p:spTgt spid="220"/>
                                        </p:tgtEl>
                                      </p:cBhvr>
                                    </p:animEffect>
                                  </p:childTnLst>
                                </p:cTn>
                              </p:par>
                              <p:par>
                                <p:cTn id="550" presetID="10" presetClass="entr" presetSubtype="0" fill="hold" grpId="0" nodeType="withEffect">
                                  <p:stCondLst>
                                    <p:cond delay="0"/>
                                  </p:stCondLst>
                                  <p:childTnLst>
                                    <p:set>
                                      <p:cBhvr>
                                        <p:cTn id="551" dur="1" fill="hold">
                                          <p:stCondLst>
                                            <p:cond delay="0"/>
                                          </p:stCondLst>
                                        </p:cTn>
                                        <p:tgtEl>
                                          <p:spTgt spid="221"/>
                                        </p:tgtEl>
                                        <p:attrNameLst>
                                          <p:attrName>style.visibility</p:attrName>
                                        </p:attrNameLst>
                                      </p:cBhvr>
                                      <p:to>
                                        <p:strVal val="visible"/>
                                      </p:to>
                                    </p:set>
                                    <p:animEffect transition="in" filter="fade">
                                      <p:cBhvr>
                                        <p:cTn id="552" dur="250"/>
                                        <p:tgtEl>
                                          <p:spTgt spid="221"/>
                                        </p:tgtEl>
                                      </p:cBhvr>
                                    </p:animEffect>
                                  </p:childTnLst>
                                </p:cTn>
                              </p:par>
                              <p:par>
                                <p:cTn id="553" presetID="10" presetClass="entr" presetSubtype="0" fill="hold" grpId="0" nodeType="withEffect">
                                  <p:stCondLst>
                                    <p:cond delay="0"/>
                                  </p:stCondLst>
                                  <p:childTnLst>
                                    <p:set>
                                      <p:cBhvr>
                                        <p:cTn id="554" dur="1" fill="hold">
                                          <p:stCondLst>
                                            <p:cond delay="0"/>
                                          </p:stCondLst>
                                        </p:cTn>
                                        <p:tgtEl>
                                          <p:spTgt spid="222"/>
                                        </p:tgtEl>
                                        <p:attrNameLst>
                                          <p:attrName>style.visibility</p:attrName>
                                        </p:attrNameLst>
                                      </p:cBhvr>
                                      <p:to>
                                        <p:strVal val="visible"/>
                                      </p:to>
                                    </p:set>
                                    <p:animEffect transition="in" filter="fade">
                                      <p:cBhvr>
                                        <p:cTn id="555" dur="250"/>
                                        <p:tgtEl>
                                          <p:spTgt spid="222"/>
                                        </p:tgtEl>
                                      </p:cBhvr>
                                    </p:animEffect>
                                  </p:childTnLst>
                                </p:cTn>
                              </p:par>
                              <p:par>
                                <p:cTn id="556" presetID="10" presetClass="entr" presetSubtype="0" fill="hold" grpId="0" nodeType="withEffect">
                                  <p:stCondLst>
                                    <p:cond delay="0"/>
                                  </p:stCondLst>
                                  <p:childTnLst>
                                    <p:set>
                                      <p:cBhvr>
                                        <p:cTn id="557" dur="1" fill="hold">
                                          <p:stCondLst>
                                            <p:cond delay="0"/>
                                          </p:stCondLst>
                                        </p:cTn>
                                        <p:tgtEl>
                                          <p:spTgt spid="223"/>
                                        </p:tgtEl>
                                        <p:attrNameLst>
                                          <p:attrName>style.visibility</p:attrName>
                                        </p:attrNameLst>
                                      </p:cBhvr>
                                      <p:to>
                                        <p:strVal val="visible"/>
                                      </p:to>
                                    </p:set>
                                    <p:animEffect transition="in" filter="fade">
                                      <p:cBhvr>
                                        <p:cTn id="558" dur="250"/>
                                        <p:tgtEl>
                                          <p:spTgt spid="223"/>
                                        </p:tgtEl>
                                      </p:cBhvr>
                                    </p:animEffect>
                                  </p:childTnLst>
                                </p:cTn>
                              </p:par>
                              <p:par>
                                <p:cTn id="559" presetID="10" presetClass="entr" presetSubtype="0" fill="hold" grpId="0" nodeType="withEffect">
                                  <p:stCondLst>
                                    <p:cond delay="0"/>
                                  </p:stCondLst>
                                  <p:childTnLst>
                                    <p:set>
                                      <p:cBhvr>
                                        <p:cTn id="560" dur="1" fill="hold">
                                          <p:stCondLst>
                                            <p:cond delay="0"/>
                                          </p:stCondLst>
                                        </p:cTn>
                                        <p:tgtEl>
                                          <p:spTgt spid="224"/>
                                        </p:tgtEl>
                                        <p:attrNameLst>
                                          <p:attrName>style.visibility</p:attrName>
                                        </p:attrNameLst>
                                      </p:cBhvr>
                                      <p:to>
                                        <p:strVal val="visible"/>
                                      </p:to>
                                    </p:set>
                                    <p:animEffect transition="in" filter="fade">
                                      <p:cBhvr>
                                        <p:cTn id="561" dur="250"/>
                                        <p:tgtEl>
                                          <p:spTgt spid="224"/>
                                        </p:tgtEl>
                                      </p:cBhvr>
                                    </p:animEffect>
                                  </p:childTnLst>
                                </p:cTn>
                              </p:par>
                              <p:par>
                                <p:cTn id="562" presetID="10" presetClass="entr" presetSubtype="0" fill="hold" grpId="0" nodeType="withEffect">
                                  <p:stCondLst>
                                    <p:cond delay="0"/>
                                  </p:stCondLst>
                                  <p:childTnLst>
                                    <p:set>
                                      <p:cBhvr>
                                        <p:cTn id="563" dur="1" fill="hold">
                                          <p:stCondLst>
                                            <p:cond delay="0"/>
                                          </p:stCondLst>
                                        </p:cTn>
                                        <p:tgtEl>
                                          <p:spTgt spid="225"/>
                                        </p:tgtEl>
                                        <p:attrNameLst>
                                          <p:attrName>style.visibility</p:attrName>
                                        </p:attrNameLst>
                                      </p:cBhvr>
                                      <p:to>
                                        <p:strVal val="visible"/>
                                      </p:to>
                                    </p:set>
                                    <p:animEffect transition="in" filter="fade">
                                      <p:cBhvr>
                                        <p:cTn id="564" dur="250"/>
                                        <p:tgtEl>
                                          <p:spTgt spid="225"/>
                                        </p:tgtEl>
                                      </p:cBhvr>
                                    </p:animEffect>
                                  </p:childTnLst>
                                </p:cTn>
                              </p:par>
                            </p:childTnLst>
                          </p:cTn>
                        </p:par>
                        <p:par>
                          <p:cTn id="565" fill="hold">
                            <p:stCondLst>
                              <p:cond delay="700"/>
                            </p:stCondLst>
                            <p:childTnLst>
                              <p:par>
                                <p:cTn id="566" presetID="10" presetClass="entr" presetSubtype="0" fill="hold" grpId="0" nodeType="afterEffect">
                                  <p:stCondLst>
                                    <p:cond delay="0"/>
                                  </p:stCondLst>
                                  <p:childTnLst>
                                    <p:set>
                                      <p:cBhvr>
                                        <p:cTn id="567" dur="1" fill="hold">
                                          <p:stCondLst>
                                            <p:cond delay="0"/>
                                          </p:stCondLst>
                                        </p:cTn>
                                        <p:tgtEl>
                                          <p:spTgt spid="226"/>
                                        </p:tgtEl>
                                        <p:attrNameLst>
                                          <p:attrName>style.visibility</p:attrName>
                                        </p:attrNameLst>
                                      </p:cBhvr>
                                      <p:to>
                                        <p:strVal val="visible"/>
                                      </p:to>
                                    </p:set>
                                    <p:animEffect transition="in" filter="fade">
                                      <p:cBhvr>
                                        <p:cTn id="568" dur="250"/>
                                        <p:tgtEl>
                                          <p:spTgt spid="226"/>
                                        </p:tgtEl>
                                      </p:cBhvr>
                                    </p:animEffect>
                                  </p:childTnLst>
                                </p:cTn>
                              </p:par>
                              <p:par>
                                <p:cTn id="569" presetID="10" presetClass="entr" presetSubtype="0" fill="hold" grpId="0" nodeType="withEffect">
                                  <p:stCondLst>
                                    <p:cond delay="0"/>
                                  </p:stCondLst>
                                  <p:childTnLst>
                                    <p:set>
                                      <p:cBhvr>
                                        <p:cTn id="570" dur="1" fill="hold">
                                          <p:stCondLst>
                                            <p:cond delay="0"/>
                                          </p:stCondLst>
                                        </p:cTn>
                                        <p:tgtEl>
                                          <p:spTgt spid="227"/>
                                        </p:tgtEl>
                                        <p:attrNameLst>
                                          <p:attrName>style.visibility</p:attrName>
                                        </p:attrNameLst>
                                      </p:cBhvr>
                                      <p:to>
                                        <p:strVal val="visible"/>
                                      </p:to>
                                    </p:set>
                                    <p:animEffect transition="in" filter="fade">
                                      <p:cBhvr>
                                        <p:cTn id="571" dur="250"/>
                                        <p:tgtEl>
                                          <p:spTgt spid="227"/>
                                        </p:tgtEl>
                                      </p:cBhvr>
                                    </p:animEffect>
                                  </p:childTnLst>
                                </p:cTn>
                              </p:par>
                              <p:par>
                                <p:cTn id="572" presetID="10" presetClass="entr" presetSubtype="0" fill="hold" grpId="0" nodeType="withEffect">
                                  <p:stCondLst>
                                    <p:cond delay="0"/>
                                  </p:stCondLst>
                                  <p:childTnLst>
                                    <p:set>
                                      <p:cBhvr>
                                        <p:cTn id="573" dur="1" fill="hold">
                                          <p:stCondLst>
                                            <p:cond delay="0"/>
                                          </p:stCondLst>
                                        </p:cTn>
                                        <p:tgtEl>
                                          <p:spTgt spid="228"/>
                                        </p:tgtEl>
                                        <p:attrNameLst>
                                          <p:attrName>style.visibility</p:attrName>
                                        </p:attrNameLst>
                                      </p:cBhvr>
                                      <p:to>
                                        <p:strVal val="visible"/>
                                      </p:to>
                                    </p:set>
                                    <p:animEffect transition="in" filter="fade">
                                      <p:cBhvr>
                                        <p:cTn id="574" dur="250"/>
                                        <p:tgtEl>
                                          <p:spTgt spid="228"/>
                                        </p:tgtEl>
                                      </p:cBhvr>
                                    </p:animEffect>
                                  </p:childTnLst>
                                </p:cTn>
                              </p:par>
                              <p:par>
                                <p:cTn id="575" presetID="10" presetClass="entr" presetSubtype="0" fill="hold" grpId="0" nodeType="withEffect">
                                  <p:stCondLst>
                                    <p:cond delay="0"/>
                                  </p:stCondLst>
                                  <p:childTnLst>
                                    <p:set>
                                      <p:cBhvr>
                                        <p:cTn id="576" dur="1" fill="hold">
                                          <p:stCondLst>
                                            <p:cond delay="0"/>
                                          </p:stCondLst>
                                        </p:cTn>
                                        <p:tgtEl>
                                          <p:spTgt spid="229"/>
                                        </p:tgtEl>
                                        <p:attrNameLst>
                                          <p:attrName>style.visibility</p:attrName>
                                        </p:attrNameLst>
                                      </p:cBhvr>
                                      <p:to>
                                        <p:strVal val="visible"/>
                                      </p:to>
                                    </p:set>
                                    <p:animEffect transition="in" filter="fade">
                                      <p:cBhvr>
                                        <p:cTn id="577" dur="250"/>
                                        <p:tgtEl>
                                          <p:spTgt spid="229"/>
                                        </p:tgtEl>
                                      </p:cBhvr>
                                    </p:animEffect>
                                  </p:childTnLst>
                                </p:cTn>
                              </p:par>
                              <p:par>
                                <p:cTn id="578" presetID="10" presetClass="entr" presetSubtype="0" fill="hold" grpId="0" nodeType="withEffect">
                                  <p:stCondLst>
                                    <p:cond delay="0"/>
                                  </p:stCondLst>
                                  <p:childTnLst>
                                    <p:set>
                                      <p:cBhvr>
                                        <p:cTn id="579" dur="1" fill="hold">
                                          <p:stCondLst>
                                            <p:cond delay="0"/>
                                          </p:stCondLst>
                                        </p:cTn>
                                        <p:tgtEl>
                                          <p:spTgt spid="230"/>
                                        </p:tgtEl>
                                        <p:attrNameLst>
                                          <p:attrName>style.visibility</p:attrName>
                                        </p:attrNameLst>
                                      </p:cBhvr>
                                      <p:to>
                                        <p:strVal val="visible"/>
                                      </p:to>
                                    </p:set>
                                    <p:animEffect transition="in" filter="fade">
                                      <p:cBhvr>
                                        <p:cTn id="580" dur="250"/>
                                        <p:tgtEl>
                                          <p:spTgt spid="230"/>
                                        </p:tgtEl>
                                      </p:cBhvr>
                                    </p:animEffect>
                                  </p:childTnLst>
                                </p:cTn>
                              </p:par>
                              <p:par>
                                <p:cTn id="581" presetID="10" presetClass="entr" presetSubtype="0" fill="hold" grpId="0" nodeType="withEffect">
                                  <p:stCondLst>
                                    <p:cond delay="0"/>
                                  </p:stCondLst>
                                  <p:childTnLst>
                                    <p:set>
                                      <p:cBhvr>
                                        <p:cTn id="582" dur="1" fill="hold">
                                          <p:stCondLst>
                                            <p:cond delay="0"/>
                                          </p:stCondLst>
                                        </p:cTn>
                                        <p:tgtEl>
                                          <p:spTgt spid="231"/>
                                        </p:tgtEl>
                                        <p:attrNameLst>
                                          <p:attrName>style.visibility</p:attrName>
                                        </p:attrNameLst>
                                      </p:cBhvr>
                                      <p:to>
                                        <p:strVal val="visible"/>
                                      </p:to>
                                    </p:set>
                                    <p:animEffect transition="in" filter="fade">
                                      <p:cBhvr>
                                        <p:cTn id="583" dur="250"/>
                                        <p:tgtEl>
                                          <p:spTgt spid="231"/>
                                        </p:tgtEl>
                                      </p:cBhvr>
                                    </p:animEffect>
                                  </p:childTnLst>
                                </p:cTn>
                              </p:par>
                              <p:par>
                                <p:cTn id="584" presetID="10" presetClass="entr" presetSubtype="0" fill="hold" grpId="0" nodeType="withEffect">
                                  <p:stCondLst>
                                    <p:cond delay="0"/>
                                  </p:stCondLst>
                                  <p:childTnLst>
                                    <p:set>
                                      <p:cBhvr>
                                        <p:cTn id="585" dur="1" fill="hold">
                                          <p:stCondLst>
                                            <p:cond delay="0"/>
                                          </p:stCondLst>
                                        </p:cTn>
                                        <p:tgtEl>
                                          <p:spTgt spid="232"/>
                                        </p:tgtEl>
                                        <p:attrNameLst>
                                          <p:attrName>style.visibility</p:attrName>
                                        </p:attrNameLst>
                                      </p:cBhvr>
                                      <p:to>
                                        <p:strVal val="visible"/>
                                      </p:to>
                                    </p:set>
                                    <p:animEffect transition="in" filter="fade">
                                      <p:cBhvr>
                                        <p:cTn id="586" dur="250"/>
                                        <p:tgtEl>
                                          <p:spTgt spid="232"/>
                                        </p:tgtEl>
                                      </p:cBhvr>
                                    </p:animEffect>
                                  </p:childTnLst>
                                </p:cTn>
                              </p:par>
                              <p:par>
                                <p:cTn id="587" presetID="10" presetClass="entr" presetSubtype="0" fill="hold" grpId="0" nodeType="withEffect">
                                  <p:stCondLst>
                                    <p:cond delay="0"/>
                                  </p:stCondLst>
                                  <p:childTnLst>
                                    <p:set>
                                      <p:cBhvr>
                                        <p:cTn id="588" dur="1" fill="hold">
                                          <p:stCondLst>
                                            <p:cond delay="0"/>
                                          </p:stCondLst>
                                        </p:cTn>
                                        <p:tgtEl>
                                          <p:spTgt spid="233"/>
                                        </p:tgtEl>
                                        <p:attrNameLst>
                                          <p:attrName>style.visibility</p:attrName>
                                        </p:attrNameLst>
                                      </p:cBhvr>
                                      <p:to>
                                        <p:strVal val="visible"/>
                                      </p:to>
                                    </p:set>
                                    <p:animEffect transition="in" filter="fade">
                                      <p:cBhvr>
                                        <p:cTn id="589" dur="250"/>
                                        <p:tgtEl>
                                          <p:spTgt spid="233"/>
                                        </p:tgtEl>
                                      </p:cBhvr>
                                    </p:animEffect>
                                  </p:childTnLst>
                                </p:cTn>
                              </p:par>
                            </p:childTnLst>
                          </p:cTn>
                        </p:par>
                      </p:childTnLst>
                    </p:cTn>
                  </p:par>
                  <p:par>
                    <p:cTn id="590" fill="hold">
                      <p:stCondLst>
                        <p:cond delay="indefinite"/>
                      </p:stCondLst>
                      <p:childTnLst>
                        <p:par>
                          <p:cTn id="591" fill="hold">
                            <p:stCondLst>
                              <p:cond delay="0"/>
                            </p:stCondLst>
                            <p:childTnLst>
                              <p:par>
                                <p:cTn id="592" presetID="10" presetClass="exit" presetSubtype="0" fill="hold" grpId="1" nodeType="clickEffect">
                                  <p:stCondLst>
                                    <p:cond delay="0"/>
                                  </p:stCondLst>
                                  <p:childTnLst>
                                    <p:animEffect transition="out" filter="fade">
                                      <p:cBhvr>
                                        <p:cTn id="593" dur="250"/>
                                        <p:tgtEl>
                                          <p:spTgt spid="217"/>
                                        </p:tgtEl>
                                      </p:cBhvr>
                                    </p:animEffect>
                                    <p:set>
                                      <p:cBhvr>
                                        <p:cTn id="594" dur="1" fill="hold">
                                          <p:stCondLst>
                                            <p:cond delay="249"/>
                                          </p:stCondLst>
                                        </p:cTn>
                                        <p:tgtEl>
                                          <p:spTgt spid="217"/>
                                        </p:tgtEl>
                                        <p:attrNameLst>
                                          <p:attrName>style.visibility</p:attrName>
                                        </p:attrNameLst>
                                      </p:cBhvr>
                                      <p:to>
                                        <p:strVal val="hidden"/>
                                      </p:to>
                                    </p:set>
                                  </p:childTnLst>
                                </p:cTn>
                              </p:par>
                              <p:par>
                                <p:cTn id="595" presetID="10" presetClass="exit" presetSubtype="0" fill="hold" grpId="1" nodeType="withEffect">
                                  <p:stCondLst>
                                    <p:cond delay="0"/>
                                  </p:stCondLst>
                                  <p:childTnLst>
                                    <p:animEffect transition="out" filter="fade">
                                      <p:cBhvr>
                                        <p:cTn id="596" dur="250"/>
                                        <p:tgtEl>
                                          <p:spTgt spid="218"/>
                                        </p:tgtEl>
                                      </p:cBhvr>
                                    </p:animEffect>
                                    <p:set>
                                      <p:cBhvr>
                                        <p:cTn id="597" dur="1" fill="hold">
                                          <p:stCondLst>
                                            <p:cond delay="249"/>
                                          </p:stCondLst>
                                        </p:cTn>
                                        <p:tgtEl>
                                          <p:spTgt spid="218"/>
                                        </p:tgtEl>
                                        <p:attrNameLst>
                                          <p:attrName>style.visibility</p:attrName>
                                        </p:attrNameLst>
                                      </p:cBhvr>
                                      <p:to>
                                        <p:strVal val="hidden"/>
                                      </p:to>
                                    </p:set>
                                  </p:childTnLst>
                                </p:cTn>
                              </p:par>
                              <p:par>
                                <p:cTn id="598" presetID="10" presetClass="exit" presetSubtype="0" fill="hold" grpId="1" nodeType="withEffect">
                                  <p:stCondLst>
                                    <p:cond delay="0"/>
                                  </p:stCondLst>
                                  <p:childTnLst>
                                    <p:animEffect transition="out" filter="fade">
                                      <p:cBhvr>
                                        <p:cTn id="599" dur="250"/>
                                        <p:tgtEl>
                                          <p:spTgt spid="219"/>
                                        </p:tgtEl>
                                      </p:cBhvr>
                                    </p:animEffect>
                                    <p:set>
                                      <p:cBhvr>
                                        <p:cTn id="600" dur="1" fill="hold">
                                          <p:stCondLst>
                                            <p:cond delay="249"/>
                                          </p:stCondLst>
                                        </p:cTn>
                                        <p:tgtEl>
                                          <p:spTgt spid="219"/>
                                        </p:tgtEl>
                                        <p:attrNameLst>
                                          <p:attrName>style.visibility</p:attrName>
                                        </p:attrNameLst>
                                      </p:cBhvr>
                                      <p:to>
                                        <p:strVal val="hidden"/>
                                      </p:to>
                                    </p:set>
                                  </p:childTnLst>
                                </p:cTn>
                              </p:par>
                              <p:par>
                                <p:cTn id="601" presetID="10" presetClass="exit" presetSubtype="0" fill="hold" grpId="1" nodeType="withEffect">
                                  <p:stCondLst>
                                    <p:cond delay="0"/>
                                  </p:stCondLst>
                                  <p:childTnLst>
                                    <p:animEffect transition="out" filter="fade">
                                      <p:cBhvr>
                                        <p:cTn id="602" dur="250"/>
                                        <p:tgtEl>
                                          <p:spTgt spid="220"/>
                                        </p:tgtEl>
                                      </p:cBhvr>
                                    </p:animEffect>
                                    <p:set>
                                      <p:cBhvr>
                                        <p:cTn id="603" dur="1" fill="hold">
                                          <p:stCondLst>
                                            <p:cond delay="249"/>
                                          </p:stCondLst>
                                        </p:cTn>
                                        <p:tgtEl>
                                          <p:spTgt spid="220"/>
                                        </p:tgtEl>
                                        <p:attrNameLst>
                                          <p:attrName>style.visibility</p:attrName>
                                        </p:attrNameLst>
                                      </p:cBhvr>
                                      <p:to>
                                        <p:strVal val="hidden"/>
                                      </p:to>
                                    </p:set>
                                  </p:childTnLst>
                                </p:cTn>
                              </p:par>
                              <p:par>
                                <p:cTn id="604" presetID="10" presetClass="exit" presetSubtype="0" fill="hold" grpId="1" nodeType="withEffect">
                                  <p:stCondLst>
                                    <p:cond delay="0"/>
                                  </p:stCondLst>
                                  <p:childTnLst>
                                    <p:animEffect transition="out" filter="fade">
                                      <p:cBhvr>
                                        <p:cTn id="605" dur="250"/>
                                        <p:tgtEl>
                                          <p:spTgt spid="221"/>
                                        </p:tgtEl>
                                      </p:cBhvr>
                                    </p:animEffect>
                                    <p:set>
                                      <p:cBhvr>
                                        <p:cTn id="606" dur="1" fill="hold">
                                          <p:stCondLst>
                                            <p:cond delay="249"/>
                                          </p:stCondLst>
                                        </p:cTn>
                                        <p:tgtEl>
                                          <p:spTgt spid="221"/>
                                        </p:tgtEl>
                                        <p:attrNameLst>
                                          <p:attrName>style.visibility</p:attrName>
                                        </p:attrNameLst>
                                      </p:cBhvr>
                                      <p:to>
                                        <p:strVal val="hidden"/>
                                      </p:to>
                                    </p:set>
                                  </p:childTnLst>
                                </p:cTn>
                              </p:par>
                              <p:par>
                                <p:cTn id="607" presetID="10" presetClass="exit" presetSubtype="0" fill="hold" grpId="1" nodeType="withEffect">
                                  <p:stCondLst>
                                    <p:cond delay="0"/>
                                  </p:stCondLst>
                                  <p:childTnLst>
                                    <p:animEffect transition="out" filter="fade">
                                      <p:cBhvr>
                                        <p:cTn id="608" dur="250"/>
                                        <p:tgtEl>
                                          <p:spTgt spid="222"/>
                                        </p:tgtEl>
                                      </p:cBhvr>
                                    </p:animEffect>
                                    <p:set>
                                      <p:cBhvr>
                                        <p:cTn id="609" dur="1" fill="hold">
                                          <p:stCondLst>
                                            <p:cond delay="249"/>
                                          </p:stCondLst>
                                        </p:cTn>
                                        <p:tgtEl>
                                          <p:spTgt spid="222"/>
                                        </p:tgtEl>
                                        <p:attrNameLst>
                                          <p:attrName>style.visibility</p:attrName>
                                        </p:attrNameLst>
                                      </p:cBhvr>
                                      <p:to>
                                        <p:strVal val="hidden"/>
                                      </p:to>
                                    </p:set>
                                  </p:childTnLst>
                                </p:cTn>
                              </p:par>
                              <p:par>
                                <p:cTn id="610" presetID="10" presetClass="exit" presetSubtype="0" fill="hold" grpId="1" nodeType="withEffect">
                                  <p:stCondLst>
                                    <p:cond delay="0"/>
                                  </p:stCondLst>
                                  <p:childTnLst>
                                    <p:animEffect transition="out" filter="fade">
                                      <p:cBhvr>
                                        <p:cTn id="611" dur="250"/>
                                        <p:tgtEl>
                                          <p:spTgt spid="223"/>
                                        </p:tgtEl>
                                      </p:cBhvr>
                                    </p:animEffect>
                                    <p:set>
                                      <p:cBhvr>
                                        <p:cTn id="612" dur="1" fill="hold">
                                          <p:stCondLst>
                                            <p:cond delay="249"/>
                                          </p:stCondLst>
                                        </p:cTn>
                                        <p:tgtEl>
                                          <p:spTgt spid="223"/>
                                        </p:tgtEl>
                                        <p:attrNameLst>
                                          <p:attrName>style.visibility</p:attrName>
                                        </p:attrNameLst>
                                      </p:cBhvr>
                                      <p:to>
                                        <p:strVal val="hidden"/>
                                      </p:to>
                                    </p:set>
                                  </p:childTnLst>
                                </p:cTn>
                              </p:par>
                              <p:par>
                                <p:cTn id="613" presetID="10" presetClass="exit" presetSubtype="0" fill="hold" grpId="1" nodeType="withEffect">
                                  <p:stCondLst>
                                    <p:cond delay="0"/>
                                  </p:stCondLst>
                                  <p:childTnLst>
                                    <p:animEffect transition="out" filter="fade">
                                      <p:cBhvr>
                                        <p:cTn id="614" dur="250"/>
                                        <p:tgtEl>
                                          <p:spTgt spid="224"/>
                                        </p:tgtEl>
                                      </p:cBhvr>
                                    </p:animEffect>
                                    <p:set>
                                      <p:cBhvr>
                                        <p:cTn id="615" dur="1" fill="hold">
                                          <p:stCondLst>
                                            <p:cond delay="249"/>
                                          </p:stCondLst>
                                        </p:cTn>
                                        <p:tgtEl>
                                          <p:spTgt spid="224"/>
                                        </p:tgtEl>
                                        <p:attrNameLst>
                                          <p:attrName>style.visibility</p:attrName>
                                        </p:attrNameLst>
                                      </p:cBhvr>
                                      <p:to>
                                        <p:strVal val="hidden"/>
                                      </p:to>
                                    </p:set>
                                  </p:childTnLst>
                                </p:cTn>
                              </p:par>
                              <p:par>
                                <p:cTn id="616" presetID="10" presetClass="exit" presetSubtype="0" fill="hold" grpId="1" nodeType="withEffect">
                                  <p:stCondLst>
                                    <p:cond delay="0"/>
                                  </p:stCondLst>
                                  <p:childTnLst>
                                    <p:animEffect transition="out" filter="fade">
                                      <p:cBhvr>
                                        <p:cTn id="617" dur="250"/>
                                        <p:tgtEl>
                                          <p:spTgt spid="225"/>
                                        </p:tgtEl>
                                      </p:cBhvr>
                                    </p:animEffect>
                                    <p:set>
                                      <p:cBhvr>
                                        <p:cTn id="618" dur="1" fill="hold">
                                          <p:stCondLst>
                                            <p:cond delay="249"/>
                                          </p:stCondLst>
                                        </p:cTn>
                                        <p:tgtEl>
                                          <p:spTgt spid="225"/>
                                        </p:tgtEl>
                                        <p:attrNameLst>
                                          <p:attrName>style.visibility</p:attrName>
                                        </p:attrNameLst>
                                      </p:cBhvr>
                                      <p:to>
                                        <p:strVal val="hidden"/>
                                      </p:to>
                                    </p:set>
                                  </p:childTnLst>
                                </p:cTn>
                              </p:par>
                              <p:par>
                                <p:cTn id="619" presetID="10" presetClass="entr" presetSubtype="0" fill="hold" grpId="0" nodeType="withEffect">
                                  <p:stCondLst>
                                    <p:cond delay="0"/>
                                  </p:stCondLst>
                                  <p:childTnLst>
                                    <p:set>
                                      <p:cBhvr>
                                        <p:cTn id="620" dur="1" fill="hold">
                                          <p:stCondLst>
                                            <p:cond delay="0"/>
                                          </p:stCondLst>
                                        </p:cTn>
                                        <p:tgtEl>
                                          <p:spTgt spid="235"/>
                                        </p:tgtEl>
                                        <p:attrNameLst>
                                          <p:attrName>style.visibility</p:attrName>
                                        </p:attrNameLst>
                                      </p:cBhvr>
                                      <p:to>
                                        <p:strVal val="visible"/>
                                      </p:to>
                                    </p:set>
                                    <p:animEffect transition="in" filter="fade">
                                      <p:cBhvr>
                                        <p:cTn id="621" dur="250"/>
                                        <p:tgtEl>
                                          <p:spTgt spid="235"/>
                                        </p:tgtEl>
                                      </p:cBhvr>
                                    </p:animEffect>
                                  </p:childTnLst>
                                </p:cTn>
                              </p:par>
                              <p:par>
                                <p:cTn id="622" presetID="10" presetClass="entr" presetSubtype="0" fill="hold" grpId="0" nodeType="withEffect">
                                  <p:stCondLst>
                                    <p:cond delay="0"/>
                                  </p:stCondLst>
                                  <p:childTnLst>
                                    <p:set>
                                      <p:cBhvr>
                                        <p:cTn id="623" dur="1" fill="hold">
                                          <p:stCondLst>
                                            <p:cond delay="0"/>
                                          </p:stCondLst>
                                        </p:cTn>
                                        <p:tgtEl>
                                          <p:spTgt spid="236"/>
                                        </p:tgtEl>
                                        <p:attrNameLst>
                                          <p:attrName>style.visibility</p:attrName>
                                        </p:attrNameLst>
                                      </p:cBhvr>
                                      <p:to>
                                        <p:strVal val="visible"/>
                                      </p:to>
                                    </p:set>
                                    <p:animEffect transition="in" filter="fade">
                                      <p:cBhvr>
                                        <p:cTn id="624" dur="250"/>
                                        <p:tgtEl>
                                          <p:spTgt spid="236"/>
                                        </p:tgtEl>
                                      </p:cBhvr>
                                    </p:animEffect>
                                  </p:childTnLst>
                                </p:cTn>
                              </p:par>
                              <p:par>
                                <p:cTn id="625" presetID="10" presetClass="entr" presetSubtype="0" fill="hold" grpId="0" nodeType="withEffect">
                                  <p:stCondLst>
                                    <p:cond delay="0"/>
                                  </p:stCondLst>
                                  <p:childTnLst>
                                    <p:set>
                                      <p:cBhvr>
                                        <p:cTn id="626" dur="1" fill="hold">
                                          <p:stCondLst>
                                            <p:cond delay="0"/>
                                          </p:stCondLst>
                                        </p:cTn>
                                        <p:tgtEl>
                                          <p:spTgt spid="237"/>
                                        </p:tgtEl>
                                        <p:attrNameLst>
                                          <p:attrName>style.visibility</p:attrName>
                                        </p:attrNameLst>
                                      </p:cBhvr>
                                      <p:to>
                                        <p:strVal val="visible"/>
                                      </p:to>
                                    </p:set>
                                    <p:animEffect transition="in" filter="fade">
                                      <p:cBhvr>
                                        <p:cTn id="627" dur="250"/>
                                        <p:tgtEl>
                                          <p:spTgt spid="237"/>
                                        </p:tgtEl>
                                      </p:cBhvr>
                                    </p:animEffect>
                                  </p:childTnLst>
                                </p:cTn>
                              </p:par>
                              <p:par>
                                <p:cTn id="628" presetID="10" presetClass="entr" presetSubtype="0" fill="hold" grpId="0" nodeType="withEffect">
                                  <p:stCondLst>
                                    <p:cond delay="0"/>
                                  </p:stCondLst>
                                  <p:childTnLst>
                                    <p:set>
                                      <p:cBhvr>
                                        <p:cTn id="629" dur="1" fill="hold">
                                          <p:stCondLst>
                                            <p:cond delay="0"/>
                                          </p:stCondLst>
                                        </p:cTn>
                                        <p:tgtEl>
                                          <p:spTgt spid="329"/>
                                        </p:tgtEl>
                                        <p:attrNameLst>
                                          <p:attrName>style.visibility</p:attrName>
                                        </p:attrNameLst>
                                      </p:cBhvr>
                                      <p:to>
                                        <p:strVal val="visible"/>
                                      </p:to>
                                    </p:set>
                                    <p:animEffect transition="in" filter="fade">
                                      <p:cBhvr>
                                        <p:cTn id="630" dur="250"/>
                                        <p:tgtEl>
                                          <p:spTgt spid="329"/>
                                        </p:tgtEl>
                                      </p:cBhvr>
                                    </p:animEffect>
                                  </p:childTnLst>
                                </p:cTn>
                              </p:par>
                            </p:childTnLst>
                          </p:cTn>
                        </p:par>
                        <p:par>
                          <p:cTn id="631" fill="hold">
                            <p:stCondLst>
                              <p:cond delay="300"/>
                            </p:stCondLst>
                            <p:childTnLst>
                              <p:par>
                                <p:cTn id="632" presetID="10" presetClass="entr" presetSubtype="0" fill="hold" grpId="0" nodeType="afterEffect">
                                  <p:stCondLst>
                                    <p:cond delay="0"/>
                                  </p:stCondLst>
                                  <p:childTnLst>
                                    <p:set>
                                      <p:cBhvr>
                                        <p:cTn id="633" dur="1" fill="hold">
                                          <p:stCondLst>
                                            <p:cond delay="0"/>
                                          </p:stCondLst>
                                        </p:cTn>
                                        <p:tgtEl>
                                          <p:spTgt spid="238"/>
                                        </p:tgtEl>
                                        <p:attrNameLst>
                                          <p:attrName>style.visibility</p:attrName>
                                        </p:attrNameLst>
                                      </p:cBhvr>
                                      <p:to>
                                        <p:strVal val="visible"/>
                                      </p:to>
                                    </p:set>
                                    <p:animEffect transition="in" filter="fade">
                                      <p:cBhvr>
                                        <p:cTn id="634" dur="250"/>
                                        <p:tgtEl>
                                          <p:spTgt spid="238"/>
                                        </p:tgtEl>
                                      </p:cBhvr>
                                    </p:animEffect>
                                  </p:childTnLst>
                                </p:cTn>
                              </p:par>
                              <p:par>
                                <p:cTn id="635" presetID="10" presetClass="entr" presetSubtype="0" fill="hold" grpId="0" nodeType="withEffect">
                                  <p:stCondLst>
                                    <p:cond delay="0"/>
                                  </p:stCondLst>
                                  <p:childTnLst>
                                    <p:set>
                                      <p:cBhvr>
                                        <p:cTn id="636" dur="1" fill="hold">
                                          <p:stCondLst>
                                            <p:cond delay="0"/>
                                          </p:stCondLst>
                                        </p:cTn>
                                        <p:tgtEl>
                                          <p:spTgt spid="239"/>
                                        </p:tgtEl>
                                        <p:attrNameLst>
                                          <p:attrName>style.visibility</p:attrName>
                                        </p:attrNameLst>
                                      </p:cBhvr>
                                      <p:to>
                                        <p:strVal val="visible"/>
                                      </p:to>
                                    </p:set>
                                    <p:animEffect transition="in" filter="fade">
                                      <p:cBhvr>
                                        <p:cTn id="637" dur="250"/>
                                        <p:tgtEl>
                                          <p:spTgt spid="239"/>
                                        </p:tgtEl>
                                      </p:cBhvr>
                                    </p:animEffect>
                                  </p:childTnLst>
                                </p:cTn>
                              </p:par>
                            </p:childTnLst>
                          </p:cTn>
                        </p:par>
                        <p:par>
                          <p:cTn id="638" fill="hold">
                            <p:stCondLst>
                              <p:cond delay="820"/>
                            </p:stCondLst>
                            <p:childTnLst>
                              <p:par>
                                <p:cTn id="639" presetID="10" presetClass="entr" presetSubtype="0" fill="hold" grpId="0" nodeType="afterEffect">
                                  <p:stCondLst>
                                    <p:cond delay="0"/>
                                  </p:stCondLst>
                                  <p:childTnLst>
                                    <p:set>
                                      <p:cBhvr>
                                        <p:cTn id="640" dur="1" fill="hold">
                                          <p:stCondLst>
                                            <p:cond delay="0"/>
                                          </p:stCondLst>
                                        </p:cTn>
                                        <p:tgtEl>
                                          <p:spTgt spid="240"/>
                                        </p:tgtEl>
                                        <p:attrNameLst>
                                          <p:attrName>style.visibility</p:attrName>
                                        </p:attrNameLst>
                                      </p:cBhvr>
                                      <p:to>
                                        <p:strVal val="visible"/>
                                      </p:to>
                                    </p:set>
                                    <p:animEffect transition="in" filter="fade">
                                      <p:cBhvr>
                                        <p:cTn id="641" dur="250"/>
                                        <p:tgtEl>
                                          <p:spTgt spid="240"/>
                                        </p:tgtEl>
                                      </p:cBhvr>
                                    </p:animEffect>
                                  </p:childTnLst>
                                </p:cTn>
                              </p:par>
                              <p:par>
                                <p:cTn id="642" presetID="10" presetClass="entr" presetSubtype="0" fill="hold" grpId="0" nodeType="withEffect">
                                  <p:stCondLst>
                                    <p:cond delay="0"/>
                                  </p:stCondLst>
                                  <p:childTnLst>
                                    <p:set>
                                      <p:cBhvr>
                                        <p:cTn id="643" dur="1" fill="hold">
                                          <p:stCondLst>
                                            <p:cond delay="0"/>
                                          </p:stCondLst>
                                        </p:cTn>
                                        <p:tgtEl>
                                          <p:spTgt spid="241"/>
                                        </p:tgtEl>
                                        <p:attrNameLst>
                                          <p:attrName>style.visibility</p:attrName>
                                        </p:attrNameLst>
                                      </p:cBhvr>
                                      <p:to>
                                        <p:strVal val="visible"/>
                                      </p:to>
                                    </p:set>
                                    <p:animEffect transition="in" filter="fade">
                                      <p:cBhvr>
                                        <p:cTn id="644" dur="250"/>
                                        <p:tgtEl>
                                          <p:spTgt spid="241"/>
                                        </p:tgtEl>
                                      </p:cBhvr>
                                    </p:animEffect>
                                  </p:childTnLst>
                                </p:cTn>
                              </p:par>
                              <p:par>
                                <p:cTn id="645" presetID="10" presetClass="entr" presetSubtype="0" fill="hold" grpId="0" nodeType="withEffect">
                                  <p:stCondLst>
                                    <p:cond delay="0"/>
                                  </p:stCondLst>
                                  <p:childTnLst>
                                    <p:set>
                                      <p:cBhvr>
                                        <p:cTn id="646" dur="1" fill="hold">
                                          <p:stCondLst>
                                            <p:cond delay="0"/>
                                          </p:stCondLst>
                                        </p:cTn>
                                        <p:tgtEl>
                                          <p:spTgt spid="242"/>
                                        </p:tgtEl>
                                        <p:attrNameLst>
                                          <p:attrName>style.visibility</p:attrName>
                                        </p:attrNameLst>
                                      </p:cBhvr>
                                      <p:to>
                                        <p:strVal val="visible"/>
                                      </p:to>
                                    </p:set>
                                    <p:animEffect transition="in" filter="fade">
                                      <p:cBhvr>
                                        <p:cTn id="647" dur="250"/>
                                        <p:tgtEl>
                                          <p:spTgt spid="242"/>
                                        </p:tgtEl>
                                      </p:cBhvr>
                                    </p:animEffect>
                                  </p:childTnLst>
                                </p:cTn>
                              </p:par>
                              <p:par>
                                <p:cTn id="648" presetID="10" presetClass="entr" presetSubtype="0" fill="hold" grpId="0" nodeType="withEffect">
                                  <p:stCondLst>
                                    <p:cond delay="0"/>
                                  </p:stCondLst>
                                  <p:childTnLst>
                                    <p:set>
                                      <p:cBhvr>
                                        <p:cTn id="649" dur="1" fill="hold">
                                          <p:stCondLst>
                                            <p:cond delay="0"/>
                                          </p:stCondLst>
                                        </p:cTn>
                                        <p:tgtEl>
                                          <p:spTgt spid="243"/>
                                        </p:tgtEl>
                                        <p:attrNameLst>
                                          <p:attrName>style.visibility</p:attrName>
                                        </p:attrNameLst>
                                      </p:cBhvr>
                                      <p:to>
                                        <p:strVal val="visible"/>
                                      </p:to>
                                    </p:set>
                                    <p:animEffect transition="in" filter="fade">
                                      <p:cBhvr>
                                        <p:cTn id="650" dur="250"/>
                                        <p:tgtEl>
                                          <p:spTgt spid="243"/>
                                        </p:tgtEl>
                                      </p:cBhvr>
                                    </p:animEffect>
                                  </p:childTnLst>
                                </p:cTn>
                              </p:par>
                              <p:par>
                                <p:cTn id="651" presetID="10" presetClass="entr" presetSubtype="0" fill="hold" grpId="0" nodeType="withEffect">
                                  <p:stCondLst>
                                    <p:cond delay="0"/>
                                  </p:stCondLst>
                                  <p:childTnLst>
                                    <p:set>
                                      <p:cBhvr>
                                        <p:cTn id="652" dur="1" fill="hold">
                                          <p:stCondLst>
                                            <p:cond delay="0"/>
                                          </p:stCondLst>
                                        </p:cTn>
                                        <p:tgtEl>
                                          <p:spTgt spid="244"/>
                                        </p:tgtEl>
                                        <p:attrNameLst>
                                          <p:attrName>style.visibility</p:attrName>
                                        </p:attrNameLst>
                                      </p:cBhvr>
                                      <p:to>
                                        <p:strVal val="visible"/>
                                      </p:to>
                                    </p:set>
                                    <p:animEffect transition="in" filter="fade">
                                      <p:cBhvr>
                                        <p:cTn id="653" dur="250"/>
                                        <p:tgtEl>
                                          <p:spTgt spid="244"/>
                                        </p:tgtEl>
                                      </p:cBhvr>
                                    </p:animEffect>
                                  </p:childTnLst>
                                </p:cTn>
                              </p:par>
                              <p:par>
                                <p:cTn id="654" presetID="10" presetClass="entr" presetSubtype="0" fill="hold" grpId="0" nodeType="withEffect">
                                  <p:stCondLst>
                                    <p:cond delay="0"/>
                                  </p:stCondLst>
                                  <p:childTnLst>
                                    <p:set>
                                      <p:cBhvr>
                                        <p:cTn id="655" dur="1" fill="hold">
                                          <p:stCondLst>
                                            <p:cond delay="0"/>
                                          </p:stCondLst>
                                        </p:cTn>
                                        <p:tgtEl>
                                          <p:spTgt spid="245"/>
                                        </p:tgtEl>
                                        <p:attrNameLst>
                                          <p:attrName>style.visibility</p:attrName>
                                        </p:attrNameLst>
                                      </p:cBhvr>
                                      <p:to>
                                        <p:strVal val="visible"/>
                                      </p:to>
                                    </p:set>
                                    <p:animEffect transition="in" filter="fade">
                                      <p:cBhvr>
                                        <p:cTn id="656" dur="250"/>
                                        <p:tgtEl>
                                          <p:spTgt spid="245"/>
                                        </p:tgtEl>
                                      </p:cBhvr>
                                    </p:animEffect>
                                  </p:childTnLst>
                                </p:cTn>
                              </p:par>
                              <p:par>
                                <p:cTn id="657" presetID="10" presetClass="entr" presetSubtype="0" fill="hold" grpId="0" nodeType="withEffect">
                                  <p:stCondLst>
                                    <p:cond delay="0"/>
                                  </p:stCondLst>
                                  <p:childTnLst>
                                    <p:set>
                                      <p:cBhvr>
                                        <p:cTn id="658" dur="1" fill="hold">
                                          <p:stCondLst>
                                            <p:cond delay="0"/>
                                          </p:stCondLst>
                                        </p:cTn>
                                        <p:tgtEl>
                                          <p:spTgt spid="246"/>
                                        </p:tgtEl>
                                        <p:attrNameLst>
                                          <p:attrName>style.visibility</p:attrName>
                                        </p:attrNameLst>
                                      </p:cBhvr>
                                      <p:to>
                                        <p:strVal val="visible"/>
                                      </p:to>
                                    </p:set>
                                    <p:animEffect transition="in" filter="fade">
                                      <p:cBhvr>
                                        <p:cTn id="659" dur="250"/>
                                        <p:tgtEl>
                                          <p:spTgt spid="246"/>
                                        </p:tgtEl>
                                      </p:cBhvr>
                                    </p:animEffect>
                                  </p:childTnLst>
                                </p:cTn>
                              </p:par>
                              <p:par>
                                <p:cTn id="660" presetID="10" presetClass="entr" presetSubtype="0" fill="hold" grpId="0" nodeType="withEffect">
                                  <p:stCondLst>
                                    <p:cond delay="0"/>
                                  </p:stCondLst>
                                  <p:childTnLst>
                                    <p:set>
                                      <p:cBhvr>
                                        <p:cTn id="661" dur="1" fill="hold">
                                          <p:stCondLst>
                                            <p:cond delay="0"/>
                                          </p:stCondLst>
                                        </p:cTn>
                                        <p:tgtEl>
                                          <p:spTgt spid="247"/>
                                        </p:tgtEl>
                                        <p:attrNameLst>
                                          <p:attrName>style.visibility</p:attrName>
                                        </p:attrNameLst>
                                      </p:cBhvr>
                                      <p:to>
                                        <p:strVal val="visible"/>
                                      </p:to>
                                    </p:set>
                                    <p:animEffect transition="in" filter="fade">
                                      <p:cBhvr>
                                        <p:cTn id="662" dur="250"/>
                                        <p:tgtEl>
                                          <p:spTgt spid="247"/>
                                        </p:tgtEl>
                                      </p:cBhvr>
                                    </p:animEffect>
                                  </p:childTnLst>
                                </p:cTn>
                              </p:par>
                              <p:par>
                                <p:cTn id="663" presetID="10" presetClass="entr" presetSubtype="0" fill="hold" grpId="0" nodeType="withEffect">
                                  <p:stCondLst>
                                    <p:cond delay="0"/>
                                  </p:stCondLst>
                                  <p:childTnLst>
                                    <p:set>
                                      <p:cBhvr>
                                        <p:cTn id="664" dur="1" fill="hold">
                                          <p:stCondLst>
                                            <p:cond delay="0"/>
                                          </p:stCondLst>
                                        </p:cTn>
                                        <p:tgtEl>
                                          <p:spTgt spid="248"/>
                                        </p:tgtEl>
                                        <p:attrNameLst>
                                          <p:attrName>style.visibility</p:attrName>
                                        </p:attrNameLst>
                                      </p:cBhvr>
                                      <p:to>
                                        <p:strVal val="visible"/>
                                      </p:to>
                                    </p:set>
                                    <p:animEffect transition="in" filter="fade">
                                      <p:cBhvr>
                                        <p:cTn id="665" dur="250"/>
                                        <p:tgtEl>
                                          <p:spTgt spid="248"/>
                                        </p:tgtEl>
                                      </p:cBhvr>
                                    </p:animEffect>
                                  </p:childTnLst>
                                </p:cTn>
                              </p:par>
                              <p:par>
                                <p:cTn id="666" presetID="10" presetClass="entr" presetSubtype="0" fill="hold" grpId="0" nodeType="withEffect">
                                  <p:stCondLst>
                                    <p:cond delay="0"/>
                                  </p:stCondLst>
                                  <p:childTnLst>
                                    <p:set>
                                      <p:cBhvr>
                                        <p:cTn id="667" dur="1" fill="hold">
                                          <p:stCondLst>
                                            <p:cond delay="0"/>
                                          </p:stCondLst>
                                        </p:cTn>
                                        <p:tgtEl>
                                          <p:spTgt spid="249"/>
                                        </p:tgtEl>
                                        <p:attrNameLst>
                                          <p:attrName>style.visibility</p:attrName>
                                        </p:attrNameLst>
                                      </p:cBhvr>
                                      <p:to>
                                        <p:strVal val="visible"/>
                                      </p:to>
                                    </p:set>
                                    <p:animEffect transition="in" filter="fade">
                                      <p:cBhvr>
                                        <p:cTn id="668" dur="250"/>
                                        <p:tgtEl>
                                          <p:spTgt spid="249"/>
                                        </p:tgtEl>
                                      </p:cBhvr>
                                    </p:animEffect>
                                  </p:childTnLst>
                                </p:cTn>
                              </p:par>
                              <p:par>
                                <p:cTn id="669" presetID="10" presetClass="entr" presetSubtype="0" fill="hold" grpId="0" nodeType="withEffect">
                                  <p:stCondLst>
                                    <p:cond delay="0"/>
                                  </p:stCondLst>
                                  <p:childTnLst>
                                    <p:set>
                                      <p:cBhvr>
                                        <p:cTn id="670" dur="1" fill="hold">
                                          <p:stCondLst>
                                            <p:cond delay="0"/>
                                          </p:stCondLst>
                                        </p:cTn>
                                        <p:tgtEl>
                                          <p:spTgt spid="250"/>
                                        </p:tgtEl>
                                        <p:attrNameLst>
                                          <p:attrName>style.visibility</p:attrName>
                                        </p:attrNameLst>
                                      </p:cBhvr>
                                      <p:to>
                                        <p:strVal val="visible"/>
                                      </p:to>
                                    </p:set>
                                    <p:animEffect transition="in" filter="fade">
                                      <p:cBhvr>
                                        <p:cTn id="671" dur="250"/>
                                        <p:tgtEl>
                                          <p:spTgt spid="250"/>
                                        </p:tgtEl>
                                      </p:cBhvr>
                                    </p:animEffect>
                                  </p:childTnLst>
                                </p:cTn>
                              </p:par>
                            </p:childTnLst>
                          </p:cTn>
                        </p:par>
                        <p:par>
                          <p:cTn id="672" fill="hold">
                            <p:stCondLst>
                              <p:cond delay="1340"/>
                            </p:stCondLst>
                            <p:childTnLst>
                              <p:par>
                                <p:cTn id="673" presetID="10" presetClass="entr" presetSubtype="0" fill="hold" grpId="0" nodeType="afterEffect">
                                  <p:stCondLst>
                                    <p:cond delay="0"/>
                                  </p:stCondLst>
                                  <p:childTnLst>
                                    <p:set>
                                      <p:cBhvr>
                                        <p:cTn id="674" dur="1" fill="hold">
                                          <p:stCondLst>
                                            <p:cond delay="0"/>
                                          </p:stCondLst>
                                        </p:cTn>
                                        <p:tgtEl>
                                          <p:spTgt spid="251"/>
                                        </p:tgtEl>
                                        <p:attrNameLst>
                                          <p:attrName>style.visibility</p:attrName>
                                        </p:attrNameLst>
                                      </p:cBhvr>
                                      <p:to>
                                        <p:strVal val="visible"/>
                                      </p:to>
                                    </p:set>
                                    <p:animEffect transition="in" filter="fade">
                                      <p:cBhvr>
                                        <p:cTn id="675" dur="250"/>
                                        <p:tgtEl>
                                          <p:spTgt spid="251"/>
                                        </p:tgtEl>
                                      </p:cBhvr>
                                    </p:animEffect>
                                  </p:childTnLst>
                                </p:cTn>
                              </p:par>
                              <p:par>
                                <p:cTn id="676" presetID="10" presetClass="entr" presetSubtype="0" fill="hold" grpId="0" nodeType="withEffect">
                                  <p:stCondLst>
                                    <p:cond delay="0"/>
                                  </p:stCondLst>
                                  <p:childTnLst>
                                    <p:set>
                                      <p:cBhvr>
                                        <p:cTn id="677" dur="1" fill="hold">
                                          <p:stCondLst>
                                            <p:cond delay="0"/>
                                          </p:stCondLst>
                                        </p:cTn>
                                        <p:tgtEl>
                                          <p:spTgt spid="252"/>
                                        </p:tgtEl>
                                        <p:attrNameLst>
                                          <p:attrName>style.visibility</p:attrName>
                                        </p:attrNameLst>
                                      </p:cBhvr>
                                      <p:to>
                                        <p:strVal val="visible"/>
                                      </p:to>
                                    </p:set>
                                    <p:animEffect transition="in" filter="fade">
                                      <p:cBhvr>
                                        <p:cTn id="678" dur="250"/>
                                        <p:tgtEl>
                                          <p:spTgt spid="252"/>
                                        </p:tgtEl>
                                      </p:cBhvr>
                                    </p:animEffect>
                                  </p:childTnLst>
                                </p:cTn>
                              </p:par>
                              <p:par>
                                <p:cTn id="679" presetID="10" presetClass="entr" presetSubtype="0" fill="hold" grpId="0" nodeType="withEffect">
                                  <p:stCondLst>
                                    <p:cond delay="0"/>
                                  </p:stCondLst>
                                  <p:childTnLst>
                                    <p:set>
                                      <p:cBhvr>
                                        <p:cTn id="680" dur="1" fill="hold">
                                          <p:stCondLst>
                                            <p:cond delay="0"/>
                                          </p:stCondLst>
                                        </p:cTn>
                                        <p:tgtEl>
                                          <p:spTgt spid="253"/>
                                        </p:tgtEl>
                                        <p:attrNameLst>
                                          <p:attrName>style.visibility</p:attrName>
                                        </p:attrNameLst>
                                      </p:cBhvr>
                                      <p:to>
                                        <p:strVal val="visible"/>
                                      </p:to>
                                    </p:set>
                                    <p:animEffect transition="in" filter="fade">
                                      <p:cBhvr>
                                        <p:cTn id="681" dur="250"/>
                                        <p:tgtEl>
                                          <p:spTgt spid="253"/>
                                        </p:tgtEl>
                                      </p:cBhvr>
                                    </p:animEffect>
                                  </p:childTnLst>
                                </p:cTn>
                              </p:par>
                              <p:par>
                                <p:cTn id="682" presetID="10" presetClass="entr" presetSubtype="0" fill="hold" grpId="0" nodeType="withEffect">
                                  <p:stCondLst>
                                    <p:cond delay="0"/>
                                  </p:stCondLst>
                                  <p:childTnLst>
                                    <p:set>
                                      <p:cBhvr>
                                        <p:cTn id="683" dur="1" fill="hold">
                                          <p:stCondLst>
                                            <p:cond delay="0"/>
                                          </p:stCondLst>
                                        </p:cTn>
                                        <p:tgtEl>
                                          <p:spTgt spid="254"/>
                                        </p:tgtEl>
                                        <p:attrNameLst>
                                          <p:attrName>style.visibility</p:attrName>
                                        </p:attrNameLst>
                                      </p:cBhvr>
                                      <p:to>
                                        <p:strVal val="visible"/>
                                      </p:to>
                                    </p:set>
                                    <p:animEffect transition="in" filter="fade">
                                      <p:cBhvr>
                                        <p:cTn id="684" dur="250"/>
                                        <p:tgtEl>
                                          <p:spTgt spid="254"/>
                                        </p:tgtEl>
                                      </p:cBhvr>
                                    </p:animEffect>
                                  </p:childTnLst>
                                </p:cTn>
                              </p:par>
                              <p:par>
                                <p:cTn id="685" presetID="10" presetClass="entr" presetSubtype="0" fill="hold" grpId="0" nodeType="withEffect">
                                  <p:stCondLst>
                                    <p:cond delay="0"/>
                                  </p:stCondLst>
                                  <p:childTnLst>
                                    <p:set>
                                      <p:cBhvr>
                                        <p:cTn id="686" dur="1" fill="hold">
                                          <p:stCondLst>
                                            <p:cond delay="0"/>
                                          </p:stCondLst>
                                        </p:cTn>
                                        <p:tgtEl>
                                          <p:spTgt spid="255"/>
                                        </p:tgtEl>
                                        <p:attrNameLst>
                                          <p:attrName>style.visibility</p:attrName>
                                        </p:attrNameLst>
                                      </p:cBhvr>
                                      <p:to>
                                        <p:strVal val="visible"/>
                                      </p:to>
                                    </p:set>
                                    <p:animEffect transition="in" filter="fade">
                                      <p:cBhvr>
                                        <p:cTn id="687" dur="250"/>
                                        <p:tgtEl>
                                          <p:spTgt spid="255"/>
                                        </p:tgtEl>
                                      </p:cBhvr>
                                    </p:animEffect>
                                  </p:childTnLst>
                                </p:cTn>
                              </p:par>
                              <p:par>
                                <p:cTn id="688" presetID="10" presetClass="entr" presetSubtype="0" fill="hold" grpId="0" nodeType="withEffect">
                                  <p:stCondLst>
                                    <p:cond delay="0"/>
                                  </p:stCondLst>
                                  <p:childTnLst>
                                    <p:set>
                                      <p:cBhvr>
                                        <p:cTn id="689" dur="1" fill="hold">
                                          <p:stCondLst>
                                            <p:cond delay="0"/>
                                          </p:stCondLst>
                                        </p:cTn>
                                        <p:tgtEl>
                                          <p:spTgt spid="256"/>
                                        </p:tgtEl>
                                        <p:attrNameLst>
                                          <p:attrName>style.visibility</p:attrName>
                                        </p:attrNameLst>
                                      </p:cBhvr>
                                      <p:to>
                                        <p:strVal val="visible"/>
                                      </p:to>
                                    </p:set>
                                    <p:animEffect transition="in" filter="fade">
                                      <p:cBhvr>
                                        <p:cTn id="690" dur="250"/>
                                        <p:tgtEl>
                                          <p:spTgt spid="256"/>
                                        </p:tgtEl>
                                      </p:cBhvr>
                                    </p:animEffect>
                                  </p:childTnLst>
                                </p:cTn>
                              </p:par>
                              <p:par>
                                <p:cTn id="691" presetID="10" presetClass="entr" presetSubtype="0" fill="hold" grpId="0" nodeType="withEffect">
                                  <p:stCondLst>
                                    <p:cond delay="0"/>
                                  </p:stCondLst>
                                  <p:childTnLst>
                                    <p:set>
                                      <p:cBhvr>
                                        <p:cTn id="692" dur="1" fill="hold">
                                          <p:stCondLst>
                                            <p:cond delay="0"/>
                                          </p:stCondLst>
                                        </p:cTn>
                                        <p:tgtEl>
                                          <p:spTgt spid="257"/>
                                        </p:tgtEl>
                                        <p:attrNameLst>
                                          <p:attrName>style.visibility</p:attrName>
                                        </p:attrNameLst>
                                      </p:cBhvr>
                                      <p:to>
                                        <p:strVal val="visible"/>
                                      </p:to>
                                    </p:set>
                                    <p:animEffect transition="in" filter="fade">
                                      <p:cBhvr>
                                        <p:cTn id="693" dur="250"/>
                                        <p:tgtEl>
                                          <p:spTgt spid="257"/>
                                        </p:tgtEl>
                                      </p:cBhvr>
                                    </p:animEffect>
                                  </p:childTnLst>
                                </p:cTn>
                              </p:par>
                              <p:par>
                                <p:cTn id="694" presetID="10" presetClass="entr" presetSubtype="0" fill="hold" grpId="0" nodeType="withEffect">
                                  <p:stCondLst>
                                    <p:cond delay="0"/>
                                  </p:stCondLst>
                                  <p:childTnLst>
                                    <p:set>
                                      <p:cBhvr>
                                        <p:cTn id="695" dur="1" fill="hold">
                                          <p:stCondLst>
                                            <p:cond delay="0"/>
                                          </p:stCondLst>
                                        </p:cTn>
                                        <p:tgtEl>
                                          <p:spTgt spid="258"/>
                                        </p:tgtEl>
                                        <p:attrNameLst>
                                          <p:attrName>style.visibility</p:attrName>
                                        </p:attrNameLst>
                                      </p:cBhvr>
                                      <p:to>
                                        <p:strVal val="visible"/>
                                      </p:to>
                                    </p:set>
                                    <p:animEffect transition="in" filter="fade">
                                      <p:cBhvr>
                                        <p:cTn id="696" dur="250"/>
                                        <p:tgtEl>
                                          <p:spTgt spid="258"/>
                                        </p:tgtEl>
                                      </p:cBhvr>
                                    </p:animEffect>
                                  </p:childTnLst>
                                </p:cTn>
                              </p:par>
                              <p:par>
                                <p:cTn id="697" presetID="10" presetClass="entr" presetSubtype="0" fill="hold" grpId="0" nodeType="withEffect">
                                  <p:stCondLst>
                                    <p:cond delay="0"/>
                                  </p:stCondLst>
                                  <p:childTnLst>
                                    <p:set>
                                      <p:cBhvr>
                                        <p:cTn id="698" dur="1" fill="hold">
                                          <p:stCondLst>
                                            <p:cond delay="0"/>
                                          </p:stCondLst>
                                        </p:cTn>
                                        <p:tgtEl>
                                          <p:spTgt spid="259"/>
                                        </p:tgtEl>
                                        <p:attrNameLst>
                                          <p:attrName>style.visibility</p:attrName>
                                        </p:attrNameLst>
                                      </p:cBhvr>
                                      <p:to>
                                        <p:strVal val="visible"/>
                                      </p:to>
                                    </p:set>
                                    <p:animEffect transition="in" filter="fade">
                                      <p:cBhvr>
                                        <p:cTn id="699" dur="250"/>
                                        <p:tgtEl>
                                          <p:spTgt spid="259"/>
                                        </p:tgtEl>
                                      </p:cBhvr>
                                    </p:animEffect>
                                  </p:childTnLst>
                                </p:cTn>
                              </p:par>
                              <p:par>
                                <p:cTn id="700" presetID="10" presetClass="entr" presetSubtype="0" fill="hold" grpId="0" nodeType="withEffect">
                                  <p:stCondLst>
                                    <p:cond delay="0"/>
                                  </p:stCondLst>
                                  <p:childTnLst>
                                    <p:set>
                                      <p:cBhvr>
                                        <p:cTn id="701" dur="1" fill="hold">
                                          <p:stCondLst>
                                            <p:cond delay="0"/>
                                          </p:stCondLst>
                                        </p:cTn>
                                        <p:tgtEl>
                                          <p:spTgt spid="260"/>
                                        </p:tgtEl>
                                        <p:attrNameLst>
                                          <p:attrName>style.visibility</p:attrName>
                                        </p:attrNameLst>
                                      </p:cBhvr>
                                      <p:to>
                                        <p:strVal val="visible"/>
                                      </p:to>
                                    </p:set>
                                    <p:animEffect transition="in" filter="fade">
                                      <p:cBhvr>
                                        <p:cTn id="702" dur="250"/>
                                        <p:tgtEl>
                                          <p:spTgt spid="260"/>
                                        </p:tgtEl>
                                      </p:cBhvr>
                                    </p:animEffect>
                                  </p:childTnLst>
                                </p:cTn>
                              </p:par>
                              <p:par>
                                <p:cTn id="703" presetID="10" presetClass="entr" presetSubtype="0" fill="hold" grpId="0" nodeType="withEffect">
                                  <p:stCondLst>
                                    <p:cond delay="0"/>
                                  </p:stCondLst>
                                  <p:childTnLst>
                                    <p:set>
                                      <p:cBhvr>
                                        <p:cTn id="704" dur="1" fill="hold">
                                          <p:stCondLst>
                                            <p:cond delay="0"/>
                                          </p:stCondLst>
                                        </p:cTn>
                                        <p:tgtEl>
                                          <p:spTgt spid="261"/>
                                        </p:tgtEl>
                                        <p:attrNameLst>
                                          <p:attrName>style.visibility</p:attrName>
                                        </p:attrNameLst>
                                      </p:cBhvr>
                                      <p:to>
                                        <p:strVal val="visible"/>
                                      </p:to>
                                    </p:set>
                                    <p:animEffect transition="in" filter="fade">
                                      <p:cBhvr>
                                        <p:cTn id="705" dur="250"/>
                                        <p:tgtEl>
                                          <p:spTgt spid="261"/>
                                        </p:tgtEl>
                                      </p:cBhvr>
                                    </p:animEffect>
                                  </p:childTnLst>
                                </p:cTn>
                              </p:par>
                            </p:childTnLst>
                          </p:cTn>
                        </p:par>
                        <p:par>
                          <p:cTn id="706" fill="hold">
                            <p:stCondLst>
                              <p:cond delay="1860"/>
                            </p:stCondLst>
                            <p:childTnLst>
                              <p:par>
                                <p:cTn id="707" presetID="10" presetClass="entr" presetSubtype="0" fill="hold" grpId="0" nodeType="afterEffect">
                                  <p:stCondLst>
                                    <p:cond delay="0"/>
                                  </p:stCondLst>
                                  <p:childTnLst>
                                    <p:set>
                                      <p:cBhvr>
                                        <p:cTn id="708" dur="1" fill="hold">
                                          <p:stCondLst>
                                            <p:cond delay="0"/>
                                          </p:stCondLst>
                                        </p:cTn>
                                        <p:tgtEl>
                                          <p:spTgt spid="262"/>
                                        </p:tgtEl>
                                        <p:attrNameLst>
                                          <p:attrName>style.visibility</p:attrName>
                                        </p:attrNameLst>
                                      </p:cBhvr>
                                      <p:to>
                                        <p:strVal val="visible"/>
                                      </p:to>
                                    </p:set>
                                    <p:animEffect transition="in" filter="fade">
                                      <p:cBhvr>
                                        <p:cTn id="709" dur="250"/>
                                        <p:tgtEl>
                                          <p:spTgt spid="262"/>
                                        </p:tgtEl>
                                      </p:cBhvr>
                                    </p:animEffect>
                                  </p:childTnLst>
                                </p:cTn>
                              </p:par>
                              <p:par>
                                <p:cTn id="710" presetID="10" presetClass="entr" presetSubtype="0" fill="hold" grpId="0" nodeType="withEffect">
                                  <p:stCondLst>
                                    <p:cond delay="0"/>
                                  </p:stCondLst>
                                  <p:childTnLst>
                                    <p:set>
                                      <p:cBhvr>
                                        <p:cTn id="711" dur="1" fill="hold">
                                          <p:stCondLst>
                                            <p:cond delay="0"/>
                                          </p:stCondLst>
                                        </p:cTn>
                                        <p:tgtEl>
                                          <p:spTgt spid="263"/>
                                        </p:tgtEl>
                                        <p:attrNameLst>
                                          <p:attrName>style.visibility</p:attrName>
                                        </p:attrNameLst>
                                      </p:cBhvr>
                                      <p:to>
                                        <p:strVal val="visible"/>
                                      </p:to>
                                    </p:set>
                                    <p:animEffect transition="in" filter="fade">
                                      <p:cBhvr>
                                        <p:cTn id="712" dur="250"/>
                                        <p:tgtEl>
                                          <p:spTgt spid="263"/>
                                        </p:tgtEl>
                                      </p:cBhvr>
                                    </p:animEffect>
                                  </p:childTnLst>
                                </p:cTn>
                              </p:par>
                              <p:par>
                                <p:cTn id="713" presetID="10" presetClass="entr" presetSubtype="0" fill="hold" grpId="0" nodeType="withEffect">
                                  <p:stCondLst>
                                    <p:cond delay="0"/>
                                  </p:stCondLst>
                                  <p:childTnLst>
                                    <p:set>
                                      <p:cBhvr>
                                        <p:cTn id="714" dur="1" fill="hold">
                                          <p:stCondLst>
                                            <p:cond delay="0"/>
                                          </p:stCondLst>
                                        </p:cTn>
                                        <p:tgtEl>
                                          <p:spTgt spid="264"/>
                                        </p:tgtEl>
                                        <p:attrNameLst>
                                          <p:attrName>style.visibility</p:attrName>
                                        </p:attrNameLst>
                                      </p:cBhvr>
                                      <p:to>
                                        <p:strVal val="visible"/>
                                      </p:to>
                                    </p:set>
                                    <p:animEffect transition="in" filter="fade">
                                      <p:cBhvr>
                                        <p:cTn id="715" dur="250"/>
                                        <p:tgtEl>
                                          <p:spTgt spid="264"/>
                                        </p:tgtEl>
                                      </p:cBhvr>
                                    </p:animEffect>
                                  </p:childTnLst>
                                </p:cTn>
                              </p:par>
                              <p:par>
                                <p:cTn id="716" presetID="10" presetClass="entr" presetSubtype="0" fill="hold" grpId="0" nodeType="withEffect">
                                  <p:stCondLst>
                                    <p:cond delay="0"/>
                                  </p:stCondLst>
                                  <p:childTnLst>
                                    <p:set>
                                      <p:cBhvr>
                                        <p:cTn id="717" dur="1" fill="hold">
                                          <p:stCondLst>
                                            <p:cond delay="0"/>
                                          </p:stCondLst>
                                        </p:cTn>
                                        <p:tgtEl>
                                          <p:spTgt spid="265"/>
                                        </p:tgtEl>
                                        <p:attrNameLst>
                                          <p:attrName>style.visibility</p:attrName>
                                        </p:attrNameLst>
                                      </p:cBhvr>
                                      <p:to>
                                        <p:strVal val="visible"/>
                                      </p:to>
                                    </p:set>
                                    <p:animEffect transition="in" filter="fade">
                                      <p:cBhvr>
                                        <p:cTn id="718" dur="250"/>
                                        <p:tgtEl>
                                          <p:spTgt spid="265"/>
                                        </p:tgtEl>
                                      </p:cBhvr>
                                    </p:animEffect>
                                  </p:childTnLst>
                                </p:cTn>
                              </p:par>
                              <p:par>
                                <p:cTn id="719" presetID="10" presetClass="entr" presetSubtype="0" fill="hold" grpId="0" nodeType="withEffect">
                                  <p:stCondLst>
                                    <p:cond delay="0"/>
                                  </p:stCondLst>
                                  <p:childTnLst>
                                    <p:set>
                                      <p:cBhvr>
                                        <p:cTn id="720" dur="1" fill="hold">
                                          <p:stCondLst>
                                            <p:cond delay="0"/>
                                          </p:stCondLst>
                                        </p:cTn>
                                        <p:tgtEl>
                                          <p:spTgt spid="266"/>
                                        </p:tgtEl>
                                        <p:attrNameLst>
                                          <p:attrName>style.visibility</p:attrName>
                                        </p:attrNameLst>
                                      </p:cBhvr>
                                      <p:to>
                                        <p:strVal val="visible"/>
                                      </p:to>
                                    </p:set>
                                    <p:animEffect transition="in" filter="fade">
                                      <p:cBhvr>
                                        <p:cTn id="721" dur="250"/>
                                        <p:tgtEl>
                                          <p:spTgt spid="266"/>
                                        </p:tgtEl>
                                      </p:cBhvr>
                                    </p:animEffect>
                                  </p:childTnLst>
                                </p:cTn>
                              </p:par>
                              <p:par>
                                <p:cTn id="722" presetID="10" presetClass="entr" presetSubtype="0" fill="hold" grpId="0" nodeType="withEffect">
                                  <p:stCondLst>
                                    <p:cond delay="0"/>
                                  </p:stCondLst>
                                  <p:childTnLst>
                                    <p:set>
                                      <p:cBhvr>
                                        <p:cTn id="723" dur="1" fill="hold">
                                          <p:stCondLst>
                                            <p:cond delay="0"/>
                                          </p:stCondLst>
                                        </p:cTn>
                                        <p:tgtEl>
                                          <p:spTgt spid="267"/>
                                        </p:tgtEl>
                                        <p:attrNameLst>
                                          <p:attrName>style.visibility</p:attrName>
                                        </p:attrNameLst>
                                      </p:cBhvr>
                                      <p:to>
                                        <p:strVal val="visible"/>
                                      </p:to>
                                    </p:set>
                                    <p:animEffect transition="in" filter="fade">
                                      <p:cBhvr>
                                        <p:cTn id="724" dur="250"/>
                                        <p:tgtEl>
                                          <p:spTgt spid="267"/>
                                        </p:tgtEl>
                                      </p:cBhvr>
                                    </p:animEffect>
                                  </p:childTnLst>
                                </p:cTn>
                              </p:par>
                              <p:par>
                                <p:cTn id="725" presetID="10" presetClass="entr" presetSubtype="0" fill="hold" grpId="0" nodeType="withEffect">
                                  <p:stCondLst>
                                    <p:cond delay="0"/>
                                  </p:stCondLst>
                                  <p:childTnLst>
                                    <p:set>
                                      <p:cBhvr>
                                        <p:cTn id="726" dur="1" fill="hold">
                                          <p:stCondLst>
                                            <p:cond delay="0"/>
                                          </p:stCondLst>
                                        </p:cTn>
                                        <p:tgtEl>
                                          <p:spTgt spid="268"/>
                                        </p:tgtEl>
                                        <p:attrNameLst>
                                          <p:attrName>style.visibility</p:attrName>
                                        </p:attrNameLst>
                                      </p:cBhvr>
                                      <p:to>
                                        <p:strVal val="visible"/>
                                      </p:to>
                                    </p:set>
                                    <p:animEffect transition="in" filter="fade">
                                      <p:cBhvr>
                                        <p:cTn id="727" dur="250"/>
                                        <p:tgtEl>
                                          <p:spTgt spid="268"/>
                                        </p:tgtEl>
                                      </p:cBhvr>
                                    </p:animEffect>
                                  </p:childTnLst>
                                </p:cTn>
                              </p:par>
                              <p:par>
                                <p:cTn id="728" presetID="10" presetClass="entr" presetSubtype="0" fill="hold" grpId="0" nodeType="withEffect">
                                  <p:stCondLst>
                                    <p:cond delay="0"/>
                                  </p:stCondLst>
                                  <p:childTnLst>
                                    <p:set>
                                      <p:cBhvr>
                                        <p:cTn id="729" dur="1" fill="hold">
                                          <p:stCondLst>
                                            <p:cond delay="0"/>
                                          </p:stCondLst>
                                        </p:cTn>
                                        <p:tgtEl>
                                          <p:spTgt spid="269"/>
                                        </p:tgtEl>
                                        <p:attrNameLst>
                                          <p:attrName>style.visibility</p:attrName>
                                        </p:attrNameLst>
                                      </p:cBhvr>
                                      <p:to>
                                        <p:strVal val="visible"/>
                                      </p:to>
                                    </p:set>
                                    <p:animEffect transition="in" filter="fade">
                                      <p:cBhvr>
                                        <p:cTn id="730" dur="250"/>
                                        <p:tgtEl>
                                          <p:spTgt spid="269"/>
                                        </p:tgtEl>
                                      </p:cBhvr>
                                    </p:animEffect>
                                  </p:childTnLst>
                                </p:cTn>
                              </p:par>
                              <p:par>
                                <p:cTn id="731" presetID="10" presetClass="entr" presetSubtype="0" fill="hold" grpId="0" nodeType="withEffect">
                                  <p:stCondLst>
                                    <p:cond delay="0"/>
                                  </p:stCondLst>
                                  <p:childTnLst>
                                    <p:set>
                                      <p:cBhvr>
                                        <p:cTn id="732" dur="1" fill="hold">
                                          <p:stCondLst>
                                            <p:cond delay="0"/>
                                          </p:stCondLst>
                                        </p:cTn>
                                        <p:tgtEl>
                                          <p:spTgt spid="270"/>
                                        </p:tgtEl>
                                        <p:attrNameLst>
                                          <p:attrName>style.visibility</p:attrName>
                                        </p:attrNameLst>
                                      </p:cBhvr>
                                      <p:to>
                                        <p:strVal val="visible"/>
                                      </p:to>
                                    </p:set>
                                    <p:animEffect transition="in" filter="fade">
                                      <p:cBhvr>
                                        <p:cTn id="733" dur="250"/>
                                        <p:tgtEl>
                                          <p:spTgt spid="270"/>
                                        </p:tgtEl>
                                      </p:cBhvr>
                                    </p:animEffect>
                                  </p:childTnLst>
                                </p:cTn>
                              </p:par>
                              <p:par>
                                <p:cTn id="734" presetID="10" presetClass="entr" presetSubtype="0" fill="hold" grpId="0" nodeType="withEffect">
                                  <p:stCondLst>
                                    <p:cond delay="0"/>
                                  </p:stCondLst>
                                  <p:childTnLst>
                                    <p:set>
                                      <p:cBhvr>
                                        <p:cTn id="735" dur="1" fill="hold">
                                          <p:stCondLst>
                                            <p:cond delay="0"/>
                                          </p:stCondLst>
                                        </p:cTn>
                                        <p:tgtEl>
                                          <p:spTgt spid="271"/>
                                        </p:tgtEl>
                                        <p:attrNameLst>
                                          <p:attrName>style.visibility</p:attrName>
                                        </p:attrNameLst>
                                      </p:cBhvr>
                                      <p:to>
                                        <p:strVal val="visible"/>
                                      </p:to>
                                    </p:set>
                                    <p:animEffect transition="in" filter="fade">
                                      <p:cBhvr>
                                        <p:cTn id="736" dur="250"/>
                                        <p:tgtEl>
                                          <p:spTgt spid="271"/>
                                        </p:tgtEl>
                                      </p:cBhvr>
                                    </p:animEffect>
                                  </p:childTnLst>
                                </p:cTn>
                              </p:par>
                              <p:par>
                                <p:cTn id="737" presetID="10" presetClass="entr" presetSubtype="0" fill="hold" grpId="0" nodeType="withEffect">
                                  <p:stCondLst>
                                    <p:cond delay="0"/>
                                  </p:stCondLst>
                                  <p:childTnLst>
                                    <p:set>
                                      <p:cBhvr>
                                        <p:cTn id="738" dur="1" fill="hold">
                                          <p:stCondLst>
                                            <p:cond delay="0"/>
                                          </p:stCondLst>
                                        </p:cTn>
                                        <p:tgtEl>
                                          <p:spTgt spid="272"/>
                                        </p:tgtEl>
                                        <p:attrNameLst>
                                          <p:attrName>style.visibility</p:attrName>
                                        </p:attrNameLst>
                                      </p:cBhvr>
                                      <p:to>
                                        <p:strVal val="visible"/>
                                      </p:to>
                                    </p:set>
                                    <p:animEffect transition="in" filter="fade">
                                      <p:cBhvr>
                                        <p:cTn id="739" dur="250"/>
                                        <p:tgtEl>
                                          <p:spTgt spid="272"/>
                                        </p:tgtEl>
                                      </p:cBhvr>
                                    </p:animEffect>
                                  </p:childTnLst>
                                </p:cTn>
                              </p:par>
                            </p:childTnLst>
                          </p:cTn>
                        </p:par>
                        <p:par>
                          <p:cTn id="740" fill="hold">
                            <p:stCondLst>
                              <p:cond delay="2380"/>
                            </p:stCondLst>
                            <p:childTnLst>
                              <p:par>
                                <p:cTn id="741" presetID="10" presetClass="entr" presetSubtype="0" fill="hold" grpId="0" nodeType="afterEffect">
                                  <p:stCondLst>
                                    <p:cond delay="0"/>
                                  </p:stCondLst>
                                  <p:childTnLst>
                                    <p:set>
                                      <p:cBhvr>
                                        <p:cTn id="742" dur="1" fill="hold">
                                          <p:stCondLst>
                                            <p:cond delay="0"/>
                                          </p:stCondLst>
                                        </p:cTn>
                                        <p:tgtEl>
                                          <p:spTgt spid="273"/>
                                        </p:tgtEl>
                                        <p:attrNameLst>
                                          <p:attrName>style.visibility</p:attrName>
                                        </p:attrNameLst>
                                      </p:cBhvr>
                                      <p:to>
                                        <p:strVal val="visible"/>
                                      </p:to>
                                    </p:set>
                                    <p:animEffect transition="in" filter="fade">
                                      <p:cBhvr>
                                        <p:cTn id="743" dur="250"/>
                                        <p:tgtEl>
                                          <p:spTgt spid="273"/>
                                        </p:tgtEl>
                                      </p:cBhvr>
                                    </p:animEffect>
                                  </p:childTnLst>
                                </p:cTn>
                              </p:par>
                              <p:par>
                                <p:cTn id="744" presetID="10" presetClass="entr" presetSubtype="0" fill="hold" grpId="0" nodeType="withEffect">
                                  <p:stCondLst>
                                    <p:cond delay="0"/>
                                  </p:stCondLst>
                                  <p:childTnLst>
                                    <p:set>
                                      <p:cBhvr>
                                        <p:cTn id="745" dur="1" fill="hold">
                                          <p:stCondLst>
                                            <p:cond delay="0"/>
                                          </p:stCondLst>
                                        </p:cTn>
                                        <p:tgtEl>
                                          <p:spTgt spid="274"/>
                                        </p:tgtEl>
                                        <p:attrNameLst>
                                          <p:attrName>style.visibility</p:attrName>
                                        </p:attrNameLst>
                                      </p:cBhvr>
                                      <p:to>
                                        <p:strVal val="visible"/>
                                      </p:to>
                                    </p:set>
                                    <p:animEffect transition="in" filter="fade">
                                      <p:cBhvr>
                                        <p:cTn id="746" dur="250"/>
                                        <p:tgtEl>
                                          <p:spTgt spid="274"/>
                                        </p:tgtEl>
                                      </p:cBhvr>
                                    </p:animEffect>
                                  </p:childTnLst>
                                </p:cTn>
                              </p:par>
                              <p:par>
                                <p:cTn id="747" presetID="10" presetClass="entr" presetSubtype="0" fill="hold" grpId="0" nodeType="withEffect">
                                  <p:stCondLst>
                                    <p:cond delay="0"/>
                                  </p:stCondLst>
                                  <p:childTnLst>
                                    <p:set>
                                      <p:cBhvr>
                                        <p:cTn id="748" dur="1" fill="hold">
                                          <p:stCondLst>
                                            <p:cond delay="0"/>
                                          </p:stCondLst>
                                        </p:cTn>
                                        <p:tgtEl>
                                          <p:spTgt spid="275"/>
                                        </p:tgtEl>
                                        <p:attrNameLst>
                                          <p:attrName>style.visibility</p:attrName>
                                        </p:attrNameLst>
                                      </p:cBhvr>
                                      <p:to>
                                        <p:strVal val="visible"/>
                                      </p:to>
                                    </p:set>
                                    <p:animEffect transition="in" filter="fade">
                                      <p:cBhvr>
                                        <p:cTn id="749" dur="250"/>
                                        <p:tgtEl>
                                          <p:spTgt spid="275"/>
                                        </p:tgtEl>
                                      </p:cBhvr>
                                    </p:animEffect>
                                  </p:childTnLst>
                                </p:cTn>
                              </p:par>
                              <p:par>
                                <p:cTn id="750" presetID="10" presetClass="entr" presetSubtype="0" fill="hold" grpId="0" nodeType="withEffect">
                                  <p:stCondLst>
                                    <p:cond delay="0"/>
                                  </p:stCondLst>
                                  <p:childTnLst>
                                    <p:set>
                                      <p:cBhvr>
                                        <p:cTn id="751" dur="1" fill="hold">
                                          <p:stCondLst>
                                            <p:cond delay="0"/>
                                          </p:stCondLst>
                                        </p:cTn>
                                        <p:tgtEl>
                                          <p:spTgt spid="276"/>
                                        </p:tgtEl>
                                        <p:attrNameLst>
                                          <p:attrName>style.visibility</p:attrName>
                                        </p:attrNameLst>
                                      </p:cBhvr>
                                      <p:to>
                                        <p:strVal val="visible"/>
                                      </p:to>
                                    </p:set>
                                    <p:animEffect transition="in" filter="fade">
                                      <p:cBhvr>
                                        <p:cTn id="752" dur="250"/>
                                        <p:tgtEl>
                                          <p:spTgt spid="276"/>
                                        </p:tgtEl>
                                      </p:cBhvr>
                                    </p:animEffect>
                                  </p:childTnLst>
                                </p:cTn>
                              </p:par>
                              <p:par>
                                <p:cTn id="753" presetID="10" presetClass="entr" presetSubtype="0" fill="hold" grpId="0" nodeType="withEffect">
                                  <p:stCondLst>
                                    <p:cond delay="0"/>
                                  </p:stCondLst>
                                  <p:childTnLst>
                                    <p:set>
                                      <p:cBhvr>
                                        <p:cTn id="754" dur="1" fill="hold">
                                          <p:stCondLst>
                                            <p:cond delay="0"/>
                                          </p:stCondLst>
                                        </p:cTn>
                                        <p:tgtEl>
                                          <p:spTgt spid="277"/>
                                        </p:tgtEl>
                                        <p:attrNameLst>
                                          <p:attrName>style.visibility</p:attrName>
                                        </p:attrNameLst>
                                      </p:cBhvr>
                                      <p:to>
                                        <p:strVal val="visible"/>
                                      </p:to>
                                    </p:set>
                                    <p:animEffect transition="in" filter="fade">
                                      <p:cBhvr>
                                        <p:cTn id="755" dur="250"/>
                                        <p:tgtEl>
                                          <p:spTgt spid="277"/>
                                        </p:tgtEl>
                                      </p:cBhvr>
                                    </p:animEffect>
                                  </p:childTnLst>
                                </p:cTn>
                              </p:par>
                              <p:par>
                                <p:cTn id="756" presetID="10" presetClass="entr" presetSubtype="0" fill="hold" grpId="0" nodeType="withEffect">
                                  <p:stCondLst>
                                    <p:cond delay="0"/>
                                  </p:stCondLst>
                                  <p:childTnLst>
                                    <p:set>
                                      <p:cBhvr>
                                        <p:cTn id="757" dur="1" fill="hold">
                                          <p:stCondLst>
                                            <p:cond delay="0"/>
                                          </p:stCondLst>
                                        </p:cTn>
                                        <p:tgtEl>
                                          <p:spTgt spid="278"/>
                                        </p:tgtEl>
                                        <p:attrNameLst>
                                          <p:attrName>style.visibility</p:attrName>
                                        </p:attrNameLst>
                                      </p:cBhvr>
                                      <p:to>
                                        <p:strVal val="visible"/>
                                      </p:to>
                                    </p:set>
                                    <p:animEffect transition="in" filter="fade">
                                      <p:cBhvr>
                                        <p:cTn id="758" dur="250"/>
                                        <p:tgtEl>
                                          <p:spTgt spid="278"/>
                                        </p:tgtEl>
                                      </p:cBhvr>
                                    </p:animEffect>
                                  </p:childTnLst>
                                </p:cTn>
                              </p:par>
                              <p:par>
                                <p:cTn id="759" presetID="10" presetClass="entr" presetSubtype="0" fill="hold" grpId="0" nodeType="withEffect">
                                  <p:stCondLst>
                                    <p:cond delay="0"/>
                                  </p:stCondLst>
                                  <p:childTnLst>
                                    <p:set>
                                      <p:cBhvr>
                                        <p:cTn id="760" dur="1" fill="hold">
                                          <p:stCondLst>
                                            <p:cond delay="0"/>
                                          </p:stCondLst>
                                        </p:cTn>
                                        <p:tgtEl>
                                          <p:spTgt spid="279"/>
                                        </p:tgtEl>
                                        <p:attrNameLst>
                                          <p:attrName>style.visibility</p:attrName>
                                        </p:attrNameLst>
                                      </p:cBhvr>
                                      <p:to>
                                        <p:strVal val="visible"/>
                                      </p:to>
                                    </p:set>
                                    <p:animEffect transition="in" filter="fade">
                                      <p:cBhvr>
                                        <p:cTn id="761" dur="250"/>
                                        <p:tgtEl>
                                          <p:spTgt spid="279"/>
                                        </p:tgtEl>
                                      </p:cBhvr>
                                    </p:animEffect>
                                  </p:childTnLst>
                                </p:cTn>
                              </p:par>
                              <p:par>
                                <p:cTn id="762" presetID="10" presetClass="entr" presetSubtype="0" fill="hold" grpId="0" nodeType="withEffect">
                                  <p:stCondLst>
                                    <p:cond delay="0"/>
                                  </p:stCondLst>
                                  <p:childTnLst>
                                    <p:set>
                                      <p:cBhvr>
                                        <p:cTn id="763" dur="1" fill="hold">
                                          <p:stCondLst>
                                            <p:cond delay="0"/>
                                          </p:stCondLst>
                                        </p:cTn>
                                        <p:tgtEl>
                                          <p:spTgt spid="280"/>
                                        </p:tgtEl>
                                        <p:attrNameLst>
                                          <p:attrName>style.visibility</p:attrName>
                                        </p:attrNameLst>
                                      </p:cBhvr>
                                      <p:to>
                                        <p:strVal val="visible"/>
                                      </p:to>
                                    </p:set>
                                    <p:animEffect transition="in" filter="fade">
                                      <p:cBhvr>
                                        <p:cTn id="764" dur="250"/>
                                        <p:tgtEl>
                                          <p:spTgt spid="280"/>
                                        </p:tgtEl>
                                      </p:cBhvr>
                                    </p:animEffect>
                                  </p:childTnLst>
                                </p:cTn>
                              </p:par>
                              <p:par>
                                <p:cTn id="765" presetID="10" presetClass="entr" presetSubtype="0" fill="hold" grpId="0" nodeType="withEffect">
                                  <p:stCondLst>
                                    <p:cond delay="0"/>
                                  </p:stCondLst>
                                  <p:childTnLst>
                                    <p:set>
                                      <p:cBhvr>
                                        <p:cTn id="766" dur="1" fill="hold">
                                          <p:stCondLst>
                                            <p:cond delay="0"/>
                                          </p:stCondLst>
                                        </p:cTn>
                                        <p:tgtEl>
                                          <p:spTgt spid="281"/>
                                        </p:tgtEl>
                                        <p:attrNameLst>
                                          <p:attrName>style.visibility</p:attrName>
                                        </p:attrNameLst>
                                      </p:cBhvr>
                                      <p:to>
                                        <p:strVal val="visible"/>
                                      </p:to>
                                    </p:set>
                                    <p:animEffect transition="in" filter="fade">
                                      <p:cBhvr>
                                        <p:cTn id="767" dur="250"/>
                                        <p:tgtEl>
                                          <p:spTgt spid="281"/>
                                        </p:tgtEl>
                                      </p:cBhvr>
                                    </p:animEffect>
                                  </p:childTnLst>
                                </p:cTn>
                              </p:par>
                              <p:par>
                                <p:cTn id="768" presetID="10" presetClass="entr" presetSubtype="0" fill="hold" grpId="0" nodeType="withEffect">
                                  <p:stCondLst>
                                    <p:cond delay="0"/>
                                  </p:stCondLst>
                                  <p:childTnLst>
                                    <p:set>
                                      <p:cBhvr>
                                        <p:cTn id="769" dur="1" fill="hold">
                                          <p:stCondLst>
                                            <p:cond delay="0"/>
                                          </p:stCondLst>
                                        </p:cTn>
                                        <p:tgtEl>
                                          <p:spTgt spid="282"/>
                                        </p:tgtEl>
                                        <p:attrNameLst>
                                          <p:attrName>style.visibility</p:attrName>
                                        </p:attrNameLst>
                                      </p:cBhvr>
                                      <p:to>
                                        <p:strVal val="visible"/>
                                      </p:to>
                                    </p:set>
                                    <p:animEffect transition="in" filter="fade">
                                      <p:cBhvr>
                                        <p:cTn id="770" dur="250"/>
                                        <p:tgtEl>
                                          <p:spTgt spid="282"/>
                                        </p:tgtEl>
                                      </p:cBhvr>
                                    </p:animEffect>
                                  </p:childTnLst>
                                </p:cTn>
                              </p:par>
                              <p:par>
                                <p:cTn id="771" presetID="10" presetClass="entr" presetSubtype="0" fill="hold" grpId="0" nodeType="withEffect">
                                  <p:stCondLst>
                                    <p:cond delay="0"/>
                                  </p:stCondLst>
                                  <p:childTnLst>
                                    <p:set>
                                      <p:cBhvr>
                                        <p:cTn id="772" dur="1" fill="hold">
                                          <p:stCondLst>
                                            <p:cond delay="0"/>
                                          </p:stCondLst>
                                        </p:cTn>
                                        <p:tgtEl>
                                          <p:spTgt spid="283"/>
                                        </p:tgtEl>
                                        <p:attrNameLst>
                                          <p:attrName>style.visibility</p:attrName>
                                        </p:attrNameLst>
                                      </p:cBhvr>
                                      <p:to>
                                        <p:strVal val="visible"/>
                                      </p:to>
                                    </p:set>
                                    <p:animEffect transition="in" filter="fade">
                                      <p:cBhvr>
                                        <p:cTn id="773" dur="250"/>
                                        <p:tgtEl>
                                          <p:spTgt spid="283"/>
                                        </p:tgtEl>
                                      </p:cBhvr>
                                    </p:animEffect>
                                  </p:childTnLst>
                                </p:cTn>
                              </p:par>
                            </p:childTnLst>
                          </p:cTn>
                        </p:par>
                        <p:par>
                          <p:cTn id="774" fill="hold">
                            <p:stCondLst>
                              <p:cond delay="2900"/>
                            </p:stCondLst>
                            <p:childTnLst>
                              <p:par>
                                <p:cTn id="775" presetID="10" presetClass="entr" presetSubtype="0" fill="hold" grpId="0" nodeType="afterEffect">
                                  <p:stCondLst>
                                    <p:cond delay="0"/>
                                  </p:stCondLst>
                                  <p:childTnLst>
                                    <p:set>
                                      <p:cBhvr>
                                        <p:cTn id="776" dur="1" fill="hold">
                                          <p:stCondLst>
                                            <p:cond delay="0"/>
                                          </p:stCondLst>
                                        </p:cTn>
                                        <p:tgtEl>
                                          <p:spTgt spid="284"/>
                                        </p:tgtEl>
                                        <p:attrNameLst>
                                          <p:attrName>style.visibility</p:attrName>
                                        </p:attrNameLst>
                                      </p:cBhvr>
                                      <p:to>
                                        <p:strVal val="visible"/>
                                      </p:to>
                                    </p:set>
                                    <p:animEffect transition="in" filter="fade">
                                      <p:cBhvr>
                                        <p:cTn id="777" dur="250"/>
                                        <p:tgtEl>
                                          <p:spTgt spid="284"/>
                                        </p:tgtEl>
                                      </p:cBhvr>
                                    </p:animEffect>
                                  </p:childTnLst>
                                </p:cTn>
                              </p:par>
                              <p:par>
                                <p:cTn id="778" presetID="10" presetClass="entr" presetSubtype="0" fill="hold" grpId="0" nodeType="withEffect">
                                  <p:stCondLst>
                                    <p:cond delay="0"/>
                                  </p:stCondLst>
                                  <p:childTnLst>
                                    <p:set>
                                      <p:cBhvr>
                                        <p:cTn id="779" dur="1" fill="hold">
                                          <p:stCondLst>
                                            <p:cond delay="0"/>
                                          </p:stCondLst>
                                        </p:cTn>
                                        <p:tgtEl>
                                          <p:spTgt spid="285"/>
                                        </p:tgtEl>
                                        <p:attrNameLst>
                                          <p:attrName>style.visibility</p:attrName>
                                        </p:attrNameLst>
                                      </p:cBhvr>
                                      <p:to>
                                        <p:strVal val="visible"/>
                                      </p:to>
                                    </p:set>
                                    <p:animEffect transition="in" filter="fade">
                                      <p:cBhvr>
                                        <p:cTn id="780" dur="250"/>
                                        <p:tgtEl>
                                          <p:spTgt spid="285"/>
                                        </p:tgtEl>
                                      </p:cBhvr>
                                    </p:animEffect>
                                  </p:childTnLst>
                                </p:cTn>
                              </p:par>
                              <p:par>
                                <p:cTn id="781" presetID="10" presetClass="entr" presetSubtype="0" fill="hold" grpId="0" nodeType="withEffect">
                                  <p:stCondLst>
                                    <p:cond delay="0"/>
                                  </p:stCondLst>
                                  <p:childTnLst>
                                    <p:set>
                                      <p:cBhvr>
                                        <p:cTn id="782" dur="1" fill="hold">
                                          <p:stCondLst>
                                            <p:cond delay="0"/>
                                          </p:stCondLst>
                                        </p:cTn>
                                        <p:tgtEl>
                                          <p:spTgt spid="286"/>
                                        </p:tgtEl>
                                        <p:attrNameLst>
                                          <p:attrName>style.visibility</p:attrName>
                                        </p:attrNameLst>
                                      </p:cBhvr>
                                      <p:to>
                                        <p:strVal val="visible"/>
                                      </p:to>
                                    </p:set>
                                    <p:animEffect transition="in" filter="fade">
                                      <p:cBhvr>
                                        <p:cTn id="783" dur="250"/>
                                        <p:tgtEl>
                                          <p:spTgt spid="286"/>
                                        </p:tgtEl>
                                      </p:cBhvr>
                                    </p:animEffect>
                                  </p:childTnLst>
                                </p:cTn>
                              </p:par>
                              <p:par>
                                <p:cTn id="784" presetID="10" presetClass="entr" presetSubtype="0" fill="hold" grpId="0" nodeType="withEffect">
                                  <p:stCondLst>
                                    <p:cond delay="0"/>
                                  </p:stCondLst>
                                  <p:childTnLst>
                                    <p:set>
                                      <p:cBhvr>
                                        <p:cTn id="785" dur="1" fill="hold">
                                          <p:stCondLst>
                                            <p:cond delay="0"/>
                                          </p:stCondLst>
                                        </p:cTn>
                                        <p:tgtEl>
                                          <p:spTgt spid="287"/>
                                        </p:tgtEl>
                                        <p:attrNameLst>
                                          <p:attrName>style.visibility</p:attrName>
                                        </p:attrNameLst>
                                      </p:cBhvr>
                                      <p:to>
                                        <p:strVal val="visible"/>
                                      </p:to>
                                    </p:set>
                                    <p:animEffect transition="in" filter="fade">
                                      <p:cBhvr>
                                        <p:cTn id="786" dur="250"/>
                                        <p:tgtEl>
                                          <p:spTgt spid="287"/>
                                        </p:tgtEl>
                                      </p:cBhvr>
                                    </p:animEffect>
                                  </p:childTnLst>
                                </p:cTn>
                              </p:par>
                              <p:par>
                                <p:cTn id="787" presetID="10" presetClass="entr" presetSubtype="0" fill="hold" grpId="0" nodeType="withEffect">
                                  <p:stCondLst>
                                    <p:cond delay="0"/>
                                  </p:stCondLst>
                                  <p:childTnLst>
                                    <p:set>
                                      <p:cBhvr>
                                        <p:cTn id="788" dur="1" fill="hold">
                                          <p:stCondLst>
                                            <p:cond delay="0"/>
                                          </p:stCondLst>
                                        </p:cTn>
                                        <p:tgtEl>
                                          <p:spTgt spid="288"/>
                                        </p:tgtEl>
                                        <p:attrNameLst>
                                          <p:attrName>style.visibility</p:attrName>
                                        </p:attrNameLst>
                                      </p:cBhvr>
                                      <p:to>
                                        <p:strVal val="visible"/>
                                      </p:to>
                                    </p:set>
                                    <p:animEffect transition="in" filter="fade">
                                      <p:cBhvr>
                                        <p:cTn id="789" dur="250"/>
                                        <p:tgtEl>
                                          <p:spTgt spid="288"/>
                                        </p:tgtEl>
                                      </p:cBhvr>
                                    </p:animEffect>
                                  </p:childTnLst>
                                </p:cTn>
                              </p:par>
                              <p:par>
                                <p:cTn id="790" presetID="10" presetClass="entr" presetSubtype="0" fill="hold" grpId="0" nodeType="withEffect">
                                  <p:stCondLst>
                                    <p:cond delay="0"/>
                                  </p:stCondLst>
                                  <p:childTnLst>
                                    <p:set>
                                      <p:cBhvr>
                                        <p:cTn id="791" dur="1" fill="hold">
                                          <p:stCondLst>
                                            <p:cond delay="0"/>
                                          </p:stCondLst>
                                        </p:cTn>
                                        <p:tgtEl>
                                          <p:spTgt spid="289"/>
                                        </p:tgtEl>
                                        <p:attrNameLst>
                                          <p:attrName>style.visibility</p:attrName>
                                        </p:attrNameLst>
                                      </p:cBhvr>
                                      <p:to>
                                        <p:strVal val="visible"/>
                                      </p:to>
                                    </p:set>
                                    <p:animEffect transition="in" filter="fade">
                                      <p:cBhvr>
                                        <p:cTn id="792" dur="250"/>
                                        <p:tgtEl>
                                          <p:spTgt spid="289"/>
                                        </p:tgtEl>
                                      </p:cBhvr>
                                    </p:animEffect>
                                  </p:childTnLst>
                                </p:cTn>
                              </p:par>
                              <p:par>
                                <p:cTn id="793" presetID="10" presetClass="entr" presetSubtype="0" fill="hold" grpId="0" nodeType="withEffect">
                                  <p:stCondLst>
                                    <p:cond delay="0"/>
                                  </p:stCondLst>
                                  <p:childTnLst>
                                    <p:set>
                                      <p:cBhvr>
                                        <p:cTn id="794" dur="1" fill="hold">
                                          <p:stCondLst>
                                            <p:cond delay="0"/>
                                          </p:stCondLst>
                                        </p:cTn>
                                        <p:tgtEl>
                                          <p:spTgt spid="290"/>
                                        </p:tgtEl>
                                        <p:attrNameLst>
                                          <p:attrName>style.visibility</p:attrName>
                                        </p:attrNameLst>
                                      </p:cBhvr>
                                      <p:to>
                                        <p:strVal val="visible"/>
                                      </p:to>
                                    </p:set>
                                    <p:animEffect transition="in" filter="fade">
                                      <p:cBhvr>
                                        <p:cTn id="795" dur="250"/>
                                        <p:tgtEl>
                                          <p:spTgt spid="290"/>
                                        </p:tgtEl>
                                      </p:cBhvr>
                                    </p:animEffect>
                                  </p:childTnLst>
                                </p:cTn>
                              </p:par>
                              <p:par>
                                <p:cTn id="796" presetID="10" presetClass="entr" presetSubtype="0" fill="hold" grpId="0" nodeType="withEffect">
                                  <p:stCondLst>
                                    <p:cond delay="0"/>
                                  </p:stCondLst>
                                  <p:childTnLst>
                                    <p:set>
                                      <p:cBhvr>
                                        <p:cTn id="797" dur="1" fill="hold">
                                          <p:stCondLst>
                                            <p:cond delay="0"/>
                                          </p:stCondLst>
                                        </p:cTn>
                                        <p:tgtEl>
                                          <p:spTgt spid="291"/>
                                        </p:tgtEl>
                                        <p:attrNameLst>
                                          <p:attrName>style.visibility</p:attrName>
                                        </p:attrNameLst>
                                      </p:cBhvr>
                                      <p:to>
                                        <p:strVal val="visible"/>
                                      </p:to>
                                    </p:set>
                                    <p:animEffect transition="in" filter="fade">
                                      <p:cBhvr>
                                        <p:cTn id="798" dur="250"/>
                                        <p:tgtEl>
                                          <p:spTgt spid="291"/>
                                        </p:tgtEl>
                                      </p:cBhvr>
                                    </p:animEffect>
                                  </p:childTnLst>
                                </p:cTn>
                              </p:par>
                              <p:par>
                                <p:cTn id="799" presetID="10" presetClass="entr" presetSubtype="0" fill="hold" grpId="0" nodeType="withEffect">
                                  <p:stCondLst>
                                    <p:cond delay="0"/>
                                  </p:stCondLst>
                                  <p:childTnLst>
                                    <p:set>
                                      <p:cBhvr>
                                        <p:cTn id="800" dur="1" fill="hold">
                                          <p:stCondLst>
                                            <p:cond delay="0"/>
                                          </p:stCondLst>
                                        </p:cTn>
                                        <p:tgtEl>
                                          <p:spTgt spid="292"/>
                                        </p:tgtEl>
                                        <p:attrNameLst>
                                          <p:attrName>style.visibility</p:attrName>
                                        </p:attrNameLst>
                                      </p:cBhvr>
                                      <p:to>
                                        <p:strVal val="visible"/>
                                      </p:to>
                                    </p:set>
                                    <p:animEffect transition="in" filter="fade">
                                      <p:cBhvr>
                                        <p:cTn id="801" dur="250"/>
                                        <p:tgtEl>
                                          <p:spTgt spid="292"/>
                                        </p:tgtEl>
                                      </p:cBhvr>
                                    </p:animEffect>
                                  </p:childTnLst>
                                </p:cTn>
                              </p:par>
                              <p:par>
                                <p:cTn id="802" presetID="10" presetClass="entr" presetSubtype="0" fill="hold" grpId="0" nodeType="withEffect">
                                  <p:stCondLst>
                                    <p:cond delay="0"/>
                                  </p:stCondLst>
                                  <p:childTnLst>
                                    <p:set>
                                      <p:cBhvr>
                                        <p:cTn id="803" dur="1" fill="hold">
                                          <p:stCondLst>
                                            <p:cond delay="0"/>
                                          </p:stCondLst>
                                        </p:cTn>
                                        <p:tgtEl>
                                          <p:spTgt spid="293"/>
                                        </p:tgtEl>
                                        <p:attrNameLst>
                                          <p:attrName>style.visibility</p:attrName>
                                        </p:attrNameLst>
                                      </p:cBhvr>
                                      <p:to>
                                        <p:strVal val="visible"/>
                                      </p:to>
                                    </p:set>
                                    <p:animEffect transition="in" filter="fade">
                                      <p:cBhvr>
                                        <p:cTn id="804" dur="250"/>
                                        <p:tgtEl>
                                          <p:spTgt spid="293"/>
                                        </p:tgtEl>
                                      </p:cBhvr>
                                    </p:animEffect>
                                  </p:childTnLst>
                                </p:cTn>
                              </p:par>
                              <p:par>
                                <p:cTn id="805" presetID="10" presetClass="entr" presetSubtype="0" fill="hold" grpId="0" nodeType="withEffect">
                                  <p:stCondLst>
                                    <p:cond delay="0"/>
                                  </p:stCondLst>
                                  <p:childTnLst>
                                    <p:set>
                                      <p:cBhvr>
                                        <p:cTn id="806" dur="1" fill="hold">
                                          <p:stCondLst>
                                            <p:cond delay="0"/>
                                          </p:stCondLst>
                                        </p:cTn>
                                        <p:tgtEl>
                                          <p:spTgt spid="294"/>
                                        </p:tgtEl>
                                        <p:attrNameLst>
                                          <p:attrName>style.visibility</p:attrName>
                                        </p:attrNameLst>
                                      </p:cBhvr>
                                      <p:to>
                                        <p:strVal val="visible"/>
                                      </p:to>
                                    </p:set>
                                    <p:animEffect transition="in" filter="fade">
                                      <p:cBhvr>
                                        <p:cTn id="807" dur="250"/>
                                        <p:tgtEl>
                                          <p:spTgt spid="294"/>
                                        </p:tgtEl>
                                      </p:cBhvr>
                                    </p:animEffect>
                                  </p:childTnLst>
                                </p:cTn>
                              </p:par>
                            </p:childTnLst>
                          </p:cTn>
                        </p:par>
                        <p:par>
                          <p:cTn id="808" fill="hold">
                            <p:stCondLst>
                              <p:cond delay="3420"/>
                            </p:stCondLst>
                            <p:childTnLst>
                              <p:par>
                                <p:cTn id="809" presetID="10" presetClass="entr" presetSubtype="0" fill="hold" grpId="0" nodeType="afterEffect">
                                  <p:stCondLst>
                                    <p:cond delay="0"/>
                                  </p:stCondLst>
                                  <p:childTnLst>
                                    <p:set>
                                      <p:cBhvr>
                                        <p:cTn id="810" dur="1" fill="hold">
                                          <p:stCondLst>
                                            <p:cond delay="0"/>
                                          </p:stCondLst>
                                        </p:cTn>
                                        <p:tgtEl>
                                          <p:spTgt spid="295"/>
                                        </p:tgtEl>
                                        <p:attrNameLst>
                                          <p:attrName>style.visibility</p:attrName>
                                        </p:attrNameLst>
                                      </p:cBhvr>
                                      <p:to>
                                        <p:strVal val="visible"/>
                                      </p:to>
                                    </p:set>
                                    <p:animEffect transition="in" filter="fade">
                                      <p:cBhvr>
                                        <p:cTn id="811" dur="250"/>
                                        <p:tgtEl>
                                          <p:spTgt spid="295"/>
                                        </p:tgtEl>
                                      </p:cBhvr>
                                    </p:animEffect>
                                  </p:childTnLst>
                                </p:cTn>
                              </p:par>
                              <p:par>
                                <p:cTn id="812" presetID="10" presetClass="entr" presetSubtype="0" fill="hold" grpId="0" nodeType="withEffect">
                                  <p:stCondLst>
                                    <p:cond delay="0"/>
                                  </p:stCondLst>
                                  <p:childTnLst>
                                    <p:set>
                                      <p:cBhvr>
                                        <p:cTn id="813" dur="1" fill="hold">
                                          <p:stCondLst>
                                            <p:cond delay="0"/>
                                          </p:stCondLst>
                                        </p:cTn>
                                        <p:tgtEl>
                                          <p:spTgt spid="296"/>
                                        </p:tgtEl>
                                        <p:attrNameLst>
                                          <p:attrName>style.visibility</p:attrName>
                                        </p:attrNameLst>
                                      </p:cBhvr>
                                      <p:to>
                                        <p:strVal val="visible"/>
                                      </p:to>
                                    </p:set>
                                    <p:animEffect transition="in" filter="fade">
                                      <p:cBhvr>
                                        <p:cTn id="814" dur="250"/>
                                        <p:tgtEl>
                                          <p:spTgt spid="296"/>
                                        </p:tgtEl>
                                      </p:cBhvr>
                                    </p:animEffect>
                                  </p:childTnLst>
                                </p:cTn>
                              </p:par>
                              <p:par>
                                <p:cTn id="815" presetID="10" presetClass="entr" presetSubtype="0" fill="hold" grpId="0" nodeType="withEffect">
                                  <p:stCondLst>
                                    <p:cond delay="0"/>
                                  </p:stCondLst>
                                  <p:childTnLst>
                                    <p:set>
                                      <p:cBhvr>
                                        <p:cTn id="816" dur="1" fill="hold">
                                          <p:stCondLst>
                                            <p:cond delay="0"/>
                                          </p:stCondLst>
                                        </p:cTn>
                                        <p:tgtEl>
                                          <p:spTgt spid="297"/>
                                        </p:tgtEl>
                                        <p:attrNameLst>
                                          <p:attrName>style.visibility</p:attrName>
                                        </p:attrNameLst>
                                      </p:cBhvr>
                                      <p:to>
                                        <p:strVal val="visible"/>
                                      </p:to>
                                    </p:set>
                                    <p:animEffect transition="in" filter="fade">
                                      <p:cBhvr>
                                        <p:cTn id="817" dur="250"/>
                                        <p:tgtEl>
                                          <p:spTgt spid="297"/>
                                        </p:tgtEl>
                                      </p:cBhvr>
                                    </p:animEffect>
                                  </p:childTnLst>
                                </p:cTn>
                              </p:par>
                              <p:par>
                                <p:cTn id="818" presetID="10" presetClass="entr" presetSubtype="0" fill="hold" grpId="0" nodeType="withEffect">
                                  <p:stCondLst>
                                    <p:cond delay="0"/>
                                  </p:stCondLst>
                                  <p:childTnLst>
                                    <p:set>
                                      <p:cBhvr>
                                        <p:cTn id="819" dur="1" fill="hold">
                                          <p:stCondLst>
                                            <p:cond delay="0"/>
                                          </p:stCondLst>
                                        </p:cTn>
                                        <p:tgtEl>
                                          <p:spTgt spid="298"/>
                                        </p:tgtEl>
                                        <p:attrNameLst>
                                          <p:attrName>style.visibility</p:attrName>
                                        </p:attrNameLst>
                                      </p:cBhvr>
                                      <p:to>
                                        <p:strVal val="visible"/>
                                      </p:to>
                                    </p:set>
                                    <p:animEffect transition="in" filter="fade">
                                      <p:cBhvr>
                                        <p:cTn id="820" dur="250"/>
                                        <p:tgtEl>
                                          <p:spTgt spid="298"/>
                                        </p:tgtEl>
                                      </p:cBhvr>
                                    </p:animEffect>
                                  </p:childTnLst>
                                </p:cTn>
                              </p:par>
                              <p:par>
                                <p:cTn id="821" presetID="10" presetClass="entr" presetSubtype="0" fill="hold" grpId="0" nodeType="withEffect">
                                  <p:stCondLst>
                                    <p:cond delay="0"/>
                                  </p:stCondLst>
                                  <p:childTnLst>
                                    <p:set>
                                      <p:cBhvr>
                                        <p:cTn id="822" dur="1" fill="hold">
                                          <p:stCondLst>
                                            <p:cond delay="0"/>
                                          </p:stCondLst>
                                        </p:cTn>
                                        <p:tgtEl>
                                          <p:spTgt spid="299"/>
                                        </p:tgtEl>
                                        <p:attrNameLst>
                                          <p:attrName>style.visibility</p:attrName>
                                        </p:attrNameLst>
                                      </p:cBhvr>
                                      <p:to>
                                        <p:strVal val="visible"/>
                                      </p:to>
                                    </p:set>
                                    <p:animEffect transition="in" filter="fade">
                                      <p:cBhvr>
                                        <p:cTn id="823" dur="250"/>
                                        <p:tgtEl>
                                          <p:spTgt spid="299"/>
                                        </p:tgtEl>
                                      </p:cBhvr>
                                    </p:animEffect>
                                  </p:childTnLst>
                                </p:cTn>
                              </p:par>
                              <p:par>
                                <p:cTn id="824" presetID="10" presetClass="entr" presetSubtype="0" fill="hold" grpId="0" nodeType="withEffect">
                                  <p:stCondLst>
                                    <p:cond delay="0"/>
                                  </p:stCondLst>
                                  <p:childTnLst>
                                    <p:set>
                                      <p:cBhvr>
                                        <p:cTn id="825" dur="1" fill="hold">
                                          <p:stCondLst>
                                            <p:cond delay="0"/>
                                          </p:stCondLst>
                                        </p:cTn>
                                        <p:tgtEl>
                                          <p:spTgt spid="300"/>
                                        </p:tgtEl>
                                        <p:attrNameLst>
                                          <p:attrName>style.visibility</p:attrName>
                                        </p:attrNameLst>
                                      </p:cBhvr>
                                      <p:to>
                                        <p:strVal val="visible"/>
                                      </p:to>
                                    </p:set>
                                    <p:animEffect transition="in" filter="fade">
                                      <p:cBhvr>
                                        <p:cTn id="826" dur="250"/>
                                        <p:tgtEl>
                                          <p:spTgt spid="300"/>
                                        </p:tgtEl>
                                      </p:cBhvr>
                                    </p:animEffect>
                                  </p:childTnLst>
                                </p:cTn>
                              </p:par>
                              <p:par>
                                <p:cTn id="827" presetID="10" presetClass="entr" presetSubtype="0" fill="hold" grpId="0" nodeType="withEffect">
                                  <p:stCondLst>
                                    <p:cond delay="0"/>
                                  </p:stCondLst>
                                  <p:childTnLst>
                                    <p:set>
                                      <p:cBhvr>
                                        <p:cTn id="828" dur="1" fill="hold">
                                          <p:stCondLst>
                                            <p:cond delay="0"/>
                                          </p:stCondLst>
                                        </p:cTn>
                                        <p:tgtEl>
                                          <p:spTgt spid="301"/>
                                        </p:tgtEl>
                                        <p:attrNameLst>
                                          <p:attrName>style.visibility</p:attrName>
                                        </p:attrNameLst>
                                      </p:cBhvr>
                                      <p:to>
                                        <p:strVal val="visible"/>
                                      </p:to>
                                    </p:set>
                                    <p:animEffect transition="in" filter="fade">
                                      <p:cBhvr>
                                        <p:cTn id="829" dur="250"/>
                                        <p:tgtEl>
                                          <p:spTgt spid="301"/>
                                        </p:tgtEl>
                                      </p:cBhvr>
                                    </p:animEffect>
                                  </p:childTnLst>
                                </p:cTn>
                              </p:par>
                              <p:par>
                                <p:cTn id="830" presetID="10" presetClass="entr" presetSubtype="0" fill="hold" grpId="0" nodeType="withEffect">
                                  <p:stCondLst>
                                    <p:cond delay="0"/>
                                  </p:stCondLst>
                                  <p:childTnLst>
                                    <p:set>
                                      <p:cBhvr>
                                        <p:cTn id="831" dur="1" fill="hold">
                                          <p:stCondLst>
                                            <p:cond delay="0"/>
                                          </p:stCondLst>
                                        </p:cTn>
                                        <p:tgtEl>
                                          <p:spTgt spid="302"/>
                                        </p:tgtEl>
                                        <p:attrNameLst>
                                          <p:attrName>style.visibility</p:attrName>
                                        </p:attrNameLst>
                                      </p:cBhvr>
                                      <p:to>
                                        <p:strVal val="visible"/>
                                      </p:to>
                                    </p:set>
                                    <p:animEffect transition="in" filter="fade">
                                      <p:cBhvr>
                                        <p:cTn id="832" dur="250"/>
                                        <p:tgtEl>
                                          <p:spTgt spid="302"/>
                                        </p:tgtEl>
                                      </p:cBhvr>
                                    </p:animEffect>
                                  </p:childTnLst>
                                </p:cTn>
                              </p:par>
                              <p:par>
                                <p:cTn id="833" presetID="10" presetClass="entr" presetSubtype="0" fill="hold" grpId="0" nodeType="withEffect">
                                  <p:stCondLst>
                                    <p:cond delay="0"/>
                                  </p:stCondLst>
                                  <p:childTnLst>
                                    <p:set>
                                      <p:cBhvr>
                                        <p:cTn id="834" dur="1" fill="hold">
                                          <p:stCondLst>
                                            <p:cond delay="0"/>
                                          </p:stCondLst>
                                        </p:cTn>
                                        <p:tgtEl>
                                          <p:spTgt spid="303"/>
                                        </p:tgtEl>
                                        <p:attrNameLst>
                                          <p:attrName>style.visibility</p:attrName>
                                        </p:attrNameLst>
                                      </p:cBhvr>
                                      <p:to>
                                        <p:strVal val="visible"/>
                                      </p:to>
                                    </p:set>
                                    <p:animEffect transition="in" filter="fade">
                                      <p:cBhvr>
                                        <p:cTn id="835" dur="250"/>
                                        <p:tgtEl>
                                          <p:spTgt spid="303"/>
                                        </p:tgtEl>
                                      </p:cBhvr>
                                    </p:animEffect>
                                  </p:childTnLst>
                                </p:cTn>
                              </p:par>
                              <p:par>
                                <p:cTn id="836" presetID="10" presetClass="entr" presetSubtype="0" fill="hold" grpId="0" nodeType="withEffect">
                                  <p:stCondLst>
                                    <p:cond delay="0"/>
                                  </p:stCondLst>
                                  <p:childTnLst>
                                    <p:set>
                                      <p:cBhvr>
                                        <p:cTn id="837" dur="1" fill="hold">
                                          <p:stCondLst>
                                            <p:cond delay="0"/>
                                          </p:stCondLst>
                                        </p:cTn>
                                        <p:tgtEl>
                                          <p:spTgt spid="304"/>
                                        </p:tgtEl>
                                        <p:attrNameLst>
                                          <p:attrName>style.visibility</p:attrName>
                                        </p:attrNameLst>
                                      </p:cBhvr>
                                      <p:to>
                                        <p:strVal val="visible"/>
                                      </p:to>
                                    </p:set>
                                    <p:animEffect transition="in" filter="fade">
                                      <p:cBhvr>
                                        <p:cTn id="838" dur="250"/>
                                        <p:tgtEl>
                                          <p:spTgt spid="304"/>
                                        </p:tgtEl>
                                      </p:cBhvr>
                                    </p:animEffect>
                                  </p:childTnLst>
                                </p:cTn>
                              </p:par>
                              <p:par>
                                <p:cTn id="839" presetID="10" presetClass="entr" presetSubtype="0" fill="hold" grpId="0" nodeType="withEffect">
                                  <p:stCondLst>
                                    <p:cond delay="0"/>
                                  </p:stCondLst>
                                  <p:childTnLst>
                                    <p:set>
                                      <p:cBhvr>
                                        <p:cTn id="840" dur="1" fill="hold">
                                          <p:stCondLst>
                                            <p:cond delay="0"/>
                                          </p:stCondLst>
                                        </p:cTn>
                                        <p:tgtEl>
                                          <p:spTgt spid="305"/>
                                        </p:tgtEl>
                                        <p:attrNameLst>
                                          <p:attrName>style.visibility</p:attrName>
                                        </p:attrNameLst>
                                      </p:cBhvr>
                                      <p:to>
                                        <p:strVal val="visible"/>
                                      </p:to>
                                    </p:set>
                                    <p:animEffect transition="in" filter="fade">
                                      <p:cBhvr>
                                        <p:cTn id="841" dur="250"/>
                                        <p:tgtEl>
                                          <p:spTgt spid="305"/>
                                        </p:tgtEl>
                                      </p:cBhvr>
                                    </p:animEffect>
                                  </p:childTnLst>
                                </p:cTn>
                              </p:par>
                            </p:childTnLst>
                          </p:cTn>
                        </p:par>
                        <p:par>
                          <p:cTn id="842" fill="hold">
                            <p:stCondLst>
                              <p:cond delay="3940"/>
                            </p:stCondLst>
                            <p:childTnLst>
                              <p:par>
                                <p:cTn id="843" presetID="10" presetClass="entr" presetSubtype="0" fill="hold" grpId="0" nodeType="afterEffect">
                                  <p:stCondLst>
                                    <p:cond delay="0"/>
                                  </p:stCondLst>
                                  <p:childTnLst>
                                    <p:set>
                                      <p:cBhvr>
                                        <p:cTn id="844" dur="1" fill="hold">
                                          <p:stCondLst>
                                            <p:cond delay="0"/>
                                          </p:stCondLst>
                                        </p:cTn>
                                        <p:tgtEl>
                                          <p:spTgt spid="306"/>
                                        </p:tgtEl>
                                        <p:attrNameLst>
                                          <p:attrName>style.visibility</p:attrName>
                                        </p:attrNameLst>
                                      </p:cBhvr>
                                      <p:to>
                                        <p:strVal val="visible"/>
                                      </p:to>
                                    </p:set>
                                    <p:animEffect transition="in" filter="fade">
                                      <p:cBhvr>
                                        <p:cTn id="845" dur="250"/>
                                        <p:tgtEl>
                                          <p:spTgt spid="306"/>
                                        </p:tgtEl>
                                      </p:cBhvr>
                                    </p:animEffect>
                                  </p:childTnLst>
                                </p:cTn>
                              </p:par>
                              <p:par>
                                <p:cTn id="846" presetID="10" presetClass="entr" presetSubtype="0" fill="hold" grpId="0" nodeType="withEffect">
                                  <p:stCondLst>
                                    <p:cond delay="0"/>
                                  </p:stCondLst>
                                  <p:childTnLst>
                                    <p:set>
                                      <p:cBhvr>
                                        <p:cTn id="847" dur="1" fill="hold">
                                          <p:stCondLst>
                                            <p:cond delay="0"/>
                                          </p:stCondLst>
                                        </p:cTn>
                                        <p:tgtEl>
                                          <p:spTgt spid="307"/>
                                        </p:tgtEl>
                                        <p:attrNameLst>
                                          <p:attrName>style.visibility</p:attrName>
                                        </p:attrNameLst>
                                      </p:cBhvr>
                                      <p:to>
                                        <p:strVal val="visible"/>
                                      </p:to>
                                    </p:set>
                                    <p:animEffect transition="in" filter="fade">
                                      <p:cBhvr>
                                        <p:cTn id="848" dur="250"/>
                                        <p:tgtEl>
                                          <p:spTgt spid="307"/>
                                        </p:tgtEl>
                                      </p:cBhvr>
                                    </p:animEffect>
                                  </p:childTnLst>
                                </p:cTn>
                              </p:par>
                              <p:par>
                                <p:cTn id="849" presetID="10" presetClass="entr" presetSubtype="0" fill="hold" grpId="0" nodeType="withEffect">
                                  <p:stCondLst>
                                    <p:cond delay="0"/>
                                  </p:stCondLst>
                                  <p:childTnLst>
                                    <p:set>
                                      <p:cBhvr>
                                        <p:cTn id="850" dur="1" fill="hold">
                                          <p:stCondLst>
                                            <p:cond delay="0"/>
                                          </p:stCondLst>
                                        </p:cTn>
                                        <p:tgtEl>
                                          <p:spTgt spid="308"/>
                                        </p:tgtEl>
                                        <p:attrNameLst>
                                          <p:attrName>style.visibility</p:attrName>
                                        </p:attrNameLst>
                                      </p:cBhvr>
                                      <p:to>
                                        <p:strVal val="visible"/>
                                      </p:to>
                                    </p:set>
                                    <p:animEffect transition="in" filter="fade">
                                      <p:cBhvr>
                                        <p:cTn id="851" dur="250"/>
                                        <p:tgtEl>
                                          <p:spTgt spid="308"/>
                                        </p:tgtEl>
                                      </p:cBhvr>
                                    </p:animEffect>
                                  </p:childTnLst>
                                </p:cTn>
                              </p:par>
                              <p:par>
                                <p:cTn id="852" presetID="10" presetClass="entr" presetSubtype="0" fill="hold" grpId="0" nodeType="withEffect">
                                  <p:stCondLst>
                                    <p:cond delay="0"/>
                                  </p:stCondLst>
                                  <p:childTnLst>
                                    <p:set>
                                      <p:cBhvr>
                                        <p:cTn id="853" dur="1" fill="hold">
                                          <p:stCondLst>
                                            <p:cond delay="0"/>
                                          </p:stCondLst>
                                        </p:cTn>
                                        <p:tgtEl>
                                          <p:spTgt spid="309"/>
                                        </p:tgtEl>
                                        <p:attrNameLst>
                                          <p:attrName>style.visibility</p:attrName>
                                        </p:attrNameLst>
                                      </p:cBhvr>
                                      <p:to>
                                        <p:strVal val="visible"/>
                                      </p:to>
                                    </p:set>
                                    <p:animEffect transition="in" filter="fade">
                                      <p:cBhvr>
                                        <p:cTn id="854" dur="250"/>
                                        <p:tgtEl>
                                          <p:spTgt spid="309"/>
                                        </p:tgtEl>
                                      </p:cBhvr>
                                    </p:animEffect>
                                  </p:childTnLst>
                                </p:cTn>
                              </p:par>
                              <p:par>
                                <p:cTn id="855" presetID="10" presetClass="entr" presetSubtype="0" fill="hold" grpId="0" nodeType="withEffect">
                                  <p:stCondLst>
                                    <p:cond delay="0"/>
                                  </p:stCondLst>
                                  <p:childTnLst>
                                    <p:set>
                                      <p:cBhvr>
                                        <p:cTn id="856" dur="1" fill="hold">
                                          <p:stCondLst>
                                            <p:cond delay="0"/>
                                          </p:stCondLst>
                                        </p:cTn>
                                        <p:tgtEl>
                                          <p:spTgt spid="310"/>
                                        </p:tgtEl>
                                        <p:attrNameLst>
                                          <p:attrName>style.visibility</p:attrName>
                                        </p:attrNameLst>
                                      </p:cBhvr>
                                      <p:to>
                                        <p:strVal val="visible"/>
                                      </p:to>
                                    </p:set>
                                    <p:animEffect transition="in" filter="fade">
                                      <p:cBhvr>
                                        <p:cTn id="857" dur="250"/>
                                        <p:tgtEl>
                                          <p:spTgt spid="310"/>
                                        </p:tgtEl>
                                      </p:cBhvr>
                                    </p:animEffect>
                                  </p:childTnLst>
                                </p:cTn>
                              </p:par>
                              <p:par>
                                <p:cTn id="858" presetID="10" presetClass="entr" presetSubtype="0" fill="hold" grpId="0" nodeType="withEffect">
                                  <p:stCondLst>
                                    <p:cond delay="0"/>
                                  </p:stCondLst>
                                  <p:childTnLst>
                                    <p:set>
                                      <p:cBhvr>
                                        <p:cTn id="859" dur="1" fill="hold">
                                          <p:stCondLst>
                                            <p:cond delay="0"/>
                                          </p:stCondLst>
                                        </p:cTn>
                                        <p:tgtEl>
                                          <p:spTgt spid="311"/>
                                        </p:tgtEl>
                                        <p:attrNameLst>
                                          <p:attrName>style.visibility</p:attrName>
                                        </p:attrNameLst>
                                      </p:cBhvr>
                                      <p:to>
                                        <p:strVal val="visible"/>
                                      </p:to>
                                    </p:set>
                                    <p:animEffect transition="in" filter="fade">
                                      <p:cBhvr>
                                        <p:cTn id="860" dur="250"/>
                                        <p:tgtEl>
                                          <p:spTgt spid="311"/>
                                        </p:tgtEl>
                                      </p:cBhvr>
                                    </p:animEffect>
                                  </p:childTnLst>
                                </p:cTn>
                              </p:par>
                              <p:par>
                                <p:cTn id="861" presetID="10" presetClass="entr" presetSubtype="0" fill="hold" grpId="0" nodeType="withEffect">
                                  <p:stCondLst>
                                    <p:cond delay="0"/>
                                  </p:stCondLst>
                                  <p:childTnLst>
                                    <p:set>
                                      <p:cBhvr>
                                        <p:cTn id="862" dur="1" fill="hold">
                                          <p:stCondLst>
                                            <p:cond delay="0"/>
                                          </p:stCondLst>
                                        </p:cTn>
                                        <p:tgtEl>
                                          <p:spTgt spid="312"/>
                                        </p:tgtEl>
                                        <p:attrNameLst>
                                          <p:attrName>style.visibility</p:attrName>
                                        </p:attrNameLst>
                                      </p:cBhvr>
                                      <p:to>
                                        <p:strVal val="visible"/>
                                      </p:to>
                                    </p:set>
                                    <p:animEffect transition="in" filter="fade">
                                      <p:cBhvr>
                                        <p:cTn id="863" dur="250"/>
                                        <p:tgtEl>
                                          <p:spTgt spid="312"/>
                                        </p:tgtEl>
                                      </p:cBhvr>
                                    </p:animEffect>
                                  </p:childTnLst>
                                </p:cTn>
                              </p:par>
                              <p:par>
                                <p:cTn id="864" presetID="10" presetClass="entr" presetSubtype="0" fill="hold" grpId="0" nodeType="withEffect">
                                  <p:stCondLst>
                                    <p:cond delay="0"/>
                                  </p:stCondLst>
                                  <p:childTnLst>
                                    <p:set>
                                      <p:cBhvr>
                                        <p:cTn id="865" dur="1" fill="hold">
                                          <p:stCondLst>
                                            <p:cond delay="0"/>
                                          </p:stCondLst>
                                        </p:cTn>
                                        <p:tgtEl>
                                          <p:spTgt spid="313"/>
                                        </p:tgtEl>
                                        <p:attrNameLst>
                                          <p:attrName>style.visibility</p:attrName>
                                        </p:attrNameLst>
                                      </p:cBhvr>
                                      <p:to>
                                        <p:strVal val="visible"/>
                                      </p:to>
                                    </p:set>
                                    <p:animEffect transition="in" filter="fade">
                                      <p:cBhvr>
                                        <p:cTn id="866" dur="250"/>
                                        <p:tgtEl>
                                          <p:spTgt spid="313"/>
                                        </p:tgtEl>
                                      </p:cBhvr>
                                    </p:animEffect>
                                  </p:childTnLst>
                                </p:cTn>
                              </p:par>
                              <p:par>
                                <p:cTn id="867" presetID="10" presetClass="entr" presetSubtype="0" fill="hold" grpId="0" nodeType="withEffect">
                                  <p:stCondLst>
                                    <p:cond delay="0"/>
                                  </p:stCondLst>
                                  <p:childTnLst>
                                    <p:set>
                                      <p:cBhvr>
                                        <p:cTn id="868" dur="1" fill="hold">
                                          <p:stCondLst>
                                            <p:cond delay="0"/>
                                          </p:stCondLst>
                                        </p:cTn>
                                        <p:tgtEl>
                                          <p:spTgt spid="314"/>
                                        </p:tgtEl>
                                        <p:attrNameLst>
                                          <p:attrName>style.visibility</p:attrName>
                                        </p:attrNameLst>
                                      </p:cBhvr>
                                      <p:to>
                                        <p:strVal val="visible"/>
                                      </p:to>
                                    </p:set>
                                    <p:animEffect transition="in" filter="fade">
                                      <p:cBhvr>
                                        <p:cTn id="869" dur="250"/>
                                        <p:tgtEl>
                                          <p:spTgt spid="314"/>
                                        </p:tgtEl>
                                      </p:cBhvr>
                                    </p:animEffect>
                                  </p:childTnLst>
                                </p:cTn>
                              </p:par>
                              <p:par>
                                <p:cTn id="870" presetID="10" presetClass="entr" presetSubtype="0" fill="hold" grpId="0" nodeType="withEffect">
                                  <p:stCondLst>
                                    <p:cond delay="0"/>
                                  </p:stCondLst>
                                  <p:childTnLst>
                                    <p:set>
                                      <p:cBhvr>
                                        <p:cTn id="871" dur="1" fill="hold">
                                          <p:stCondLst>
                                            <p:cond delay="0"/>
                                          </p:stCondLst>
                                        </p:cTn>
                                        <p:tgtEl>
                                          <p:spTgt spid="315"/>
                                        </p:tgtEl>
                                        <p:attrNameLst>
                                          <p:attrName>style.visibility</p:attrName>
                                        </p:attrNameLst>
                                      </p:cBhvr>
                                      <p:to>
                                        <p:strVal val="visible"/>
                                      </p:to>
                                    </p:set>
                                    <p:animEffect transition="in" filter="fade">
                                      <p:cBhvr>
                                        <p:cTn id="872" dur="250"/>
                                        <p:tgtEl>
                                          <p:spTgt spid="315"/>
                                        </p:tgtEl>
                                      </p:cBhvr>
                                    </p:animEffect>
                                  </p:childTnLst>
                                </p:cTn>
                              </p:par>
                              <p:par>
                                <p:cTn id="873" presetID="10" presetClass="entr" presetSubtype="0" fill="hold" grpId="0" nodeType="withEffect">
                                  <p:stCondLst>
                                    <p:cond delay="0"/>
                                  </p:stCondLst>
                                  <p:childTnLst>
                                    <p:set>
                                      <p:cBhvr>
                                        <p:cTn id="874" dur="1" fill="hold">
                                          <p:stCondLst>
                                            <p:cond delay="0"/>
                                          </p:stCondLst>
                                        </p:cTn>
                                        <p:tgtEl>
                                          <p:spTgt spid="316"/>
                                        </p:tgtEl>
                                        <p:attrNameLst>
                                          <p:attrName>style.visibility</p:attrName>
                                        </p:attrNameLst>
                                      </p:cBhvr>
                                      <p:to>
                                        <p:strVal val="visible"/>
                                      </p:to>
                                    </p:set>
                                    <p:animEffect transition="in" filter="fade">
                                      <p:cBhvr>
                                        <p:cTn id="875" dur="250"/>
                                        <p:tgtEl>
                                          <p:spTgt spid="316"/>
                                        </p:tgtEl>
                                      </p:cBhvr>
                                    </p:animEffect>
                                  </p:childTnLst>
                                </p:cTn>
                              </p:par>
                            </p:childTnLst>
                          </p:cTn>
                        </p:par>
                        <p:par>
                          <p:cTn id="876" fill="hold">
                            <p:stCondLst>
                              <p:cond delay="4460"/>
                            </p:stCondLst>
                            <p:childTnLst>
                              <p:par>
                                <p:cTn id="877" presetID="10" presetClass="entr" presetSubtype="0" fill="hold" grpId="0" nodeType="afterEffect">
                                  <p:stCondLst>
                                    <p:cond delay="0"/>
                                  </p:stCondLst>
                                  <p:childTnLst>
                                    <p:set>
                                      <p:cBhvr>
                                        <p:cTn id="878" dur="1" fill="hold">
                                          <p:stCondLst>
                                            <p:cond delay="0"/>
                                          </p:stCondLst>
                                        </p:cTn>
                                        <p:tgtEl>
                                          <p:spTgt spid="317"/>
                                        </p:tgtEl>
                                        <p:attrNameLst>
                                          <p:attrName>style.visibility</p:attrName>
                                        </p:attrNameLst>
                                      </p:cBhvr>
                                      <p:to>
                                        <p:strVal val="visible"/>
                                      </p:to>
                                    </p:set>
                                    <p:animEffect transition="in" filter="fade">
                                      <p:cBhvr>
                                        <p:cTn id="879" dur="250"/>
                                        <p:tgtEl>
                                          <p:spTgt spid="317"/>
                                        </p:tgtEl>
                                      </p:cBhvr>
                                    </p:animEffect>
                                  </p:childTnLst>
                                </p:cTn>
                              </p:par>
                              <p:par>
                                <p:cTn id="880" presetID="10" presetClass="entr" presetSubtype="0" fill="hold" grpId="0" nodeType="withEffect">
                                  <p:stCondLst>
                                    <p:cond delay="0"/>
                                  </p:stCondLst>
                                  <p:childTnLst>
                                    <p:set>
                                      <p:cBhvr>
                                        <p:cTn id="881" dur="1" fill="hold">
                                          <p:stCondLst>
                                            <p:cond delay="0"/>
                                          </p:stCondLst>
                                        </p:cTn>
                                        <p:tgtEl>
                                          <p:spTgt spid="318"/>
                                        </p:tgtEl>
                                        <p:attrNameLst>
                                          <p:attrName>style.visibility</p:attrName>
                                        </p:attrNameLst>
                                      </p:cBhvr>
                                      <p:to>
                                        <p:strVal val="visible"/>
                                      </p:to>
                                    </p:set>
                                    <p:animEffect transition="in" filter="fade">
                                      <p:cBhvr>
                                        <p:cTn id="882" dur="250"/>
                                        <p:tgtEl>
                                          <p:spTgt spid="318"/>
                                        </p:tgtEl>
                                      </p:cBhvr>
                                    </p:animEffect>
                                  </p:childTnLst>
                                </p:cTn>
                              </p:par>
                              <p:par>
                                <p:cTn id="883" presetID="10" presetClass="entr" presetSubtype="0" fill="hold" grpId="0" nodeType="withEffect">
                                  <p:stCondLst>
                                    <p:cond delay="0"/>
                                  </p:stCondLst>
                                  <p:childTnLst>
                                    <p:set>
                                      <p:cBhvr>
                                        <p:cTn id="884" dur="1" fill="hold">
                                          <p:stCondLst>
                                            <p:cond delay="0"/>
                                          </p:stCondLst>
                                        </p:cTn>
                                        <p:tgtEl>
                                          <p:spTgt spid="319"/>
                                        </p:tgtEl>
                                        <p:attrNameLst>
                                          <p:attrName>style.visibility</p:attrName>
                                        </p:attrNameLst>
                                      </p:cBhvr>
                                      <p:to>
                                        <p:strVal val="visible"/>
                                      </p:to>
                                    </p:set>
                                    <p:animEffect transition="in" filter="fade">
                                      <p:cBhvr>
                                        <p:cTn id="885" dur="250"/>
                                        <p:tgtEl>
                                          <p:spTgt spid="319"/>
                                        </p:tgtEl>
                                      </p:cBhvr>
                                    </p:animEffect>
                                  </p:childTnLst>
                                </p:cTn>
                              </p:par>
                              <p:par>
                                <p:cTn id="886" presetID="10" presetClass="entr" presetSubtype="0" fill="hold" grpId="0" nodeType="withEffect">
                                  <p:stCondLst>
                                    <p:cond delay="0"/>
                                  </p:stCondLst>
                                  <p:childTnLst>
                                    <p:set>
                                      <p:cBhvr>
                                        <p:cTn id="887" dur="1" fill="hold">
                                          <p:stCondLst>
                                            <p:cond delay="0"/>
                                          </p:stCondLst>
                                        </p:cTn>
                                        <p:tgtEl>
                                          <p:spTgt spid="320"/>
                                        </p:tgtEl>
                                        <p:attrNameLst>
                                          <p:attrName>style.visibility</p:attrName>
                                        </p:attrNameLst>
                                      </p:cBhvr>
                                      <p:to>
                                        <p:strVal val="visible"/>
                                      </p:to>
                                    </p:set>
                                    <p:animEffect transition="in" filter="fade">
                                      <p:cBhvr>
                                        <p:cTn id="888" dur="250"/>
                                        <p:tgtEl>
                                          <p:spTgt spid="320"/>
                                        </p:tgtEl>
                                      </p:cBhvr>
                                    </p:animEffect>
                                  </p:childTnLst>
                                </p:cTn>
                              </p:par>
                              <p:par>
                                <p:cTn id="889" presetID="10" presetClass="entr" presetSubtype="0" fill="hold" grpId="0" nodeType="withEffect">
                                  <p:stCondLst>
                                    <p:cond delay="0"/>
                                  </p:stCondLst>
                                  <p:childTnLst>
                                    <p:set>
                                      <p:cBhvr>
                                        <p:cTn id="890" dur="1" fill="hold">
                                          <p:stCondLst>
                                            <p:cond delay="0"/>
                                          </p:stCondLst>
                                        </p:cTn>
                                        <p:tgtEl>
                                          <p:spTgt spid="321"/>
                                        </p:tgtEl>
                                        <p:attrNameLst>
                                          <p:attrName>style.visibility</p:attrName>
                                        </p:attrNameLst>
                                      </p:cBhvr>
                                      <p:to>
                                        <p:strVal val="visible"/>
                                      </p:to>
                                    </p:set>
                                    <p:animEffect transition="in" filter="fade">
                                      <p:cBhvr>
                                        <p:cTn id="891" dur="250"/>
                                        <p:tgtEl>
                                          <p:spTgt spid="321"/>
                                        </p:tgtEl>
                                      </p:cBhvr>
                                    </p:animEffect>
                                  </p:childTnLst>
                                </p:cTn>
                              </p:par>
                              <p:par>
                                <p:cTn id="892" presetID="10" presetClass="entr" presetSubtype="0" fill="hold" grpId="0" nodeType="withEffect">
                                  <p:stCondLst>
                                    <p:cond delay="0"/>
                                  </p:stCondLst>
                                  <p:childTnLst>
                                    <p:set>
                                      <p:cBhvr>
                                        <p:cTn id="893" dur="1" fill="hold">
                                          <p:stCondLst>
                                            <p:cond delay="0"/>
                                          </p:stCondLst>
                                        </p:cTn>
                                        <p:tgtEl>
                                          <p:spTgt spid="322"/>
                                        </p:tgtEl>
                                        <p:attrNameLst>
                                          <p:attrName>style.visibility</p:attrName>
                                        </p:attrNameLst>
                                      </p:cBhvr>
                                      <p:to>
                                        <p:strVal val="visible"/>
                                      </p:to>
                                    </p:set>
                                    <p:animEffect transition="in" filter="fade">
                                      <p:cBhvr>
                                        <p:cTn id="894" dur="250"/>
                                        <p:tgtEl>
                                          <p:spTgt spid="322"/>
                                        </p:tgtEl>
                                      </p:cBhvr>
                                    </p:animEffect>
                                  </p:childTnLst>
                                </p:cTn>
                              </p:par>
                              <p:par>
                                <p:cTn id="895" presetID="10" presetClass="entr" presetSubtype="0" fill="hold" grpId="0" nodeType="withEffect">
                                  <p:stCondLst>
                                    <p:cond delay="0"/>
                                  </p:stCondLst>
                                  <p:childTnLst>
                                    <p:set>
                                      <p:cBhvr>
                                        <p:cTn id="896" dur="1" fill="hold">
                                          <p:stCondLst>
                                            <p:cond delay="0"/>
                                          </p:stCondLst>
                                        </p:cTn>
                                        <p:tgtEl>
                                          <p:spTgt spid="323"/>
                                        </p:tgtEl>
                                        <p:attrNameLst>
                                          <p:attrName>style.visibility</p:attrName>
                                        </p:attrNameLst>
                                      </p:cBhvr>
                                      <p:to>
                                        <p:strVal val="visible"/>
                                      </p:to>
                                    </p:set>
                                    <p:animEffect transition="in" filter="fade">
                                      <p:cBhvr>
                                        <p:cTn id="897" dur="250"/>
                                        <p:tgtEl>
                                          <p:spTgt spid="323"/>
                                        </p:tgtEl>
                                      </p:cBhvr>
                                    </p:animEffect>
                                  </p:childTnLst>
                                </p:cTn>
                              </p:par>
                              <p:par>
                                <p:cTn id="898" presetID="10" presetClass="entr" presetSubtype="0" fill="hold" grpId="0" nodeType="withEffect">
                                  <p:stCondLst>
                                    <p:cond delay="0"/>
                                  </p:stCondLst>
                                  <p:childTnLst>
                                    <p:set>
                                      <p:cBhvr>
                                        <p:cTn id="899" dur="1" fill="hold">
                                          <p:stCondLst>
                                            <p:cond delay="0"/>
                                          </p:stCondLst>
                                        </p:cTn>
                                        <p:tgtEl>
                                          <p:spTgt spid="324"/>
                                        </p:tgtEl>
                                        <p:attrNameLst>
                                          <p:attrName>style.visibility</p:attrName>
                                        </p:attrNameLst>
                                      </p:cBhvr>
                                      <p:to>
                                        <p:strVal val="visible"/>
                                      </p:to>
                                    </p:set>
                                    <p:animEffect transition="in" filter="fade">
                                      <p:cBhvr>
                                        <p:cTn id="900" dur="250"/>
                                        <p:tgtEl>
                                          <p:spTgt spid="324"/>
                                        </p:tgtEl>
                                      </p:cBhvr>
                                    </p:animEffect>
                                  </p:childTnLst>
                                </p:cTn>
                              </p:par>
                              <p:par>
                                <p:cTn id="901" presetID="10" presetClass="entr" presetSubtype="0" fill="hold" grpId="0" nodeType="withEffect">
                                  <p:stCondLst>
                                    <p:cond delay="0"/>
                                  </p:stCondLst>
                                  <p:childTnLst>
                                    <p:set>
                                      <p:cBhvr>
                                        <p:cTn id="902" dur="1" fill="hold">
                                          <p:stCondLst>
                                            <p:cond delay="0"/>
                                          </p:stCondLst>
                                        </p:cTn>
                                        <p:tgtEl>
                                          <p:spTgt spid="325"/>
                                        </p:tgtEl>
                                        <p:attrNameLst>
                                          <p:attrName>style.visibility</p:attrName>
                                        </p:attrNameLst>
                                      </p:cBhvr>
                                      <p:to>
                                        <p:strVal val="visible"/>
                                      </p:to>
                                    </p:set>
                                    <p:animEffect transition="in" filter="fade">
                                      <p:cBhvr>
                                        <p:cTn id="903" dur="250"/>
                                        <p:tgtEl>
                                          <p:spTgt spid="325"/>
                                        </p:tgtEl>
                                      </p:cBhvr>
                                    </p:animEffect>
                                  </p:childTnLst>
                                </p:cTn>
                              </p:par>
                              <p:par>
                                <p:cTn id="904" presetID="10" presetClass="entr" presetSubtype="0" fill="hold" grpId="0" nodeType="withEffect">
                                  <p:stCondLst>
                                    <p:cond delay="0"/>
                                  </p:stCondLst>
                                  <p:childTnLst>
                                    <p:set>
                                      <p:cBhvr>
                                        <p:cTn id="905" dur="1" fill="hold">
                                          <p:stCondLst>
                                            <p:cond delay="0"/>
                                          </p:stCondLst>
                                        </p:cTn>
                                        <p:tgtEl>
                                          <p:spTgt spid="326"/>
                                        </p:tgtEl>
                                        <p:attrNameLst>
                                          <p:attrName>style.visibility</p:attrName>
                                        </p:attrNameLst>
                                      </p:cBhvr>
                                      <p:to>
                                        <p:strVal val="visible"/>
                                      </p:to>
                                    </p:set>
                                    <p:animEffect transition="in" filter="fade">
                                      <p:cBhvr>
                                        <p:cTn id="906" dur="250"/>
                                        <p:tgtEl>
                                          <p:spTgt spid="326"/>
                                        </p:tgtEl>
                                      </p:cBhvr>
                                    </p:animEffect>
                                  </p:childTnLst>
                                </p:cTn>
                              </p:par>
                              <p:par>
                                <p:cTn id="907" presetID="10" presetClass="entr" presetSubtype="0" fill="hold" grpId="0" nodeType="withEffect">
                                  <p:stCondLst>
                                    <p:cond delay="0"/>
                                  </p:stCondLst>
                                  <p:childTnLst>
                                    <p:set>
                                      <p:cBhvr>
                                        <p:cTn id="908" dur="1" fill="hold">
                                          <p:stCondLst>
                                            <p:cond delay="0"/>
                                          </p:stCondLst>
                                        </p:cTn>
                                        <p:tgtEl>
                                          <p:spTgt spid="327"/>
                                        </p:tgtEl>
                                        <p:attrNameLst>
                                          <p:attrName>style.visibility</p:attrName>
                                        </p:attrNameLst>
                                      </p:cBhvr>
                                      <p:to>
                                        <p:strVal val="visible"/>
                                      </p:to>
                                    </p:set>
                                    <p:animEffect transition="in" filter="fade">
                                      <p:cBhvr>
                                        <p:cTn id="909" dur="250"/>
                                        <p:tgtEl>
                                          <p:spTgt spid="327"/>
                                        </p:tgtEl>
                                      </p:cBhvr>
                                    </p:animEffect>
                                  </p:childTnLst>
                                </p:cTn>
                              </p:par>
                            </p:childTnLst>
                          </p:cTn>
                        </p:par>
                        <p:par>
                          <p:cTn id="910" fill="hold">
                            <p:stCondLst>
                              <p:cond delay="4660"/>
                            </p:stCondLst>
                            <p:childTnLst>
                              <p:par>
                                <p:cTn id="911" presetID="10" presetClass="entr" presetSubtype="0" fill="hold" grpId="0" nodeType="afterEffect">
                                  <p:stCondLst>
                                    <p:cond delay="0"/>
                                  </p:stCondLst>
                                  <p:childTnLst>
                                    <p:set>
                                      <p:cBhvr>
                                        <p:cTn id="912" dur="1" fill="hold">
                                          <p:stCondLst>
                                            <p:cond delay="0"/>
                                          </p:stCondLst>
                                        </p:cTn>
                                        <p:tgtEl>
                                          <p:spTgt spid="328"/>
                                        </p:tgtEl>
                                        <p:attrNameLst>
                                          <p:attrName>style.visibility</p:attrName>
                                        </p:attrNameLst>
                                      </p:cBhvr>
                                      <p:to>
                                        <p:strVal val="visible"/>
                                      </p:to>
                                    </p:set>
                                    <p:animEffect transition="in" filter="fade">
                                      <p:cBhvr>
                                        <p:cTn id="913" dur="250"/>
                                        <p:tgtEl>
                                          <p:spTgt spid="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185"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P spid="155" grpId="0" animBg="1"/>
      <p:bldP spid="156" grpId="0" animBg="1"/>
      <p:bldP spid="157" grpId="0" animBg="1"/>
      <p:bldP spid="158" grpId="0" animBg="1"/>
      <p:bldP spid="159" grpId="0" animBg="1"/>
      <p:bldP spid="160" grpId="0" animBg="1"/>
      <p:bldP spid="161" grpId="0" animBg="1"/>
      <p:bldP spid="162" grpId="0" animBg="1"/>
      <p:bldP spid="163" grpId="0" animBg="1"/>
      <p:bldP spid="164" grpId="0" animBg="1"/>
      <p:bldP spid="165" grpId="0" animBg="1"/>
      <p:bldP spid="166"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P spid="178" grpId="0" animBg="1"/>
      <p:bldP spid="179" grpId="0" animBg="1"/>
      <p:bldP spid="180" grpId="0" animBg="1"/>
      <p:bldP spid="181" grpId="0" animBg="1"/>
      <p:bldP spid="182" grpId="0" animBg="1"/>
      <p:bldP spid="183" grpId="0" animBg="1"/>
      <p:bldP spid="184" grpId="0" animBg="1"/>
      <p:bldP spid="94" grpId="1" animBg="1"/>
      <p:bldP spid="95" grpId="1" animBg="1"/>
      <p:bldP spid="96" grpId="1" animBg="1"/>
      <p:bldP spid="105" grpId="1" animBg="1"/>
      <p:bldP spid="106" grpId="1" animBg="1"/>
      <p:bldP spid="107" grpId="1" animBg="1"/>
      <p:bldP spid="116" grpId="1" animBg="1"/>
      <p:bldP spid="117" grpId="1" animBg="1"/>
      <p:bldP spid="118" grpId="1" animBg="1"/>
      <p:bldP spid="127" grpId="1" animBg="1"/>
      <p:bldP spid="128" grpId="1" animBg="1"/>
      <p:bldP spid="129" grpId="1" animBg="1"/>
      <p:bldP spid="138" grpId="1" animBg="1"/>
      <p:bldP spid="139" grpId="1" animBg="1"/>
      <p:bldP spid="140" grpId="1" animBg="1"/>
      <p:bldP spid="149" grpId="1" animBg="1"/>
      <p:bldP spid="150" grpId="1" animBg="1"/>
      <p:bldP spid="151" grpId="1" animBg="1"/>
      <p:bldP spid="160" grpId="1" animBg="1"/>
      <p:bldP spid="161" grpId="1" animBg="1"/>
      <p:bldP spid="162" grpId="1" animBg="1"/>
      <p:bldP spid="171" grpId="1" animBg="1"/>
      <p:bldP spid="172" grpId="1" animBg="1"/>
      <p:bldP spid="173" grpId="1" animBg="1"/>
      <p:bldP spid="182" grpId="1" animBg="1"/>
      <p:bldP spid="183" grpId="1" animBg="1"/>
      <p:bldP spid="184" grpId="1" animBg="1"/>
      <p:bldP spid="186" grpId="0" animBg="1"/>
      <p:bldP spid="7" grpId="1" animBg="1"/>
      <p:bldP spid="11" grpId="1" animBg="1"/>
      <p:bldP spid="203" grpId="0" animBg="1"/>
      <p:bldP spid="187" grpId="0" animBg="1"/>
      <p:bldP spid="188" grpId="0" animBg="1"/>
      <p:bldP spid="189" grpId="0" animBg="1"/>
      <p:bldP spid="190" grpId="0" animBg="1"/>
      <p:bldP spid="191" grpId="0" animBg="1"/>
      <p:bldP spid="192" grpId="0" animBg="1"/>
      <p:bldP spid="193" grpId="0" animBg="1"/>
      <p:bldP spid="194" grpId="0" animBg="1"/>
      <p:bldP spid="195" grpId="0" animBg="1"/>
      <p:bldP spid="196" grpId="0" animBg="1"/>
      <p:bldP spid="197" grpId="0" animBg="1"/>
      <p:bldP spid="198" grpId="0" animBg="1"/>
      <p:bldP spid="199" grpId="0" animBg="1"/>
      <p:bldP spid="200" grpId="0" animBg="1"/>
      <p:bldP spid="201" grpId="0" animBg="1"/>
      <p:bldP spid="202" grpId="0" animBg="1"/>
      <p:bldP spid="186" grpId="1" animBg="1"/>
      <p:bldP spid="187" grpId="1" animBg="1"/>
      <p:bldP spid="188" grpId="1" animBg="1"/>
      <p:bldP spid="189" grpId="1" animBg="1"/>
      <p:bldP spid="190" grpId="1" animBg="1"/>
      <p:bldP spid="191" grpId="1" animBg="1"/>
      <p:bldP spid="192" grpId="1" animBg="1"/>
      <p:bldP spid="193" grpId="1" animBg="1"/>
      <p:bldP spid="194" grpId="1" animBg="1"/>
      <p:bldP spid="204" grpId="0" animBg="1"/>
      <p:bldP spid="205" grpId="0" animBg="1"/>
      <p:bldP spid="206" grpId="0" animBg="1"/>
      <p:bldP spid="216" grpId="0" animBg="1"/>
      <p:bldP spid="207" grpId="0" animBg="1"/>
      <p:bldP spid="210" grpId="0" animBg="1"/>
      <p:bldP spid="208" grpId="0" animBg="1"/>
      <p:bldP spid="209" grpId="0" animBg="1"/>
      <p:bldP spid="211" grpId="0" animBg="1"/>
      <p:bldP spid="212" grpId="0" animBg="1"/>
      <p:bldP spid="213" grpId="0" animBg="1"/>
      <p:bldP spid="214" grpId="0" animBg="1"/>
      <p:bldP spid="207" grpId="1" animBg="1"/>
      <p:bldP spid="208" grpId="1" animBg="1"/>
      <p:bldP spid="209" grpId="1" animBg="1"/>
      <p:bldP spid="210" grpId="1" animBg="1"/>
      <p:bldP spid="215" grpId="0" animBg="1"/>
      <p:bldP spid="206" grpId="1" animBg="1"/>
      <p:bldP spid="215" grpId="1" animBg="1"/>
      <p:bldP spid="217" grpId="0" animBg="1"/>
      <p:bldP spid="6" grpId="1" animBg="1"/>
      <p:bldP spid="10" grpId="1" animBg="1"/>
      <p:bldP spid="234" grpId="0" animBg="1"/>
      <p:bldP spid="218" grpId="0" animBg="1"/>
      <p:bldP spid="219" grpId="0" animBg="1"/>
      <p:bldP spid="220" grpId="0" animBg="1"/>
      <p:bldP spid="221" grpId="0" animBg="1"/>
      <p:bldP spid="222" grpId="0" animBg="1"/>
      <p:bldP spid="223" grpId="0" animBg="1"/>
      <p:bldP spid="224" grpId="0" animBg="1"/>
      <p:bldP spid="225" grpId="0" animBg="1"/>
      <p:bldP spid="226" grpId="0" animBg="1"/>
      <p:bldP spid="227" grpId="0" animBg="1"/>
      <p:bldP spid="228" grpId="0" animBg="1"/>
      <p:bldP spid="229" grpId="0" animBg="1"/>
      <p:bldP spid="230" grpId="0" animBg="1"/>
      <p:bldP spid="231" grpId="0" animBg="1"/>
      <p:bldP spid="232" grpId="0" animBg="1"/>
      <p:bldP spid="233" grpId="0" animBg="1"/>
      <p:bldP spid="217" grpId="1" animBg="1"/>
      <p:bldP spid="218" grpId="1" animBg="1"/>
      <p:bldP spid="219" grpId="1" animBg="1"/>
      <p:bldP spid="220" grpId="1" animBg="1"/>
      <p:bldP spid="221" grpId="1" animBg="1"/>
      <p:bldP spid="222" grpId="1" animBg="1"/>
      <p:bldP spid="223" grpId="1" animBg="1"/>
      <p:bldP spid="224" grpId="1" animBg="1"/>
      <p:bldP spid="225" grpId="1" animBg="1"/>
      <p:bldP spid="235" grpId="0" animBg="1"/>
      <p:bldP spid="236" grpId="0" animBg="1"/>
      <p:bldP spid="237" grpId="0" animBg="1"/>
      <p:bldP spid="329" grpId="0" animBg="1"/>
      <p:bldP spid="238" grpId="0" animBg="1"/>
      <p:bldP spid="239" grpId="0" animBg="1"/>
      <p:bldP spid="240" grpId="0" animBg="1"/>
      <p:bldP spid="241" grpId="0" animBg="1"/>
      <p:bldP spid="242" grpId="0" animBg="1"/>
      <p:bldP spid="243" grpId="0" animBg="1"/>
      <p:bldP spid="244" grpId="0" animBg="1"/>
      <p:bldP spid="245" grpId="0" animBg="1"/>
      <p:bldP spid="246" grpId="0" animBg="1"/>
      <p:bldP spid="247" grpId="0" animBg="1"/>
      <p:bldP spid="248" grpId="0" animBg="1"/>
      <p:bldP spid="249" grpId="0" animBg="1"/>
      <p:bldP spid="250" grpId="0" animBg="1"/>
      <p:bldP spid="251" grpId="0" animBg="1"/>
      <p:bldP spid="252" grpId="0" animBg="1"/>
      <p:bldP spid="253" grpId="0" animBg="1"/>
      <p:bldP spid="254" grpId="0" animBg="1"/>
      <p:bldP spid="255" grpId="0" animBg="1"/>
      <p:bldP spid="256" grpId="0" animBg="1"/>
      <p:bldP spid="257" grpId="0" animBg="1"/>
      <p:bldP spid="258" grpId="0" animBg="1"/>
      <p:bldP spid="259" grpId="0" animBg="1"/>
      <p:bldP spid="260" grpId="0" animBg="1"/>
      <p:bldP spid="261" grpId="0" animBg="1"/>
      <p:bldP spid="262" grpId="0" animBg="1"/>
      <p:bldP spid="263" grpId="0" animBg="1"/>
      <p:bldP spid="264" grpId="0" animBg="1"/>
      <p:bldP spid="265" grpId="0" animBg="1"/>
      <p:bldP spid="266" grpId="0" animBg="1"/>
      <p:bldP spid="267" grpId="0" animBg="1"/>
      <p:bldP spid="268" grpId="0" animBg="1"/>
      <p:bldP spid="269" grpId="0" animBg="1"/>
      <p:bldP spid="270" grpId="0" animBg="1"/>
      <p:bldP spid="271" grpId="0" animBg="1"/>
      <p:bldP spid="272" grpId="0" animBg="1"/>
      <p:bldP spid="273" grpId="0" animBg="1"/>
      <p:bldP spid="274" grpId="0" animBg="1"/>
      <p:bldP spid="275" grpId="0" animBg="1"/>
      <p:bldP spid="276" grpId="0" animBg="1"/>
      <p:bldP spid="277" grpId="0" animBg="1"/>
      <p:bldP spid="278" grpId="0" animBg="1"/>
      <p:bldP spid="279" grpId="0" animBg="1"/>
      <p:bldP spid="280" grpId="0" animBg="1"/>
      <p:bldP spid="281" grpId="0" animBg="1"/>
      <p:bldP spid="282" grpId="0" animBg="1"/>
      <p:bldP spid="283" grpId="0" animBg="1"/>
      <p:bldP spid="284" grpId="0" animBg="1"/>
      <p:bldP spid="285" grpId="0" animBg="1"/>
      <p:bldP spid="286" grpId="0" animBg="1"/>
      <p:bldP spid="287" grpId="0" animBg="1"/>
      <p:bldP spid="288" grpId="0" animBg="1"/>
      <p:bldP spid="289" grpId="0" animBg="1"/>
      <p:bldP spid="290" grpId="0" animBg="1"/>
      <p:bldP spid="291" grpId="0" animBg="1"/>
      <p:bldP spid="292" grpId="0" animBg="1"/>
      <p:bldP spid="293" grpId="0" animBg="1"/>
      <p:bldP spid="294" grpId="0" animBg="1"/>
      <p:bldP spid="295" grpId="0" animBg="1"/>
      <p:bldP spid="296" grpId="0" animBg="1"/>
      <p:bldP spid="297" grpId="0" animBg="1"/>
      <p:bldP spid="298" grpId="0" animBg="1"/>
      <p:bldP spid="299" grpId="0" animBg="1"/>
      <p:bldP spid="300" grpId="0" animBg="1"/>
      <p:bldP spid="301" grpId="0" animBg="1"/>
      <p:bldP spid="302" grpId="0" animBg="1"/>
      <p:bldP spid="303" grpId="0" animBg="1"/>
      <p:bldP spid="304" grpId="0" animBg="1"/>
      <p:bldP spid="305" grpId="0" animBg="1"/>
      <p:bldP spid="306" grpId="0" animBg="1"/>
      <p:bldP spid="307" grpId="0" animBg="1"/>
      <p:bldP spid="308" grpId="0" animBg="1"/>
      <p:bldP spid="309" grpId="0" animBg="1"/>
      <p:bldP spid="310" grpId="0" animBg="1"/>
      <p:bldP spid="311" grpId="0" animBg="1"/>
      <p:bldP spid="312" grpId="0" animBg="1"/>
      <p:bldP spid="313" grpId="0" animBg="1"/>
      <p:bldP spid="314" grpId="0" animBg="1"/>
      <p:bldP spid="315" grpId="0" animBg="1"/>
      <p:bldP spid="316" grpId="0" animBg="1"/>
      <p:bldP spid="317" grpId="0" animBg="1"/>
      <p:bldP spid="318" grpId="0" animBg="1"/>
      <p:bldP spid="319" grpId="0" animBg="1"/>
      <p:bldP spid="320" grpId="0" animBg="1"/>
      <p:bldP spid="321" grpId="0" animBg="1"/>
      <p:bldP spid="322" grpId="0" animBg="1"/>
      <p:bldP spid="323" grpId="0" animBg="1"/>
      <p:bldP spid="324" grpId="0" animBg="1"/>
      <p:bldP spid="325" grpId="0" animBg="1"/>
      <p:bldP spid="326" grpId="0" animBg="1"/>
      <p:bldP spid="327" grpId="0" animBg="1"/>
      <p:bldP spid="32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p:nvPr/>
        </p:nvSpPr>
        <p:spPr>
          <a:xfrm>
            <a:off x="285750" y="100012"/>
            <a:ext cx="8572500" cy="357187"/>
          </a:xfrm>
          <a:prstGeom prst="rect">
            <a:avLst/>
          </a:prstGeom>
          <a:noFill/>
          <a:ln>
            <a:noFill/>
          </a:ln>
        </p:spPr>
        <p:txBody>
          <a:bodyPr rtlCol="0" anchor="ctr" wrap="square" lIns="0" rIns="0" tIns="0" bIns="0"/>
          <a:lstStyle/>
          <a:p>
            <a:pPr algn="l"/>
            <a:r>
              <a:rPr sz="1800" b="1">
                <a:solidFill>
                  <a:srgbClr val="12343B"/>
                </a:solidFill>
                <a:latin typeface="Calibri"/>
              </a:rPr>
              <a:t>How req / gnt work during isolation</a:t>
            </a:r>
          </a:p>
        </p:txBody>
      </p:sp>
      <p:sp>
        <p:nvSpPr>
          <p:cNvPr id="3" name="HS mgr"/>
          <p:cNvSpPr/>
          <p:nvPr/>
        </p:nvSpPr>
        <p:spPr>
          <a:xfrm>
            <a:off x="214312" y="1000125"/>
            <a:ext cx="1071562" cy="1714500"/>
          </a:xfrm>
          <a:prstGeom prst="roundRect">
            <a:avLst>
              <a:gd name="adj" fmla="val 6666"/>
            </a:avLst>
          </a:prstGeom>
          <a:solidFill>
            <a:srgbClr val="EDE7F6"/>
          </a:solidFill>
          <a:ln w="19050">
            <a:solidFill>
              <a:srgbClr val="93005F"/>
            </a:solidFill>
          </a:ln>
        </p:spPr>
        <p:txBody>
          <a:bodyPr rtlCol="0" anchor="ctr" wrap="square" lIns="28575" rIns="28575" tIns="28575" bIns="28575"/>
          <a:lstStyle/>
          <a:p>
            <a:pPr algn="ctr"/>
            <a:r>
              <a:rPr sz="1181" b="1">
                <a:solidFill>
                  <a:srgbClr val="12343B"/>
                </a:solidFill>
                <a:latin typeface="Calibri"/>
              </a:rPr>
              <a:t>Manager</a:t>
            </a:r>
          </a:p>
          <a:p>
            <a:pPr algn="ctr"/>
            <a:r>
              <a:rPr sz="787" b="0">
                <a:solidFill>
                  <a:srgbClr val="9E9E9E"/>
                </a:solidFill>
                <a:latin typeface="Calibri"/>
              </a:rPr>
              <a:t>core, debug, …</a:t>
            </a:r>
          </a:p>
        </p:txBody>
      </p:sp>
      <p:sp>
        <p:nvSpPr>
          <p:cNvPr id="4" name="HS sub"/>
          <p:cNvSpPr/>
          <p:nvPr/>
        </p:nvSpPr>
        <p:spPr>
          <a:xfrm>
            <a:off x="7715250" y="1000125"/>
            <a:ext cx="1214437" cy="1714500"/>
          </a:xfrm>
          <a:prstGeom prst="roundRect">
            <a:avLst>
              <a:gd name="adj" fmla="val 5882"/>
            </a:avLst>
          </a:prstGeom>
          <a:solidFill>
            <a:srgbClr val="E3F2FD"/>
          </a:solidFill>
          <a:ln w="19050">
            <a:solidFill>
              <a:srgbClr val="1E5A8C"/>
            </a:solidFill>
          </a:ln>
        </p:spPr>
        <p:txBody>
          <a:bodyPr rtlCol="0" anchor="ctr" wrap="square" lIns="28575" rIns="28575" tIns="28575" bIns="28575"/>
          <a:lstStyle/>
          <a:p>
            <a:pPr algn="ctr"/>
            <a:r>
              <a:rPr sz="1181" b="1">
                <a:solidFill>
                  <a:srgbClr val="12343B"/>
                </a:solidFill>
                <a:latin typeface="Calibri"/>
              </a:rPr>
              <a:t>Subordinate</a:t>
            </a:r>
          </a:p>
          <a:p>
            <a:pPr algn="ctr"/>
            <a:r>
              <a:rPr sz="787" b="0">
                <a:solidFill>
                  <a:srgbClr val="9E9E9E"/>
                </a:solidFill>
                <a:latin typeface="Calibri"/>
              </a:rPr>
              <a:t>memory, peripheral, …</a:t>
            </a:r>
          </a:p>
        </p:txBody>
      </p:sp>
      <p:sp>
        <p:nvSpPr>
          <p:cNvPr id="5" name="HS xbar"/>
          <p:cNvSpPr/>
          <p:nvPr/>
        </p:nvSpPr>
        <p:spPr>
          <a:xfrm>
            <a:off x="3357562" y="785812"/>
            <a:ext cx="2286000" cy="2143125"/>
          </a:xfrm>
          <a:prstGeom prst="roundRect">
            <a:avLst>
              <a:gd name="adj" fmla="val 3333"/>
            </a:avLst>
          </a:prstGeom>
          <a:solidFill>
            <a:srgbClr val="F4F8FB"/>
          </a:solidFill>
          <a:ln w="25400">
            <a:solidFill>
              <a:srgbClr val="1E5A8C"/>
            </a:solidFill>
          </a:ln>
        </p:spPr>
        <p:txBody>
          <a:bodyPr rtlCol="0" anchor="t" wrap="square" lIns="57150" rIns="57150" tIns="57150" bIns="57150"/>
          <a:lstStyle/>
          <a:p>
            <a:pPr algn="ctr"/>
            <a:r>
              <a:rPr sz="1181" b="1">
                <a:solidFill>
                  <a:srgbClr val="1E5A8C"/>
                </a:solidFill>
                <a:latin typeface="Calibri"/>
              </a:rPr>
              <a:t>Crossbar</a:t>
            </a:r>
          </a:p>
        </p:txBody>
      </p:sp>
      <p:sp>
        <p:nvSpPr>
          <p:cNvPr id="6" name="HS cut L"/>
          <p:cNvSpPr/>
          <p:nvPr/>
        </p:nvSpPr>
        <p:spPr>
          <a:xfrm>
            <a:off x="1714500" y="1000125"/>
            <a:ext cx="1143000" cy="1714500"/>
          </a:xfrm>
          <a:prstGeom prst="rect">
            <a:avLst/>
          </a:prstGeom>
          <a:solidFill>
            <a:srgbClr val="FFFFFF"/>
          </a:solidFill>
          <a:ln w="19050">
            <a:solidFill>
              <a:srgbClr val="00897B"/>
            </a:solidFill>
          </a:ln>
        </p:spPr>
        <p:txBody>
          <a:bodyPr rtlCol="0" anchor="t" wrap="square" lIns="28575" rIns="28575" tIns="28575" bIns="28575"/>
          <a:lstStyle/>
          <a:p>
            <a:pPr algn="ctr"/>
            <a:r>
              <a:rPr sz="843" b="1">
                <a:solidFill>
                  <a:srgbClr val="00897B"/>
                </a:solidFill>
                <a:latin typeface="Calibri"/>
              </a:rPr>
              <a:t>cut</a:t>
            </a:r>
          </a:p>
        </p:txBody>
      </p:sp>
      <p:sp>
        <p:nvSpPr>
          <p:cNvPr id="7" name="HS cut R"/>
          <p:cNvSpPr/>
          <p:nvPr/>
        </p:nvSpPr>
        <p:spPr>
          <a:xfrm>
            <a:off x="6143625" y="1000125"/>
            <a:ext cx="1143000" cy="1714500"/>
          </a:xfrm>
          <a:prstGeom prst="rect">
            <a:avLst/>
          </a:prstGeom>
          <a:solidFill>
            <a:srgbClr val="FFFFFF"/>
          </a:solidFill>
          <a:ln w="19050">
            <a:solidFill>
              <a:srgbClr val="00897B"/>
            </a:solidFill>
          </a:ln>
        </p:spPr>
        <p:txBody>
          <a:bodyPr rtlCol="0" anchor="t" wrap="square" lIns="28575" rIns="28575" tIns="28575" bIns="28575"/>
          <a:lstStyle/>
          <a:p>
            <a:pPr algn="ctr"/>
            <a:r>
              <a:rPr sz="843" b="1">
                <a:solidFill>
                  <a:srgbClr val="00897B"/>
                </a:solidFill>
                <a:latin typeface="Calibri"/>
              </a:rPr>
              <a:t>cut</a:t>
            </a:r>
          </a:p>
        </p:txBody>
      </p:sp>
      <p:sp>
        <p:nvSpPr>
          <p:cNvPr id="8" name="HS cut L iso"/>
          <p:cNvSpPr/>
          <p:nvPr/>
        </p:nvSpPr>
        <p:spPr>
          <a:xfrm>
            <a:off x="1714500" y="1000125"/>
            <a:ext cx="1143000" cy="1714500"/>
          </a:xfrm>
          <a:prstGeom prst="rect">
            <a:avLst/>
          </a:prstGeom>
          <a:solidFill>
            <a:srgbClr val="E0F2F1"/>
          </a:solidFill>
          <a:ln w="38100">
            <a:solidFill>
              <a:srgbClr val="00897B"/>
            </a:solidFill>
          </a:ln>
        </p:spPr>
        <p:txBody>
          <a:bodyPr rtlCol="0" anchor="t" wrap="square" lIns="28575" rIns="28575" tIns="28575" bIns="28575"/>
          <a:lstStyle/>
          <a:p>
            <a:pPr algn="ctr"/>
            <a:r>
              <a:rPr sz="843" b="1">
                <a:solidFill>
                  <a:srgbClr val="00897B"/>
                </a:solidFill>
                <a:latin typeface="Calibri"/>
              </a:rPr>
              <a:t>cut (scan)</a:t>
            </a:r>
          </a:p>
        </p:txBody>
      </p:sp>
      <p:sp>
        <p:nvSpPr>
          <p:cNvPr id="9" name="HS cut R iso"/>
          <p:cNvSpPr/>
          <p:nvPr/>
        </p:nvSpPr>
        <p:spPr>
          <a:xfrm>
            <a:off x="6143625" y="1000125"/>
            <a:ext cx="1143000" cy="1714500"/>
          </a:xfrm>
          <a:prstGeom prst="rect">
            <a:avLst/>
          </a:prstGeom>
          <a:solidFill>
            <a:srgbClr val="E0F2F1"/>
          </a:solidFill>
          <a:ln w="38100">
            <a:solidFill>
              <a:srgbClr val="00897B"/>
            </a:solidFill>
          </a:ln>
        </p:spPr>
        <p:txBody>
          <a:bodyPr rtlCol="0" anchor="t" wrap="square" lIns="28575" rIns="28575" tIns="28575" bIns="28575"/>
          <a:lstStyle/>
          <a:p>
            <a:pPr algn="ctr"/>
            <a:r>
              <a:rPr sz="843" b="1">
                <a:solidFill>
                  <a:srgbClr val="00897B"/>
                </a:solidFill>
                <a:latin typeface="Calibri"/>
              </a:rPr>
              <a:t>cut (scan)</a:t>
            </a:r>
          </a:p>
        </p:txBody>
      </p:sp>
      <p:sp>
        <p:nvSpPr>
          <p:cNvPr id="10" name="HS L A"/>
          <p:cNvSpPr/>
          <p:nvPr/>
        </p:nvSpPr>
        <p:spPr>
          <a:xfrm>
            <a:off x="1800225" y="1185862"/>
            <a:ext cx="971550" cy="428625"/>
          </a:xfrm>
          <a:prstGeom prst="rect">
            <a:avLst/>
          </a:prstGeom>
          <a:solidFill>
            <a:srgbClr val="FFFFFF"/>
          </a:solidFill>
          <a:ln w="15240">
            <a:solidFill>
              <a:srgbClr val="9E9E9E"/>
            </a:solidFill>
          </a:ln>
        </p:spPr>
        <p:txBody>
          <a:bodyPr rtlCol="0" anchor="ctr" wrap="square" lIns="14287" rIns="14287" tIns="14287" bIns="14287"/>
          <a:lstStyle/>
          <a:p>
            <a:pPr algn="ctr"/>
            <a:r>
              <a:rPr sz="675" b="1">
                <a:solidFill>
                  <a:srgbClr val="9E9E9E"/>
                </a:solidFill>
                <a:latin typeface="Calibri"/>
              </a:rPr>
              <a:t>A cell</a:t>
            </a:r>
          </a:p>
          <a:p>
            <a:pPr algn="ctr"/>
            <a:r>
              <a:rPr sz="787" b="0">
                <a:solidFill>
                  <a:srgbClr val="12343B"/>
                </a:solidFill>
                <a:latin typeface="Consolas"/>
              </a:rPr>
              <a:t>valid | payload</a:t>
            </a:r>
          </a:p>
        </p:txBody>
      </p:sp>
      <p:sp>
        <p:nvSpPr>
          <p:cNvPr id="11" name="HS L R"/>
          <p:cNvSpPr/>
          <p:nvPr/>
        </p:nvSpPr>
        <p:spPr>
          <a:xfrm>
            <a:off x="1800225" y="2214562"/>
            <a:ext cx="971550" cy="428625"/>
          </a:xfrm>
          <a:prstGeom prst="rect">
            <a:avLst/>
          </a:prstGeom>
          <a:solidFill>
            <a:srgbClr val="FFFFFF"/>
          </a:solidFill>
          <a:ln w="15240">
            <a:solidFill>
              <a:srgbClr val="9E9E9E"/>
            </a:solidFill>
          </a:ln>
        </p:spPr>
        <p:txBody>
          <a:bodyPr rtlCol="0" anchor="ctr" wrap="square" lIns="14287" rIns="14287" tIns="14287" bIns="14287"/>
          <a:lstStyle/>
          <a:p>
            <a:pPr algn="ctr"/>
            <a:r>
              <a:rPr sz="675" b="1">
                <a:solidFill>
                  <a:srgbClr val="9E9E9E"/>
                </a:solidFill>
                <a:latin typeface="Calibri"/>
              </a:rPr>
              <a:t>R cell</a:t>
            </a:r>
          </a:p>
          <a:p>
            <a:pPr algn="ctr"/>
            <a:r>
              <a:rPr sz="787" b="0">
                <a:solidFill>
                  <a:srgbClr val="12343B"/>
                </a:solidFill>
                <a:latin typeface="Consolas"/>
              </a:rPr>
              <a:t>valid | payload</a:t>
            </a:r>
          </a:p>
        </p:txBody>
      </p:sp>
      <p:sp>
        <p:nvSpPr>
          <p:cNvPr id="12" name="HS R A"/>
          <p:cNvSpPr/>
          <p:nvPr/>
        </p:nvSpPr>
        <p:spPr>
          <a:xfrm>
            <a:off x="6229350" y="1185862"/>
            <a:ext cx="971550" cy="428625"/>
          </a:xfrm>
          <a:prstGeom prst="rect">
            <a:avLst/>
          </a:prstGeom>
          <a:solidFill>
            <a:srgbClr val="FFFFFF"/>
          </a:solidFill>
          <a:ln w="15240">
            <a:solidFill>
              <a:srgbClr val="9E9E9E"/>
            </a:solidFill>
          </a:ln>
        </p:spPr>
        <p:txBody>
          <a:bodyPr rtlCol="0" anchor="ctr" wrap="square" lIns="14287" rIns="14287" tIns="14287" bIns="14287"/>
          <a:lstStyle/>
          <a:p>
            <a:pPr algn="ctr"/>
            <a:r>
              <a:rPr sz="675" b="1">
                <a:solidFill>
                  <a:srgbClr val="9E9E9E"/>
                </a:solidFill>
                <a:latin typeface="Calibri"/>
              </a:rPr>
              <a:t>A cell</a:t>
            </a:r>
          </a:p>
          <a:p>
            <a:pPr algn="ctr"/>
            <a:r>
              <a:rPr sz="787" b="0">
                <a:solidFill>
                  <a:srgbClr val="12343B"/>
                </a:solidFill>
                <a:latin typeface="Consolas"/>
              </a:rPr>
              <a:t>valid | payload</a:t>
            </a:r>
          </a:p>
        </p:txBody>
      </p:sp>
      <p:sp>
        <p:nvSpPr>
          <p:cNvPr id="13" name="HS R R"/>
          <p:cNvSpPr/>
          <p:nvPr/>
        </p:nvSpPr>
        <p:spPr>
          <a:xfrm>
            <a:off x="6229350" y="2214562"/>
            <a:ext cx="971550" cy="428625"/>
          </a:xfrm>
          <a:prstGeom prst="rect">
            <a:avLst/>
          </a:prstGeom>
          <a:solidFill>
            <a:srgbClr val="FFFFFF"/>
          </a:solidFill>
          <a:ln w="15240">
            <a:solidFill>
              <a:srgbClr val="9E9E9E"/>
            </a:solidFill>
          </a:ln>
        </p:spPr>
        <p:txBody>
          <a:bodyPr rtlCol="0" anchor="ctr" wrap="square" lIns="14287" rIns="14287" tIns="14287" bIns="14287"/>
          <a:lstStyle/>
          <a:p>
            <a:pPr algn="ctr"/>
            <a:r>
              <a:rPr sz="675" b="1">
                <a:solidFill>
                  <a:srgbClr val="9E9E9E"/>
                </a:solidFill>
                <a:latin typeface="Calibri"/>
              </a:rPr>
              <a:t>R cell</a:t>
            </a:r>
          </a:p>
          <a:p>
            <a:pPr algn="ctr"/>
            <a:r>
              <a:rPr sz="787" b="0">
                <a:solidFill>
                  <a:srgbClr val="12343B"/>
                </a:solidFill>
                <a:latin typeface="Consolas"/>
              </a:rPr>
              <a:t>valid | payload</a:t>
            </a:r>
          </a:p>
        </p:txBody>
      </p:sp>
      <p:cxnSp>
        <p:nvCxnSpPr>
          <p:cNvPr id="14" name="HS base L0 184"/>
          <p:cNvCxnSpPr/>
          <p:nvPr/>
        </p:nvCxnSpPr>
        <p:spPr>
          <a:xfrm>
            <a:off x="1285875" y="1314450"/>
            <a:ext cx="428625" cy="0"/>
          </a:xfrm>
          <a:prstGeom prst="line">
            <a:avLst/>
          </a:prstGeom>
          <a:ln w="15240">
            <a:solidFill>
              <a:srgbClr val="CFCFCF"/>
            </a:solidFill>
          </a:ln>
        </p:spPr>
      </p:cxnSp>
      <p:cxnSp>
        <p:nvCxnSpPr>
          <p:cNvPr id="15" name="HS base L0 208"/>
          <p:cNvCxnSpPr/>
          <p:nvPr/>
        </p:nvCxnSpPr>
        <p:spPr>
          <a:xfrm>
            <a:off x="1285875" y="1485900"/>
            <a:ext cx="428625" cy="0"/>
          </a:xfrm>
          <a:prstGeom prst="line">
            <a:avLst/>
          </a:prstGeom>
          <a:ln w="15240">
            <a:solidFill>
              <a:srgbClr val="CFCFCF"/>
            </a:solidFill>
          </a:ln>
        </p:spPr>
      </p:cxnSp>
      <p:cxnSp>
        <p:nvCxnSpPr>
          <p:cNvPr id="16" name="HS base L0 340"/>
          <p:cNvCxnSpPr/>
          <p:nvPr/>
        </p:nvCxnSpPr>
        <p:spPr>
          <a:xfrm>
            <a:off x="1285875" y="2428875"/>
            <a:ext cx="428625" cy="0"/>
          </a:xfrm>
          <a:prstGeom prst="line">
            <a:avLst/>
          </a:prstGeom>
          <a:ln w="15240">
            <a:solidFill>
              <a:srgbClr val="CFCFCF"/>
            </a:solidFill>
          </a:ln>
        </p:spPr>
      </p:cxnSp>
      <p:cxnSp>
        <p:nvCxnSpPr>
          <p:cNvPr id="17" name="HS base L1 184"/>
          <p:cNvCxnSpPr/>
          <p:nvPr/>
        </p:nvCxnSpPr>
        <p:spPr>
          <a:xfrm>
            <a:off x="2857500" y="1314450"/>
            <a:ext cx="500062" cy="0"/>
          </a:xfrm>
          <a:prstGeom prst="line">
            <a:avLst/>
          </a:prstGeom>
          <a:ln w="15240">
            <a:solidFill>
              <a:srgbClr val="CFCFCF"/>
            </a:solidFill>
          </a:ln>
        </p:spPr>
      </p:cxnSp>
      <p:cxnSp>
        <p:nvCxnSpPr>
          <p:cNvPr id="18" name="HS base L1 208"/>
          <p:cNvCxnSpPr/>
          <p:nvPr/>
        </p:nvCxnSpPr>
        <p:spPr>
          <a:xfrm>
            <a:off x="2857500" y="1485900"/>
            <a:ext cx="500062" cy="0"/>
          </a:xfrm>
          <a:prstGeom prst="line">
            <a:avLst/>
          </a:prstGeom>
          <a:ln w="15240">
            <a:solidFill>
              <a:srgbClr val="CFCFCF"/>
            </a:solidFill>
          </a:ln>
        </p:spPr>
      </p:cxnSp>
      <p:cxnSp>
        <p:nvCxnSpPr>
          <p:cNvPr id="19" name="HS base L1 340"/>
          <p:cNvCxnSpPr/>
          <p:nvPr/>
        </p:nvCxnSpPr>
        <p:spPr>
          <a:xfrm>
            <a:off x="2857500" y="2428875"/>
            <a:ext cx="500062" cy="0"/>
          </a:xfrm>
          <a:prstGeom prst="line">
            <a:avLst/>
          </a:prstGeom>
          <a:ln w="15240">
            <a:solidFill>
              <a:srgbClr val="CFCFCF"/>
            </a:solidFill>
          </a:ln>
        </p:spPr>
      </p:cxnSp>
      <p:cxnSp>
        <p:nvCxnSpPr>
          <p:cNvPr id="20" name="HS base X 184"/>
          <p:cNvCxnSpPr/>
          <p:nvPr/>
        </p:nvCxnSpPr>
        <p:spPr>
          <a:xfrm>
            <a:off x="3357562" y="1314450"/>
            <a:ext cx="2286000" cy="0"/>
          </a:xfrm>
          <a:prstGeom prst="line">
            <a:avLst/>
          </a:prstGeom>
          <a:ln w="15240">
            <a:solidFill>
              <a:srgbClr val="CFCFCF"/>
            </a:solidFill>
          </a:ln>
        </p:spPr>
      </p:cxnSp>
      <p:cxnSp>
        <p:nvCxnSpPr>
          <p:cNvPr id="21" name="HS base X 208"/>
          <p:cNvCxnSpPr/>
          <p:nvPr/>
        </p:nvCxnSpPr>
        <p:spPr>
          <a:xfrm>
            <a:off x="3357562" y="1485900"/>
            <a:ext cx="2286000" cy="0"/>
          </a:xfrm>
          <a:prstGeom prst="line">
            <a:avLst/>
          </a:prstGeom>
          <a:ln w="15240">
            <a:solidFill>
              <a:srgbClr val="CFCFCF"/>
            </a:solidFill>
          </a:ln>
        </p:spPr>
      </p:cxnSp>
      <p:cxnSp>
        <p:nvCxnSpPr>
          <p:cNvPr id="22" name="HS base X 340"/>
          <p:cNvCxnSpPr/>
          <p:nvPr/>
        </p:nvCxnSpPr>
        <p:spPr>
          <a:xfrm>
            <a:off x="3357562" y="2428875"/>
            <a:ext cx="2286000" cy="0"/>
          </a:xfrm>
          <a:prstGeom prst="line">
            <a:avLst/>
          </a:prstGeom>
          <a:ln w="15240">
            <a:solidFill>
              <a:srgbClr val="CFCFCF"/>
            </a:solidFill>
          </a:ln>
        </p:spPr>
      </p:cxnSp>
      <p:cxnSp>
        <p:nvCxnSpPr>
          <p:cNvPr id="23" name="HS base R1 184"/>
          <p:cNvCxnSpPr/>
          <p:nvPr/>
        </p:nvCxnSpPr>
        <p:spPr>
          <a:xfrm>
            <a:off x="5643562" y="1314450"/>
            <a:ext cx="500063" cy="0"/>
          </a:xfrm>
          <a:prstGeom prst="line">
            <a:avLst/>
          </a:prstGeom>
          <a:ln w="15240">
            <a:solidFill>
              <a:srgbClr val="CFCFCF"/>
            </a:solidFill>
          </a:ln>
        </p:spPr>
      </p:cxnSp>
      <p:cxnSp>
        <p:nvCxnSpPr>
          <p:cNvPr id="24" name="HS base R1 208"/>
          <p:cNvCxnSpPr/>
          <p:nvPr/>
        </p:nvCxnSpPr>
        <p:spPr>
          <a:xfrm>
            <a:off x="5643562" y="1485900"/>
            <a:ext cx="500063" cy="0"/>
          </a:xfrm>
          <a:prstGeom prst="line">
            <a:avLst/>
          </a:prstGeom>
          <a:ln w="15240">
            <a:solidFill>
              <a:srgbClr val="CFCFCF"/>
            </a:solidFill>
          </a:ln>
        </p:spPr>
      </p:cxnSp>
      <p:cxnSp>
        <p:nvCxnSpPr>
          <p:cNvPr id="25" name="HS base R1 340"/>
          <p:cNvCxnSpPr/>
          <p:nvPr/>
        </p:nvCxnSpPr>
        <p:spPr>
          <a:xfrm>
            <a:off x="5643562" y="2428875"/>
            <a:ext cx="500063" cy="0"/>
          </a:xfrm>
          <a:prstGeom prst="line">
            <a:avLst/>
          </a:prstGeom>
          <a:ln w="15240">
            <a:solidFill>
              <a:srgbClr val="CFCFCF"/>
            </a:solidFill>
          </a:ln>
        </p:spPr>
      </p:cxnSp>
      <p:cxnSp>
        <p:nvCxnSpPr>
          <p:cNvPr id="26" name="HS base R0 184"/>
          <p:cNvCxnSpPr/>
          <p:nvPr/>
        </p:nvCxnSpPr>
        <p:spPr>
          <a:xfrm>
            <a:off x="7286625" y="1314450"/>
            <a:ext cx="428625" cy="0"/>
          </a:xfrm>
          <a:prstGeom prst="line">
            <a:avLst/>
          </a:prstGeom>
          <a:ln w="15240">
            <a:solidFill>
              <a:srgbClr val="CFCFCF"/>
            </a:solidFill>
          </a:ln>
        </p:spPr>
      </p:cxnSp>
      <p:cxnSp>
        <p:nvCxnSpPr>
          <p:cNvPr id="27" name="HS base R0 208"/>
          <p:cNvCxnSpPr/>
          <p:nvPr/>
        </p:nvCxnSpPr>
        <p:spPr>
          <a:xfrm>
            <a:off x="7286625" y="1485900"/>
            <a:ext cx="428625" cy="0"/>
          </a:xfrm>
          <a:prstGeom prst="line">
            <a:avLst/>
          </a:prstGeom>
          <a:ln w="15240">
            <a:solidFill>
              <a:srgbClr val="CFCFCF"/>
            </a:solidFill>
          </a:ln>
        </p:spPr>
      </p:cxnSp>
      <p:cxnSp>
        <p:nvCxnSpPr>
          <p:cNvPr id="28" name="HS base R0 340"/>
          <p:cNvCxnSpPr/>
          <p:nvPr/>
        </p:nvCxnSpPr>
        <p:spPr>
          <a:xfrm>
            <a:off x="7286625" y="2428875"/>
            <a:ext cx="428625" cy="0"/>
          </a:xfrm>
          <a:prstGeom prst="line">
            <a:avLst/>
          </a:prstGeom>
          <a:ln w="15240">
            <a:solidFill>
              <a:srgbClr val="CFCFCF"/>
            </a:solidFill>
          </a:ln>
        </p:spPr>
      </p:cxnSp>
      <p:sp>
        <p:nvSpPr>
          <p:cNvPr id="29" name="HS fifo"/>
          <p:cNvSpPr/>
          <p:nvPr/>
        </p:nvSpPr>
        <p:spPr>
          <a:xfrm>
            <a:off x="3471862" y="2586037"/>
            <a:ext cx="1000125" cy="242887"/>
          </a:xfrm>
          <a:prstGeom prst="rect">
            <a:avLst/>
          </a:prstGeom>
          <a:solidFill>
            <a:srgbClr val="FFFFFF"/>
          </a:solidFill>
          <a:ln w="19050">
            <a:solidFill>
              <a:srgbClr val="9E9E9E"/>
            </a:solidFill>
          </a:ln>
        </p:spPr>
        <p:txBody>
          <a:bodyPr rtlCol="0" anchor="ctr" wrap="square" lIns="0" rIns="0" tIns="0" bIns="0"/>
          <a:lstStyle/>
          <a:p>
            <a:pPr algn="ctr"/>
            <a:r>
              <a:rPr sz="731" b="0">
                <a:solidFill>
                  <a:srgbClr val="12343B"/>
                </a:solidFill>
                <a:latin typeface="Calibri"/>
              </a:rPr>
              <a:t>ID FIFO: empty</a:t>
            </a:r>
          </a:p>
        </p:txBody>
      </p:sp>
      <p:sp>
        <p:nvSpPr>
          <p:cNvPr id="30" name="HS cnt"/>
          <p:cNvSpPr/>
          <p:nvPr/>
        </p:nvSpPr>
        <p:spPr>
          <a:xfrm>
            <a:off x="4572000" y="2586037"/>
            <a:ext cx="957262" cy="242887"/>
          </a:xfrm>
          <a:prstGeom prst="rect">
            <a:avLst/>
          </a:prstGeom>
          <a:solidFill>
            <a:srgbClr val="FFFFFF"/>
          </a:solidFill>
          <a:ln w="19050">
            <a:solidFill>
              <a:srgbClr val="9E9E9E"/>
            </a:solidFill>
          </a:ln>
        </p:spPr>
        <p:txBody>
          <a:bodyPr rtlCol="0" anchor="ctr" wrap="square" lIns="0" rIns="0" tIns="0" bIns="0"/>
          <a:lstStyle/>
          <a:p>
            <a:pPr algn="ctr"/>
            <a:r>
              <a:rPr sz="731" b="0">
                <a:solidFill>
                  <a:srgbClr val="12343B"/>
                </a:solidFill>
                <a:latin typeface="Calibri"/>
              </a:rPr>
              <a:t>in flight: 0</a:t>
            </a:r>
          </a:p>
        </p:txBody>
      </p:sp>
      <p:sp>
        <p:nvSpPr>
          <p:cNvPr id="31" name="HS clk"/>
          <p:cNvSpPr/>
          <p:nvPr/>
        </p:nvSpPr>
        <p:spPr>
          <a:xfrm>
            <a:off x="3357562" y="514350"/>
            <a:ext cx="2286000" cy="214312"/>
          </a:xfrm>
          <a:prstGeom prst="rect">
            <a:avLst/>
          </a:prstGeom>
          <a:solidFill>
            <a:srgbClr val="F5F5F5"/>
          </a:solidFill>
          <a:ln w="19050">
            <a:solidFill>
              <a:srgbClr val="9E9E9E"/>
            </a:solidFill>
          </a:ln>
        </p:spPr>
        <p:txBody>
          <a:bodyPr rtlCol="0" anchor="ctr" wrap="square" lIns="0" rIns="0" tIns="0" bIns="0"/>
          <a:lstStyle/>
          <a:p>
            <a:pPr algn="ctr"/>
            <a:r>
              <a:rPr sz="787" b="1">
                <a:solidFill>
                  <a:srgbClr val="12343B"/>
                </a:solidFill>
                <a:latin typeface="Calibri"/>
              </a:rPr>
              <a:t>cuts + crossbar clock: system clock</a:t>
            </a:r>
          </a:p>
        </p:txBody>
      </p:sp>
      <p:sp>
        <p:nvSpPr>
          <p:cNvPr id="32" name="TL lab tap"/>
          <p:cNvSpPr/>
          <p:nvPr/>
        </p:nvSpPr>
        <p:spPr>
          <a:xfrm>
            <a:off x="214312" y="3186112"/>
            <a:ext cx="1428750" cy="271462"/>
          </a:xfrm>
          <a:prstGeom prst="rect">
            <a:avLst/>
          </a:prstGeom>
          <a:noFill/>
          <a:ln>
            <a:noFill/>
          </a:ln>
        </p:spPr>
        <p:txBody>
          <a:bodyPr rtlCol="0" anchor="ctr" wrap="square" lIns="42862" rIns="42862" tIns="42862" bIns="42862"/>
          <a:lstStyle/>
          <a:p>
            <a:pPr algn="r"/>
            <a:r>
              <a:rPr sz="843" b="1">
                <a:solidFill>
                  <a:srgbClr val="12343B"/>
                </a:solidFill>
                <a:latin typeface="Calibri"/>
              </a:rPr>
              <a:t>JTAG TAP state</a:t>
            </a:r>
          </a:p>
        </p:txBody>
      </p:sp>
      <p:sp>
        <p:nvSpPr>
          <p:cNvPr id="33" name="TL lab v"/>
          <p:cNvSpPr/>
          <p:nvPr/>
        </p:nvSpPr>
        <p:spPr>
          <a:xfrm>
            <a:off x="214312" y="3514725"/>
            <a:ext cx="1428750" cy="242887"/>
          </a:xfrm>
          <a:prstGeom prst="rect">
            <a:avLst/>
          </a:prstGeom>
          <a:noFill/>
          <a:ln>
            <a:noFill/>
          </a:ln>
        </p:spPr>
        <p:txBody>
          <a:bodyPr rtlCol="0" anchor="ctr" wrap="square" lIns="42862" rIns="42862" tIns="42862" bIns="42862"/>
          <a:lstStyle/>
          <a:p>
            <a:pPr algn="r"/>
            <a:r>
              <a:rPr sz="787" b="0">
                <a:solidFill>
                  <a:srgbClr val="12343B"/>
                </a:solidFill>
                <a:latin typeface="Calibri"/>
              </a:rPr>
              <a:t>req / rvalid into crossbar</a:t>
            </a:r>
          </a:p>
        </p:txBody>
      </p:sp>
      <p:sp>
        <p:nvSpPr>
          <p:cNvPr id="34" name="TL lab g"/>
          <p:cNvSpPr/>
          <p:nvPr/>
        </p:nvSpPr>
        <p:spPr>
          <a:xfrm>
            <a:off x="214312" y="3814762"/>
            <a:ext cx="1428750" cy="242887"/>
          </a:xfrm>
          <a:prstGeom prst="rect">
            <a:avLst/>
          </a:prstGeom>
          <a:noFill/>
          <a:ln>
            <a:noFill/>
          </a:ln>
        </p:spPr>
        <p:txBody>
          <a:bodyPr rtlCol="0" anchor="ctr" wrap="square" lIns="42862" rIns="42862" tIns="42862" bIns="42862"/>
          <a:lstStyle/>
          <a:p>
            <a:pPr algn="r"/>
            <a:r>
              <a:rPr sz="787" b="0">
                <a:solidFill>
                  <a:srgbClr val="12343B"/>
                </a:solidFill>
                <a:latin typeface="Calibri"/>
              </a:rPr>
              <a:t>gnt into crossbar</a:t>
            </a:r>
          </a:p>
        </p:txBody>
      </p:sp>
      <p:sp>
        <p:nvSpPr>
          <p:cNvPr id="35" name="TL tap 0"/>
          <p:cNvSpPr/>
          <p:nvPr/>
        </p:nvSpPr>
        <p:spPr>
          <a:xfrm>
            <a:off x="1714500" y="3186112"/>
            <a:ext cx="1400175" cy="271462"/>
          </a:xfrm>
          <a:prstGeom prst="rect">
            <a:avLst/>
          </a:prstGeom>
          <a:solidFill>
            <a:srgbClr val="F5F5F5"/>
          </a:solidFill>
          <a:ln>
            <a:noFill/>
          </a:ln>
        </p:spPr>
        <p:txBody>
          <a:bodyPr rtlCol="0" anchor="ctr" wrap="square" lIns="0" rIns="0" tIns="0" bIns="0"/>
          <a:lstStyle/>
          <a:p>
            <a:pPr algn="ctr"/>
            <a:r>
              <a:rPr sz="843" b="1">
                <a:solidFill>
                  <a:srgbClr val="12343B"/>
                </a:solidFill>
                <a:latin typeface="Calibri"/>
              </a:rPr>
              <a:t>Shift-DR</a:t>
            </a:r>
          </a:p>
        </p:txBody>
      </p:sp>
      <p:sp>
        <p:nvSpPr>
          <p:cNvPr id="36" name="TL v 0"/>
          <p:cNvSpPr/>
          <p:nvPr/>
        </p:nvSpPr>
        <p:spPr>
          <a:xfrm>
            <a:off x="1714500" y="3514725"/>
            <a:ext cx="1400175" cy="242887"/>
          </a:xfrm>
          <a:prstGeom prst="rect">
            <a:avLst/>
          </a:prstGeom>
          <a:solidFill>
            <a:srgbClr val="FFFFFF"/>
          </a:solidFill>
          <a:ln w="9525">
            <a:solidFill>
              <a:srgbClr val="DDDDDD"/>
            </a:solidFill>
          </a:ln>
        </p:spPr>
        <p:txBody>
          <a:bodyPr rtlCol="0" anchor="ctr" wrap="square" lIns="0" rIns="0" tIns="0" bIns="0"/>
          <a:lstStyle/>
          <a:p>
            <a:pPr algn="ctr"/>
            <a:r>
              <a:rPr sz="787" b="0">
                <a:solidFill>
                  <a:srgbClr val="9E9E9E"/>
                </a:solidFill>
                <a:latin typeface="Calibri"/>
              </a:rPr>
              <a:t>0</a:t>
            </a:r>
          </a:p>
        </p:txBody>
      </p:sp>
      <p:sp>
        <p:nvSpPr>
          <p:cNvPr id="37" name="TL g 0"/>
          <p:cNvSpPr/>
          <p:nvPr/>
        </p:nvSpPr>
        <p:spPr>
          <a:xfrm>
            <a:off x="1714500" y="3814762"/>
            <a:ext cx="1400175" cy="242887"/>
          </a:xfrm>
          <a:prstGeom prst="rect">
            <a:avLst/>
          </a:prstGeom>
          <a:solidFill>
            <a:srgbClr val="FFFFFF"/>
          </a:solidFill>
          <a:ln w="9525">
            <a:solidFill>
              <a:srgbClr val="DDDDDD"/>
            </a:solidFill>
          </a:ln>
        </p:spPr>
        <p:txBody>
          <a:bodyPr rtlCol="0" anchor="ctr" wrap="square" lIns="0" rIns="0" tIns="0" bIns="0"/>
          <a:lstStyle/>
          <a:p>
            <a:pPr algn="ctr"/>
            <a:r>
              <a:rPr sz="787" b="0">
                <a:solidFill>
                  <a:srgbClr val="9E9E9E"/>
                </a:solidFill>
                <a:latin typeface="Calibri"/>
              </a:rPr>
              <a:t>0</a:t>
            </a:r>
          </a:p>
        </p:txBody>
      </p:sp>
      <p:sp>
        <p:nvSpPr>
          <p:cNvPr id="38" name="TL tap 1"/>
          <p:cNvSpPr/>
          <p:nvPr/>
        </p:nvSpPr>
        <p:spPr>
          <a:xfrm>
            <a:off x="3171825" y="3186112"/>
            <a:ext cx="1400175" cy="271462"/>
          </a:xfrm>
          <a:prstGeom prst="rect">
            <a:avLst/>
          </a:prstGeom>
          <a:solidFill>
            <a:srgbClr val="F5F5F5"/>
          </a:solidFill>
          <a:ln>
            <a:noFill/>
          </a:ln>
        </p:spPr>
        <p:txBody>
          <a:bodyPr rtlCol="0" anchor="ctr" wrap="square" lIns="0" rIns="0" tIns="0" bIns="0"/>
          <a:lstStyle/>
          <a:p>
            <a:pPr algn="ctr"/>
            <a:r>
              <a:rPr sz="843" b="1">
                <a:solidFill>
                  <a:srgbClr val="12343B"/>
                </a:solidFill>
                <a:latin typeface="Calibri"/>
              </a:rPr>
              <a:t>Update-DR</a:t>
            </a:r>
          </a:p>
        </p:txBody>
      </p:sp>
      <p:sp>
        <p:nvSpPr>
          <p:cNvPr id="39" name="TL v 1"/>
          <p:cNvSpPr/>
          <p:nvPr/>
        </p:nvSpPr>
        <p:spPr>
          <a:xfrm>
            <a:off x="3171825" y="3514725"/>
            <a:ext cx="1400175" cy="242887"/>
          </a:xfrm>
          <a:prstGeom prst="rect">
            <a:avLst/>
          </a:prstGeom>
          <a:solidFill>
            <a:srgbClr val="FFFFFF"/>
          </a:solidFill>
          <a:ln w="9525">
            <a:solidFill>
              <a:srgbClr val="DDDDDD"/>
            </a:solidFill>
          </a:ln>
        </p:spPr>
        <p:txBody>
          <a:bodyPr rtlCol="0" anchor="ctr" wrap="square" lIns="0" rIns="0" tIns="0" bIns="0"/>
          <a:lstStyle/>
          <a:p>
            <a:pPr algn="ctr"/>
            <a:r>
              <a:rPr sz="787" b="0">
                <a:solidFill>
                  <a:srgbClr val="9E9E9E"/>
                </a:solidFill>
                <a:latin typeface="Calibri"/>
              </a:rPr>
              <a:t>0</a:t>
            </a:r>
          </a:p>
        </p:txBody>
      </p:sp>
      <p:sp>
        <p:nvSpPr>
          <p:cNvPr id="40" name="TL g 1"/>
          <p:cNvSpPr/>
          <p:nvPr/>
        </p:nvSpPr>
        <p:spPr>
          <a:xfrm>
            <a:off x="3171825" y="3814762"/>
            <a:ext cx="1400175" cy="242887"/>
          </a:xfrm>
          <a:prstGeom prst="rect">
            <a:avLst/>
          </a:prstGeom>
          <a:solidFill>
            <a:srgbClr val="FFFFFF"/>
          </a:solidFill>
          <a:ln w="9525">
            <a:solidFill>
              <a:srgbClr val="DDDDDD"/>
            </a:solidFill>
          </a:ln>
        </p:spPr>
        <p:txBody>
          <a:bodyPr rtlCol="0" anchor="ctr" wrap="square" lIns="0" rIns="0" tIns="0" bIns="0"/>
          <a:lstStyle/>
          <a:p>
            <a:pPr algn="ctr"/>
            <a:r>
              <a:rPr sz="787" b="0">
                <a:solidFill>
                  <a:srgbClr val="9E9E9E"/>
                </a:solidFill>
                <a:latin typeface="Calibri"/>
              </a:rPr>
              <a:t>0</a:t>
            </a:r>
          </a:p>
        </p:txBody>
      </p:sp>
      <p:sp>
        <p:nvSpPr>
          <p:cNvPr id="41" name="TL tap 2"/>
          <p:cNvSpPr/>
          <p:nvPr/>
        </p:nvSpPr>
        <p:spPr>
          <a:xfrm>
            <a:off x="4629150" y="3186112"/>
            <a:ext cx="1400175" cy="271462"/>
          </a:xfrm>
          <a:prstGeom prst="rect">
            <a:avLst/>
          </a:prstGeom>
          <a:solidFill>
            <a:srgbClr val="F5F5F5"/>
          </a:solidFill>
          <a:ln>
            <a:noFill/>
          </a:ln>
        </p:spPr>
        <p:txBody>
          <a:bodyPr rtlCol="0" anchor="ctr" wrap="square" lIns="0" rIns="0" tIns="0" bIns="0"/>
          <a:lstStyle/>
          <a:p>
            <a:pPr algn="ctr"/>
            <a:r>
              <a:rPr sz="843" b="1">
                <a:solidFill>
                  <a:srgbClr val="12343B"/>
                </a:solidFill>
                <a:latin typeface="Calibri"/>
              </a:rPr>
              <a:t>Step: 1 TCK</a:t>
            </a:r>
          </a:p>
        </p:txBody>
      </p:sp>
      <p:sp>
        <p:nvSpPr>
          <p:cNvPr id="42" name="TL v 2"/>
          <p:cNvSpPr/>
          <p:nvPr/>
        </p:nvSpPr>
        <p:spPr>
          <a:xfrm>
            <a:off x="4629150" y="3514725"/>
            <a:ext cx="1400175" cy="242887"/>
          </a:xfrm>
          <a:prstGeom prst="rect">
            <a:avLst/>
          </a:prstGeom>
          <a:solidFill>
            <a:srgbClr val="FFFFFF"/>
          </a:solidFill>
          <a:ln w="9525">
            <a:solidFill>
              <a:srgbClr val="DDDDDD"/>
            </a:solidFill>
          </a:ln>
        </p:spPr>
        <p:txBody>
          <a:bodyPr rtlCol="0" anchor="ctr" wrap="square" lIns="0" rIns="0" tIns="0" bIns="0"/>
          <a:lstStyle/>
          <a:p>
            <a:pPr algn="ctr"/>
            <a:r>
              <a:rPr sz="787" b="0">
                <a:solidFill>
                  <a:srgbClr val="9E9E9E"/>
                </a:solidFill>
                <a:latin typeface="Calibri"/>
              </a:rPr>
              <a:t>0</a:t>
            </a:r>
          </a:p>
        </p:txBody>
      </p:sp>
      <p:sp>
        <p:nvSpPr>
          <p:cNvPr id="43" name="TL g 2"/>
          <p:cNvSpPr/>
          <p:nvPr/>
        </p:nvSpPr>
        <p:spPr>
          <a:xfrm>
            <a:off x="4629150" y="3814762"/>
            <a:ext cx="1400175" cy="242887"/>
          </a:xfrm>
          <a:prstGeom prst="rect">
            <a:avLst/>
          </a:prstGeom>
          <a:solidFill>
            <a:srgbClr val="FFFFFF"/>
          </a:solidFill>
          <a:ln w="9525">
            <a:solidFill>
              <a:srgbClr val="DDDDDD"/>
            </a:solidFill>
          </a:ln>
        </p:spPr>
        <p:txBody>
          <a:bodyPr rtlCol="0" anchor="ctr" wrap="square" lIns="0" rIns="0" tIns="0" bIns="0"/>
          <a:lstStyle/>
          <a:p>
            <a:pPr algn="ctr"/>
            <a:r>
              <a:rPr sz="787" b="0">
                <a:solidFill>
                  <a:srgbClr val="9E9E9E"/>
                </a:solidFill>
                <a:latin typeface="Calibri"/>
              </a:rPr>
              <a:t>0</a:t>
            </a:r>
          </a:p>
        </p:txBody>
      </p:sp>
      <p:sp>
        <p:nvSpPr>
          <p:cNvPr id="44" name="TL tap 3"/>
          <p:cNvSpPr/>
          <p:nvPr/>
        </p:nvSpPr>
        <p:spPr>
          <a:xfrm>
            <a:off x="6086475" y="3186112"/>
            <a:ext cx="1400175" cy="271462"/>
          </a:xfrm>
          <a:prstGeom prst="rect">
            <a:avLst/>
          </a:prstGeom>
          <a:solidFill>
            <a:srgbClr val="F5F5F5"/>
          </a:solidFill>
          <a:ln>
            <a:noFill/>
          </a:ln>
        </p:spPr>
        <p:txBody>
          <a:bodyPr rtlCol="0" anchor="ctr" wrap="square" lIns="0" rIns="0" tIns="0" bIns="0"/>
          <a:lstStyle/>
          <a:p>
            <a:pPr algn="ctr"/>
            <a:r>
              <a:rPr sz="843" b="1">
                <a:solidFill>
                  <a:srgbClr val="12343B"/>
                </a:solidFill>
                <a:latin typeface="Calibri"/>
              </a:rPr>
              <a:t>Capture-DR</a:t>
            </a:r>
          </a:p>
        </p:txBody>
      </p:sp>
      <p:sp>
        <p:nvSpPr>
          <p:cNvPr id="45" name="TL v 3"/>
          <p:cNvSpPr/>
          <p:nvPr/>
        </p:nvSpPr>
        <p:spPr>
          <a:xfrm>
            <a:off x="6086475" y="3514725"/>
            <a:ext cx="1400175" cy="242887"/>
          </a:xfrm>
          <a:prstGeom prst="rect">
            <a:avLst/>
          </a:prstGeom>
          <a:solidFill>
            <a:srgbClr val="FFFFFF"/>
          </a:solidFill>
          <a:ln w="9525">
            <a:solidFill>
              <a:srgbClr val="DDDDDD"/>
            </a:solidFill>
          </a:ln>
        </p:spPr>
        <p:txBody>
          <a:bodyPr rtlCol="0" anchor="ctr" wrap="square" lIns="0" rIns="0" tIns="0" bIns="0"/>
          <a:lstStyle/>
          <a:p>
            <a:pPr algn="ctr"/>
            <a:r>
              <a:rPr sz="787" b="0">
                <a:solidFill>
                  <a:srgbClr val="9E9E9E"/>
                </a:solidFill>
                <a:latin typeface="Calibri"/>
              </a:rPr>
              <a:t>0</a:t>
            </a:r>
          </a:p>
        </p:txBody>
      </p:sp>
      <p:sp>
        <p:nvSpPr>
          <p:cNvPr id="46" name="TL g 3"/>
          <p:cNvSpPr/>
          <p:nvPr/>
        </p:nvSpPr>
        <p:spPr>
          <a:xfrm>
            <a:off x="6086475" y="3814762"/>
            <a:ext cx="1400175" cy="242887"/>
          </a:xfrm>
          <a:prstGeom prst="rect">
            <a:avLst/>
          </a:prstGeom>
          <a:solidFill>
            <a:srgbClr val="FFFFFF"/>
          </a:solidFill>
          <a:ln w="9525">
            <a:solidFill>
              <a:srgbClr val="DDDDDD"/>
            </a:solidFill>
          </a:ln>
        </p:spPr>
        <p:txBody>
          <a:bodyPr rtlCol="0" anchor="ctr" wrap="square" lIns="0" rIns="0" tIns="0" bIns="0"/>
          <a:lstStyle/>
          <a:p>
            <a:pPr algn="ctr"/>
            <a:r>
              <a:rPr sz="787" b="0">
                <a:solidFill>
                  <a:srgbClr val="9E9E9E"/>
                </a:solidFill>
                <a:latin typeface="Calibri"/>
              </a:rPr>
              <a:t>0</a:t>
            </a:r>
          </a:p>
        </p:txBody>
      </p:sp>
      <p:sp>
        <p:nvSpPr>
          <p:cNvPr id="47" name="TL tap 4"/>
          <p:cNvSpPr/>
          <p:nvPr/>
        </p:nvSpPr>
        <p:spPr>
          <a:xfrm>
            <a:off x="7543800" y="3186112"/>
            <a:ext cx="1400175" cy="271462"/>
          </a:xfrm>
          <a:prstGeom prst="rect">
            <a:avLst/>
          </a:prstGeom>
          <a:solidFill>
            <a:srgbClr val="F5F5F5"/>
          </a:solidFill>
          <a:ln>
            <a:noFill/>
          </a:ln>
        </p:spPr>
        <p:txBody>
          <a:bodyPr rtlCol="0" anchor="ctr" wrap="square" lIns="0" rIns="0" tIns="0" bIns="0"/>
          <a:lstStyle/>
          <a:p>
            <a:pPr algn="ctr"/>
            <a:r>
              <a:rPr sz="843" b="1">
                <a:solidFill>
                  <a:srgbClr val="12343B"/>
                </a:solidFill>
                <a:latin typeface="Calibri"/>
              </a:rPr>
              <a:t>Shift-DR</a:t>
            </a:r>
          </a:p>
        </p:txBody>
      </p:sp>
      <p:sp>
        <p:nvSpPr>
          <p:cNvPr id="48" name="TL v 4"/>
          <p:cNvSpPr/>
          <p:nvPr/>
        </p:nvSpPr>
        <p:spPr>
          <a:xfrm>
            <a:off x="7543800" y="3514725"/>
            <a:ext cx="1400175" cy="242887"/>
          </a:xfrm>
          <a:prstGeom prst="rect">
            <a:avLst/>
          </a:prstGeom>
          <a:solidFill>
            <a:srgbClr val="FFFFFF"/>
          </a:solidFill>
          <a:ln w="9525">
            <a:solidFill>
              <a:srgbClr val="DDDDDD"/>
            </a:solidFill>
          </a:ln>
        </p:spPr>
        <p:txBody>
          <a:bodyPr rtlCol="0" anchor="ctr" wrap="square" lIns="0" rIns="0" tIns="0" bIns="0"/>
          <a:lstStyle/>
          <a:p>
            <a:pPr algn="ctr"/>
            <a:r>
              <a:rPr sz="787" b="0">
                <a:solidFill>
                  <a:srgbClr val="9E9E9E"/>
                </a:solidFill>
                <a:latin typeface="Calibri"/>
              </a:rPr>
              <a:t>0</a:t>
            </a:r>
          </a:p>
        </p:txBody>
      </p:sp>
      <p:sp>
        <p:nvSpPr>
          <p:cNvPr id="49" name="TL g 4"/>
          <p:cNvSpPr/>
          <p:nvPr/>
        </p:nvSpPr>
        <p:spPr>
          <a:xfrm>
            <a:off x="7543800" y="3814762"/>
            <a:ext cx="1400175" cy="242887"/>
          </a:xfrm>
          <a:prstGeom prst="rect">
            <a:avLst/>
          </a:prstGeom>
          <a:solidFill>
            <a:srgbClr val="FFFFFF"/>
          </a:solidFill>
          <a:ln w="9525">
            <a:solidFill>
              <a:srgbClr val="DDDDDD"/>
            </a:solidFill>
          </a:ln>
        </p:spPr>
        <p:txBody>
          <a:bodyPr rtlCol="0" anchor="ctr" wrap="square" lIns="0" rIns="0" tIns="0" bIns="0"/>
          <a:lstStyle/>
          <a:p>
            <a:pPr algn="ctr"/>
            <a:r>
              <a:rPr sz="787" b="0">
                <a:solidFill>
                  <a:srgbClr val="9E9E9E"/>
                </a:solidFill>
                <a:latin typeface="Calibri"/>
              </a:rPr>
              <a:t>0</a:t>
            </a:r>
          </a:p>
        </p:txBody>
      </p:sp>
      <p:sp>
        <p:nvSpPr>
          <p:cNvPr id="50" name="HS cap 0"/>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One transfer through the isolated crossbar, step by step.</a:t>
            </a:r>
          </a:p>
          <a:p>
            <a:pPr algn="l"/>
            <a:r>
              <a:rPr sz="1237" b="0">
                <a:solidFill>
                  <a:srgbClr val="FFFFFF"/>
                </a:solidFill>
                <a:latin typeface="Calibri"/>
              </a:rPr>
              <a:t>Click to start in normal mode.</a:t>
            </a:r>
          </a:p>
        </p:txBody>
      </p:sp>
      <p:cxnSp>
        <p:nvCxnSpPr>
          <p:cNvPr id="51" name="HS n req L0"/>
          <p:cNvCxnSpPr/>
          <p:nvPr/>
        </p:nvCxnSpPr>
        <p:spPr>
          <a:xfrm>
            <a:off x="1285875" y="1314450"/>
            <a:ext cx="428625" cy="0"/>
          </a:xfrm>
          <a:prstGeom prst="line">
            <a:avLst/>
          </a:prstGeom>
          <a:ln w="44450">
            <a:solidFill>
              <a:srgbClr val="93005F"/>
            </a:solidFill>
            <a:tailEnd type="triangle" w="med" len="med"/>
          </a:ln>
        </p:spPr>
      </p:cxnSp>
      <p:cxnSp>
        <p:nvCxnSpPr>
          <p:cNvPr id="52" name="HS n req L1"/>
          <p:cNvCxnSpPr/>
          <p:nvPr/>
        </p:nvCxnSpPr>
        <p:spPr>
          <a:xfrm>
            <a:off x="2857500" y="1314450"/>
            <a:ext cx="500062" cy="0"/>
          </a:xfrm>
          <a:prstGeom prst="line">
            <a:avLst/>
          </a:prstGeom>
          <a:ln w="44450">
            <a:solidFill>
              <a:srgbClr val="93005F"/>
            </a:solidFill>
            <a:tailEnd type="triangle" w="med" len="med"/>
          </a:ln>
        </p:spPr>
      </p:cxnSp>
      <p:cxnSp>
        <p:nvCxnSpPr>
          <p:cNvPr id="53" name="HS n req X"/>
          <p:cNvCxnSpPr/>
          <p:nvPr/>
        </p:nvCxnSpPr>
        <p:spPr>
          <a:xfrm>
            <a:off x="3357562" y="1314450"/>
            <a:ext cx="2286000" cy="0"/>
          </a:xfrm>
          <a:prstGeom prst="line">
            <a:avLst/>
          </a:prstGeom>
          <a:ln w="44450">
            <a:solidFill>
              <a:srgbClr val="93005F"/>
            </a:solidFill>
            <a:tailEnd type="triangle" w="med" len="med"/>
          </a:ln>
        </p:spPr>
      </p:cxnSp>
      <p:cxnSp>
        <p:nvCxnSpPr>
          <p:cNvPr id="54" name="HS n req R1"/>
          <p:cNvCxnSpPr/>
          <p:nvPr/>
        </p:nvCxnSpPr>
        <p:spPr>
          <a:xfrm>
            <a:off x="5643562" y="1314450"/>
            <a:ext cx="500063" cy="0"/>
          </a:xfrm>
          <a:prstGeom prst="line">
            <a:avLst/>
          </a:prstGeom>
          <a:ln w="44450">
            <a:solidFill>
              <a:srgbClr val="93005F"/>
            </a:solidFill>
            <a:tailEnd type="triangle" w="med" len="med"/>
          </a:ln>
        </p:spPr>
      </p:cxnSp>
      <p:cxnSp>
        <p:nvCxnSpPr>
          <p:cNvPr id="55" name="HS n req R0"/>
          <p:cNvCxnSpPr/>
          <p:nvPr/>
        </p:nvCxnSpPr>
        <p:spPr>
          <a:xfrm>
            <a:off x="7286625" y="1314450"/>
            <a:ext cx="428625" cy="0"/>
          </a:xfrm>
          <a:prstGeom prst="line">
            <a:avLst/>
          </a:prstGeom>
          <a:ln w="44450">
            <a:solidFill>
              <a:srgbClr val="93005F"/>
            </a:solidFill>
            <a:tailEnd type="triangle" w="med" len="med"/>
          </a:ln>
        </p:spPr>
      </p:cxnSp>
      <p:cxnSp>
        <p:nvCxnSpPr>
          <p:cNvPr id="56" name="HS n gnt L0"/>
          <p:cNvCxnSpPr/>
          <p:nvPr/>
        </p:nvCxnSpPr>
        <p:spPr>
          <a:xfrm flipH="1">
            <a:off x="1285875" y="1485900"/>
            <a:ext cx="428625" cy="0"/>
          </a:xfrm>
          <a:prstGeom prst="line">
            <a:avLst/>
          </a:prstGeom>
          <a:ln w="44450">
            <a:solidFill>
              <a:srgbClr val="93005F"/>
            </a:solidFill>
            <a:tailEnd type="triangle" w="med" len="med"/>
          </a:ln>
        </p:spPr>
      </p:cxnSp>
      <p:cxnSp>
        <p:nvCxnSpPr>
          <p:cNvPr id="57" name="HS n gnt L1"/>
          <p:cNvCxnSpPr/>
          <p:nvPr/>
        </p:nvCxnSpPr>
        <p:spPr>
          <a:xfrm flipH="1">
            <a:off x="2857500" y="1485900"/>
            <a:ext cx="500062" cy="0"/>
          </a:xfrm>
          <a:prstGeom prst="line">
            <a:avLst/>
          </a:prstGeom>
          <a:ln w="44450">
            <a:solidFill>
              <a:srgbClr val="93005F"/>
            </a:solidFill>
            <a:tailEnd type="triangle" w="med" len="med"/>
          </a:ln>
        </p:spPr>
      </p:cxnSp>
      <p:cxnSp>
        <p:nvCxnSpPr>
          <p:cNvPr id="58" name="HS n gnt X"/>
          <p:cNvCxnSpPr/>
          <p:nvPr/>
        </p:nvCxnSpPr>
        <p:spPr>
          <a:xfrm flipH="1">
            <a:off x="3357562" y="1485900"/>
            <a:ext cx="2286000" cy="0"/>
          </a:xfrm>
          <a:prstGeom prst="line">
            <a:avLst/>
          </a:prstGeom>
          <a:ln w="44450">
            <a:solidFill>
              <a:srgbClr val="93005F"/>
            </a:solidFill>
            <a:tailEnd type="triangle" w="med" len="med"/>
          </a:ln>
        </p:spPr>
      </p:cxnSp>
      <p:cxnSp>
        <p:nvCxnSpPr>
          <p:cNvPr id="59" name="HS n gnt R1"/>
          <p:cNvCxnSpPr/>
          <p:nvPr/>
        </p:nvCxnSpPr>
        <p:spPr>
          <a:xfrm flipH="1">
            <a:off x="5643562" y="1485900"/>
            <a:ext cx="500063" cy="0"/>
          </a:xfrm>
          <a:prstGeom prst="line">
            <a:avLst/>
          </a:prstGeom>
          <a:ln w="44450">
            <a:solidFill>
              <a:srgbClr val="93005F"/>
            </a:solidFill>
            <a:tailEnd type="triangle" w="med" len="med"/>
          </a:ln>
        </p:spPr>
      </p:cxnSp>
      <p:cxnSp>
        <p:nvCxnSpPr>
          <p:cNvPr id="60" name="HS n gnt R0"/>
          <p:cNvCxnSpPr/>
          <p:nvPr/>
        </p:nvCxnSpPr>
        <p:spPr>
          <a:xfrm flipH="1">
            <a:off x="7286625" y="1485900"/>
            <a:ext cx="428625" cy="0"/>
          </a:xfrm>
          <a:prstGeom prst="line">
            <a:avLst/>
          </a:prstGeom>
          <a:ln w="44450">
            <a:solidFill>
              <a:srgbClr val="93005F"/>
            </a:solidFill>
            <a:tailEnd type="triangle" w="med" len="med"/>
          </a:ln>
        </p:spPr>
      </p:cxnSp>
      <p:cxnSp>
        <p:nvCxnSpPr>
          <p:cNvPr id="61" name="HS n rv L0"/>
          <p:cNvCxnSpPr/>
          <p:nvPr/>
        </p:nvCxnSpPr>
        <p:spPr>
          <a:xfrm flipH="1">
            <a:off x="1285875" y="2428875"/>
            <a:ext cx="428625" cy="0"/>
          </a:xfrm>
          <a:prstGeom prst="line">
            <a:avLst/>
          </a:prstGeom>
          <a:ln w="44450">
            <a:solidFill>
              <a:srgbClr val="93005F"/>
            </a:solidFill>
            <a:tailEnd type="triangle" w="med" len="med"/>
          </a:ln>
        </p:spPr>
      </p:cxnSp>
      <p:cxnSp>
        <p:nvCxnSpPr>
          <p:cNvPr id="62" name="HS n rv L1"/>
          <p:cNvCxnSpPr/>
          <p:nvPr/>
        </p:nvCxnSpPr>
        <p:spPr>
          <a:xfrm flipH="1">
            <a:off x="2857500" y="2428875"/>
            <a:ext cx="500062" cy="0"/>
          </a:xfrm>
          <a:prstGeom prst="line">
            <a:avLst/>
          </a:prstGeom>
          <a:ln w="44450">
            <a:solidFill>
              <a:srgbClr val="93005F"/>
            </a:solidFill>
            <a:tailEnd type="triangle" w="med" len="med"/>
          </a:ln>
        </p:spPr>
      </p:cxnSp>
      <p:cxnSp>
        <p:nvCxnSpPr>
          <p:cNvPr id="63" name="HS n rv X"/>
          <p:cNvCxnSpPr/>
          <p:nvPr/>
        </p:nvCxnSpPr>
        <p:spPr>
          <a:xfrm flipH="1">
            <a:off x="3357562" y="2428875"/>
            <a:ext cx="2286000" cy="0"/>
          </a:xfrm>
          <a:prstGeom prst="line">
            <a:avLst/>
          </a:prstGeom>
          <a:ln w="44450">
            <a:solidFill>
              <a:srgbClr val="93005F"/>
            </a:solidFill>
            <a:tailEnd type="triangle" w="med" len="med"/>
          </a:ln>
        </p:spPr>
      </p:cxnSp>
      <p:cxnSp>
        <p:nvCxnSpPr>
          <p:cNvPr id="64" name="HS n rv R1"/>
          <p:cNvCxnSpPr/>
          <p:nvPr/>
        </p:nvCxnSpPr>
        <p:spPr>
          <a:xfrm flipH="1">
            <a:off x="5643562" y="2428875"/>
            <a:ext cx="500063" cy="0"/>
          </a:xfrm>
          <a:prstGeom prst="line">
            <a:avLst/>
          </a:prstGeom>
          <a:ln w="44450">
            <a:solidFill>
              <a:srgbClr val="93005F"/>
            </a:solidFill>
            <a:tailEnd type="triangle" w="med" len="med"/>
          </a:ln>
        </p:spPr>
      </p:cxnSp>
      <p:cxnSp>
        <p:nvCxnSpPr>
          <p:cNvPr id="65" name="HS n rv R0"/>
          <p:cNvCxnSpPr/>
          <p:nvPr/>
        </p:nvCxnSpPr>
        <p:spPr>
          <a:xfrm flipH="1">
            <a:off x="7286625" y="2428875"/>
            <a:ext cx="428625" cy="0"/>
          </a:xfrm>
          <a:prstGeom prst="line">
            <a:avLst/>
          </a:prstGeom>
          <a:ln w="44450">
            <a:solidFill>
              <a:srgbClr val="93005F"/>
            </a:solidFill>
            <a:tailEnd type="triangle" w="med" len="med"/>
          </a:ln>
        </p:spPr>
      </p:cxnSp>
      <p:sp>
        <p:nvSpPr>
          <p:cNvPr id="66" name="HS n t req"/>
          <p:cNvSpPr/>
          <p:nvPr/>
        </p:nvSpPr>
        <p:spPr>
          <a:xfrm>
            <a:off x="1257300" y="1100137"/>
            <a:ext cx="485775" cy="171450"/>
          </a:xfrm>
          <a:prstGeom prst="roundRect">
            <a:avLst>
              <a:gd name="adj" fmla="val 15000"/>
            </a:avLst>
          </a:prstGeom>
          <a:solidFill>
            <a:srgbClr val="FFFFFF"/>
          </a:solidFill>
          <a:ln w="15240">
            <a:solidFill>
              <a:srgbClr val="93005F"/>
            </a:solidFill>
          </a:ln>
        </p:spPr>
        <p:txBody>
          <a:bodyPr rtlCol="0" anchor="ctr" wrap="square" lIns="0" rIns="0" tIns="0" bIns="0"/>
          <a:lstStyle/>
          <a:p>
            <a:pPr algn="ctr"/>
            <a:r>
              <a:rPr sz="675" b="1">
                <a:solidFill>
                  <a:srgbClr val="93005F"/>
                </a:solidFill>
                <a:latin typeface="Calibri"/>
              </a:rPr>
              <a:t>req</a:t>
            </a:r>
          </a:p>
        </p:txBody>
      </p:sp>
      <p:sp>
        <p:nvSpPr>
          <p:cNvPr id="67" name="HS n t gnt"/>
          <p:cNvSpPr/>
          <p:nvPr/>
        </p:nvSpPr>
        <p:spPr>
          <a:xfrm>
            <a:off x="1257300" y="1514475"/>
            <a:ext cx="485775" cy="171450"/>
          </a:xfrm>
          <a:prstGeom prst="roundRect">
            <a:avLst>
              <a:gd name="adj" fmla="val 15000"/>
            </a:avLst>
          </a:prstGeom>
          <a:solidFill>
            <a:srgbClr val="FFFFFF"/>
          </a:solidFill>
          <a:ln w="15240">
            <a:solidFill>
              <a:srgbClr val="93005F"/>
            </a:solidFill>
          </a:ln>
        </p:spPr>
        <p:txBody>
          <a:bodyPr rtlCol="0" anchor="ctr" wrap="square" lIns="0" rIns="0" tIns="0" bIns="0"/>
          <a:lstStyle/>
          <a:p>
            <a:pPr algn="ctr"/>
            <a:r>
              <a:rPr sz="675" b="1">
                <a:solidFill>
                  <a:srgbClr val="93005F"/>
                </a:solidFill>
                <a:latin typeface="Calibri"/>
              </a:rPr>
              <a:t>gnt</a:t>
            </a:r>
          </a:p>
        </p:txBody>
      </p:sp>
      <p:sp>
        <p:nvSpPr>
          <p:cNvPr id="68" name="HS n t rv"/>
          <p:cNvSpPr/>
          <p:nvPr/>
        </p:nvSpPr>
        <p:spPr>
          <a:xfrm>
            <a:off x="1257300" y="2214562"/>
            <a:ext cx="485775" cy="171450"/>
          </a:xfrm>
          <a:prstGeom prst="roundRect">
            <a:avLst>
              <a:gd name="adj" fmla="val 15000"/>
            </a:avLst>
          </a:prstGeom>
          <a:solidFill>
            <a:srgbClr val="FFFFFF"/>
          </a:solidFill>
          <a:ln w="15240">
            <a:solidFill>
              <a:srgbClr val="93005F"/>
            </a:solidFill>
          </a:ln>
        </p:spPr>
        <p:txBody>
          <a:bodyPr rtlCol="0" anchor="ctr" wrap="square" lIns="0" rIns="0" tIns="0" bIns="0"/>
          <a:lstStyle/>
          <a:p>
            <a:pPr algn="ctr"/>
            <a:r>
              <a:rPr sz="675" b="1">
                <a:solidFill>
                  <a:srgbClr val="93005F"/>
                </a:solidFill>
                <a:latin typeface="Calibri"/>
              </a:rPr>
              <a:t>rvalid</a:t>
            </a:r>
          </a:p>
        </p:txBody>
      </p:sp>
      <p:sp>
        <p:nvSpPr>
          <p:cNvPr id="69" name="HS n t req2"/>
          <p:cNvSpPr/>
          <p:nvPr/>
        </p:nvSpPr>
        <p:spPr>
          <a:xfrm>
            <a:off x="7258050" y="1100137"/>
            <a:ext cx="485775" cy="171450"/>
          </a:xfrm>
          <a:prstGeom prst="roundRect">
            <a:avLst>
              <a:gd name="adj" fmla="val 15000"/>
            </a:avLst>
          </a:prstGeom>
          <a:solidFill>
            <a:srgbClr val="FFFFFF"/>
          </a:solidFill>
          <a:ln w="15240">
            <a:solidFill>
              <a:srgbClr val="93005F"/>
            </a:solidFill>
          </a:ln>
        </p:spPr>
        <p:txBody>
          <a:bodyPr rtlCol="0" anchor="ctr" wrap="square" lIns="0" rIns="0" tIns="0" bIns="0"/>
          <a:lstStyle/>
          <a:p>
            <a:pPr algn="ctr"/>
            <a:r>
              <a:rPr sz="675" b="1">
                <a:solidFill>
                  <a:srgbClr val="93005F"/>
                </a:solidFill>
                <a:latin typeface="Calibri"/>
              </a:rPr>
              <a:t>req</a:t>
            </a:r>
          </a:p>
        </p:txBody>
      </p:sp>
      <p:sp>
        <p:nvSpPr>
          <p:cNvPr id="70" name="HS n t gnt2"/>
          <p:cNvSpPr/>
          <p:nvPr/>
        </p:nvSpPr>
        <p:spPr>
          <a:xfrm>
            <a:off x="7258050" y="1514475"/>
            <a:ext cx="485775" cy="171450"/>
          </a:xfrm>
          <a:prstGeom prst="roundRect">
            <a:avLst>
              <a:gd name="adj" fmla="val 15000"/>
            </a:avLst>
          </a:prstGeom>
          <a:solidFill>
            <a:srgbClr val="FFFFFF"/>
          </a:solidFill>
          <a:ln w="15240">
            <a:solidFill>
              <a:srgbClr val="93005F"/>
            </a:solidFill>
          </a:ln>
        </p:spPr>
        <p:txBody>
          <a:bodyPr rtlCol="0" anchor="ctr" wrap="square" lIns="0" rIns="0" tIns="0" bIns="0"/>
          <a:lstStyle/>
          <a:p>
            <a:pPr algn="ctr"/>
            <a:r>
              <a:rPr sz="675" b="1">
                <a:solidFill>
                  <a:srgbClr val="93005F"/>
                </a:solidFill>
                <a:latin typeface="Calibri"/>
              </a:rPr>
              <a:t>gnt</a:t>
            </a:r>
          </a:p>
        </p:txBody>
      </p:sp>
      <p:sp>
        <p:nvSpPr>
          <p:cNvPr id="71" name="HS n t rv2"/>
          <p:cNvSpPr/>
          <p:nvPr/>
        </p:nvSpPr>
        <p:spPr>
          <a:xfrm>
            <a:off x="7258050" y="2214562"/>
            <a:ext cx="485775" cy="171450"/>
          </a:xfrm>
          <a:prstGeom prst="roundRect">
            <a:avLst>
              <a:gd name="adj" fmla="val 15000"/>
            </a:avLst>
          </a:prstGeom>
          <a:solidFill>
            <a:srgbClr val="FFFFFF"/>
          </a:solidFill>
          <a:ln w="15240">
            <a:solidFill>
              <a:srgbClr val="93005F"/>
            </a:solidFill>
          </a:ln>
        </p:spPr>
        <p:txBody>
          <a:bodyPr rtlCol="0" anchor="ctr" wrap="square" lIns="0" rIns="0" tIns="0" bIns="0"/>
          <a:lstStyle/>
          <a:p>
            <a:pPr algn="ctr"/>
            <a:r>
              <a:rPr sz="675" b="1">
                <a:solidFill>
                  <a:srgbClr val="93005F"/>
                </a:solidFill>
                <a:latin typeface="Calibri"/>
              </a:rPr>
              <a:t>rvalid</a:t>
            </a:r>
          </a:p>
        </p:txBody>
      </p:sp>
      <p:sp>
        <p:nvSpPr>
          <p:cNvPr id="72" name="HS cap 1"/>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Normal mode: each cut is a small pipeline register. It does its own req / gnt handshake</a:t>
            </a:r>
          </a:p>
          <a:p>
            <a:pPr algn="l"/>
            <a:r>
              <a:rPr sz="1237" b="0">
                <a:solidFill>
                  <a:srgbClr val="FFFFFF"/>
                </a:solidFill>
                <a:latin typeface="Calibri"/>
              </a:rPr>
              <a:t>with the side before it and the side after it; responses (rvalid) flow back.</a:t>
            </a:r>
          </a:p>
        </p:txBody>
      </p:sp>
      <p:sp>
        <p:nvSpPr>
          <p:cNvPr id="73" name="HS clk tck"/>
          <p:cNvSpPr/>
          <p:nvPr/>
        </p:nvSpPr>
        <p:spPr>
          <a:xfrm>
            <a:off x="3357562" y="514350"/>
            <a:ext cx="2286000" cy="214312"/>
          </a:xfrm>
          <a:prstGeom prst="rect">
            <a:avLst/>
          </a:prstGeom>
          <a:solidFill>
            <a:srgbClr val="FFF3E0"/>
          </a:solidFill>
          <a:ln w="25400">
            <a:solidFill>
              <a:srgbClr val="E39B2D"/>
            </a:solidFill>
          </a:ln>
        </p:spPr>
        <p:txBody>
          <a:bodyPr rtlCol="0" anchor="ctr" wrap="square" lIns="0" rIns="0" tIns="0" bIns="0"/>
          <a:lstStyle/>
          <a:p>
            <a:pPr algn="ctr"/>
            <a:r>
              <a:rPr sz="787" b="1">
                <a:solidFill>
                  <a:srgbClr val="E39B2D"/>
                </a:solidFill>
                <a:latin typeface="Calibri"/>
              </a:rPr>
              <a:t>cuts + crossbar clock: TCK (JTAG)</a:t>
            </a:r>
          </a:p>
        </p:txBody>
      </p:sp>
      <p:sp>
        <p:nvSpPr>
          <p:cNvPr id="74" name="HS i gnt"/>
          <p:cNvSpPr/>
          <p:nvPr/>
        </p:nvSpPr>
        <p:spPr>
          <a:xfrm>
            <a:off x="1257300" y="1514475"/>
            <a:ext cx="485775" cy="171450"/>
          </a:xfrm>
          <a:prstGeom prst="roundRect">
            <a:avLst>
              <a:gd name="adj" fmla="val 15000"/>
            </a:avLst>
          </a:prstGeom>
          <a:solidFill>
            <a:srgbClr val="FFFFFF"/>
          </a:solidFill>
          <a:ln w="15240">
            <a:solidFill>
              <a:srgbClr val="C62828"/>
            </a:solidFill>
          </a:ln>
        </p:spPr>
        <p:txBody>
          <a:bodyPr rtlCol="0" anchor="ctr" wrap="square" lIns="0" rIns="0" tIns="0" bIns="0"/>
          <a:lstStyle/>
          <a:p>
            <a:pPr algn="ctr"/>
            <a:r>
              <a:rPr sz="675" b="1">
                <a:solidFill>
                  <a:srgbClr val="C62828"/>
                </a:solidFill>
                <a:latin typeface="Calibri"/>
              </a:rPr>
              <a:t>gnt = 0</a:t>
            </a:r>
          </a:p>
        </p:txBody>
      </p:sp>
      <p:sp>
        <p:nvSpPr>
          <p:cNvPr id="75" name="HS i rv"/>
          <p:cNvSpPr/>
          <p:nvPr/>
        </p:nvSpPr>
        <p:spPr>
          <a:xfrm>
            <a:off x="1257300" y="2214562"/>
            <a:ext cx="485775" cy="171450"/>
          </a:xfrm>
          <a:prstGeom prst="roundRect">
            <a:avLst>
              <a:gd name="adj" fmla="val 15000"/>
            </a:avLst>
          </a:prstGeom>
          <a:solidFill>
            <a:srgbClr val="FFFFFF"/>
          </a:solidFill>
          <a:ln w="15240">
            <a:solidFill>
              <a:srgbClr val="C62828"/>
            </a:solidFill>
          </a:ln>
        </p:spPr>
        <p:txBody>
          <a:bodyPr rtlCol="0" anchor="ctr" wrap="square" lIns="0" rIns="0" tIns="0" bIns="0"/>
          <a:lstStyle/>
          <a:p>
            <a:pPr algn="ctr"/>
            <a:r>
              <a:rPr sz="675" b="1">
                <a:solidFill>
                  <a:srgbClr val="C62828"/>
                </a:solidFill>
                <a:latin typeface="Calibri"/>
              </a:rPr>
              <a:t>rvalid = 0</a:t>
            </a:r>
          </a:p>
        </p:txBody>
      </p:sp>
      <p:sp>
        <p:nvSpPr>
          <p:cNvPr id="76" name="HS i req"/>
          <p:cNvSpPr/>
          <p:nvPr/>
        </p:nvSpPr>
        <p:spPr>
          <a:xfrm>
            <a:off x="7258050" y="1100137"/>
            <a:ext cx="485775" cy="171450"/>
          </a:xfrm>
          <a:prstGeom prst="roundRect">
            <a:avLst>
              <a:gd name="adj" fmla="val 15000"/>
            </a:avLst>
          </a:prstGeom>
          <a:solidFill>
            <a:srgbClr val="FFFFFF"/>
          </a:solidFill>
          <a:ln w="15240">
            <a:solidFill>
              <a:srgbClr val="C62828"/>
            </a:solidFill>
          </a:ln>
        </p:spPr>
        <p:txBody>
          <a:bodyPr rtlCol="0" anchor="ctr" wrap="square" lIns="0" rIns="0" tIns="0" bIns="0"/>
          <a:lstStyle/>
          <a:p>
            <a:pPr algn="ctr"/>
            <a:r>
              <a:rPr sz="675" b="1">
                <a:solidFill>
                  <a:srgbClr val="C62828"/>
                </a:solidFill>
                <a:latin typeface="Calibri"/>
              </a:rPr>
              <a:t>req = 0</a:t>
            </a:r>
          </a:p>
        </p:txBody>
      </p:sp>
      <p:sp>
        <p:nvSpPr>
          <p:cNvPr id="77" name="HS i mgr"/>
          <p:cNvSpPr/>
          <p:nvPr/>
        </p:nvSpPr>
        <p:spPr>
          <a:xfrm>
            <a:off x="214312" y="2771775"/>
            <a:ext cx="1071562" cy="185737"/>
          </a:xfrm>
          <a:prstGeom prst="roundRect">
            <a:avLst>
              <a:gd name="adj" fmla="val 15000"/>
            </a:avLst>
          </a:prstGeom>
          <a:solidFill>
            <a:srgbClr val="FFFFFF"/>
          </a:solidFill>
          <a:ln w="15240">
            <a:solidFill>
              <a:srgbClr val="C62828"/>
            </a:solidFill>
          </a:ln>
        </p:spPr>
        <p:txBody>
          <a:bodyPr rtlCol="0" anchor="ctr" wrap="square" lIns="0" rIns="0" tIns="0" bIns="0"/>
          <a:lstStyle/>
          <a:p>
            <a:pPr algn="ctr"/>
            <a:r>
              <a:rPr sz="731" b="1">
                <a:solidFill>
                  <a:srgbClr val="C62828"/>
                </a:solidFill>
                <a:latin typeface="Calibri"/>
              </a:rPr>
              <a:t>waits, req held</a:t>
            </a:r>
          </a:p>
        </p:txBody>
      </p:sp>
      <p:sp>
        <p:nvSpPr>
          <p:cNvPr id="78" name="HS i sub"/>
          <p:cNvSpPr/>
          <p:nvPr/>
        </p:nvSpPr>
        <p:spPr>
          <a:xfrm>
            <a:off x="7715250" y="2771775"/>
            <a:ext cx="1214437" cy="185737"/>
          </a:xfrm>
          <a:prstGeom prst="roundRect">
            <a:avLst>
              <a:gd name="adj" fmla="val 15000"/>
            </a:avLst>
          </a:prstGeom>
          <a:solidFill>
            <a:srgbClr val="FFFFFF"/>
          </a:solidFill>
          <a:ln w="15240">
            <a:solidFill>
              <a:srgbClr val="9E9E9E"/>
            </a:solidFill>
          </a:ln>
        </p:spPr>
        <p:txBody>
          <a:bodyPr rtlCol="0" anchor="ctr" wrap="square" lIns="0" rIns="0" tIns="0" bIns="0"/>
          <a:lstStyle/>
          <a:p>
            <a:pPr algn="ctr"/>
            <a:r>
              <a:rPr sz="731" b="1">
                <a:solidFill>
                  <a:srgbClr val="9E9E9E"/>
                </a:solidFill>
                <a:latin typeface="Calibri"/>
              </a:rPr>
              <a:t>idle, never sees req</a:t>
            </a:r>
          </a:p>
        </p:txBody>
      </p:sp>
      <p:sp>
        <p:nvSpPr>
          <p:cNvPr id="79" name="HS cap 2"/>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Isolation: cuts and crossbar move to the JTAG clock. Toward the real manager gnt and rvalid</a:t>
            </a:r>
          </a:p>
          <a:p>
            <a:pPr algn="l"/>
            <a:r>
              <a:rPr sz="1237" b="0">
                <a:solidFill>
                  <a:srgbClr val="FFFFFF"/>
                </a:solidFill>
                <a:latin typeface="Calibri"/>
              </a:rPr>
              <a:t>are held at 0, toward the real subordinate req is held at 0. The manager simply waits.</a:t>
            </a:r>
          </a:p>
        </p:txBody>
      </p:sp>
      <p:sp>
        <p:nvSpPr>
          <p:cNvPr id="80" name="HS hl 0"/>
          <p:cNvSpPr/>
          <p:nvPr/>
        </p:nvSpPr>
        <p:spPr>
          <a:xfrm>
            <a:off x="1714500" y="3186112"/>
            <a:ext cx="1400175" cy="271462"/>
          </a:xfrm>
          <a:prstGeom prst="rect">
            <a:avLst/>
          </a:prstGeom>
          <a:solidFill>
            <a:srgbClr val="FFF3E0"/>
          </a:solidFill>
          <a:ln w="31750">
            <a:solidFill>
              <a:srgbClr val="E39B2D"/>
            </a:solidFill>
          </a:ln>
        </p:spPr>
        <p:txBody>
          <a:bodyPr rtlCol="0" anchor="ctr" wrap="square" lIns="0" rIns="0" tIns="0" bIns="0"/>
          <a:lstStyle/>
          <a:p>
            <a:pPr algn="ctr"/>
            <a:r>
              <a:rPr sz="843" b="1">
                <a:solidFill>
                  <a:srgbClr val="E39B2D"/>
                </a:solidFill>
                <a:latin typeface="Calibri"/>
              </a:rPr>
              <a:t>Shift-DR</a:t>
            </a:r>
          </a:p>
        </p:txBody>
      </p:sp>
      <p:sp>
        <p:nvSpPr>
          <p:cNvPr id="81" name="HS L A load"/>
          <p:cNvSpPr/>
          <p:nvPr/>
        </p:nvSpPr>
        <p:spPr>
          <a:xfrm>
            <a:off x="1800225" y="1185862"/>
            <a:ext cx="971550" cy="428625"/>
          </a:xfrm>
          <a:prstGeom prst="rect">
            <a:avLst/>
          </a:prstGeom>
          <a:solidFill>
            <a:srgbClr val="FFF3E0"/>
          </a:solidFill>
          <a:ln w="15240">
            <a:solidFill>
              <a:srgbClr val="E39B2D"/>
            </a:solidFill>
          </a:ln>
        </p:spPr>
        <p:txBody>
          <a:bodyPr rtlCol="0" anchor="ctr" wrap="square" lIns="14287" rIns="14287" tIns="14287" bIns="14287"/>
          <a:lstStyle/>
          <a:p>
            <a:pPr algn="ctr"/>
            <a:r>
              <a:rPr sz="675" b="1">
                <a:solidFill>
                  <a:srgbClr val="9E9E9E"/>
                </a:solidFill>
                <a:latin typeface="Calibri"/>
              </a:rPr>
              <a:t>A cell (loaded)</a:t>
            </a:r>
          </a:p>
          <a:p>
            <a:pPr algn="ctr"/>
            <a:r>
              <a:rPr sz="731" b="0">
                <a:solidFill>
                  <a:srgbClr val="12343B"/>
                </a:solidFill>
                <a:latin typeface="Consolas"/>
              </a:rPr>
              <a:t>  1   | request</a:t>
            </a:r>
          </a:p>
        </p:txBody>
      </p:sp>
      <p:sp>
        <p:nvSpPr>
          <p:cNvPr id="82" name="HS cap 3"/>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Shift-DR: a request is loaded into the manager-side A cell: one valid bit</a:t>
            </a:r>
          </a:p>
          <a:p>
            <a:pPr algn="l"/>
            <a:r>
              <a:rPr sz="1237" b="0">
                <a:solidFill>
                  <a:srgbClr val="FFFFFF"/>
                </a:solidFill>
                <a:latin typeface="Calibri"/>
              </a:rPr>
              <a:t>(it becomes req) plus the payload. Nothing is driven yet.</a:t>
            </a:r>
          </a:p>
        </p:txBody>
      </p:sp>
      <p:sp>
        <p:nvSpPr>
          <p:cNvPr id="83" name="HS hl 12"/>
          <p:cNvSpPr/>
          <p:nvPr/>
        </p:nvSpPr>
        <p:spPr>
          <a:xfrm>
            <a:off x="3171825" y="3186112"/>
            <a:ext cx="2857500" cy="271462"/>
          </a:xfrm>
          <a:prstGeom prst="rect">
            <a:avLst/>
          </a:prstGeom>
          <a:solidFill>
            <a:srgbClr val="FFF3E0"/>
          </a:solidFill>
          <a:ln w="31750">
            <a:solidFill>
              <a:srgbClr val="E39B2D"/>
            </a:solidFill>
          </a:ln>
        </p:spPr>
        <p:txBody>
          <a:bodyPr rtlCol="0" anchor="ctr" wrap="square" lIns="0" rIns="0" tIns="0" bIns="0"/>
          <a:lstStyle/>
          <a:p>
            <a:pPr algn="ctr"/>
            <a:r>
              <a:rPr sz="843" b="1">
                <a:solidFill>
                  <a:srgbClr val="E39B2D"/>
                </a:solidFill>
                <a:latin typeface="Calibri"/>
              </a:rPr>
              <a:t>Update-DR  ·  Step: 1 TCK</a:t>
            </a:r>
          </a:p>
        </p:txBody>
      </p:sp>
      <p:cxnSp>
        <p:nvCxnSpPr>
          <p:cNvPr id="84" name="HS s req L1"/>
          <p:cNvCxnSpPr/>
          <p:nvPr/>
        </p:nvCxnSpPr>
        <p:spPr>
          <a:xfrm>
            <a:off x="2857500" y="1314450"/>
            <a:ext cx="500062" cy="0"/>
          </a:xfrm>
          <a:prstGeom prst="line">
            <a:avLst/>
          </a:prstGeom>
          <a:ln w="44450">
            <a:solidFill>
              <a:srgbClr val="E39B2D"/>
            </a:solidFill>
            <a:tailEnd type="triangle" w="med" len="med"/>
          </a:ln>
        </p:spPr>
      </p:cxnSp>
      <p:cxnSp>
        <p:nvCxnSpPr>
          <p:cNvPr id="85" name="HS s req X"/>
          <p:cNvCxnSpPr/>
          <p:nvPr/>
        </p:nvCxnSpPr>
        <p:spPr>
          <a:xfrm>
            <a:off x="3357562" y="1314450"/>
            <a:ext cx="2286000" cy="0"/>
          </a:xfrm>
          <a:prstGeom prst="line">
            <a:avLst/>
          </a:prstGeom>
          <a:ln w="44450">
            <a:solidFill>
              <a:srgbClr val="E39B2D"/>
            </a:solidFill>
            <a:tailEnd type="triangle" w="med" len="med"/>
          </a:ln>
        </p:spPr>
      </p:cxnSp>
      <p:cxnSp>
        <p:nvCxnSpPr>
          <p:cNvPr id="86" name="HS s req R1"/>
          <p:cNvCxnSpPr/>
          <p:nvPr/>
        </p:nvCxnSpPr>
        <p:spPr>
          <a:xfrm>
            <a:off x="5643562" y="1314450"/>
            <a:ext cx="500063" cy="0"/>
          </a:xfrm>
          <a:prstGeom prst="line">
            <a:avLst/>
          </a:prstGeom>
          <a:ln w="44450">
            <a:solidFill>
              <a:srgbClr val="E39B2D"/>
            </a:solidFill>
            <a:tailEnd type="triangle" w="med" len="med"/>
          </a:ln>
        </p:spPr>
      </p:cxnSp>
      <p:cxnSp>
        <p:nvCxnSpPr>
          <p:cNvPr id="87" name="HS s gnt L1"/>
          <p:cNvCxnSpPr/>
          <p:nvPr/>
        </p:nvCxnSpPr>
        <p:spPr>
          <a:xfrm flipH="1">
            <a:off x="2857500" y="1485900"/>
            <a:ext cx="500062" cy="0"/>
          </a:xfrm>
          <a:prstGeom prst="line">
            <a:avLst/>
          </a:prstGeom>
          <a:ln w="44450">
            <a:solidFill>
              <a:srgbClr val="2E7D32"/>
            </a:solidFill>
            <a:tailEnd type="triangle" w="med" len="med"/>
          </a:ln>
        </p:spPr>
      </p:cxnSp>
      <p:cxnSp>
        <p:nvCxnSpPr>
          <p:cNvPr id="88" name="HS s gnt X"/>
          <p:cNvCxnSpPr/>
          <p:nvPr/>
        </p:nvCxnSpPr>
        <p:spPr>
          <a:xfrm flipH="1">
            <a:off x="3357562" y="1485900"/>
            <a:ext cx="2286000" cy="0"/>
          </a:xfrm>
          <a:prstGeom prst="line">
            <a:avLst/>
          </a:prstGeom>
          <a:ln w="44450">
            <a:solidFill>
              <a:srgbClr val="2E7D32"/>
            </a:solidFill>
            <a:tailEnd type="triangle" w="med" len="med"/>
          </a:ln>
        </p:spPr>
      </p:cxnSp>
      <p:cxnSp>
        <p:nvCxnSpPr>
          <p:cNvPr id="89" name="HS s gnt R1"/>
          <p:cNvCxnSpPr/>
          <p:nvPr/>
        </p:nvCxnSpPr>
        <p:spPr>
          <a:xfrm flipH="1">
            <a:off x="5643562" y="1485900"/>
            <a:ext cx="500063" cy="0"/>
          </a:xfrm>
          <a:prstGeom prst="line">
            <a:avLst/>
          </a:prstGeom>
          <a:ln w="44450">
            <a:solidFill>
              <a:srgbClr val="2E7D32"/>
            </a:solidFill>
            <a:tailEnd type="triangle" w="med" len="med"/>
          </a:ln>
        </p:spPr>
      </p:cxnSp>
      <p:sp>
        <p:nvSpPr>
          <p:cNvPr id="90" name="HS s t req1"/>
          <p:cNvSpPr/>
          <p:nvPr/>
        </p:nvSpPr>
        <p:spPr>
          <a:xfrm>
            <a:off x="2864643" y="1100137"/>
            <a:ext cx="485775" cy="171450"/>
          </a:xfrm>
          <a:prstGeom prst="roundRect">
            <a:avLst>
              <a:gd name="adj" fmla="val 15000"/>
            </a:avLst>
          </a:prstGeom>
          <a:solidFill>
            <a:srgbClr val="FFFFFF"/>
          </a:solidFill>
          <a:ln w="15240">
            <a:solidFill>
              <a:srgbClr val="E39B2D"/>
            </a:solidFill>
          </a:ln>
        </p:spPr>
        <p:txBody>
          <a:bodyPr rtlCol="0" anchor="ctr" wrap="square" lIns="0" rIns="0" tIns="0" bIns="0"/>
          <a:lstStyle/>
          <a:p>
            <a:pPr algn="ctr"/>
            <a:r>
              <a:rPr sz="675" b="1">
                <a:solidFill>
                  <a:srgbClr val="E39B2D"/>
                </a:solidFill>
                <a:latin typeface="Calibri"/>
              </a:rPr>
              <a:t>req = 1</a:t>
            </a:r>
          </a:p>
        </p:txBody>
      </p:sp>
      <p:sp>
        <p:nvSpPr>
          <p:cNvPr id="91" name="HS s t req2"/>
          <p:cNvSpPr/>
          <p:nvPr/>
        </p:nvSpPr>
        <p:spPr>
          <a:xfrm>
            <a:off x="5650706" y="1100137"/>
            <a:ext cx="485775" cy="171450"/>
          </a:xfrm>
          <a:prstGeom prst="roundRect">
            <a:avLst>
              <a:gd name="adj" fmla="val 15000"/>
            </a:avLst>
          </a:prstGeom>
          <a:solidFill>
            <a:srgbClr val="FFFFFF"/>
          </a:solidFill>
          <a:ln w="15240">
            <a:solidFill>
              <a:srgbClr val="E39B2D"/>
            </a:solidFill>
          </a:ln>
        </p:spPr>
        <p:txBody>
          <a:bodyPr rtlCol="0" anchor="ctr" wrap="square" lIns="0" rIns="0" tIns="0" bIns="0"/>
          <a:lstStyle/>
          <a:p>
            <a:pPr algn="ctr"/>
            <a:r>
              <a:rPr sz="675" b="1">
                <a:solidFill>
                  <a:srgbClr val="E39B2D"/>
                </a:solidFill>
                <a:latin typeface="Calibri"/>
              </a:rPr>
              <a:t>req = 1</a:t>
            </a:r>
          </a:p>
        </p:txBody>
      </p:sp>
      <p:sp>
        <p:nvSpPr>
          <p:cNvPr id="92" name="HS s t gnt2"/>
          <p:cNvSpPr/>
          <p:nvPr/>
        </p:nvSpPr>
        <p:spPr>
          <a:xfrm>
            <a:off x="5650706" y="1514475"/>
            <a:ext cx="485775" cy="171450"/>
          </a:xfrm>
          <a:prstGeom prst="roundRect">
            <a:avLst>
              <a:gd name="adj" fmla="val 15000"/>
            </a:avLst>
          </a:prstGeom>
          <a:solidFill>
            <a:srgbClr val="FFFFFF"/>
          </a:solidFill>
          <a:ln w="15240">
            <a:solidFill>
              <a:srgbClr val="2E7D32"/>
            </a:solidFill>
          </a:ln>
        </p:spPr>
        <p:txBody>
          <a:bodyPr rtlCol="0" anchor="ctr" wrap="square" lIns="0" rIns="0" tIns="0" bIns="0"/>
          <a:lstStyle/>
          <a:p>
            <a:pPr algn="ctr"/>
            <a:r>
              <a:rPr sz="675" b="1">
                <a:solidFill>
                  <a:srgbClr val="2E7D32"/>
                </a:solidFill>
                <a:latin typeface="Calibri"/>
              </a:rPr>
              <a:t>gnt = 1</a:t>
            </a:r>
          </a:p>
        </p:txBody>
      </p:sp>
      <p:sp>
        <p:nvSpPr>
          <p:cNvPr id="93" name="HS s t gnt1"/>
          <p:cNvSpPr/>
          <p:nvPr/>
        </p:nvSpPr>
        <p:spPr>
          <a:xfrm>
            <a:off x="2864643" y="1514475"/>
            <a:ext cx="485775" cy="171450"/>
          </a:xfrm>
          <a:prstGeom prst="roundRect">
            <a:avLst>
              <a:gd name="adj" fmla="val 15000"/>
            </a:avLst>
          </a:prstGeom>
          <a:solidFill>
            <a:srgbClr val="FFFFFF"/>
          </a:solidFill>
          <a:ln w="15240">
            <a:solidFill>
              <a:srgbClr val="2E7D32"/>
            </a:solidFill>
          </a:ln>
        </p:spPr>
        <p:txBody>
          <a:bodyPr rtlCol="0" anchor="ctr" wrap="square" lIns="0" rIns="0" tIns="0" bIns="0"/>
          <a:lstStyle/>
          <a:p>
            <a:pPr algn="ctr"/>
            <a:r>
              <a:rPr sz="675" b="1">
                <a:solidFill>
                  <a:srgbClr val="2E7D32"/>
                </a:solidFill>
                <a:latin typeface="Calibri"/>
              </a:rPr>
              <a:t>gnt = 1</a:t>
            </a:r>
          </a:p>
        </p:txBody>
      </p:sp>
      <p:sp>
        <p:nvSpPr>
          <p:cNvPr id="94" name="HS w v1"/>
          <p:cNvSpPr/>
          <p:nvPr/>
        </p:nvSpPr>
        <p:spPr>
          <a:xfrm>
            <a:off x="4629150" y="3514725"/>
            <a:ext cx="1400175" cy="242887"/>
          </a:xfrm>
          <a:prstGeom prst="rect">
            <a:avLst/>
          </a:prstGeom>
          <a:solidFill>
            <a:srgbClr val="E39B2D"/>
          </a:solidFill>
          <a:ln>
            <a:noFill/>
          </a:ln>
        </p:spPr>
        <p:txBody>
          <a:bodyPr rtlCol="0" anchor="ctr" wrap="square" lIns="0" rIns="0" tIns="0" bIns="0"/>
          <a:lstStyle/>
          <a:p>
            <a:pPr algn="ctr"/>
            <a:r>
              <a:rPr sz="787" b="1">
                <a:solidFill>
                  <a:srgbClr val="FFFFFF"/>
                </a:solidFill>
                <a:latin typeface="Calibri"/>
              </a:rPr>
              <a:t>1  (req)</a:t>
            </a:r>
          </a:p>
        </p:txBody>
      </p:sp>
      <p:sp>
        <p:nvSpPr>
          <p:cNvPr id="95" name="HS w g1"/>
          <p:cNvSpPr/>
          <p:nvPr/>
        </p:nvSpPr>
        <p:spPr>
          <a:xfrm>
            <a:off x="4629150" y="3814762"/>
            <a:ext cx="1400175" cy="242887"/>
          </a:xfrm>
          <a:prstGeom prst="rect">
            <a:avLst/>
          </a:prstGeom>
          <a:solidFill>
            <a:srgbClr val="2E7D32"/>
          </a:solidFill>
          <a:ln>
            <a:noFill/>
          </a:ln>
        </p:spPr>
        <p:txBody>
          <a:bodyPr rtlCol="0" anchor="ctr" wrap="square" lIns="0" rIns="0" tIns="0" bIns="0"/>
          <a:lstStyle/>
          <a:p>
            <a:pPr algn="ctr"/>
            <a:r>
              <a:rPr sz="787" b="1">
                <a:solidFill>
                  <a:srgbClr val="FFFFFF"/>
                </a:solidFill>
                <a:latin typeface="Calibri"/>
              </a:rPr>
              <a:t>1</a:t>
            </a:r>
          </a:p>
        </p:txBody>
      </p:sp>
      <p:sp>
        <p:nvSpPr>
          <p:cNvPr id="96" name="HS fifo 1"/>
          <p:cNvSpPr/>
          <p:nvPr/>
        </p:nvSpPr>
        <p:spPr>
          <a:xfrm>
            <a:off x="3471862" y="2586037"/>
            <a:ext cx="1000125" cy="242887"/>
          </a:xfrm>
          <a:prstGeom prst="rect">
            <a:avLst/>
          </a:prstGeom>
          <a:solidFill>
            <a:srgbClr val="FFF3E0"/>
          </a:solidFill>
          <a:ln w="25400">
            <a:solidFill>
              <a:srgbClr val="E39B2D"/>
            </a:solidFill>
          </a:ln>
        </p:spPr>
        <p:txBody>
          <a:bodyPr rtlCol="0" anchor="ctr" wrap="square" lIns="0" rIns="0" tIns="0" bIns="0"/>
          <a:lstStyle/>
          <a:p>
            <a:pPr algn="ctr"/>
            <a:r>
              <a:rPr sz="731" b="1">
                <a:solidFill>
                  <a:srgbClr val="12343B"/>
                </a:solidFill>
                <a:latin typeface="Calibri"/>
              </a:rPr>
              <a:t>ID FIFO: manager</a:t>
            </a:r>
          </a:p>
        </p:txBody>
      </p:sp>
      <p:sp>
        <p:nvSpPr>
          <p:cNvPr id="97" name="HS cnt 1"/>
          <p:cNvSpPr/>
          <p:nvPr/>
        </p:nvSpPr>
        <p:spPr>
          <a:xfrm>
            <a:off x="4572000" y="2586037"/>
            <a:ext cx="957262" cy="242887"/>
          </a:xfrm>
          <a:prstGeom prst="rect">
            <a:avLst/>
          </a:prstGeom>
          <a:solidFill>
            <a:srgbClr val="FFF3E0"/>
          </a:solidFill>
          <a:ln w="25400">
            <a:solidFill>
              <a:srgbClr val="E39B2D"/>
            </a:solidFill>
          </a:ln>
        </p:spPr>
        <p:txBody>
          <a:bodyPr rtlCol="0" anchor="ctr" wrap="square" lIns="0" rIns="0" tIns="0" bIns="0"/>
          <a:lstStyle/>
          <a:p>
            <a:pPr algn="ctr"/>
            <a:r>
              <a:rPr sz="731" b="1">
                <a:solidFill>
                  <a:srgbClr val="12343B"/>
                </a:solidFill>
                <a:latin typeface="Calibri"/>
              </a:rPr>
              <a:t>in flight: 1</a:t>
            </a:r>
          </a:p>
        </p:txBody>
      </p:sp>
      <p:sp>
        <p:nvSpPr>
          <p:cNvPr id="98" name="HS cap 4"/>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Update-DR, then exactly one TCK cycle (the step): the cell drives req, and the subordinate-side</a:t>
            </a:r>
          </a:p>
          <a:p>
            <a:pPr algn="l"/>
            <a:r>
              <a:rPr sz="1237" b="0">
                <a:solidFill>
                  <a:srgbClr val="FFFFFF"/>
                </a:solidFill>
                <a:latin typeface="Calibri"/>
              </a:rPr>
              <a:t>cut grants every request in that cycle. req and gnt meet: the crossbar records one transfer.</a:t>
            </a:r>
          </a:p>
        </p:txBody>
      </p:sp>
      <p:sp>
        <p:nvSpPr>
          <p:cNvPr id="99" name="HS hl 34"/>
          <p:cNvSpPr/>
          <p:nvPr/>
        </p:nvSpPr>
        <p:spPr>
          <a:xfrm>
            <a:off x="6086475" y="3186112"/>
            <a:ext cx="2857500" cy="271462"/>
          </a:xfrm>
          <a:prstGeom prst="rect">
            <a:avLst/>
          </a:prstGeom>
          <a:solidFill>
            <a:srgbClr val="FFF3E0"/>
          </a:solidFill>
          <a:ln w="31750">
            <a:solidFill>
              <a:srgbClr val="E39B2D"/>
            </a:solidFill>
          </a:ln>
        </p:spPr>
        <p:txBody>
          <a:bodyPr rtlCol="0" anchor="ctr" wrap="square" lIns="0" rIns="0" tIns="0" bIns="0"/>
          <a:lstStyle/>
          <a:p>
            <a:pPr algn="ctr"/>
            <a:r>
              <a:rPr sz="843" b="1">
                <a:solidFill>
                  <a:srgbClr val="E39B2D"/>
                </a:solidFill>
                <a:latin typeface="Calibri"/>
              </a:rPr>
              <a:t>Capture-DR  ·  Shift-DR</a:t>
            </a:r>
          </a:p>
        </p:txBody>
      </p:sp>
      <p:sp>
        <p:nvSpPr>
          <p:cNvPr id="100" name="HS c t req"/>
          <p:cNvSpPr/>
          <p:nvPr/>
        </p:nvSpPr>
        <p:spPr>
          <a:xfrm>
            <a:off x="2864643" y="1100137"/>
            <a:ext cx="485775" cy="171450"/>
          </a:xfrm>
          <a:prstGeom prst="roundRect">
            <a:avLst>
              <a:gd name="adj" fmla="val 15000"/>
            </a:avLst>
          </a:prstGeom>
          <a:solidFill>
            <a:srgbClr val="FFFFFF"/>
          </a:solidFill>
          <a:ln w="15240">
            <a:solidFill>
              <a:srgbClr val="9E9E9E"/>
            </a:solidFill>
          </a:ln>
        </p:spPr>
        <p:txBody>
          <a:bodyPr rtlCol="0" anchor="ctr" wrap="square" lIns="0" rIns="0" tIns="0" bIns="0"/>
          <a:lstStyle/>
          <a:p>
            <a:pPr algn="ctr"/>
            <a:r>
              <a:rPr sz="675" b="1">
                <a:solidFill>
                  <a:srgbClr val="9E9E9E"/>
                </a:solidFill>
                <a:latin typeface="Calibri"/>
              </a:rPr>
              <a:t>req = 0</a:t>
            </a:r>
          </a:p>
        </p:txBody>
      </p:sp>
      <p:sp>
        <p:nvSpPr>
          <p:cNvPr id="101" name="HS R A got"/>
          <p:cNvSpPr/>
          <p:nvPr/>
        </p:nvSpPr>
        <p:spPr>
          <a:xfrm>
            <a:off x="6229350" y="1185862"/>
            <a:ext cx="971550" cy="428625"/>
          </a:xfrm>
          <a:prstGeom prst="rect">
            <a:avLst/>
          </a:prstGeom>
          <a:solidFill>
            <a:srgbClr val="E8F5E9"/>
          </a:solidFill>
          <a:ln w="15240">
            <a:solidFill>
              <a:srgbClr val="2E7D32"/>
            </a:solidFill>
          </a:ln>
        </p:spPr>
        <p:txBody>
          <a:bodyPr rtlCol="0" anchor="ctr" wrap="square" lIns="14287" rIns="14287" tIns="14287" bIns="14287"/>
          <a:lstStyle/>
          <a:p>
            <a:pPr algn="ctr"/>
            <a:r>
              <a:rPr sz="675" b="1">
                <a:solidFill>
                  <a:srgbClr val="9E9E9E"/>
                </a:solidFill>
                <a:latin typeface="Calibri"/>
              </a:rPr>
              <a:t>A cell (captured)</a:t>
            </a:r>
          </a:p>
          <a:p>
            <a:pPr algn="ctr"/>
            <a:r>
              <a:rPr sz="731" b="0">
                <a:solidFill>
                  <a:srgbClr val="12343B"/>
                </a:solidFill>
                <a:latin typeface="Consolas"/>
              </a:rPr>
              <a:t>  1   | request</a:t>
            </a:r>
          </a:p>
        </p:txBody>
      </p:sp>
      <p:sp>
        <p:nvSpPr>
          <p:cNvPr id="102" name="HS cap 5"/>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Next cycle req drops. It was granted in the same cycle, so no request is withdrawn ungranted</a:t>
            </a:r>
          </a:p>
          <a:p>
            <a:pPr algn="l"/>
            <a:r>
              <a:rPr sz="1237" b="0">
                <a:solidFill>
                  <a:srgbClr val="FFFFFF"/>
                </a:solidFill>
                <a:latin typeface="Calibri"/>
              </a:rPr>
              <a:t>and the transfer happens once. Capture-DR stores what arrived; the next shift reads it out.</a:t>
            </a:r>
          </a:p>
        </p:txBody>
      </p:sp>
      <p:sp>
        <p:nvSpPr>
          <p:cNvPr id="103" name="HS hl 12b"/>
          <p:cNvSpPr/>
          <p:nvPr/>
        </p:nvSpPr>
        <p:spPr>
          <a:xfrm>
            <a:off x="1714500" y="3186112"/>
            <a:ext cx="4314825" cy="271462"/>
          </a:xfrm>
          <a:prstGeom prst="rect">
            <a:avLst/>
          </a:prstGeom>
          <a:solidFill>
            <a:srgbClr val="FFF3E0"/>
          </a:solidFill>
          <a:ln w="31750">
            <a:solidFill>
              <a:srgbClr val="E39B2D"/>
            </a:solidFill>
          </a:ln>
        </p:spPr>
        <p:txBody>
          <a:bodyPr rtlCol="0" anchor="ctr" wrap="square" lIns="0" rIns="0" tIns="0" bIns="0"/>
          <a:lstStyle/>
          <a:p>
            <a:pPr algn="ctr"/>
            <a:r>
              <a:rPr sz="843" b="1">
                <a:solidFill>
                  <a:srgbClr val="E39B2D"/>
                </a:solidFill>
                <a:latin typeface="Calibri"/>
              </a:rPr>
              <a:t>Shift-DR  ·  Update-DR  ·  Step: 1 TCK</a:t>
            </a:r>
          </a:p>
        </p:txBody>
      </p:sp>
      <p:sp>
        <p:nvSpPr>
          <p:cNvPr id="104" name="HS R R load"/>
          <p:cNvSpPr/>
          <p:nvPr/>
        </p:nvSpPr>
        <p:spPr>
          <a:xfrm>
            <a:off x="6229350" y="2214562"/>
            <a:ext cx="971550" cy="428625"/>
          </a:xfrm>
          <a:prstGeom prst="rect">
            <a:avLst/>
          </a:prstGeom>
          <a:solidFill>
            <a:srgbClr val="FFF3E0"/>
          </a:solidFill>
          <a:ln w="15240">
            <a:solidFill>
              <a:srgbClr val="E39B2D"/>
            </a:solidFill>
          </a:ln>
        </p:spPr>
        <p:txBody>
          <a:bodyPr rtlCol="0" anchor="ctr" wrap="square" lIns="14287" rIns="14287" tIns="14287" bIns="14287"/>
          <a:lstStyle/>
          <a:p>
            <a:pPr algn="ctr"/>
            <a:r>
              <a:rPr sz="675" b="1">
                <a:solidFill>
                  <a:srgbClr val="9E9E9E"/>
                </a:solidFill>
                <a:latin typeface="Calibri"/>
              </a:rPr>
              <a:t>R cell (loaded)</a:t>
            </a:r>
          </a:p>
          <a:p>
            <a:pPr algn="ctr"/>
            <a:r>
              <a:rPr sz="731" b="0">
                <a:solidFill>
                  <a:srgbClr val="12343B"/>
                </a:solidFill>
                <a:latin typeface="Consolas"/>
              </a:rPr>
              <a:t>  1   | response</a:t>
            </a:r>
          </a:p>
        </p:txBody>
      </p:sp>
      <p:cxnSp>
        <p:nvCxnSpPr>
          <p:cNvPr id="105" name="HS r rv R1"/>
          <p:cNvCxnSpPr/>
          <p:nvPr/>
        </p:nvCxnSpPr>
        <p:spPr>
          <a:xfrm flipH="1">
            <a:off x="5643562" y="2428875"/>
            <a:ext cx="500063" cy="0"/>
          </a:xfrm>
          <a:prstGeom prst="line">
            <a:avLst/>
          </a:prstGeom>
          <a:ln w="44450">
            <a:solidFill>
              <a:srgbClr val="E39B2D"/>
            </a:solidFill>
            <a:tailEnd type="triangle" w="med" len="med"/>
          </a:ln>
        </p:spPr>
      </p:cxnSp>
      <p:cxnSp>
        <p:nvCxnSpPr>
          <p:cNvPr id="106" name="HS r rv X"/>
          <p:cNvCxnSpPr/>
          <p:nvPr/>
        </p:nvCxnSpPr>
        <p:spPr>
          <a:xfrm flipH="1">
            <a:off x="3357562" y="2428875"/>
            <a:ext cx="2286000" cy="0"/>
          </a:xfrm>
          <a:prstGeom prst="line">
            <a:avLst/>
          </a:prstGeom>
          <a:ln w="44450">
            <a:solidFill>
              <a:srgbClr val="E39B2D"/>
            </a:solidFill>
            <a:tailEnd type="triangle" w="med" len="med"/>
          </a:ln>
        </p:spPr>
      </p:cxnSp>
      <p:cxnSp>
        <p:nvCxnSpPr>
          <p:cNvPr id="107" name="HS r rv L1"/>
          <p:cNvCxnSpPr/>
          <p:nvPr/>
        </p:nvCxnSpPr>
        <p:spPr>
          <a:xfrm flipH="1">
            <a:off x="2857500" y="2428875"/>
            <a:ext cx="500062" cy="0"/>
          </a:xfrm>
          <a:prstGeom prst="line">
            <a:avLst/>
          </a:prstGeom>
          <a:ln w="44450">
            <a:solidFill>
              <a:srgbClr val="E39B2D"/>
            </a:solidFill>
            <a:tailEnd type="triangle" w="med" len="med"/>
          </a:ln>
        </p:spPr>
      </p:cxnSp>
      <p:sp>
        <p:nvSpPr>
          <p:cNvPr id="108" name="HS r t1"/>
          <p:cNvSpPr/>
          <p:nvPr/>
        </p:nvSpPr>
        <p:spPr>
          <a:xfrm>
            <a:off x="5650706" y="2214562"/>
            <a:ext cx="485775" cy="171450"/>
          </a:xfrm>
          <a:prstGeom prst="roundRect">
            <a:avLst>
              <a:gd name="adj" fmla="val 15000"/>
            </a:avLst>
          </a:prstGeom>
          <a:solidFill>
            <a:srgbClr val="FFFFFF"/>
          </a:solidFill>
          <a:ln w="15240">
            <a:solidFill>
              <a:srgbClr val="E39B2D"/>
            </a:solidFill>
          </a:ln>
        </p:spPr>
        <p:txBody>
          <a:bodyPr rtlCol="0" anchor="ctr" wrap="square" lIns="0" rIns="0" tIns="0" bIns="0"/>
          <a:lstStyle/>
          <a:p>
            <a:pPr algn="ctr"/>
            <a:r>
              <a:rPr sz="675" b="1">
                <a:solidFill>
                  <a:srgbClr val="E39B2D"/>
                </a:solidFill>
                <a:latin typeface="Calibri"/>
              </a:rPr>
              <a:t>rvalid = 1</a:t>
            </a:r>
          </a:p>
        </p:txBody>
      </p:sp>
      <p:sp>
        <p:nvSpPr>
          <p:cNvPr id="109" name="HS r t2"/>
          <p:cNvSpPr/>
          <p:nvPr/>
        </p:nvSpPr>
        <p:spPr>
          <a:xfrm>
            <a:off x="2864643" y="2214562"/>
            <a:ext cx="485775" cy="171450"/>
          </a:xfrm>
          <a:prstGeom prst="roundRect">
            <a:avLst>
              <a:gd name="adj" fmla="val 15000"/>
            </a:avLst>
          </a:prstGeom>
          <a:solidFill>
            <a:srgbClr val="FFFFFF"/>
          </a:solidFill>
          <a:ln w="15240">
            <a:solidFill>
              <a:srgbClr val="E39B2D"/>
            </a:solidFill>
          </a:ln>
        </p:spPr>
        <p:txBody>
          <a:bodyPr rtlCol="0" anchor="ctr" wrap="square" lIns="0" rIns="0" tIns="0" bIns="0"/>
          <a:lstStyle/>
          <a:p>
            <a:pPr algn="ctr"/>
            <a:r>
              <a:rPr sz="675" b="1">
                <a:solidFill>
                  <a:srgbClr val="E39B2D"/>
                </a:solidFill>
                <a:latin typeface="Calibri"/>
              </a:rPr>
              <a:t>rvalid = 1</a:t>
            </a:r>
          </a:p>
        </p:txBody>
      </p:sp>
      <p:sp>
        <p:nvSpPr>
          <p:cNvPr id="110" name="HS w v2"/>
          <p:cNvSpPr/>
          <p:nvPr/>
        </p:nvSpPr>
        <p:spPr>
          <a:xfrm>
            <a:off x="4629150" y="3514725"/>
            <a:ext cx="1400175" cy="242887"/>
          </a:xfrm>
          <a:prstGeom prst="rect">
            <a:avLst/>
          </a:prstGeom>
          <a:solidFill>
            <a:srgbClr val="E39B2D"/>
          </a:solidFill>
          <a:ln>
            <a:noFill/>
          </a:ln>
        </p:spPr>
        <p:txBody>
          <a:bodyPr rtlCol="0" anchor="ctr" wrap="square" lIns="0" rIns="0" tIns="0" bIns="0"/>
          <a:lstStyle/>
          <a:p>
            <a:pPr algn="ctr"/>
            <a:r>
              <a:rPr sz="787" b="1">
                <a:solidFill>
                  <a:srgbClr val="FFFFFF"/>
                </a:solidFill>
                <a:latin typeface="Calibri"/>
              </a:rPr>
              <a:t>1  (rvalid)</a:t>
            </a:r>
          </a:p>
        </p:txBody>
      </p:sp>
      <p:sp>
        <p:nvSpPr>
          <p:cNvPr id="111" name="HS w g2"/>
          <p:cNvSpPr/>
          <p:nvPr/>
        </p:nvSpPr>
        <p:spPr>
          <a:xfrm>
            <a:off x="4629150" y="3814762"/>
            <a:ext cx="1400175" cy="242887"/>
          </a:xfrm>
          <a:prstGeom prst="rect">
            <a:avLst/>
          </a:prstGeom>
          <a:solidFill>
            <a:srgbClr val="9E9E9E"/>
          </a:solidFill>
          <a:ln>
            <a:noFill/>
          </a:ln>
        </p:spPr>
        <p:txBody>
          <a:bodyPr rtlCol="0" anchor="ctr" wrap="square" lIns="0" rIns="0" tIns="0" bIns="0"/>
          <a:lstStyle/>
          <a:p>
            <a:pPr algn="ctr"/>
            <a:r>
              <a:rPr sz="787" b="1">
                <a:solidFill>
                  <a:srgbClr val="FFFFFF"/>
                </a:solidFill>
                <a:latin typeface="Calibri"/>
              </a:rPr>
              <a:t>1  (unused)</a:t>
            </a:r>
          </a:p>
        </p:txBody>
      </p:sp>
      <p:sp>
        <p:nvSpPr>
          <p:cNvPr id="112" name="HS fifo 0"/>
          <p:cNvSpPr/>
          <p:nvPr/>
        </p:nvSpPr>
        <p:spPr>
          <a:xfrm>
            <a:off x="3471862" y="2586037"/>
            <a:ext cx="1000125" cy="242887"/>
          </a:xfrm>
          <a:prstGeom prst="rect">
            <a:avLst/>
          </a:prstGeom>
          <a:solidFill>
            <a:srgbClr val="E8F5E9"/>
          </a:solidFill>
          <a:ln w="25400">
            <a:solidFill>
              <a:srgbClr val="2E7D32"/>
            </a:solidFill>
          </a:ln>
        </p:spPr>
        <p:txBody>
          <a:bodyPr rtlCol="0" anchor="ctr" wrap="square" lIns="0" rIns="0" tIns="0" bIns="0"/>
          <a:lstStyle/>
          <a:p>
            <a:pPr algn="ctr"/>
            <a:r>
              <a:rPr sz="731" b="1">
                <a:solidFill>
                  <a:srgbClr val="12343B"/>
                </a:solidFill>
                <a:latin typeface="Calibri"/>
              </a:rPr>
              <a:t>ID FIFO: empty</a:t>
            </a:r>
          </a:p>
        </p:txBody>
      </p:sp>
      <p:sp>
        <p:nvSpPr>
          <p:cNvPr id="113" name="HS cnt 0"/>
          <p:cNvSpPr/>
          <p:nvPr/>
        </p:nvSpPr>
        <p:spPr>
          <a:xfrm>
            <a:off x="4572000" y="2586037"/>
            <a:ext cx="957262" cy="242887"/>
          </a:xfrm>
          <a:prstGeom prst="rect">
            <a:avLst/>
          </a:prstGeom>
          <a:solidFill>
            <a:srgbClr val="E8F5E9"/>
          </a:solidFill>
          <a:ln w="25400">
            <a:solidFill>
              <a:srgbClr val="2E7D32"/>
            </a:solidFill>
          </a:ln>
        </p:spPr>
        <p:txBody>
          <a:bodyPr rtlCol="0" anchor="ctr" wrap="square" lIns="0" rIns="0" tIns="0" bIns="0"/>
          <a:lstStyle/>
          <a:p>
            <a:pPr algn="ctr"/>
            <a:r>
              <a:rPr sz="731" b="1">
                <a:solidFill>
                  <a:srgbClr val="12343B"/>
                </a:solidFill>
                <a:latin typeface="Calibri"/>
              </a:rPr>
              <a:t>in flight: 0</a:t>
            </a:r>
          </a:p>
        </p:txBody>
      </p:sp>
      <p:sp>
        <p:nvSpPr>
          <p:cNvPr id="114" name="HS L R got"/>
          <p:cNvSpPr/>
          <p:nvPr/>
        </p:nvSpPr>
        <p:spPr>
          <a:xfrm>
            <a:off x="1800225" y="2214562"/>
            <a:ext cx="971550" cy="428625"/>
          </a:xfrm>
          <a:prstGeom prst="rect">
            <a:avLst/>
          </a:prstGeom>
          <a:solidFill>
            <a:srgbClr val="E8F5E9"/>
          </a:solidFill>
          <a:ln w="15240">
            <a:solidFill>
              <a:srgbClr val="2E7D32"/>
            </a:solidFill>
          </a:ln>
        </p:spPr>
        <p:txBody>
          <a:bodyPr rtlCol="0" anchor="ctr" wrap="square" lIns="14287" rIns="14287" tIns="14287" bIns="14287"/>
          <a:lstStyle/>
          <a:p>
            <a:pPr algn="ctr"/>
            <a:r>
              <a:rPr sz="675" b="1">
                <a:solidFill>
                  <a:srgbClr val="9E9E9E"/>
                </a:solidFill>
                <a:latin typeface="Calibri"/>
              </a:rPr>
              <a:t>R cell (captured)</a:t>
            </a:r>
          </a:p>
          <a:p>
            <a:pPr algn="ctr"/>
            <a:r>
              <a:rPr sz="731" b="0">
                <a:solidFill>
                  <a:srgbClr val="12343B"/>
                </a:solidFill>
                <a:latin typeface="Consolas"/>
              </a:rPr>
              <a:t>  1   | response</a:t>
            </a:r>
          </a:p>
        </p:txBody>
      </p:sp>
      <p:sp>
        <p:nvSpPr>
          <p:cNvPr id="115" name="HS cap 6"/>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A second step sends the response from the subordinate-side R cell. The crossbar looks up who</a:t>
            </a:r>
          </a:p>
          <a:p>
            <a:pPr algn="l"/>
            <a:r>
              <a:rPr sz="1237" b="0">
                <a:solidFill>
                  <a:srgbClr val="FFFFFF"/>
                </a:solidFill>
                <a:latin typeface="Calibri"/>
              </a:rPr>
              <a:t>asked and returns it only to that manager's cut, where it is captured. Nothing is left in flight.</a:t>
            </a:r>
          </a:p>
        </p:txBody>
      </p:sp>
      <p:sp>
        <p:nvSpPr>
          <p:cNvPr id="116" name="HS why"/>
          <p:cNvSpPr/>
          <p:nvPr/>
        </p:nvSpPr>
        <p:spPr>
          <a:xfrm>
            <a:off x="1714500" y="3186112"/>
            <a:ext cx="7229475" cy="871537"/>
          </a:xfrm>
          <a:prstGeom prst="roundRect">
            <a:avLst>
              <a:gd name="adj" fmla="val 8196"/>
            </a:avLst>
          </a:prstGeom>
          <a:solidFill>
            <a:srgbClr val="FFFFFF"/>
          </a:solidFill>
          <a:ln w="31750">
            <a:solidFill>
              <a:srgbClr val="C62828"/>
            </a:solidFill>
          </a:ln>
        </p:spPr>
        <p:txBody>
          <a:bodyPr rtlCol="0" anchor="ctr" wrap="square" lIns="71437" rIns="71437" tIns="71437" bIns="71437"/>
          <a:lstStyle/>
          <a:p>
            <a:pPr algn="ctr"/>
            <a:r>
              <a:rPr sz="1012" b="1">
                <a:solidFill>
                  <a:srgbClr val="C62828"/>
                </a:solidFill>
                <a:latin typeface="Calibri"/>
              </a:rPr>
              <a:t>Why exactly one cycle?</a:t>
            </a:r>
          </a:p>
          <a:p>
            <a:pPr algn="ctr"/>
            <a:r>
              <a:rPr sz="843" b="0">
                <a:solidFill>
                  <a:srgbClr val="12343B"/>
                </a:solidFill>
                <a:latin typeface="Calibri"/>
              </a:rPr>
              <a:t>A scan takes as many TCK cycles as the chain is long. If req and gnt stayed high for all of them,</a:t>
            </a:r>
          </a:p>
          <a:p>
            <a:pPr algn="ctr"/>
            <a:r>
              <a:rPr sz="843" b="0">
                <a:solidFill>
                  <a:srgbClr val="12343B"/>
                </a:solidFill>
                <a:latin typeface="Calibri"/>
              </a:rPr>
              <a:t>the crossbar would accept the same request on every cycle. One step = one transaction.</a:t>
            </a:r>
          </a:p>
        </p:txBody>
      </p:sp>
      <p:sp>
        <p:nvSpPr>
          <p:cNvPr id="117" name="HS cap 7"/>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The real manager and subordinate never take part: every handshake happens between</a:t>
            </a:r>
          </a:p>
          <a:p>
            <a:pPr algn="l"/>
            <a:r>
              <a:rPr sz="1237" b="0">
                <a:solidFill>
                  <a:srgbClr val="FFFFFF"/>
                </a:solidFill>
                <a:latin typeface="Calibri"/>
              </a:rPr>
              <a:t>two scan cells, inside the isolated crossbar.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250"/>
                                        <p:tgtEl>
                                          <p:spTgt spid="5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fade">
                                      <p:cBhvr>
                                        <p:cTn id="10" dur="250"/>
                                        <p:tgtEl>
                                          <p:spTgt spid="5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250"/>
                                        <p:tgtEl>
                                          <p:spTgt spid="5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250"/>
                                        <p:tgtEl>
                                          <p:spTgt spid="5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fade">
                                      <p:cBhvr>
                                        <p:cTn id="19" dur="250"/>
                                        <p:tgtEl>
                                          <p:spTgt spid="5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fade">
                                      <p:cBhvr>
                                        <p:cTn id="22" dur="250"/>
                                        <p:tgtEl>
                                          <p:spTgt spid="5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fade">
                                      <p:cBhvr>
                                        <p:cTn id="25" dur="250"/>
                                        <p:tgtEl>
                                          <p:spTgt spid="5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animEffect transition="in" filter="fade">
                                      <p:cBhvr>
                                        <p:cTn id="28" dur="250"/>
                                        <p:tgtEl>
                                          <p:spTgt spid="5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9"/>
                                        </p:tgtEl>
                                        <p:attrNameLst>
                                          <p:attrName>style.visibility</p:attrName>
                                        </p:attrNameLst>
                                      </p:cBhvr>
                                      <p:to>
                                        <p:strVal val="visible"/>
                                      </p:to>
                                    </p:set>
                                    <p:animEffect transition="in" filter="fade">
                                      <p:cBhvr>
                                        <p:cTn id="31" dur="250"/>
                                        <p:tgtEl>
                                          <p:spTgt spid="5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animEffect transition="in" filter="fade">
                                      <p:cBhvr>
                                        <p:cTn id="34" dur="250"/>
                                        <p:tgtEl>
                                          <p:spTgt spid="6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1"/>
                                        </p:tgtEl>
                                        <p:attrNameLst>
                                          <p:attrName>style.visibility</p:attrName>
                                        </p:attrNameLst>
                                      </p:cBhvr>
                                      <p:to>
                                        <p:strVal val="visible"/>
                                      </p:to>
                                    </p:set>
                                    <p:animEffect transition="in" filter="fade">
                                      <p:cBhvr>
                                        <p:cTn id="37" dur="250"/>
                                        <p:tgtEl>
                                          <p:spTgt spid="6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fade">
                                      <p:cBhvr>
                                        <p:cTn id="40" dur="250"/>
                                        <p:tgtEl>
                                          <p:spTgt spid="6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3"/>
                                        </p:tgtEl>
                                        <p:attrNameLst>
                                          <p:attrName>style.visibility</p:attrName>
                                        </p:attrNameLst>
                                      </p:cBhvr>
                                      <p:to>
                                        <p:strVal val="visible"/>
                                      </p:to>
                                    </p:set>
                                    <p:animEffect transition="in" filter="fade">
                                      <p:cBhvr>
                                        <p:cTn id="43" dur="250"/>
                                        <p:tgtEl>
                                          <p:spTgt spid="6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64"/>
                                        </p:tgtEl>
                                        <p:attrNameLst>
                                          <p:attrName>style.visibility</p:attrName>
                                        </p:attrNameLst>
                                      </p:cBhvr>
                                      <p:to>
                                        <p:strVal val="visible"/>
                                      </p:to>
                                    </p:set>
                                    <p:animEffect transition="in" filter="fade">
                                      <p:cBhvr>
                                        <p:cTn id="46" dur="250"/>
                                        <p:tgtEl>
                                          <p:spTgt spid="6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5"/>
                                        </p:tgtEl>
                                        <p:attrNameLst>
                                          <p:attrName>style.visibility</p:attrName>
                                        </p:attrNameLst>
                                      </p:cBhvr>
                                      <p:to>
                                        <p:strVal val="visible"/>
                                      </p:to>
                                    </p:set>
                                    <p:animEffect transition="in" filter="fade">
                                      <p:cBhvr>
                                        <p:cTn id="49" dur="250"/>
                                        <p:tgtEl>
                                          <p:spTgt spid="6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6"/>
                                        </p:tgtEl>
                                        <p:attrNameLst>
                                          <p:attrName>style.visibility</p:attrName>
                                        </p:attrNameLst>
                                      </p:cBhvr>
                                      <p:to>
                                        <p:strVal val="visible"/>
                                      </p:to>
                                    </p:set>
                                    <p:animEffect transition="in" filter="fade">
                                      <p:cBhvr>
                                        <p:cTn id="52" dur="250"/>
                                        <p:tgtEl>
                                          <p:spTgt spid="6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7"/>
                                        </p:tgtEl>
                                        <p:attrNameLst>
                                          <p:attrName>style.visibility</p:attrName>
                                        </p:attrNameLst>
                                      </p:cBhvr>
                                      <p:to>
                                        <p:strVal val="visible"/>
                                      </p:to>
                                    </p:set>
                                    <p:animEffect transition="in" filter="fade">
                                      <p:cBhvr>
                                        <p:cTn id="55" dur="250"/>
                                        <p:tgtEl>
                                          <p:spTgt spid="6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68"/>
                                        </p:tgtEl>
                                        <p:attrNameLst>
                                          <p:attrName>style.visibility</p:attrName>
                                        </p:attrNameLst>
                                      </p:cBhvr>
                                      <p:to>
                                        <p:strVal val="visible"/>
                                      </p:to>
                                    </p:set>
                                    <p:animEffect transition="in" filter="fade">
                                      <p:cBhvr>
                                        <p:cTn id="58" dur="250"/>
                                        <p:tgtEl>
                                          <p:spTgt spid="6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9"/>
                                        </p:tgtEl>
                                        <p:attrNameLst>
                                          <p:attrName>style.visibility</p:attrName>
                                        </p:attrNameLst>
                                      </p:cBhvr>
                                      <p:to>
                                        <p:strVal val="visible"/>
                                      </p:to>
                                    </p:set>
                                    <p:animEffect transition="in" filter="fade">
                                      <p:cBhvr>
                                        <p:cTn id="61" dur="250"/>
                                        <p:tgtEl>
                                          <p:spTgt spid="6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70"/>
                                        </p:tgtEl>
                                        <p:attrNameLst>
                                          <p:attrName>style.visibility</p:attrName>
                                        </p:attrNameLst>
                                      </p:cBhvr>
                                      <p:to>
                                        <p:strVal val="visible"/>
                                      </p:to>
                                    </p:set>
                                    <p:animEffect transition="in" filter="fade">
                                      <p:cBhvr>
                                        <p:cTn id="64" dur="250"/>
                                        <p:tgtEl>
                                          <p:spTgt spid="7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71"/>
                                        </p:tgtEl>
                                        <p:attrNameLst>
                                          <p:attrName>style.visibility</p:attrName>
                                        </p:attrNameLst>
                                      </p:cBhvr>
                                      <p:to>
                                        <p:strVal val="visible"/>
                                      </p:to>
                                    </p:set>
                                    <p:animEffect transition="in" filter="fade">
                                      <p:cBhvr>
                                        <p:cTn id="67" dur="250"/>
                                        <p:tgtEl>
                                          <p:spTgt spid="7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72"/>
                                        </p:tgtEl>
                                        <p:attrNameLst>
                                          <p:attrName>style.visibility</p:attrName>
                                        </p:attrNameLst>
                                      </p:cBhvr>
                                      <p:to>
                                        <p:strVal val="visible"/>
                                      </p:to>
                                    </p:set>
                                    <p:animEffect transition="in" filter="fade">
                                      <p:cBhvr>
                                        <p:cTn id="70" dur="250"/>
                                        <p:tgtEl>
                                          <p:spTgt spid="72"/>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xit" presetSubtype="0" fill="hold" grpId="1" nodeType="clickEffect">
                                  <p:stCondLst>
                                    <p:cond delay="0"/>
                                  </p:stCondLst>
                                  <p:childTnLst>
                                    <p:animEffect transition="out" filter="fade">
                                      <p:cBhvr>
                                        <p:cTn id="74" dur="250"/>
                                        <p:tgtEl>
                                          <p:spTgt spid="51"/>
                                        </p:tgtEl>
                                      </p:cBhvr>
                                    </p:animEffect>
                                    <p:set>
                                      <p:cBhvr>
                                        <p:cTn id="75" dur="1" fill="hold">
                                          <p:stCondLst>
                                            <p:cond delay="249"/>
                                          </p:stCondLst>
                                        </p:cTn>
                                        <p:tgtEl>
                                          <p:spTgt spid="51"/>
                                        </p:tgtEl>
                                        <p:attrNameLst>
                                          <p:attrName>style.visibility</p:attrName>
                                        </p:attrNameLst>
                                      </p:cBhvr>
                                      <p:to>
                                        <p:strVal val="hidden"/>
                                      </p:to>
                                    </p:set>
                                  </p:childTnLst>
                                </p:cTn>
                              </p:par>
                              <p:par>
                                <p:cTn id="76" presetID="10" presetClass="exit" presetSubtype="0" fill="hold" grpId="1" nodeType="withEffect">
                                  <p:stCondLst>
                                    <p:cond delay="0"/>
                                  </p:stCondLst>
                                  <p:childTnLst>
                                    <p:animEffect transition="out" filter="fade">
                                      <p:cBhvr>
                                        <p:cTn id="77" dur="250"/>
                                        <p:tgtEl>
                                          <p:spTgt spid="52"/>
                                        </p:tgtEl>
                                      </p:cBhvr>
                                    </p:animEffect>
                                    <p:set>
                                      <p:cBhvr>
                                        <p:cTn id="78" dur="1" fill="hold">
                                          <p:stCondLst>
                                            <p:cond delay="249"/>
                                          </p:stCondLst>
                                        </p:cTn>
                                        <p:tgtEl>
                                          <p:spTgt spid="52"/>
                                        </p:tgtEl>
                                        <p:attrNameLst>
                                          <p:attrName>style.visibility</p:attrName>
                                        </p:attrNameLst>
                                      </p:cBhvr>
                                      <p:to>
                                        <p:strVal val="hidden"/>
                                      </p:to>
                                    </p:set>
                                  </p:childTnLst>
                                </p:cTn>
                              </p:par>
                              <p:par>
                                <p:cTn id="79" presetID="10" presetClass="exit" presetSubtype="0" fill="hold" grpId="1" nodeType="withEffect">
                                  <p:stCondLst>
                                    <p:cond delay="0"/>
                                  </p:stCondLst>
                                  <p:childTnLst>
                                    <p:animEffect transition="out" filter="fade">
                                      <p:cBhvr>
                                        <p:cTn id="80" dur="250"/>
                                        <p:tgtEl>
                                          <p:spTgt spid="53"/>
                                        </p:tgtEl>
                                      </p:cBhvr>
                                    </p:animEffect>
                                    <p:set>
                                      <p:cBhvr>
                                        <p:cTn id="81" dur="1" fill="hold">
                                          <p:stCondLst>
                                            <p:cond delay="249"/>
                                          </p:stCondLst>
                                        </p:cTn>
                                        <p:tgtEl>
                                          <p:spTgt spid="53"/>
                                        </p:tgtEl>
                                        <p:attrNameLst>
                                          <p:attrName>style.visibility</p:attrName>
                                        </p:attrNameLst>
                                      </p:cBhvr>
                                      <p:to>
                                        <p:strVal val="hidden"/>
                                      </p:to>
                                    </p:set>
                                  </p:childTnLst>
                                </p:cTn>
                              </p:par>
                              <p:par>
                                <p:cTn id="82" presetID="10" presetClass="exit" presetSubtype="0" fill="hold" grpId="1" nodeType="withEffect">
                                  <p:stCondLst>
                                    <p:cond delay="0"/>
                                  </p:stCondLst>
                                  <p:childTnLst>
                                    <p:animEffect transition="out" filter="fade">
                                      <p:cBhvr>
                                        <p:cTn id="83" dur="250"/>
                                        <p:tgtEl>
                                          <p:spTgt spid="54"/>
                                        </p:tgtEl>
                                      </p:cBhvr>
                                    </p:animEffect>
                                    <p:set>
                                      <p:cBhvr>
                                        <p:cTn id="84" dur="1" fill="hold">
                                          <p:stCondLst>
                                            <p:cond delay="249"/>
                                          </p:stCondLst>
                                        </p:cTn>
                                        <p:tgtEl>
                                          <p:spTgt spid="54"/>
                                        </p:tgtEl>
                                        <p:attrNameLst>
                                          <p:attrName>style.visibility</p:attrName>
                                        </p:attrNameLst>
                                      </p:cBhvr>
                                      <p:to>
                                        <p:strVal val="hidden"/>
                                      </p:to>
                                    </p:set>
                                  </p:childTnLst>
                                </p:cTn>
                              </p:par>
                              <p:par>
                                <p:cTn id="85" presetID="10" presetClass="exit" presetSubtype="0" fill="hold" grpId="1" nodeType="withEffect">
                                  <p:stCondLst>
                                    <p:cond delay="0"/>
                                  </p:stCondLst>
                                  <p:childTnLst>
                                    <p:animEffect transition="out" filter="fade">
                                      <p:cBhvr>
                                        <p:cTn id="86" dur="250"/>
                                        <p:tgtEl>
                                          <p:spTgt spid="55"/>
                                        </p:tgtEl>
                                      </p:cBhvr>
                                    </p:animEffect>
                                    <p:set>
                                      <p:cBhvr>
                                        <p:cTn id="87" dur="1" fill="hold">
                                          <p:stCondLst>
                                            <p:cond delay="249"/>
                                          </p:stCondLst>
                                        </p:cTn>
                                        <p:tgtEl>
                                          <p:spTgt spid="55"/>
                                        </p:tgtEl>
                                        <p:attrNameLst>
                                          <p:attrName>style.visibility</p:attrName>
                                        </p:attrNameLst>
                                      </p:cBhvr>
                                      <p:to>
                                        <p:strVal val="hidden"/>
                                      </p:to>
                                    </p:set>
                                  </p:childTnLst>
                                </p:cTn>
                              </p:par>
                              <p:par>
                                <p:cTn id="88" presetID="10" presetClass="exit" presetSubtype="0" fill="hold" grpId="1" nodeType="withEffect">
                                  <p:stCondLst>
                                    <p:cond delay="0"/>
                                  </p:stCondLst>
                                  <p:childTnLst>
                                    <p:animEffect transition="out" filter="fade">
                                      <p:cBhvr>
                                        <p:cTn id="89" dur="250"/>
                                        <p:tgtEl>
                                          <p:spTgt spid="56"/>
                                        </p:tgtEl>
                                      </p:cBhvr>
                                    </p:animEffect>
                                    <p:set>
                                      <p:cBhvr>
                                        <p:cTn id="90" dur="1" fill="hold">
                                          <p:stCondLst>
                                            <p:cond delay="249"/>
                                          </p:stCondLst>
                                        </p:cTn>
                                        <p:tgtEl>
                                          <p:spTgt spid="56"/>
                                        </p:tgtEl>
                                        <p:attrNameLst>
                                          <p:attrName>style.visibility</p:attrName>
                                        </p:attrNameLst>
                                      </p:cBhvr>
                                      <p:to>
                                        <p:strVal val="hidden"/>
                                      </p:to>
                                    </p:set>
                                  </p:childTnLst>
                                </p:cTn>
                              </p:par>
                              <p:par>
                                <p:cTn id="91" presetID="10" presetClass="exit" presetSubtype="0" fill="hold" grpId="1" nodeType="withEffect">
                                  <p:stCondLst>
                                    <p:cond delay="0"/>
                                  </p:stCondLst>
                                  <p:childTnLst>
                                    <p:animEffect transition="out" filter="fade">
                                      <p:cBhvr>
                                        <p:cTn id="92" dur="250"/>
                                        <p:tgtEl>
                                          <p:spTgt spid="57"/>
                                        </p:tgtEl>
                                      </p:cBhvr>
                                    </p:animEffect>
                                    <p:set>
                                      <p:cBhvr>
                                        <p:cTn id="93" dur="1" fill="hold">
                                          <p:stCondLst>
                                            <p:cond delay="249"/>
                                          </p:stCondLst>
                                        </p:cTn>
                                        <p:tgtEl>
                                          <p:spTgt spid="57"/>
                                        </p:tgtEl>
                                        <p:attrNameLst>
                                          <p:attrName>style.visibility</p:attrName>
                                        </p:attrNameLst>
                                      </p:cBhvr>
                                      <p:to>
                                        <p:strVal val="hidden"/>
                                      </p:to>
                                    </p:set>
                                  </p:childTnLst>
                                </p:cTn>
                              </p:par>
                              <p:par>
                                <p:cTn id="94" presetID="10" presetClass="exit" presetSubtype="0" fill="hold" grpId="1" nodeType="withEffect">
                                  <p:stCondLst>
                                    <p:cond delay="0"/>
                                  </p:stCondLst>
                                  <p:childTnLst>
                                    <p:animEffect transition="out" filter="fade">
                                      <p:cBhvr>
                                        <p:cTn id="95" dur="250"/>
                                        <p:tgtEl>
                                          <p:spTgt spid="58"/>
                                        </p:tgtEl>
                                      </p:cBhvr>
                                    </p:animEffect>
                                    <p:set>
                                      <p:cBhvr>
                                        <p:cTn id="96" dur="1" fill="hold">
                                          <p:stCondLst>
                                            <p:cond delay="249"/>
                                          </p:stCondLst>
                                        </p:cTn>
                                        <p:tgtEl>
                                          <p:spTgt spid="58"/>
                                        </p:tgtEl>
                                        <p:attrNameLst>
                                          <p:attrName>style.visibility</p:attrName>
                                        </p:attrNameLst>
                                      </p:cBhvr>
                                      <p:to>
                                        <p:strVal val="hidden"/>
                                      </p:to>
                                    </p:set>
                                  </p:childTnLst>
                                </p:cTn>
                              </p:par>
                              <p:par>
                                <p:cTn id="97" presetID="10" presetClass="exit" presetSubtype="0" fill="hold" grpId="1" nodeType="withEffect">
                                  <p:stCondLst>
                                    <p:cond delay="0"/>
                                  </p:stCondLst>
                                  <p:childTnLst>
                                    <p:animEffect transition="out" filter="fade">
                                      <p:cBhvr>
                                        <p:cTn id="98" dur="250"/>
                                        <p:tgtEl>
                                          <p:spTgt spid="59"/>
                                        </p:tgtEl>
                                      </p:cBhvr>
                                    </p:animEffect>
                                    <p:set>
                                      <p:cBhvr>
                                        <p:cTn id="99" dur="1" fill="hold">
                                          <p:stCondLst>
                                            <p:cond delay="249"/>
                                          </p:stCondLst>
                                        </p:cTn>
                                        <p:tgtEl>
                                          <p:spTgt spid="59"/>
                                        </p:tgtEl>
                                        <p:attrNameLst>
                                          <p:attrName>style.visibility</p:attrName>
                                        </p:attrNameLst>
                                      </p:cBhvr>
                                      <p:to>
                                        <p:strVal val="hidden"/>
                                      </p:to>
                                    </p:set>
                                  </p:childTnLst>
                                </p:cTn>
                              </p:par>
                              <p:par>
                                <p:cTn id="100" presetID="10" presetClass="exit" presetSubtype="0" fill="hold" grpId="1" nodeType="withEffect">
                                  <p:stCondLst>
                                    <p:cond delay="0"/>
                                  </p:stCondLst>
                                  <p:childTnLst>
                                    <p:animEffect transition="out" filter="fade">
                                      <p:cBhvr>
                                        <p:cTn id="101" dur="250"/>
                                        <p:tgtEl>
                                          <p:spTgt spid="60"/>
                                        </p:tgtEl>
                                      </p:cBhvr>
                                    </p:animEffect>
                                    <p:set>
                                      <p:cBhvr>
                                        <p:cTn id="102" dur="1" fill="hold">
                                          <p:stCondLst>
                                            <p:cond delay="249"/>
                                          </p:stCondLst>
                                        </p:cTn>
                                        <p:tgtEl>
                                          <p:spTgt spid="60"/>
                                        </p:tgtEl>
                                        <p:attrNameLst>
                                          <p:attrName>style.visibility</p:attrName>
                                        </p:attrNameLst>
                                      </p:cBhvr>
                                      <p:to>
                                        <p:strVal val="hidden"/>
                                      </p:to>
                                    </p:set>
                                  </p:childTnLst>
                                </p:cTn>
                              </p:par>
                              <p:par>
                                <p:cTn id="103" presetID="10" presetClass="exit" presetSubtype="0" fill="hold" grpId="1" nodeType="withEffect">
                                  <p:stCondLst>
                                    <p:cond delay="0"/>
                                  </p:stCondLst>
                                  <p:childTnLst>
                                    <p:animEffect transition="out" filter="fade">
                                      <p:cBhvr>
                                        <p:cTn id="104" dur="250"/>
                                        <p:tgtEl>
                                          <p:spTgt spid="61"/>
                                        </p:tgtEl>
                                      </p:cBhvr>
                                    </p:animEffect>
                                    <p:set>
                                      <p:cBhvr>
                                        <p:cTn id="105" dur="1" fill="hold">
                                          <p:stCondLst>
                                            <p:cond delay="249"/>
                                          </p:stCondLst>
                                        </p:cTn>
                                        <p:tgtEl>
                                          <p:spTgt spid="61"/>
                                        </p:tgtEl>
                                        <p:attrNameLst>
                                          <p:attrName>style.visibility</p:attrName>
                                        </p:attrNameLst>
                                      </p:cBhvr>
                                      <p:to>
                                        <p:strVal val="hidden"/>
                                      </p:to>
                                    </p:set>
                                  </p:childTnLst>
                                </p:cTn>
                              </p:par>
                              <p:par>
                                <p:cTn id="106" presetID="10" presetClass="exit" presetSubtype="0" fill="hold" grpId="1" nodeType="withEffect">
                                  <p:stCondLst>
                                    <p:cond delay="0"/>
                                  </p:stCondLst>
                                  <p:childTnLst>
                                    <p:animEffect transition="out" filter="fade">
                                      <p:cBhvr>
                                        <p:cTn id="107" dur="250"/>
                                        <p:tgtEl>
                                          <p:spTgt spid="62"/>
                                        </p:tgtEl>
                                      </p:cBhvr>
                                    </p:animEffect>
                                    <p:set>
                                      <p:cBhvr>
                                        <p:cTn id="108" dur="1" fill="hold">
                                          <p:stCondLst>
                                            <p:cond delay="249"/>
                                          </p:stCondLst>
                                        </p:cTn>
                                        <p:tgtEl>
                                          <p:spTgt spid="62"/>
                                        </p:tgtEl>
                                        <p:attrNameLst>
                                          <p:attrName>style.visibility</p:attrName>
                                        </p:attrNameLst>
                                      </p:cBhvr>
                                      <p:to>
                                        <p:strVal val="hidden"/>
                                      </p:to>
                                    </p:set>
                                  </p:childTnLst>
                                </p:cTn>
                              </p:par>
                              <p:par>
                                <p:cTn id="109" presetID="10" presetClass="exit" presetSubtype="0" fill="hold" grpId="1" nodeType="withEffect">
                                  <p:stCondLst>
                                    <p:cond delay="0"/>
                                  </p:stCondLst>
                                  <p:childTnLst>
                                    <p:animEffect transition="out" filter="fade">
                                      <p:cBhvr>
                                        <p:cTn id="110" dur="250"/>
                                        <p:tgtEl>
                                          <p:spTgt spid="63"/>
                                        </p:tgtEl>
                                      </p:cBhvr>
                                    </p:animEffect>
                                    <p:set>
                                      <p:cBhvr>
                                        <p:cTn id="111" dur="1" fill="hold">
                                          <p:stCondLst>
                                            <p:cond delay="249"/>
                                          </p:stCondLst>
                                        </p:cTn>
                                        <p:tgtEl>
                                          <p:spTgt spid="63"/>
                                        </p:tgtEl>
                                        <p:attrNameLst>
                                          <p:attrName>style.visibility</p:attrName>
                                        </p:attrNameLst>
                                      </p:cBhvr>
                                      <p:to>
                                        <p:strVal val="hidden"/>
                                      </p:to>
                                    </p:set>
                                  </p:childTnLst>
                                </p:cTn>
                              </p:par>
                              <p:par>
                                <p:cTn id="112" presetID="10" presetClass="exit" presetSubtype="0" fill="hold" grpId="1" nodeType="withEffect">
                                  <p:stCondLst>
                                    <p:cond delay="0"/>
                                  </p:stCondLst>
                                  <p:childTnLst>
                                    <p:animEffect transition="out" filter="fade">
                                      <p:cBhvr>
                                        <p:cTn id="113" dur="250"/>
                                        <p:tgtEl>
                                          <p:spTgt spid="64"/>
                                        </p:tgtEl>
                                      </p:cBhvr>
                                    </p:animEffect>
                                    <p:set>
                                      <p:cBhvr>
                                        <p:cTn id="114" dur="1" fill="hold">
                                          <p:stCondLst>
                                            <p:cond delay="249"/>
                                          </p:stCondLst>
                                        </p:cTn>
                                        <p:tgtEl>
                                          <p:spTgt spid="64"/>
                                        </p:tgtEl>
                                        <p:attrNameLst>
                                          <p:attrName>style.visibility</p:attrName>
                                        </p:attrNameLst>
                                      </p:cBhvr>
                                      <p:to>
                                        <p:strVal val="hidden"/>
                                      </p:to>
                                    </p:set>
                                  </p:childTnLst>
                                </p:cTn>
                              </p:par>
                              <p:par>
                                <p:cTn id="115" presetID="10" presetClass="exit" presetSubtype="0" fill="hold" grpId="1" nodeType="withEffect">
                                  <p:stCondLst>
                                    <p:cond delay="0"/>
                                  </p:stCondLst>
                                  <p:childTnLst>
                                    <p:animEffect transition="out" filter="fade">
                                      <p:cBhvr>
                                        <p:cTn id="116" dur="250"/>
                                        <p:tgtEl>
                                          <p:spTgt spid="65"/>
                                        </p:tgtEl>
                                      </p:cBhvr>
                                    </p:animEffect>
                                    <p:set>
                                      <p:cBhvr>
                                        <p:cTn id="117" dur="1" fill="hold">
                                          <p:stCondLst>
                                            <p:cond delay="249"/>
                                          </p:stCondLst>
                                        </p:cTn>
                                        <p:tgtEl>
                                          <p:spTgt spid="65"/>
                                        </p:tgtEl>
                                        <p:attrNameLst>
                                          <p:attrName>style.visibility</p:attrName>
                                        </p:attrNameLst>
                                      </p:cBhvr>
                                      <p:to>
                                        <p:strVal val="hidden"/>
                                      </p:to>
                                    </p:set>
                                  </p:childTnLst>
                                </p:cTn>
                              </p:par>
                              <p:par>
                                <p:cTn id="118" presetID="10" presetClass="exit" presetSubtype="0" fill="hold" grpId="1" nodeType="withEffect">
                                  <p:stCondLst>
                                    <p:cond delay="0"/>
                                  </p:stCondLst>
                                  <p:childTnLst>
                                    <p:animEffect transition="out" filter="fade">
                                      <p:cBhvr>
                                        <p:cTn id="119" dur="250"/>
                                        <p:tgtEl>
                                          <p:spTgt spid="66"/>
                                        </p:tgtEl>
                                      </p:cBhvr>
                                    </p:animEffect>
                                    <p:set>
                                      <p:cBhvr>
                                        <p:cTn id="120" dur="1" fill="hold">
                                          <p:stCondLst>
                                            <p:cond delay="249"/>
                                          </p:stCondLst>
                                        </p:cTn>
                                        <p:tgtEl>
                                          <p:spTgt spid="66"/>
                                        </p:tgtEl>
                                        <p:attrNameLst>
                                          <p:attrName>style.visibility</p:attrName>
                                        </p:attrNameLst>
                                      </p:cBhvr>
                                      <p:to>
                                        <p:strVal val="hidden"/>
                                      </p:to>
                                    </p:set>
                                  </p:childTnLst>
                                </p:cTn>
                              </p:par>
                              <p:par>
                                <p:cTn id="121" presetID="10" presetClass="exit" presetSubtype="0" fill="hold" grpId="1" nodeType="withEffect">
                                  <p:stCondLst>
                                    <p:cond delay="0"/>
                                  </p:stCondLst>
                                  <p:childTnLst>
                                    <p:animEffect transition="out" filter="fade">
                                      <p:cBhvr>
                                        <p:cTn id="122" dur="250"/>
                                        <p:tgtEl>
                                          <p:spTgt spid="67"/>
                                        </p:tgtEl>
                                      </p:cBhvr>
                                    </p:animEffect>
                                    <p:set>
                                      <p:cBhvr>
                                        <p:cTn id="123" dur="1" fill="hold">
                                          <p:stCondLst>
                                            <p:cond delay="249"/>
                                          </p:stCondLst>
                                        </p:cTn>
                                        <p:tgtEl>
                                          <p:spTgt spid="67"/>
                                        </p:tgtEl>
                                        <p:attrNameLst>
                                          <p:attrName>style.visibility</p:attrName>
                                        </p:attrNameLst>
                                      </p:cBhvr>
                                      <p:to>
                                        <p:strVal val="hidden"/>
                                      </p:to>
                                    </p:set>
                                  </p:childTnLst>
                                </p:cTn>
                              </p:par>
                              <p:par>
                                <p:cTn id="124" presetID="10" presetClass="exit" presetSubtype="0" fill="hold" grpId="1" nodeType="withEffect">
                                  <p:stCondLst>
                                    <p:cond delay="0"/>
                                  </p:stCondLst>
                                  <p:childTnLst>
                                    <p:animEffect transition="out" filter="fade">
                                      <p:cBhvr>
                                        <p:cTn id="125" dur="250"/>
                                        <p:tgtEl>
                                          <p:spTgt spid="68"/>
                                        </p:tgtEl>
                                      </p:cBhvr>
                                    </p:animEffect>
                                    <p:set>
                                      <p:cBhvr>
                                        <p:cTn id="126" dur="1" fill="hold">
                                          <p:stCondLst>
                                            <p:cond delay="249"/>
                                          </p:stCondLst>
                                        </p:cTn>
                                        <p:tgtEl>
                                          <p:spTgt spid="68"/>
                                        </p:tgtEl>
                                        <p:attrNameLst>
                                          <p:attrName>style.visibility</p:attrName>
                                        </p:attrNameLst>
                                      </p:cBhvr>
                                      <p:to>
                                        <p:strVal val="hidden"/>
                                      </p:to>
                                    </p:set>
                                  </p:childTnLst>
                                </p:cTn>
                              </p:par>
                              <p:par>
                                <p:cTn id="127" presetID="10" presetClass="exit" presetSubtype="0" fill="hold" grpId="1" nodeType="withEffect">
                                  <p:stCondLst>
                                    <p:cond delay="0"/>
                                  </p:stCondLst>
                                  <p:childTnLst>
                                    <p:animEffect transition="out" filter="fade">
                                      <p:cBhvr>
                                        <p:cTn id="128" dur="250"/>
                                        <p:tgtEl>
                                          <p:spTgt spid="69"/>
                                        </p:tgtEl>
                                      </p:cBhvr>
                                    </p:animEffect>
                                    <p:set>
                                      <p:cBhvr>
                                        <p:cTn id="129" dur="1" fill="hold">
                                          <p:stCondLst>
                                            <p:cond delay="249"/>
                                          </p:stCondLst>
                                        </p:cTn>
                                        <p:tgtEl>
                                          <p:spTgt spid="69"/>
                                        </p:tgtEl>
                                        <p:attrNameLst>
                                          <p:attrName>style.visibility</p:attrName>
                                        </p:attrNameLst>
                                      </p:cBhvr>
                                      <p:to>
                                        <p:strVal val="hidden"/>
                                      </p:to>
                                    </p:set>
                                  </p:childTnLst>
                                </p:cTn>
                              </p:par>
                              <p:par>
                                <p:cTn id="130" presetID="10" presetClass="exit" presetSubtype="0" fill="hold" grpId="1" nodeType="withEffect">
                                  <p:stCondLst>
                                    <p:cond delay="0"/>
                                  </p:stCondLst>
                                  <p:childTnLst>
                                    <p:animEffect transition="out" filter="fade">
                                      <p:cBhvr>
                                        <p:cTn id="131" dur="250"/>
                                        <p:tgtEl>
                                          <p:spTgt spid="70"/>
                                        </p:tgtEl>
                                      </p:cBhvr>
                                    </p:animEffect>
                                    <p:set>
                                      <p:cBhvr>
                                        <p:cTn id="132" dur="1" fill="hold">
                                          <p:stCondLst>
                                            <p:cond delay="249"/>
                                          </p:stCondLst>
                                        </p:cTn>
                                        <p:tgtEl>
                                          <p:spTgt spid="70"/>
                                        </p:tgtEl>
                                        <p:attrNameLst>
                                          <p:attrName>style.visibility</p:attrName>
                                        </p:attrNameLst>
                                      </p:cBhvr>
                                      <p:to>
                                        <p:strVal val="hidden"/>
                                      </p:to>
                                    </p:set>
                                  </p:childTnLst>
                                </p:cTn>
                              </p:par>
                              <p:par>
                                <p:cTn id="133" presetID="10" presetClass="exit" presetSubtype="0" fill="hold" grpId="1" nodeType="withEffect">
                                  <p:stCondLst>
                                    <p:cond delay="0"/>
                                  </p:stCondLst>
                                  <p:childTnLst>
                                    <p:animEffect transition="out" filter="fade">
                                      <p:cBhvr>
                                        <p:cTn id="134" dur="250"/>
                                        <p:tgtEl>
                                          <p:spTgt spid="71"/>
                                        </p:tgtEl>
                                      </p:cBhvr>
                                    </p:animEffect>
                                    <p:set>
                                      <p:cBhvr>
                                        <p:cTn id="135" dur="1" fill="hold">
                                          <p:stCondLst>
                                            <p:cond delay="249"/>
                                          </p:stCondLst>
                                        </p:cTn>
                                        <p:tgtEl>
                                          <p:spTgt spid="71"/>
                                        </p:tgtEl>
                                        <p:attrNameLst>
                                          <p:attrName>style.visibility</p:attrName>
                                        </p:attrNameLst>
                                      </p:cBhvr>
                                      <p:to>
                                        <p:strVal val="hidden"/>
                                      </p:to>
                                    </p:set>
                                  </p:childTnLst>
                                </p:cTn>
                              </p:par>
                              <p:par>
                                <p:cTn id="136" presetID="10" presetClass="entr" presetSubtype="0" fill="hold" grpId="0" nodeType="withEffect">
                                  <p:stCondLst>
                                    <p:cond delay="0"/>
                                  </p:stCondLst>
                                  <p:childTnLst>
                                    <p:set>
                                      <p:cBhvr>
                                        <p:cTn id="137" dur="1" fill="hold">
                                          <p:stCondLst>
                                            <p:cond delay="0"/>
                                          </p:stCondLst>
                                        </p:cTn>
                                        <p:tgtEl>
                                          <p:spTgt spid="8"/>
                                        </p:tgtEl>
                                        <p:attrNameLst>
                                          <p:attrName>style.visibility</p:attrName>
                                        </p:attrNameLst>
                                      </p:cBhvr>
                                      <p:to>
                                        <p:strVal val="visible"/>
                                      </p:to>
                                    </p:set>
                                    <p:animEffect transition="in" filter="fade">
                                      <p:cBhvr>
                                        <p:cTn id="138" dur="250"/>
                                        <p:tgtEl>
                                          <p:spTgt spid="8"/>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9"/>
                                        </p:tgtEl>
                                        <p:attrNameLst>
                                          <p:attrName>style.visibility</p:attrName>
                                        </p:attrNameLst>
                                      </p:cBhvr>
                                      <p:to>
                                        <p:strVal val="visible"/>
                                      </p:to>
                                    </p:set>
                                    <p:animEffect transition="in" filter="fade">
                                      <p:cBhvr>
                                        <p:cTn id="141" dur="250"/>
                                        <p:tgtEl>
                                          <p:spTgt spid="9"/>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73"/>
                                        </p:tgtEl>
                                        <p:attrNameLst>
                                          <p:attrName>style.visibility</p:attrName>
                                        </p:attrNameLst>
                                      </p:cBhvr>
                                      <p:to>
                                        <p:strVal val="visible"/>
                                      </p:to>
                                    </p:set>
                                    <p:animEffect transition="in" filter="fade">
                                      <p:cBhvr>
                                        <p:cTn id="144" dur="250"/>
                                        <p:tgtEl>
                                          <p:spTgt spid="73"/>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79"/>
                                        </p:tgtEl>
                                        <p:attrNameLst>
                                          <p:attrName>style.visibility</p:attrName>
                                        </p:attrNameLst>
                                      </p:cBhvr>
                                      <p:to>
                                        <p:strVal val="visible"/>
                                      </p:to>
                                    </p:set>
                                    <p:animEffect transition="in" filter="fade">
                                      <p:cBhvr>
                                        <p:cTn id="147" dur="250"/>
                                        <p:tgtEl>
                                          <p:spTgt spid="79"/>
                                        </p:tgtEl>
                                      </p:cBhvr>
                                    </p:animEffect>
                                  </p:childTnLst>
                                </p:cTn>
                              </p:par>
                            </p:childTnLst>
                          </p:cTn>
                        </p:par>
                        <p:par>
                          <p:cTn id="148" fill="hold">
                            <p:stCondLst>
                              <p:cond delay="300"/>
                            </p:stCondLst>
                            <p:childTnLst>
                              <p:par>
                                <p:cTn id="149" presetID="10" presetClass="entr" presetSubtype="0" fill="hold" grpId="0" nodeType="afterEffect">
                                  <p:stCondLst>
                                    <p:cond delay="0"/>
                                  </p:stCondLst>
                                  <p:childTnLst>
                                    <p:set>
                                      <p:cBhvr>
                                        <p:cTn id="150" dur="1" fill="hold">
                                          <p:stCondLst>
                                            <p:cond delay="0"/>
                                          </p:stCondLst>
                                        </p:cTn>
                                        <p:tgtEl>
                                          <p:spTgt spid="74"/>
                                        </p:tgtEl>
                                        <p:attrNameLst>
                                          <p:attrName>style.visibility</p:attrName>
                                        </p:attrNameLst>
                                      </p:cBhvr>
                                      <p:to>
                                        <p:strVal val="visible"/>
                                      </p:to>
                                    </p:set>
                                    <p:animEffect transition="in" filter="fade">
                                      <p:cBhvr>
                                        <p:cTn id="151" dur="250"/>
                                        <p:tgtEl>
                                          <p:spTgt spid="74"/>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75"/>
                                        </p:tgtEl>
                                        <p:attrNameLst>
                                          <p:attrName>style.visibility</p:attrName>
                                        </p:attrNameLst>
                                      </p:cBhvr>
                                      <p:to>
                                        <p:strVal val="visible"/>
                                      </p:to>
                                    </p:set>
                                    <p:animEffect transition="in" filter="fade">
                                      <p:cBhvr>
                                        <p:cTn id="154" dur="250"/>
                                        <p:tgtEl>
                                          <p:spTgt spid="75"/>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76"/>
                                        </p:tgtEl>
                                        <p:attrNameLst>
                                          <p:attrName>style.visibility</p:attrName>
                                        </p:attrNameLst>
                                      </p:cBhvr>
                                      <p:to>
                                        <p:strVal val="visible"/>
                                      </p:to>
                                    </p:set>
                                    <p:animEffect transition="in" filter="fade">
                                      <p:cBhvr>
                                        <p:cTn id="157" dur="250"/>
                                        <p:tgtEl>
                                          <p:spTgt spid="76"/>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77"/>
                                        </p:tgtEl>
                                        <p:attrNameLst>
                                          <p:attrName>style.visibility</p:attrName>
                                        </p:attrNameLst>
                                      </p:cBhvr>
                                      <p:to>
                                        <p:strVal val="visible"/>
                                      </p:to>
                                    </p:set>
                                    <p:animEffect transition="in" filter="fade">
                                      <p:cBhvr>
                                        <p:cTn id="160" dur="250"/>
                                        <p:tgtEl>
                                          <p:spTgt spid="77"/>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78"/>
                                        </p:tgtEl>
                                        <p:attrNameLst>
                                          <p:attrName>style.visibility</p:attrName>
                                        </p:attrNameLst>
                                      </p:cBhvr>
                                      <p:to>
                                        <p:strVal val="visible"/>
                                      </p:to>
                                    </p:set>
                                    <p:animEffect transition="in" filter="fade">
                                      <p:cBhvr>
                                        <p:cTn id="163" dur="250"/>
                                        <p:tgtEl>
                                          <p:spTgt spid="78"/>
                                        </p:tgtEl>
                                      </p:cBhvr>
                                    </p:animEffect>
                                  </p:childTnLst>
                                </p:cTn>
                              </p:par>
                            </p:childTnLst>
                          </p:cTn>
                        </p:par>
                        <p:par>
                          <p:cTn id="164" fill="hold">
                            <p:stCondLst>
                              <p:cond delay="400"/>
                            </p:stCondLst>
                            <p:childTnLst>
                              <p:par>
                                <p:cTn id="165" presetID="10" presetClass="entr" presetSubtype="0" fill="hold" grpId="0" nodeType="afterEffect">
                                  <p:stCondLst>
                                    <p:cond delay="0"/>
                                  </p:stCondLst>
                                  <p:childTnLst>
                                    <p:set>
                                      <p:cBhvr>
                                        <p:cTn id="166" dur="1" fill="hold">
                                          <p:stCondLst>
                                            <p:cond delay="0"/>
                                          </p:stCondLst>
                                        </p:cTn>
                                        <p:tgtEl>
                                          <p:spTgt spid="32"/>
                                        </p:tgtEl>
                                        <p:attrNameLst>
                                          <p:attrName>style.visibility</p:attrName>
                                        </p:attrNameLst>
                                      </p:cBhvr>
                                      <p:to>
                                        <p:strVal val="visible"/>
                                      </p:to>
                                    </p:set>
                                    <p:animEffect transition="in" filter="fade">
                                      <p:cBhvr>
                                        <p:cTn id="167" dur="250"/>
                                        <p:tgtEl>
                                          <p:spTgt spid="32"/>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33"/>
                                        </p:tgtEl>
                                        <p:attrNameLst>
                                          <p:attrName>style.visibility</p:attrName>
                                        </p:attrNameLst>
                                      </p:cBhvr>
                                      <p:to>
                                        <p:strVal val="visible"/>
                                      </p:to>
                                    </p:set>
                                    <p:animEffect transition="in" filter="fade">
                                      <p:cBhvr>
                                        <p:cTn id="170" dur="250"/>
                                        <p:tgtEl>
                                          <p:spTgt spid="33"/>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34"/>
                                        </p:tgtEl>
                                        <p:attrNameLst>
                                          <p:attrName>style.visibility</p:attrName>
                                        </p:attrNameLst>
                                      </p:cBhvr>
                                      <p:to>
                                        <p:strVal val="visible"/>
                                      </p:to>
                                    </p:set>
                                    <p:animEffect transition="in" filter="fade">
                                      <p:cBhvr>
                                        <p:cTn id="173" dur="250"/>
                                        <p:tgtEl>
                                          <p:spTgt spid="34"/>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35"/>
                                        </p:tgtEl>
                                        <p:attrNameLst>
                                          <p:attrName>style.visibility</p:attrName>
                                        </p:attrNameLst>
                                      </p:cBhvr>
                                      <p:to>
                                        <p:strVal val="visible"/>
                                      </p:to>
                                    </p:set>
                                    <p:animEffect transition="in" filter="fade">
                                      <p:cBhvr>
                                        <p:cTn id="176" dur="250"/>
                                        <p:tgtEl>
                                          <p:spTgt spid="35"/>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36"/>
                                        </p:tgtEl>
                                        <p:attrNameLst>
                                          <p:attrName>style.visibility</p:attrName>
                                        </p:attrNameLst>
                                      </p:cBhvr>
                                      <p:to>
                                        <p:strVal val="visible"/>
                                      </p:to>
                                    </p:set>
                                    <p:animEffect transition="in" filter="fade">
                                      <p:cBhvr>
                                        <p:cTn id="179" dur="250"/>
                                        <p:tgtEl>
                                          <p:spTgt spid="36"/>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37"/>
                                        </p:tgtEl>
                                        <p:attrNameLst>
                                          <p:attrName>style.visibility</p:attrName>
                                        </p:attrNameLst>
                                      </p:cBhvr>
                                      <p:to>
                                        <p:strVal val="visible"/>
                                      </p:to>
                                    </p:set>
                                    <p:animEffect transition="in" filter="fade">
                                      <p:cBhvr>
                                        <p:cTn id="182" dur="250"/>
                                        <p:tgtEl>
                                          <p:spTgt spid="37"/>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38"/>
                                        </p:tgtEl>
                                        <p:attrNameLst>
                                          <p:attrName>style.visibility</p:attrName>
                                        </p:attrNameLst>
                                      </p:cBhvr>
                                      <p:to>
                                        <p:strVal val="visible"/>
                                      </p:to>
                                    </p:set>
                                    <p:animEffect transition="in" filter="fade">
                                      <p:cBhvr>
                                        <p:cTn id="185" dur="250"/>
                                        <p:tgtEl>
                                          <p:spTgt spid="38"/>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39"/>
                                        </p:tgtEl>
                                        <p:attrNameLst>
                                          <p:attrName>style.visibility</p:attrName>
                                        </p:attrNameLst>
                                      </p:cBhvr>
                                      <p:to>
                                        <p:strVal val="visible"/>
                                      </p:to>
                                    </p:set>
                                    <p:animEffect transition="in" filter="fade">
                                      <p:cBhvr>
                                        <p:cTn id="188" dur="250"/>
                                        <p:tgtEl>
                                          <p:spTgt spid="39"/>
                                        </p:tgtEl>
                                      </p:cBhvr>
                                    </p:animEffect>
                                  </p:childTnLst>
                                </p:cTn>
                              </p:par>
                              <p:par>
                                <p:cTn id="189" presetID="10" presetClass="entr" presetSubtype="0" fill="hold" grpId="0" nodeType="withEffect">
                                  <p:stCondLst>
                                    <p:cond delay="0"/>
                                  </p:stCondLst>
                                  <p:childTnLst>
                                    <p:set>
                                      <p:cBhvr>
                                        <p:cTn id="190" dur="1" fill="hold">
                                          <p:stCondLst>
                                            <p:cond delay="0"/>
                                          </p:stCondLst>
                                        </p:cTn>
                                        <p:tgtEl>
                                          <p:spTgt spid="40"/>
                                        </p:tgtEl>
                                        <p:attrNameLst>
                                          <p:attrName>style.visibility</p:attrName>
                                        </p:attrNameLst>
                                      </p:cBhvr>
                                      <p:to>
                                        <p:strVal val="visible"/>
                                      </p:to>
                                    </p:set>
                                    <p:animEffect transition="in" filter="fade">
                                      <p:cBhvr>
                                        <p:cTn id="191" dur="250"/>
                                        <p:tgtEl>
                                          <p:spTgt spid="40"/>
                                        </p:tgtEl>
                                      </p:cBhvr>
                                    </p:animEffect>
                                  </p:childTnLst>
                                </p:cTn>
                              </p:par>
                              <p:par>
                                <p:cTn id="192" presetID="10" presetClass="entr" presetSubtype="0" fill="hold" grpId="0" nodeType="withEffect">
                                  <p:stCondLst>
                                    <p:cond delay="0"/>
                                  </p:stCondLst>
                                  <p:childTnLst>
                                    <p:set>
                                      <p:cBhvr>
                                        <p:cTn id="193" dur="1" fill="hold">
                                          <p:stCondLst>
                                            <p:cond delay="0"/>
                                          </p:stCondLst>
                                        </p:cTn>
                                        <p:tgtEl>
                                          <p:spTgt spid="41"/>
                                        </p:tgtEl>
                                        <p:attrNameLst>
                                          <p:attrName>style.visibility</p:attrName>
                                        </p:attrNameLst>
                                      </p:cBhvr>
                                      <p:to>
                                        <p:strVal val="visible"/>
                                      </p:to>
                                    </p:set>
                                    <p:animEffect transition="in" filter="fade">
                                      <p:cBhvr>
                                        <p:cTn id="194" dur="250"/>
                                        <p:tgtEl>
                                          <p:spTgt spid="41"/>
                                        </p:tgtEl>
                                      </p:cBhvr>
                                    </p:animEffect>
                                  </p:childTnLst>
                                </p:cTn>
                              </p:par>
                              <p:par>
                                <p:cTn id="195" presetID="10" presetClass="entr" presetSubtype="0" fill="hold" grpId="0" nodeType="withEffect">
                                  <p:stCondLst>
                                    <p:cond delay="0"/>
                                  </p:stCondLst>
                                  <p:childTnLst>
                                    <p:set>
                                      <p:cBhvr>
                                        <p:cTn id="196" dur="1" fill="hold">
                                          <p:stCondLst>
                                            <p:cond delay="0"/>
                                          </p:stCondLst>
                                        </p:cTn>
                                        <p:tgtEl>
                                          <p:spTgt spid="42"/>
                                        </p:tgtEl>
                                        <p:attrNameLst>
                                          <p:attrName>style.visibility</p:attrName>
                                        </p:attrNameLst>
                                      </p:cBhvr>
                                      <p:to>
                                        <p:strVal val="visible"/>
                                      </p:to>
                                    </p:set>
                                    <p:animEffect transition="in" filter="fade">
                                      <p:cBhvr>
                                        <p:cTn id="197" dur="250"/>
                                        <p:tgtEl>
                                          <p:spTgt spid="42"/>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43"/>
                                        </p:tgtEl>
                                        <p:attrNameLst>
                                          <p:attrName>style.visibility</p:attrName>
                                        </p:attrNameLst>
                                      </p:cBhvr>
                                      <p:to>
                                        <p:strVal val="visible"/>
                                      </p:to>
                                    </p:set>
                                    <p:animEffect transition="in" filter="fade">
                                      <p:cBhvr>
                                        <p:cTn id="200" dur="250"/>
                                        <p:tgtEl>
                                          <p:spTgt spid="43"/>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44"/>
                                        </p:tgtEl>
                                        <p:attrNameLst>
                                          <p:attrName>style.visibility</p:attrName>
                                        </p:attrNameLst>
                                      </p:cBhvr>
                                      <p:to>
                                        <p:strVal val="visible"/>
                                      </p:to>
                                    </p:set>
                                    <p:animEffect transition="in" filter="fade">
                                      <p:cBhvr>
                                        <p:cTn id="203" dur="250"/>
                                        <p:tgtEl>
                                          <p:spTgt spid="44"/>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45"/>
                                        </p:tgtEl>
                                        <p:attrNameLst>
                                          <p:attrName>style.visibility</p:attrName>
                                        </p:attrNameLst>
                                      </p:cBhvr>
                                      <p:to>
                                        <p:strVal val="visible"/>
                                      </p:to>
                                    </p:set>
                                    <p:animEffect transition="in" filter="fade">
                                      <p:cBhvr>
                                        <p:cTn id="206" dur="250"/>
                                        <p:tgtEl>
                                          <p:spTgt spid="45"/>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46"/>
                                        </p:tgtEl>
                                        <p:attrNameLst>
                                          <p:attrName>style.visibility</p:attrName>
                                        </p:attrNameLst>
                                      </p:cBhvr>
                                      <p:to>
                                        <p:strVal val="visible"/>
                                      </p:to>
                                    </p:set>
                                    <p:animEffect transition="in" filter="fade">
                                      <p:cBhvr>
                                        <p:cTn id="209" dur="250"/>
                                        <p:tgtEl>
                                          <p:spTgt spid="46"/>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47"/>
                                        </p:tgtEl>
                                        <p:attrNameLst>
                                          <p:attrName>style.visibility</p:attrName>
                                        </p:attrNameLst>
                                      </p:cBhvr>
                                      <p:to>
                                        <p:strVal val="visible"/>
                                      </p:to>
                                    </p:set>
                                    <p:animEffect transition="in" filter="fade">
                                      <p:cBhvr>
                                        <p:cTn id="212" dur="250"/>
                                        <p:tgtEl>
                                          <p:spTgt spid="47"/>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48"/>
                                        </p:tgtEl>
                                        <p:attrNameLst>
                                          <p:attrName>style.visibility</p:attrName>
                                        </p:attrNameLst>
                                      </p:cBhvr>
                                      <p:to>
                                        <p:strVal val="visible"/>
                                      </p:to>
                                    </p:set>
                                    <p:animEffect transition="in" filter="fade">
                                      <p:cBhvr>
                                        <p:cTn id="215" dur="250"/>
                                        <p:tgtEl>
                                          <p:spTgt spid="48"/>
                                        </p:tgtEl>
                                      </p:cBhvr>
                                    </p:animEffect>
                                  </p:childTnLst>
                                </p:cTn>
                              </p:par>
                              <p:par>
                                <p:cTn id="216" presetID="10" presetClass="entr" presetSubtype="0" fill="hold" grpId="0" nodeType="withEffect">
                                  <p:stCondLst>
                                    <p:cond delay="0"/>
                                  </p:stCondLst>
                                  <p:childTnLst>
                                    <p:set>
                                      <p:cBhvr>
                                        <p:cTn id="217" dur="1" fill="hold">
                                          <p:stCondLst>
                                            <p:cond delay="0"/>
                                          </p:stCondLst>
                                        </p:cTn>
                                        <p:tgtEl>
                                          <p:spTgt spid="49"/>
                                        </p:tgtEl>
                                        <p:attrNameLst>
                                          <p:attrName>style.visibility</p:attrName>
                                        </p:attrNameLst>
                                      </p:cBhvr>
                                      <p:to>
                                        <p:strVal val="visible"/>
                                      </p:to>
                                    </p:set>
                                    <p:animEffect transition="in" filter="fade">
                                      <p:cBhvr>
                                        <p:cTn id="218" dur="250"/>
                                        <p:tgtEl>
                                          <p:spTgt spid="49"/>
                                        </p:tgtEl>
                                      </p:cBhvr>
                                    </p:animEffect>
                                  </p:childTnLst>
                                </p:cTn>
                              </p:par>
                            </p:childTnLst>
                          </p:cTn>
                        </p:par>
                      </p:childTnLst>
                    </p:cTn>
                  </p:par>
                  <p:par>
                    <p:cTn id="219" fill="hold">
                      <p:stCondLst>
                        <p:cond delay="indefinite"/>
                      </p:stCondLst>
                      <p:childTnLst>
                        <p:par>
                          <p:cTn id="220" fill="hold">
                            <p:stCondLst>
                              <p:cond delay="0"/>
                            </p:stCondLst>
                            <p:childTnLst>
                              <p:par>
                                <p:cTn id="221" presetID="10" presetClass="entr" presetSubtype="0" fill="hold" grpId="0" nodeType="clickEffect">
                                  <p:stCondLst>
                                    <p:cond delay="0"/>
                                  </p:stCondLst>
                                  <p:childTnLst>
                                    <p:set>
                                      <p:cBhvr>
                                        <p:cTn id="222" dur="1" fill="hold">
                                          <p:stCondLst>
                                            <p:cond delay="0"/>
                                          </p:stCondLst>
                                        </p:cTn>
                                        <p:tgtEl>
                                          <p:spTgt spid="80"/>
                                        </p:tgtEl>
                                        <p:attrNameLst>
                                          <p:attrName>style.visibility</p:attrName>
                                        </p:attrNameLst>
                                      </p:cBhvr>
                                      <p:to>
                                        <p:strVal val="visible"/>
                                      </p:to>
                                    </p:set>
                                    <p:animEffect transition="in" filter="fade">
                                      <p:cBhvr>
                                        <p:cTn id="223" dur="250"/>
                                        <p:tgtEl>
                                          <p:spTgt spid="80"/>
                                        </p:tgtEl>
                                      </p:cBhvr>
                                    </p:animEffect>
                                  </p:childTnLst>
                                </p:cTn>
                              </p:par>
                              <p:par>
                                <p:cTn id="224" presetID="10" presetClass="entr" presetSubtype="0" fill="hold" grpId="0" nodeType="withEffect">
                                  <p:stCondLst>
                                    <p:cond delay="0"/>
                                  </p:stCondLst>
                                  <p:childTnLst>
                                    <p:set>
                                      <p:cBhvr>
                                        <p:cTn id="225" dur="1" fill="hold">
                                          <p:stCondLst>
                                            <p:cond delay="0"/>
                                          </p:stCondLst>
                                        </p:cTn>
                                        <p:tgtEl>
                                          <p:spTgt spid="82"/>
                                        </p:tgtEl>
                                        <p:attrNameLst>
                                          <p:attrName>style.visibility</p:attrName>
                                        </p:attrNameLst>
                                      </p:cBhvr>
                                      <p:to>
                                        <p:strVal val="visible"/>
                                      </p:to>
                                    </p:set>
                                    <p:animEffect transition="in" filter="fade">
                                      <p:cBhvr>
                                        <p:cTn id="226" dur="250"/>
                                        <p:tgtEl>
                                          <p:spTgt spid="82"/>
                                        </p:tgtEl>
                                      </p:cBhvr>
                                    </p:animEffect>
                                  </p:childTnLst>
                                </p:cTn>
                              </p:par>
                            </p:childTnLst>
                          </p:cTn>
                        </p:par>
                        <p:par>
                          <p:cTn id="227" fill="hold">
                            <p:stCondLst>
                              <p:cond delay="300"/>
                            </p:stCondLst>
                            <p:childTnLst>
                              <p:par>
                                <p:cTn id="228" presetID="10" presetClass="entr" presetSubtype="0" fill="hold" grpId="0" nodeType="afterEffect">
                                  <p:stCondLst>
                                    <p:cond delay="0"/>
                                  </p:stCondLst>
                                  <p:childTnLst>
                                    <p:set>
                                      <p:cBhvr>
                                        <p:cTn id="229" dur="1" fill="hold">
                                          <p:stCondLst>
                                            <p:cond delay="0"/>
                                          </p:stCondLst>
                                        </p:cTn>
                                        <p:tgtEl>
                                          <p:spTgt spid="81"/>
                                        </p:tgtEl>
                                        <p:attrNameLst>
                                          <p:attrName>style.visibility</p:attrName>
                                        </p:attrNameLst>
                                      </p:cBhvr>
                                      <p:to>
                                        <p:strVal val="visible"/>
                                      </p:to>
                                    </p:set>
                                    <p:animEffect transition="in" filter="fade">
                                      <p:cBhvr>
                                        <p:cTn id="230" dur="250"/>
                                        <p:tgtEl>
                                          <p:spTgt spid="81"/>
                                        </p:tgtEl>
                                      </p:cBhvr>
                                    </p:animEffect>
                                  </p:childTnLst>
                                </p:cTn>
                              </p:par>
                            </p:childTnLst>
                          </p:cTn>
                        </p:par>
                      </p:childTnLst>
                    </p:cTn>
                  </p:par>
                  <p:par>
                    <p:cTn id="231" fill="hold">
                      <p:stCondLst>
                        <p:cond delay="indefinite"/>
                      </p:stCondLst>
                      <p:childTnLst>
                        <p:par>
                          <p:cTn id="232" fill="hold">
                            <p:stCondLst>
                              <p:cond delay="0"/>
                            </p:stCondLst>
                            <p:childTnLst>
                              <p:par>
                                <p:cTn id="233" presetID="10" presetClass="exit" presetSubtype="0" fill="hold" grpId="1" nodeType="clickEffect">
                                  <p:stCondLst>
                                    <p:cond delay="0"/>
                                  </p:stCondLst>
                                  <p:childTnLst>
                                    <p:animEffect transition="out" filter="fade">
                                      <p:cBhvr>
                                        <p:cTn id="234" dur="250"/>
                                        <p:tgtEl>
                                          <p:spTgt spid="80"/>
                                        </p:tgtEl>
                                      </p:cBhvr>
                                    </p:animEffect>
                                    <p:set>
                                      <p:cBhvr>
                                        <p:cTn id="235" dur="1" fill="hold">
                                          <p:stCondLst>
                                            <p:cond delay="249"/>
                                          </p:stCondLst>
                                        </p:cTn>
                                        <p:tgtEl>
                                          <p:spTgt spid="80"/>
                                        </p:tgtEl>
                                        <p:attrNameLst>
                                          <p:attrName>style.visibility</p:attrName>
                                        </p:attrNameLst>
                                      </p:cBhvr>
                                      <p:to>
                                        <p:strVal val="hidden"/>
                                      </p:to>
                                    </p:set>
                                  </p:childTnLst>
                                </p:cTn>
                              </p:par>
                              <p:par>
                                <p:cTn id="236" presetID="10" presetClass="entr" presetSubtype="0" fill="hold" grpId="0" nodeType="withEffect">
                                  <p:stCondLst>
                                    <p:cond delay="0"/>
                                  </p:stCondLst>
                                  <p:childTnLst>
                                    <p:set>
                                      <p:cBhvr>
                                        <p:cTn id="237" dur="1" fill="hold">
                                          <p:stCondLst>
                                            <p:cond delay="0"/>
                                          </p:stCondLst>
                                        </p:cTn>
                                        <p:tgtEl>
                                          <p:spTgt spid="83"/>
                                        </p:tgtEl>
                                        <p:attrNameLst>
                                          <p:attrName>style.visibility</p:attrName>
                                        </p:attrNameLst>
                                      </p:cBhvr>
                                      <p:to>
                                        <p:strVal val="visible"/>
                                      </p:to>
                                    </p:set>
                                    <p:animEffect transition="in" filter="fade">
                                      <p:cBhvr>
                                        <p:cTn id="238" dur="250"/>
                                        <p:tgtEl>
                                          <p:spTgt spid="83"/>
                                        </p:tgtEl>
                                      </p:cBhvr>
                                    </p:animEffect>
                                  </p:childTnLst>
                                </p:cTn>
                              </p:par>
                              <p:par>
                                <p:cTn id="239" presetID="10" presetClass="entr" presetSubtype="0" fill="hold" grpId="0" nodeType="withEffect">
                                  <p:stCondLst>
                                    <p:cond delay="0"/>
                                  </p:stCondLst>
                                  <p:childTnLst>
                                    <p:set>
                                      <p:cBhvr>
                                        <p:cTn id="240" dur="1" fill="hold">
                                          <p:stCondLst>
                                            <p:cond delay="0"/>
                                          </p:stCondLst>
                                        </p:cTn>
                                        <p:tgtEl>
                                          <p:spTgt spid="98"/>
                                        </p:tgtEl>
                                        <p:attrNameLst>
                                          <p:attrName>style.visibility</p:attrName>
                                        </p:attrNameLst>
                                      </p:cBhvr>
                                      <p:to>
                                        <p:strVal val="visible"/>
                                      </p:to>
                                    </p:set>
                                    <p:animEffect transition="in" filter="fade">
                                      <p:cBhvr>
                                        <p:cTn id="241" dur="250"/>
                                        <p:tgtEl>
                                          <p:spTgt spid="98"/>
                                        </p:tgtEl>
                                      </p:cBhvr>
                                    </p:animEffect>
                                  </p:childTnLst>
                                </p:cTn>
                              </p:par>
                            </p:childTnLst>
                          </p:cTn>
                        </p:par>
                        <p:par>
                          <p:cTn id="242" fill="hold">
                            <p:stCondLst>
                              <p:cond delay="300"/>
                            </p:stCondLst>
                            <p:childTnLst>
                              <p:par>
                                <p:cTn id="243" presetID="10" presetClass="entr" presetSubtype="0" fill="hold" grpId="0" nodeType="afterEffect">
                                  <p:stCondLst>
                                    <p:cond delay="0"/>
                                  </p:stCondLst>
                                  <p:childTnLst>
                                    <p:set>
                                      <p:cBhvr>
                                        <p:cTn id="244" dur="1" fill="hold">
                                          <p:stCondLst>
                                            <p:cond delay="0"/>
                                          </p:stCondLst>
                                        </p:cTn>
                                        <p:tgtEl>
                                          <p:spTgt spid="84"/>
                                        </p:tgtEl>
                                        <p:attrNameLst>
                                          <p:attrName>style.visibility</p:attrName>
                                        </p:attrNameLst>
                                      </p:cBhvr>
                                      <p:to>
                                        <p:strVal val="visible"/>
                                      </p:to>
                                    </p:set>
                                    <p:animEffect transition="in" filter="fade">
                                      <p:cBhvr>
                                        <p:cTn id="245" dur="250"/>
                                        <p:tgtEl>
                                          <p:spTgt spid="84"/>
                                        </p:tgtEl>
                                      </p:cBhvr>
                                    </p:animEffect>
                                  </p:childTnLst>
                                </p:cTn>
                              </p:par>
                              <p:par>
                                <p:cTn id="246" presetID="10" presetClass="entr" presetSubtype="0" fill="hold" grpId="0" nodeType="withEffect">
                                  <p:stCondLst>
                                    <p:cond delay="0"/>
                                  </p:stCondLst>
                                  <p:childTnLst>
                                    <p:set>
                                      <p:cBhvr>
                                        <p:cTn id="247" dur="1" fill="hold">
                                          <p:stCondLst>
                                            <p:cond delay="0"/>
                                          </p:stCondLst>
                                        </p:cTn>
                                        <p:tgtEl>
                                          <p:spTgt spid="90"/>
                                        </p:tgtEl>
                                        <p:attrNameLst>
                                          <p:attrName>style.visibility</p:attrName>
                                        </p:attrNameLst>
                                      </p:cBhvr>
                                      <p:to>
                                        <p:strVal val="visible"/>
                                      </p:to>
                                    </p:set>
                                    <p:animEffect transition="in" filter="fade">
                                      <p:cBhvr>
                                        <p:cTn id="248" dur="250"/>
                                        <p:tgtEl>
                                          <p:spTgt spid="90"/>
                                        </p:tgtEl>
                                      </p:cBhvr>
                                    </p:animEffect>
                                  </p:childTnLst>
                                </p:cTn>
                              </p:par>
                              <p:par>
                                <p:cTn id="249" presetID="10" presetClass="entr" presetSubtype="0" fill="hold" grpId="0" nodeType="withEffect">
                                  <p:stCondLst>
                                    <p:cond delay="0"/>
                                  </p:stCondLst>
                                  <p:childTnLst>
                                    <p:set>
                                      <p:cBhvr>
                                        <p:cTn id="250" dur="1" fill="hold">
                                          <p:stCondLst>
                                            <p:cond delay="0"/>
                                          </p:stCondLst>
                                        </p:cTn>
                                        <p:tgtEl>
                                          <p:spTgt spid="94"/>
                                        </p:tgtEl>
                                        <p:attrNameLst>
                                          <p:attrName>style.visibility</p:attrName>
                                        </p:attrNameLst>
                                      </p:cBhvr>
                                      <p:to>
                                        <p:strVal val="visible"/>
                                      </p:to>
                                    </p:set>
                                    <p:animEffect transition="in" filter="fade">
                                      <p:cBhvr>
                                        <p:cTn id="251" dur="250"/>
                                        <p:tgtEl>
                                          <p:spTgt spid="94"/>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95"/>
                                        </p:tgtEl>
                                        <p:attrNameLst>
                                          <p:attrName>style.visibility</p:attrName>
                                        </p:attrNameLst>
                                      </p:cBhvr>
                                      <p:to>
                                        <p:strVal val="visible"/>
                                      </p:to>
                                    </p:set>
                                    <p:animEffect transition="in" filter="fade">
                                      <p:cBhvr>
                                        <p:cTn id="254" dur="250"/>
                                        <p:tgtEl>
                                          <p:spTgt spid="95"/>
                                        </p:tgtEl>
                                      </p:cBhvr>
                                    </p:animEffect>
                                  </p:childTnLst>
                                </p:cTn>
                              </p:par>
                            </p:childTnLst>
                          </p:cTn>
                        </p:par>
                        <p:par>
                          <p:cTn id="255" fill="hold">
                            <p:stCondLst>
                              <p:cond delay="500"/>
                            </p:stCondLst>
                            <p:childTnLst>
                              <p:par>
                                <p:cTn id="256" presetID="10" presetClass="entr" presetSubtype="0" fill="hold" grpId="0" nodeType="afterEffect">
                                  <p:stCondLst>
                                    <p:cond delay="0"/>
                                  </p:stCondLst>
                                  <p:childTnLst>
                                    <p:set>
                                      <p:cBhvr>
                                        <p:cTn id="257" dur="1" fill="hold">
                                          <p:stCondLst>
                                            <p:cond delay="0"/>
                                          </p:stCondLst>
                                        </p:cTn>
                                        <p:tgtEl>
                                          <p:spTgt spid="85"/>
                                        </p:tgtEl>
                                        <p:attrNameLst>
                                          <p:attrName>style.visibility</p:attrName>
                                        </p:attrNameLst>
                                      </p:cBhvr>
                                      <p:to>
                                        <p:strVal val="visible"/>
                                      </p:to>
                                    </p:set>
                                    <p:animEffect transition="in" filter="fade">
                                      <p:cBhvr>
                                        <p:cTn id="258" dur="250"/>
                                        <p:tgtEl>
                                          <p:spTgt spid="85"/>
                                        </p:tgtEl>
                                      </p:cBhvr>
                                    </p:animEffect>
                                  </p:childTnLst>
                                </p:cTn>
                              </p:par>
                            </p:childTnLst>
                          </p:cTn>
                        </p:par>
                        <p:par>
                          <p:cTn id="259" fill="hold">
                            <p:stCondLst>
                              <p:cond delay="600"/>
                            </p:stCondLst>
                            <p:childTnLst>
                              <p:par>
                                <p:cTn id="260" presetID="10" presetClass="entr" presetSubtype="0" fill="hold" grpId="0" nodeType="afterEffect">
                                  <p:stCondLst>
                                    <p:cond delay="0"/>
                                  </p:stCondLst>
                                  <p:childTnLst>
                                    <p:set>
                                      <p:cBhvr>
                                        <p:cTn id="261" dur="1" fill="hold">
                                          <p:stCondLst>
                                            <p:cond delay="0"/>
                                          </p:stCondLst>
                                        </p:cTn>
                                        <p:tgtEl>
                                          <p:spTgt spid="91"/>
                                        </p:tgtEl>
                                        <p:attrNameLst>
                                          <p:attrName>style.visibility</p:attrName>
                                        </p:attrNameLst>
                                      </p:cBhvr>
                                      <p:to>
                                        <p:strVal val="visible"/>
                                      </p:to>
                                    </p:set>
                                    <p:animEffect transition="in" filter="fade">
                                      <p:cBhvr>
                                        <p:cTn id="262" dur="250"/>
                                        <p:tgtEl>
                                          <p:spTgt spid="91"/>
                                        </p:tgtEl>
                                      </p:cBhvr>
                                    </p:animEffect>
                                  </p:childTnLst>
                                </p:cTn>
                              </p:par>
                            </p:childTnLst>
                          </p:cTn>
                        </p:par>
                        <p:par>
                          <p:cTn id="263" fill="hold">
                            <p:stCondLst>
                              <p:cond delay="700"/>
                            </p:stCondLst>
                            <p:childTnLst>
                              <p:par>
                                <p:cTn id="264" presetID="10" presetClass="entr" presetSubtype="0" fill="hold" grpId="0" nodeType="afterEffect">
                                  <p:stCondLst>
                                    <p:cond delay="0"/>
                                  </p:stCondLst>
                                  <p:childTnLst>
                                    <p:set>
                                      <p:cBhvr>
                                        <p:cTn id="265" dur="1" fill="hold">
                                          <p:stCondLst>
                                            <p:cond delay="0"/>
                                          </p:stCondLst>
                                        </p:cTn>
                                        <p:tgtEl>
                                          <p:spTgt spid="86"/>
                                        </p:tgtEl>
                                        <p:attrNameLst>
                                          <p:attrName>style.visibility</p:attrName>
                                        </p:attrNameLst>
                                      </p:cBhvr>
                                      <p:to>
                                        <p:strVal val="visible"/>
                                      </p:to>
                                    </p:set>
                                    <p:animEffect transition="in" filter="fade">
                                      <p:cBhvr>
                                        <p:cTn id="266" dur="250"/>
                                        <p:tgtEl>
                                          <p:spTgt spid="86"/>
                                        </p:tgtEl>
                                      </p:cBhvr>
                                    </p:animEffect>
                                  </p:childTnLst>
                                </p:cTn>
                              </p:par>
                            </p:childTnLst>
                          </p:cTn>
                        </p:par>
                        <p:par>
                          <p:cTn id="267" fill="hold">
                            <p:stCondLst>
                              <p:cond delay="900"/>
                            </p:stCondLst>
                            <p:childTnLst>
                              <p:par>
                                <p:cTn id="268" presetID="10" presetClass="entr" presetSubtype="0" fill="hold" grpId="0" nodeType="afterEffect">
                                  <p:stCondLst>
                                    <p:cond delay="0"/>
                                  </p:stCondLst>
                                  <p:childTnLst>
                                    <p:set>
                                      <p:cBhvr>
                                        <p:cTn id="269" dur="1" fill="hold">
                                          <p:stCondLst>
                                            <p:cond delay="0"/>
                                          </p:stCondLst>
                                        </p:cTn>
                                        <p:tgtEl>
                                          <p:spTgt spid="87"/>
                                        </p:tgtEl>
                                        <p:attrNameLst>
                                          <p:attrName>style.visibility</p:attrName>
                                        </p:attrNameLst>
                                      </p:cBhvr>
                                      <p:to>
                                        <p:strVal val="visible"/>
                                      </p:to>
                                    </p:set>
                                    <p:animEffect transition="in" filter="fade">
                                      <p:cBhvr>
                                        <p:cTn id="270" dur="250"/>
                                        <p:tgtEl>
                                          <p:spTgt spid="87"/>
                                        </p:tgtEl>
                                      </p:cBhvr>
                                    </p:animEffect>
                                  </p:childTnLst>
                                </p:cTn>
                              </p:par>
                              <p:par>
                                <p:cTn id="271" presetID="10" presetClass="entr" presetSubtype="0" fill="hold" grpId="0" nodeType="withEffect">
                                  <p:stCondLst>
                                    <p:cond delay="0"/>
                                  </p:stCondLst>
                                  <p:childTnLst>
                                    <p:set>
                                      <p:cBhvr>
                                        <p:cTn id="272" dur="1" fill="hold">
                                          <p:stCondLst>
                                            <p:cond delay="0"/>
                                          </p:stCondLst>
                                        </p:cTn>
                                        <p:tgtEl>
                                          <p:spTgt spid="92"/>
                                        </p:tgtEl>
                                        <p:attrNameLst>
                                          <p:attrName>style.visibility</p:attrName>
                                        </p:attrNameLst>
                                      </p:cBhvr>
                                      <p:to>
                                        <p:strVal val="visible"/>
                                      </p:to>
                                    </p:set>
                                    <p:animEffect transition="in" filter="fade">
                                      <p:cBhvr>
                                        <p:cTn id="273" dur="250"/>
                                        <p:tgtEl>
                                          <p:spTgt spid="92"/>
                                        </p:tgtEl>
                                      </p:cBhvr>
                                    </p:animEffect>
                                  </p:childTnLst>
                                </p:cTn>
                              </p:par>
                            </p:childTnLst>
                          </p:cTn>
                        </p:par>
                        <p:par>
                          <p:cTn id="274" fill="hold">
                            <p:stCondLst>
                              <p:cond delay="1100"/>
                            </p:stCondLst>
                            <p:childTnLst>
                              <p:par>
                                <p:cTn id="275" presetID="10" presetClass="entr" presetSubtype="0" fill="hold" grpId="0" nodeType="afterEffect">
                                  <p:stCondLst>
                                    <p:cond delay="0"/>
                                  </p:stCondLst>
                                  <p:childTnLst>
                                    <p:set>
                                      <p:cBhvr>
                                        <p:cTn id="276" dur="1" fill="hold">
                                          <p:stCondLst>
                                            <p:cond delay="0"/>
                                          </p:stCondLst>
                                        </p:cTn>
                                        <p:tgtEl>
                                          <p:spTgt spid="88"/>
                                        </p:tgtEl>
                                        <p:attrNameLst>
                                          <p:attrName>style.visibility</p:attrName>
                                        </p:attrNameLst>
                                      </p:cBhvr>
                                      <p:to>
                                        <p:strVal val="visible"/>
                                      </p:to>
                                    </p:set>
                                    <p:animEffect transition="in" filter="fade">
                                      <p:cBhvr>
                                        <p:cTn id="277" dur="250"/>
                                        <p:tgtEl>
                                          <p:spTgt spid="88"/>
                                        </p:tgtEl>
                                      </p:cBhvr>
                                    </p:animEffect>
                                  </p:childTnLst>
                                </p:cTn>
                              </p:par>
                            </p:childTnLst>
                          </p:cTn>
                        </p:par>
                        <p:par>
                          <p:cTn id="278" fill="hold">
                            <p:stCondLst>
                              <p:cond delay="1200"/>
                            </p:stCondLst>
                            <p:childTnLst>
                              <p:par>
                                <p:cTn id="279" presetID="10" presetClass="entr" presetSubtype="0" fill="hold" grpId="0" nodeType="afterEffect">
                                  <p:stCondLst>
                                    <p:cond delay="0"/>
                                  </p:stCondLst>
                                  <p:childTnLst>
                                    <p:set>
                                      <p:cBhvr>
                                        <p:cTn id="280" dur="1" fill="hold">
                                          <p:stCondLst>
                                            <p:cond delay="0"/>
                                          </p:stCondLst>
                                        </p:cTn>
                                        <p:tgtEl>
                                          <p:spTgt spid="93"/>
                                        </p:tgtEl>
                                        <p:attrNameLst>
                                          <p:attrName>style.visibility</p:attrName>
                                        </p:attrNameLst>
                                      </p:cBhvr>
                                      <p:to>
                                        <p:strVal val="visible"/>
                                      </p:to>
                                    </p:set>
                                    <p:animEffect transition="in" filter="fade">
                                      <p:cBhvr>
                                        <p:cTn id="281" dur="250"/>
                                        <p:tgtEl>
                                          <p:spTgt spid="93"/>
                                        </p:tgtEl>
                                      </p:cBhvr>
                                    </p:animEffect>
                                  </p:childTnLst>
                                </p:cTn>
                              </p:par>
                            </p:childTnLst>
                          </p:cTn>
                        </p:par>
                        <p:par>
                          <p:cTn id="282" fill="hold">
                            <p:stCondLst>
                              <p:cond delay="1300"/>
                            </p:stCondLst>
                            <p:childTnLst>
                              <p:par>
                                <p:cTn id="283" presetID="10" presetClass="entr" presetSubtype="0" fill="hold" grpId="0" nodeType="afterEffect">
                                  <p:stCondLst>
                                    <p:cond delay="0"/>
                                  </p:stCondLst>
                                  <p:childTnLst>
                                    <p:set>
                                      <p:cBhvr>
                                        <p:cTn id="284" dur="1" fill="hold">
                                          <p:stCondLst>
                                            <p:cond delay="0"/>
                                          </p:stCondLst>
                                        </p:cTn>
                                        <p:tgtEl>
                                          <p:spTgt spid="89"/>
                                        </p:tgtEl>
                                        <p:attrNameLst>
                                          <p:attrName>style.visibility</p:attrName>
                                        </p:attrNameLst>
                                      </p:cBhvr>
                                      <p:to>
                                        <p:strVal val="visible"/>
                                      </p:to>
                                    </p:set>
                                    <p:animEffect transition="in" filter="fade">
                                      <p:cBhvr>
                                        <p:cTn id="285" dur="250"/>
                                        <p:tgtEl>
                                          <p:spTgt spid="89"/>
                                        </p:tgtEl>
                                      </p:cBhvr>
                                    </p:animEffect>
                                  </p:childTnLst>
                                </p:cTn>
                              </p:par>
                            </p:childTnLst>
                          </p:cTn>
                        </p:par>
                        <p:par>
                          <p:cTn id="286" fill="hold">
                            <p:stCondLst>
                              <p:cond delay="1500"/>
                            </p:stCondLst>
                            <p:childTnLst>
                              <p:par>
                                <p:cTn id="287" presetID="10" presetClass="entr" presetSubtype="0" fill="hold" grpId="0" nodeType="afterEffect">
                                  <p:stCondLst>
                                    <p:cond delay="0"/>
                                  </p:stCondLst>
                                  <p:childTnLst>
                                    <p:set>
                                      <p:cBhvr>
                                        <p:cTn id="288" dur="1" fill="hold">
                                          <p:stCondLst>
                                            <p:cond delay="0"/>
                                          </p:stCondLst>
                                        </p:cTn>
                                        <p:tgtEl>
                                          <p:spTgt spid="96"/>
                                        </p:tgtEl>
                                        <p:attrNameLst>
                                          <p:attrName>style.visibility</p:attrName>
                                        </p:attrNameLst>
                                      </p:cBhvr>
                                      <p:to>
                                        <p:strVal val="visible"/>
                                      </p:to>
                                    </p:set>
                                    <p:animEffect transition="in" filter="fade">
                                      <p:cBhvr>
                                        <p:cTn id="289" dur="250"/>
                                        <p:tgtEl>
                                          <p:spTgt spid="96"/>
                                        </p:tgtEl>
                                      </p:cBhvr>
                                    </p:animEffect>
                                  </p:childTnLst>
                                </p:cTn>
                              </p:par>
                              <p:par>
                                <p:cTn id="290" presetID="10" presetClass="entr" presetSubtype="0" fill="hold" grpId="0" nodeType="withEffect">
                                  <p:stCondLst>
                                    <p:cond delay="0"/>
                                  </p:stCondLst>
                                  <p:childTnLst>
                                    <p:set>
                                      <p:cBhvr>
                                        <p:cTn id="291" dur="1" fill="hold">
                                          <p:stCondLst>
                                            <p:cond delay="0"/>
                                          </p:stCondLst>
                                        </p:cTn>
                                        <p:tgtEl>
                                          <p:spTgt spid="97"/>
                                        </p:tgtEl>
                                        <p:attrNameLst>
                                          <p:attrName>style.visibility</p:attrName>
                                        </p:attrNameLst>
                                      </p:cBhvr>
                                      <p:to>
                                        <p:strVal val="visible"/>
                                      </p:to>
                                    </p:set>
                                    <p:animEffect transition="in" filter="fade">
                                      <p:cBhvr>
                                        <p:cTn id="292" dur="250"/>
                                        <p:tgtEl>
                                          <p:spTgt spid="97"/>
                                        </p:tgtEl>
                                      </p:cBhvr>
                                    </p:animEffect>
                                  </p:childTnLst>
                                </p:cTn>
                              </p:par>
                            </p:childTnLst>
                          </p:cTn>
                        </p:par>
                      </p:childTnLst>
                    </p:cTn>
                  </p:par>
                  <p:par>
                    <p:cTn id="293" fill="hold">
                      <p:stCondLst>
                        <p:cond delay="indefinite"/>
                      </p:stCondLst>
                      <p:childTnLst>
                        <p:par>
                          <p:cTn id="294" fill="hold">
                            <p:stCondLst>
                              <p:cond delay="0"/>
                            </p:stCondLst>
                            <p:childTnLst>
                              <p:par>
                                <p:cTn id="295" presetID="10" presetClass="exit" presetSubtype="0" fill="hold" grpId="1" nodeType="clickEffect">
                                  <p:stCondLst>
                                    <p:cond delay="0"/>
                                  </p:stCondLst>
                                  <p:childTnLst>
                                    <p:animEffect transition="out" filter="fade">
                                      <p:cBhvr>
                                        <p:cTn id="296" dur="250"/>
                                        <p:tgtEl>
                                          <p:spTgt spid="83"/>
                                        </p:tgtEl>
                                      </p:cBhvr>
                                    </p:animEffect>
                                    <p:set>
                                      <p:cBhvr>
                                        <p:cTn id="297" dur="1" fill="hold">
                                          <p:stCondLst>
                                            <p:cond delay="249"/>
                                          </p:stCondLst>
                                        </p:cTn>
                                        <p:tgtEl>
                                          <p:spTgt spid="83"/>
                                        </p:tgtEl>
                                        <p:attrNameLst>
                                          <p:attrName>style.visibility</p:attrName>
                                        </p:attrNameLst>
                                      </p:cBhvr>
                                      <p:to>
                                        <p:strVal val="hidden"/>
                                      </p:to>
                                    </p:set>
                                  </p:childTnLst>
                                </p:cTn>
                              </p:par>
                              <p:par>
                                <p:cTn id="298" presetID="10" presetClass="exit" presetSubtype="0" fill="hold" grpId="1" nodeType="withEffect">
                                  <p:stCondLst>
                                    <p:cond delay="0"/>
                                  </p:stCondLst>
                                  <p:childTnLst>
                                    <p:animEffect transition="out" filter="fade">
                                      <p:cBhvr>
                                        <p:cTn id="299" dur="250"/>
                                        <p:tgtEl>
                                          <p:spTgt spid="81"/>
                                        </p:tgtEl>
                                      </p:cBhvr>
                                    </p:animEffect>
                                    <p:set>
                                      <p:cBhvr>
                                        <p:cTn id="300" dur="1" fill="hold">
                                          <p:stCondLst>
                                            <p:cond delay="249"/>
                                          </p:stCondLst>
                                        </p:cTn>
                                        <p:tgtEl>
                                          <p:spTgt spid="81"/>
                                        </p:tgtEl>
                                        <p:attrNameLst>
                                          <p:attrName>style.visibility</p:attrName>
                                        </p:attrNameLst>
                                      </p:cBhvr>
                                      <p:to>
                                        <p:strVal val="hidden"/>
                                      </p:to>
                                    </p:set>
                                  </p:childTnLst>
                                </p:cTn>
                              </p:par>
                              <p:par>
                                <p:cTn id="301" presetID="10" presetClass="exit" presetSubtype="0" fill="hold" grpId="1" nodeType="withEffect">
                                  <p:stCondLst>
                                    <p:cond delay="0"/>
                                  </p:stCondLst>
                                  <p:childTnLst>
                                    <p:animEffect transition="out" filter="fade">
                                      <p:cBhvr>
                                        <p:cTn id="302" dur="250"/>
                                        <p:tgtEl>
                                          <p:spTgt spid="84"/>
                                        </p:tgtEl>
                                      </p:cBhvr>
                                    </p:animEffect>
                                    <p:set>
                                      <p:cBhvr>
                                        <p:cTn id="303" dur="1" fill="hold">
                                          <p:stCondLst>
                                            <p:cond delay="249"/>
                                          </p:stCondLst>
                                        </p:cTn>
                                        <p:tgtEl>
                                          <p:spTgt spid="84"/>
                                        </p:tgtEl>
                                        <p:attrNameLst>
                                          <p:attrName>style.visibility</p:attrName>
                                        </p:attrNameLst>
                                      </p:cBhvr>
                                      <p:to>
                                        <p:strVal val="hidden"/>
                                      </p:to>
                                    </p:set>
                                  </p:childTnLst>
                                </p:cTn>
                              </p:par>
                              <p:par>
                                <p:cTn id="304" presetID="10" presetClass="exit" presetSubtype="0" fill="hold" grpId="1" nodeType="withEffect">
                                  <p:stCondLst>
                                    <p:cond delay="0"/>
                                  </p:stCondLst>
                                  <p:childTnLst>
                                    <p:animEffect transition="out" filter="fade">
                                      <p:cBhvr>
                                        <p:cTn id="305" dur="250"/>
                                        <p:tgtEl>
                                          <p:spTgt spid="85"/>
                                        </p:tgtEl>
                                      </p:cBhvr>
                                    </p:animEffect>
                                    <p:set>
                                      <p:cBhvr>
                                        <p:cTn id="306" dur="1" fill="hold">
                                          <p:stCondLst>
                                            <p:cond delay="249"/>
                                          </p:stCondLst>
                                        </p:cTn>
                                        <p:tgtEl>
                                          <p:spTgt spid="85"/>
                                        </p:tgtEl>
                                        <p:attrNameLst>
                                          <p:attrName>style.visibility</p:attrName>
                                        </p:attrNameLst>
                                      </p:cBhvr>
                                      <p:to>
                                        <p:strVal val="hidden"/>
                                      </p:to>
                                    </p:set>
                                  </p:childTnLst>
                                </p:cTn>
                              </p:par>
                              <p:par>
                                <p:cTn id="307" presetID="10" presetClass="exit" presetSubtype="0" fill="hold" grpId="1" nodeType="withEffect">
                                  <p:stCondLst>
                                    <p:cond delay="0"/>
                                  </p:stCondLst>
                                  <p:childTnLst>
                                    <p:animEffect transition="out" filter="fade">
                                      <p:cBhvr>
                                        <p:cTn id="308" dur="250"/>
                                        <p:tgtEl>
                                          <p:spTgt spid="86"/>
                                        </p:tgtEl>
                                      </p:cBhvr>
                                    </p:animEffect>
                                    <p:set>
                                      <p:cBhvr>
                                        <p:cTn id="309" dur="1" fill="hold">
                                          <p:stCondLst>
                                            <p:cond delay="249"/>
                                          </p:stCondLst>
                                        </p:cTn>
                                        <p:tgtEl>
                                          <p:spTgt spid="86"/>
                                        </p:tgtEl>
                                        <p:attrNameLst>
                                          <p:attrName>style.visibility</p:attrName>
                                        </p:attrNameLst>
                                      </p:cBhvr>
                                      <p:to>
                                        <p:strVal val="hidden"/>
                                      </p:to>
                                    </p:set>
                                  </p:childTnLst>
                                </p:cTn>
                              </p:par>
                              <p:par>
                                <p:cTn id="310" presetID="10" presetClass="exit" presetSubtype="0" fill="hold" grpId="1" nodeType="withEffect">
                                  <p:stCondLst>
                                    <p:cond delay="0"/>
                                  </p:stCondLst>
                                  <p:childTnLst>
                                    <p:animEffect transition="out" filter="fade">
                                      <p:cBhvr>
                                        <p:cTn id="311" dur="250"/>
                                        <p:tgtEl>
                                          <p:spTgt spid="87"/>
                                        </p:tgtEl>
                                      </p:cBhvr>
                                    </p:animEffect>
                                    <p:set>
                                      <p:cBhvr>
                                        <p:cTn id="312" dur="1" fill="hold">
                                          <p:stCondLst>
                                            <p:cond delay="249"/>
                                          </p:stCondLst>
                                        </p:cTn>
                                        <p:tgtEl>
                                          <p:spTgt spid="87"/>
                                        </p:tgtEl>
                                        <p:attrNameLst>
                                          <p:attrName>style.visibility</p:attrName>
                                        </p:attrNameLst>
                                      </p:cBhvr>
                                      <p:to>
                                        <p:strVal val="hidden"/>
                                      </p:to>
                                    </p:set>
                                  </p:childTnLst>
                                </p:cTn>
                              </p:par>
                              <p:par>
                                <p:cTn id="313" presetID="10" presetClass="exit" presetSubtype="0" fill="hold" grpId="1" nodeType="withEffect">
                                  <p:stCondLst>
                                    <p:cond delay="0"/>
                                  </p:stCondLst>
                                  <p:childTnLst>
                                    <p:animEffect transition="out" filter="fade">
                                      <p:cBhvr>
                                        <p:cTn id="314" dur="250"/>
                                        <p:tgtEl>
                                          <p:spTgt spid="88"/>
                                        </p:tgtEl>
                                      </p:cBhvr>
                                    </p:animEffect>
                                    <p:set>
                                      <p:cBhvr>
                                        <p:cTn id="315" dur="1" fill="hold">
                                          <p:stCondLst>
                                            <p:cond delay="249"/>
                                          </p:stCondLst>
                                        </p:cTn>
                                        <p:tgtEl>
                                          <p:spTgt spid="88"/>
                                        </p:tgtEl>
                                        <p:attrNameLst>
                                          <p:attrName>style.visibility</p:attrName>
                                        </p:attrNameLst>
                                      </p:cBhvr>
                                      <p:to>
                                        <p:strVal val="hidden"/>
                                      </p:to>
                                    </p:set>
                                  </p:childTnLst>
                                </p:cTn>
                              </p:par>
                              <p:par>
                                <p:cTn id="316" presetID="10" presetClass="exit" presetSubtype="0" fill="hold" grpId="1" nodeType="withEffect">
                                  <p:stCondLst>
                                    <p:cond delay="0"/>
                                  </p:stCondLst>
                                  <p:childTnLst>
                                    <p:animEffect transition="out" filter="fade">
                                      <p:cBhvr>
                                        <p:cTn id="317" dur="250"/>
                                        <p:tgtEl>
                                          <p:spTgt spid="89"/>
                                        </p:tgtEl>
                                      </p:cBhvr>
                                    </p:animEffect>
                                    <p:set>
                                      <p:cBhvr>
                                        <p:cTn id="318" dur="1" fill="hold">
                                          <p:stCondLst>
                                            <p:cond delay="249"/>
                                          </p:stCondLst>
                                        </p:cTn>
                                        <p:tgtEl>
                                          <p:spTgt spid="89"/>
                                        </p:tgtEl>
                                        <p:attrNameLst>
                                          <p:attrName>style.visibility</p:attrName>
                                        </p:attrNameLst>
                                      </p:cBhvr>
                                      <p:to>
                                        <p:strVal val="hidden"/>
                                      </p:to>
                                    </p:set>
                                  </p:childTnLst>
                                </p:cTn>
                              </p:par>
                              <p:par>
                                <p:cTn id="319" presetID="10" presetClass="exit" presetSubtype="0" fill="hold" grpId="1" nodeType="withEffect">
                                  <p:stCondLst>
                                    <p:cond delay="0"/>
                                  </p:stCondLst>
                                  <p:childTnLst>
                                    <p:animEffect transition="out" filter="fade">
                                      <p:cBhvr>
                                        <p:cTn id="320" dur="250"/>
                                        <p:tgtEl>
                                          <p:spTgt spid="90"/>
                                        </p:tgtEl>
                                      </p:cBhvr>
                                    </p:animEffect>
                                    <p:set>
                                      <p:cBhvr>
                                        <p:cTn id="321" dur="1" fill="hold">
                                          <p:stCondLst>
                                            <p:cond delay="249"/>
                                          </p:stCondLst>
                                        </p:cTn>
                                        <p:tgtEl>
                                          <p:spTgt spid="90"/>
                                        </p:tgtEl>
                                        <p:attrNameLst>
                                          <p:attrName>style.visibility</p:attrName>
                                        </p:attrNameLst>
                                      </p:cBhvr>
                                      <p:to>
                                        <p:strVal val="hidden"/>
                                      </p:to>
                                    </p:set>
                                  </p:childTnLst>
                                </p:cTn>
                              </p:par>
                              <p:par>
                                <p:cTn id="322" presetID="10" presetClass="exit" presetSubtype="0" fill="hold" grpId="1" nodeType="withEffect">
                                  <p:stCondLst>
                                    <p:cond delay="0"/>
                                  </p:stCondLst>
                                  <p:childTnLst>
                                    <p:animEffect transition="out" filter="fade">
                                      <p:cBhvr>
                                        <p:cTn id="323" dur="250"/>
                                        <p:tgtEl>
                                          <p:spTgt spid="91"/>
                                        </p:tgtEl>
                                      </p:cBhvr>
                                    </p:animEffect>
                                    <p:set>
                                      <p:cBhvr>
                                        <p:cTn id="324" dur="1" fill="hold">
                                          <p:stCondLst>
                                            <p:cond delay="249"/>
                                          </p:stCondLst>
                                        </p:cTn>
                                        <p:tgtEl>
                                          <p:spTgt spid="91"/>
                                        </p:tgtEl>
                                        <p:attrNameLst>
                                          <p:attrName>style.visibility</p:attrName>
                                        </p:attrNameLst>
                                      </p:cBhvr>
                                      <p:to>
                                        <p:strVal val="hidden"/>
                                      </p:to>
                                    </p:set>
                                  </p:childTnLst>
                                </p:cTn>
                              </p:par>
                              <p:par>
                                <p:cTn id="325" presetID="10" presetClass="exit" presetSubtype="0" fill="hold" grpId="1" nodeType="withEffect">
                                  <p:stCondLst>
                                    <p:cond delay="0"/>
                                  </p:stCondLst>
                                  <p:childTnLst>
                                    <p:animEffect transition="out" filter="fade">
                                      <p:cBhvr>
                                        <p:cTn id="326" dur="250"/>
                                        <p:tgtEl>
                                          <p:spTgt spid="92"/>
                                        </p:tgtEl>
                                      </p:cBhvr>
                                    </p:animEffect>
                                    <p:set>
                                      <p:cBhvr>
                                        <p:cTn id="327" dur="1" fill="hold">
                                          <p:stCondLst>
                                            <p:cond delay="249"/>
                                          </p:stCondLst>
                                        </p:cTn>
                                        <p:tgtEl>
                                          <p:spTgt spid="92"/>
                                        </p:tgtEl>
                                        <p:attrNameLst>
                                          <p:attrName>style.visibility</p:attrName>
                                        </p:attrNameLst>
                                      </p:cBhvr>
                                      <p:to>
                                        <p:strVal val="hidden"/>
                                      </p:to>
                                    </p:set>
                                  </p:childTnLst>
                                </p:cTn>
                              </p:par>
                              <p:par>
                                <p:cTn id="328" presetID="10" presetClass="exit" presetSubtype="0" fill="hold" grpId="1" nodeType="withEffect">
                                  <p:stCondLst>
                                    <p:cond delay="0"/>
                                  </p:stCondLst>
                                  <p:childTnLst>
                                    <p:animEffect transition="out" filter="fade">
                                      <p:cBhvr>
                                        <p:cTn id="329" dur="250"/>
                                        <p:tgtEl>
                                          <p:spTgt spid="93"/>
                                        </p:tgtEl>
                                      </p:cBhvr>
                                    </p:animEffect>
                                    <p:set>
                                      <p:cBhvr>
                                        <p:cTn id="330" dur="1" fill="hold">
                                          <p:stCondLst>
                                            <p:cond delay="249"/>
                                          </p:stCondLst>
                                        </p:cTn>
                                        <p:tgtEl>
                                          <p:spTgt spid="93"/>
                                        </p:tgtEl>
                                        <p:attrNameLst>
                                          <p:attrName>style.visibility</p:attrName>
                                        </p:attrNameLst>
                                      </p:cBhvr>
                                      <p:to>
                                        <p:strVal val="hidden"/>
                                      </p:to>
                                    </p:set>
                                  </p:childTnLst>
                                </p:cTn>
                              </p:par>
                              <p:par>
                                <p:cTn id="331" presetID="10" presetClass="exit" presetSubtype="0" fill="hold" grpId="1" nodeType="withEffect">
                                  <p:stCondLst>
                                    <p:cond delay="0"/>
                                  </p:stCondLst>
                                  <p:childTnLst>
                                    <p:animEffect transition="out" filter="fade">
                                      <p:cBhvr>
                                        <p:cTn id="332" dur="250"/>
                                        <p:tgtEl>
                                          <p:spTgt spid="94"/>
                                        </p:tgtEl>
                                      </p:cBhvr>
                                    </p:animEffect>
                                    <p:set>
                                      <p:cBhvr>
                                        <p:cTn id="333" dur="1" fill="hold">
                                          <p:stCondLst>
                                            <p:cond delay="249"/>
                                          </p:stCondLst>
                                        </p:cTn>
                                        <p:tgtEl>
                                          <p:spTgt spid="94"/>
                                        </p:tgtEl>
                                        <p:attrNameLst>
                                          <p:attrName>style.visibility</p:attrName>
                                        </p:attrNameLst>
                                      </p:cBhvr>
                                      <p:to>
                                        <p:strVal val="hidden"/>
                                      </p:to>
                                    </p:set>
                                  </p:childTnLst>
                                </p:cTn>
                              </p:par>
                              <p:par>
                                <p:cTn id="334" presetID="10" presetClass="exit" presetSubtype="0" fill="hold" grpId="1" nodeType="withEffect">
                                  <p:stCondLst>
                                    <p:cond delay="0"/>
                                  </p:stCondLst>
                                  <p:childTnLst>
                                    <p:animEffect transition="out" filter="fade">
                                      <p:cBhvr>
                                        <p:cTn id="335" dur="250"/>
                                        <p:tgtEl>
                                          <p:spTgt spid="95"/>
                                        </p:tgtEl>
                                      </p:cBhvr>
                                    </p:animEffect>
                                    <p:set>
                                      <p:cBhvr>
                                        <p:cTn id="336" dur="1" fill="hold">
                                          <p:stCondLst>
                                            <p:cond delay="249"/>
                                          </p:stCondLst>
                                        </p:cTn>
                                        <p:tgtEl>
                                          <p:spTgt spid="95"/>
                                        </p:tgtEl>
                                        <p:attrNameLst>
                                          <p:attrName>style.visibility</p:attrName>
                                        </p:attrNameLst>
                                      </p:cBhvr>
                                      <p:to>
                                        <p:strVal val="hidden"/>
                                      </p:to>
                                    </p:set>
                                  </p:childTnLst>
                                </p:cTn>
                              </p:par>
                              <p:par>
                                <p:cTn id="337" presetID="10" presetClass="entr" presetSubtype="0" fill="hold" grpId="0" nodeType="withEffect">
                                  <p:stCondLst>
                                    <p:cond delay="0"/>
                                  </p:stCondLst>
                                  <p:childTnLst>
                                    <p:set>
                                      <p:cBhvr>
                                        <p:cTn id="338" dur="1" fill="hold">
                                          <p:stCondLst>
                                            <p:cond delay="0"/>
                                          </p:stCondLst>
                                        </p:cTn>
                                        <p:tgtEl>
                                          <p:spTgt spid="99"/>
                                        </p:tgtEl>
                                        <p:attrNameLst>
                                          <p:attrName>style.visibility</p:attrName>
                                        </p:attrNameLst>
                                      </p:cBhvr>
                                      <p:to>
                                        <p:strVal val="visible"/>
                                      </p:to>
                                    </p:set>
                                    <p:animEffect transition="in" filter="fade">
                                      <p:cBhvr>
                                        <p:cTn id="339" dur="250"/>
                                        <p:tgtEl>
                                          <p:spTgt spid="99"/>
                                        </p:tgtEl>
                                      </p:cBhvr>
                                    </p:animEffect>
                                  </p:childTnLst>
                                </p:cTn>
                              </p:par>
                              <p:par>
                                <p:cTn id="340" presetID="10" presetClass="entr" presetSubtype="0" fill="hold" grpId="0" nodeType="withEffect">
                                  <p:stCondLst>
                                    <p:cond delay="0"/>
                                  </p:stCondLst>
                                  <p:childTnLst>
                                    <p:set>
                                      <p:cBhvr>
                                        <p:cTn id="341" dur="1" fill="hold">
                                          <p:stCondLst>
                                            <p:cond delay="0"/>
                                          </p:stCondLst>
                                        </p:cTn>
                                        <p:tgtEl>
                                          <p:spTgt spid="100"/>
                                        </p:tgtEl>
                                        <p:attrNameLst>
                                          <p:attrName>style.visibility</p:attrName>
                                        </p:attrNameLst>
                                      </p:cBhvr>
                                      <p:to>
                                        <p:strVal val="visible"/>
                                      </p:to>
                                    </p:set>
                                    <p:animEffect transition="in" filter="fade">
                                      <p:cBhvr>
                                        <p:cTn id="342" dur="250"/>
                                        <p:tgtEl>
                                          <p:spTgt spid="100"/>
                                        </p:tgtEl>
                                      </p:cBhvr>
                                    </p:animEffect>
                                  </p:childTnLst>
                                </p:cTn>
                              </p:par>
                              <p:par>
                                <p:cTn id="343" presetID="10" presetClass="entr" presetSubtype="0" fill="hold" grpId="0" nodeType="withEffect">
                                  <p:stCondLst>
                                    <p:cond delay="0"/>
                                  </p:stCondLst>
                                  <p:childTnLst>
                                    <p:set>
                                      <p:cBhvr>
                                        <p:cTn id="344" dur="1" fill="hold">
                                          <p:stCondLst>
                                            <p:cond delay="0"/>
                                          </p:stCondLst>
                                        </p:cTn>
                                        <p:tgtEl>
                                          <p:spTgt spid="102"/>
                                        </p:tgtEl>
                                        <p:attrNameLst>
                                          <p:attrName>style.visibility</p:attrName>
                                        </p:attrNameLst>
                                      </p:cBhvr>
                                      <p:to>
                                        <p:strVal val="visible"/>
                                      </p:to>
                                    </p:set>
                                    <p:animEffect transition="in" filter="fade">
                                      <p:cBhvr>
                                        <p:cTn id="345" dur="250"/>
                                        <p:tgtEl>
                                          <p:spTgt spid="102"/>
                                        </p:tgtEl>
                                      </p:cBhvr>
                                    </p:animEffect>
                                  </p:childTnLst>
                                </p:cTn>
                              </p:par>
                            </p:childTnLst>
                          </p:cTn>
                        </p:par>
                        <p:par>
                          <p:cTn id="346" fill="hold">
                            <p:stCondLst>
                              <p:cond delay="400"/>
                            </p:stCondLst>
                            <p:childTnLst>
                              <p:par>
                                <p:cTn id="347" presetID="10" presetClass="entr" presetSubtype="0" fill="hold" grpId="0" nodeType="afterEffect">
                                  <p:stCondLst>
                                    <p:cond delay="0"/>
                                  </p:stCondLst>
                                  <p:childTnLst>
                                    <p:set>
                                      <p:cBhvr>
                                        <p:cTn id="348" dur="1" fill="hold">
                                          <p:stCondLst>
                                            <p:cond delay="0"/>
                                          </p:stCondLst>
                                        </p:cTn>
                                        <p:tgtEl>
                                          <p:spTgt spid="101"/>
                                        </p:tgtEl>
                                        <p:attrNameLst>
                                          <p:attrName>style.visibility</p:attrName>
                                        </p:attrNameLst>
                                      </p:cBhvr>
                                      <p:to>
                                        <p:strVal val="visible"/>
                                      </p:to>
                                    </p:set>
                                    <p:animEffect transition="in" filter="fade">
                                      <p:cBhvr>
                                        <p:cTn id="349" dur="250"/>
                                        <p:tgtEl>
                                          <p:spTgt spid="101"/>
                                        </p:tgtEl>
                                      </p:cBhvr>
                                    </p:animEffect>
                                  </p:childTnLst>
                                </p:cTn>
                              </p:par>
                            </p:childTnLst>
                          </p:cTn>
                        </p:par>
                      </p:childTnLst>
                    </p:cTn>
                  </p:par>
                  <p:par>
                    <p:cTn id="350" fill="hold">
                      <p:stCondLst>
                        <p:cond delay="indefinite"/>
                      </p:stCondLst>
                      <p:childTnLst>
                        <p:par>
                          <p:cTn id="351" fill="hold">
                            <p:stCondLst>
                              <p:cond delay="0"/>
                            </p:stCondLst>
                            <p:childTnLst>
                              <p:par>
                                <p:cTn id="352" presetID="10" presetClass="exit" presetSubtype="0" fill="hold" grpId="1" nodeType="clickEffect">
                                  <p:stCondLst>
                                    <p:cond delay="0"/>
                                  </p:stCondLst>
                                  <p:childTnLst>
                                    <p:animEffect transition="out" filter="fade">
                                      <p:cBhvr>
                                        <p:cTn id="353" dur="250"/>
                                        <p:tgtEl>
                                          <p:spTgt spid="99"/>
                                        </p:tgtEl>
                                      </p:cBhvr>
                                    </p:animEffect>
                                    <p:set>
                                      <p:cBhvr>
                                        <p:cTn id="354" dur="1" fill="hold">
                                          <p:stCondLst>
                                            <p:cond delay="249"/>
                                          </p:stCondLst>
                                        </p:cTn>
                                        <p:tgtEl>
                                          <p:spTgt spid="99"/>
                                        </p:tgtEl>
                                        <p:attrNameLst>
                                          <p:attrName>style.visibility</p:attrName>
                                        </p:attrNameLst>
                                      </p:cBhvr>
                                      <p:to>
                                        <p:strVal val="hidden"/>
                                      </p:to>
                                    </p:set>
                                  </p:childTnLst>
                                </p:cTn>
                              </p:par>
                              <p:par>
                                <p:cTn id="355" presetID="10" presetClass="exit" presetSubtype="0" fill="hold" grpId="1" nodeType="withEffect">
                                  <p:stCondLst>
                                    <p:cond delay="0"/>
                                  </p:stCondLst>
                                  <p:childTnLst>
                                    <p:animEffect transition="out" filter="fade">
                                      <p:cBhvr>
                                        <p:cTn id="356" dur="250"/>
                                        <p:tgtEl>
                                          <p:spTgt spid="101"/>
                                        </p:tgtEl>
                                      </p:cBhvr>
                                    </p:animEffect>
                                    <p:set>
                                      <p:cBhvr>
                                        <p:cTn id="357" dur="1" fill="hold">
                                          <p:stCondLst>
                                            <p:cond delay="249"/>
                                          </p:stCondLst>
                                        </p:cTn>
                                        <p:tgtEl>
                                          <p:spTgt spid="101"/>
                                        </p:tgtEl>
                                        <p:attrNameLst>
                                          <p:attrName>style.visibility</p:attrName>
                                        </p:attrNameLst>
                                      </p:cBhvr>
                                      <p:to>
                                        <p:strVal val="hidden"/>
                                      </p:to>
                                    </p:set>
                                  </p:childTnLst>
                                </p:cTn>
                              </p:par>
                              <p:par>
                                <p:cTn id="358" presetID="10" presetClass="exit" presetSubtype="0" fill="hold" grpId="1" nodeType="withEffect">
                                  <p:stCondLst>
                                    <p:cond delay="0"/>
                                  </p:stCondLst>
                                  <p:childTnLst>
                                    <p:animEffect transition="out" filter="fade">
                                      <p:cBhvr>
                                        <p:cTn id="359" dur="250"/>
                                        <p:tgtEl>
                                          <p:spTgt spid="96"/>
                                        </p:tgtEl>
                                      </p:cBhvr>
                                    </p:animEffect>
                                    <p:set>
                                      <p:cBhvr>
                                        <p:cTn id="360" dur="1" fill="hold">
                                          <p:stCondLst>
                                            <p:cond delay="249"/>
                                          </p:stCondLst>
                                        </p:cTn>
                                        <p:tgtEl>
                                          <p:spTgt spid="96"/>
                                        </p:tgtEl>
                                        <p:attrNameLst>
                                          <p:attrName>style.visibility</p:attrName>
                                        </p:attrNameLst>
                                      </p:cBhvr>
                                      <p:to>
                                        <p:strVal val="hidden"/>
                                      </p:to>
                                    </p:set>
                                  </p:childTnLst>
                                </p:cTn>
                              </p:par>
                              <p:par>
                                <p:cTn id="361" presetID="10" presetClass="exit" presetSubtype="0" fill="hold" grpId="1" nodeType="withEffect">
                                  <p:stCondLst>
                                    <p:cond delay="0"/>
                                  </p:stCondLst>
                                  <p:childTnLst>
                                    <p:animEffect transition="out" filter="fade">
                                      <p:cBhvr>
                                        <p:cTn id="362" dur="250"/>
                                        <p:tgtEl>
                                          <p:spTgt spid="97"/>
                                        </p:tgtEl>
                                      </p:cBhvr>
                                    </p:animEffect>
                                    <p:set>
                                      <p:cBhvr>
                                        <p:cTn id="363" dur="1" fill="hold">
                                          <p:stCondLst>
                                            <p:cond delay="249"/>
                                          </p:stCondLst>
                                        </p:cTn>
                                        <p:tgtEl>
                                          <p:spTgt spid="97"/>
                                        </p:tgtEl>
                                        <p:attrNameLst>
                                          <p:attrName>style.visibility</p:attrName>
                                        </p:attrNameLst>
                                      </p:cBhvr>
                                      <p:to>
                                        <p:strVal val="hidden"/>
                                      </p:to>
                                    </p:set>
                                  </p:childTnLst>
                                </p:cTn>
                              </p:par>
                              <p:par>
                                <p:cTn id="364" presetID="10" presetClass="exit" presetSubtype="0" fill="hold" grpId="1" nodeType="withEffect">
                                  <p:stCondLst>
                                    <p:cond delay="0"/>
                                  </p:stCondLst>
                                  <p:childTnLst>
                                    <p:animEffect transition="out" filter="fade">
                                      <p:cBhvr>
                                        <p:cTn id="365" dur="250"/>
                                        <p:tgtEl>
                                          <p:spTgt spid="100"/>
                                        </p:tgtEl>
                                      </p:cBhvr>
                                    </p:animEffect>
                                    <p:set>
                                      <p:cBhvr>
                                        <p:cTn id="366" dur="1" fill="hold">
                                          <p:stCondLst>
                                            <p:cond delay="249"/>
                                          </p:stCondLst>
                                        </p:cTn>
                                        <p:tgtEl>
                                          <p:spTgt spid="100"/>
                                        </p:tgtEl>
                                        <p:attrNameLst>
                                          <p:attrName>style.visibility</p:attrName>
                                        </p:attrNameLst>
                                      </p:cBhvr>
                                      <p:to>
                                        <p:strVal val="hidden"/>
                                      </p:to>
                                    </p:set>
                                  </p:childTnLst>
                                </p:cTn>
                              </p:par>
                              <p:par>
                                <p:cTn id="367" presetID="10" presetClass="entr" presetSubtype="0" fill="hold" grpId="0" nodeType="withEffect">
                                  <p:stCondLst>
                                    <p:cond delay="0"/>
                                  </p:stCondLst>
                                  <p:childTnLst>
                                    <p:set>
                                      <p:cBhvr>
                                        <p:cTn id="368" dur="1" fill="hold">
                                          <p:stCondLst>
                                            <p:cond delay="0"/>
                                          </p:stCondLst>
                                        </p:cTn>
                                        <p:tgtEl>
                                          <p:spTgt spid="103"/>
                                        </p:tgtEl>
                                        <p:attrNameLst>
                                          <p:attrName>style.visibility</p:attrName>
                                        </p:attrNameLst>
                                      </p:cBhvr>
                                      <p:to>
                                        <p:strVal val="visible"/>
                                      </p:to>
                                    </p:set>
                                    <p:animEffect transition="in" filter="fade">
                                      <p:cBhvr>
                                        <p:cTn id="369" dur="250"/>
                                        <p:tgtEl>
                                          <p:spTgt spid="103"/>
                                        </p:tgtEl>
                                      </p:cBhvr>
                                    </p:animEffect>
                                  </p:childTnLst>
                                </p:cTn>
                              </p:par>
                              <p:par>
                                <p:cTn id="370" presetID="10" presetClass="entr" presetSubtype="0" fill="hold" grpId="0" nodeType="withEffect">
                                  <p:stCondLst>
                                    <p:cond delay="0"/>
                                  </p:stCondLst>
                                  <p:childTnLst>
                                    <p:set>
                                      <p:cBhvr>
                                        <p:cTn id="371" dur="1" fill="hold">
                                          <p:stCondLst>
                                            <p:cond delay="0"/>
                                          </p:stCondLst>
                                        </p:cTn>
                                        <p:tgtEl>
                                          <p:spTgt spid="104"/>
                                        </p:tgtEl>
                                        <p:attrNameLst>
                                          <p:attrName>style.visibility</p:attrName>
                                        </p:attrNameLst>
                                      </p:cBhvr>
                                      <p:to>
                                        <p:strVal val="visible"/>
                                      </p:to>
                                    </p:set>
                                    <p:animEffect transition="in" filter="fade">
                                      <p:cBhvr>
                                        <p:cTn id="372" dur="250"/>
                                        <p:tgtEl>
                                          <p:spTgt spid="104"/>
                                        </p:tgtEl>
                                      </p:cBhvr>
                                    </p:animEffect>
                                  </p:childTnLst>
                                </p:cTn>
                              </p:par>
                              <p:par>
                                <p:cTn id="373" presetID="10" presetClass="entr" presetSubtype="0" fill="hold" grpId="0" nodeType="withEffect">
                                  <p:stCondLst>
                                    <p:cond delay="0"/>
                                  </p:stCondLst>
                                  <p:childTnLst>
                                    <p:set>
                                      <p:cBhvr>
                                        <p:cTn id="374" dur="1" fill="hold">
                                          <p:stCondLst>
                                            <p:cond delay="0"/>
                                          </p:stCondLst>
                                        </p:cTn>
                                        <p:tgtEl>
                                          <p:spTgt spid="115"/>
                                        </p:tgtEl>
                                        <p:attrNameLst>
                                          <p:attrName>style.visibility</p:attrName>
                                        </p:attrNameLst>
                                      </p:cBhvr>
                                      <p:to>
                                        <p:strVal val="visible"/>
                                      </p:to>
                                    </p:set>
                                    <p:animEffect transition="in" filter="fade">
                                      <p:cBhvr>
                                        <p:cTn id="375" dur="250"/>
                                        <p:tgtEl>
                                          <p:spTgt spid="115"/>
                                        </p:tgtEl>
                                      </p:cBhvr>
                                    </p:animEffect>
                                  </p:childTnLst>
                                </p:cTn>
                              </p:par>
                            </p:childTnLst>
                          </p:cTn>
                        </p:par>
                        <p:par>
                          <p:cTn id="376" fill="hold">
                            <p:stCondLst>
                              <p:cond delay="500"/>
                            </p:stCondLst>
                            <p:childTnLst>
                              <p:par>
                                <p:cTn id="377" presetID="10" presetClass="entr" presetSubtype="0" fill="hold" grpId="0" nodeType="afterEffect">
                                  <p:stCondLst>
                                    <p:cond delay="0"/>
                                  </p:stCondLst>
                                  <p:childTnLst>
                                    <p:set>
                                      <p:cBhvr>
                                        <p:cTn id="378" dur="1" fill="hold">
                                          <p:stCondLst>
                                            <p:cond delay="0"/>
                                          </p:stCondLst>
                                        </p:cTn>
                                        <p:tgtEl>
                                          <p:spTgt spid="105"/>
                                        </p:tgtEl>
                                        <p:attrNameLst>
                                          <p:attrName>style.visibility</p:attrName>
                                        </p:attrNameLst>
                                      </p:cBhvr>
                                      <p:to>
                                        <p:strVal val="visible"/>
                                      </p:to>
                                    </p:set>
                                    <p:animEffect transition="in" filter="fade">
                                      <p:cBhvr>
                                        <p:cTn id="379" dur="250"/>
                                        <p:tgtEl>
                                          <p:spTgt spid="105"/>
                                        </p:tgtEl>
                                      </p:cBhvr>
                                    </p:animEffect>
                                  </p:childTnLst>
                                </p:cTn>
                              </p:par>
                              <p:par>
                                <p:cTn id="380" presetID="10" presetClass="entr" presetSubtype="0" fill="hold" grpId="0" nodeType="withEffect">
                                  <p:stCondLst>
                                    <p:cond delay="0"/>
                                  </p:stCondLst>
                                  <p:childTnLst>
                                    <p:set>
                                      <p:cBhvr>
                                        <p:cTn id="381" dur="1" fill="hold">
                                          <p:stCondLst>
                                            <p:cond delay="0"/>
                                          </p:stCondLst>
                                        </p:cTn>
                                        <p:tgtEl>
                                          <p:spTgt spid="108"/>
                                        </p:tgtEl>
                                        <p:attrNameLst>
                                          <p:attrName>style.visibility</p:attrName>
                                        </p:attrNameLst>
                                      </p:cBhvr>
                                      <p:to>
                                        <p:strVal val="visible"/>
                                      </p:to>
                                    </p:set>
                                    <p:animEffect transition="in" filter="fade">
                                      <p:cBhvr>
                                        <p:cTn id="382" dur="250"/>
                                        <p:tgtEl>
                                          <p:spTgt spid="108"/>
                                        </p:tgtEl>
                                      </p:cBhvr>
                                    </p:animEffect>
                                  </p:childTnLst>
                                </p:cTn>
                              </p:par>
                              <p:par>
                                <p:cTn id="383" presetID="10" presetClass="entr" presetSubtype="0" fill="hold" grpId="0" nodeType="withEffect">
                                  <p:stCondLst>
                                    <p:cond delay="0"/>
                                  </p:stCondLst>
                                  <p:childTnLst>
                                    <p:set>
                                      <p:cBhvr>
                                        <p:cTn id="384" dur="1" fill="hold">
                                          <p:stCondLst>
                                            <p:cond delay="0"/>
                                          </p:stCondLst>
                                        </p:cTn>
                                        <p:tgtEl>
                                          <p:spTgt spid="110"/>
                                        </p:tgtEl>
                                        <p:attrNameLst>
                                          <p:attrName>style.visibility</p:attrName>
                                        </p:attrNameLst>
                                      </p:cBhvr>
                                      <p:to>
                                        <p:strVal val="visible"/>
                                      </p:to>
                                    </p:set>
                                    <p:animEffect transition="in" filter="fade">
                                      <p:cBhvr>
                                        <p:cTn id="385" dur="250"/>
                                        <p:tgtEl>
                                          <p:spTgt spid="110"/>
                                        </p:tgtEl>
                                      </p:cBhvr>
                                    </p:animEffect>
                                  </p:childTnLst>
                                </p:cTn>
                              </p:par>
                              <p:par>
                                <p:cTn id="386" presetID="10" presetClass="entr" presetSubtype="0" fill="hold" grpId="0" nodeType="withEffect">
                                  <p:stCondLst>
                                    <p:cond delay="0"/>
                                  </p:stCondLst>
                                  <p:childTnLst>
                                    <p:set>
                                      <p:cBhvr>
                                        <p:cTn id="387" dur="1" fill="hold">
                                          <p:stCondLst>
                                            <p:cond delay="0"/>
                                          </p:stCondLst>
                                        </p:cTn>
                                        <p:tgtEl>
                                          <p:spTgt spid="111"/>
                                        </p:tgtEl>
                                        <p:attrNameLst>
                                          <p:attrName>style.visibility</p:attrName>
                                        </p:attrNameLst>
                                      </p:cBhvr>
                                      <p:to>
                                        <p:strVal val="visible"/>
                                      </p:to>
                                    </p:set>
                                    <p:animEffect transition="in" filter="fade">
                                      <p:cBhvr>
                                        <p:cTn id="388" dur="250"/>
                                        <p:tgtEl>
                                          <p:spTgt spid="111"/>
                                        </p:tgtEl>
                                      </p:cBhvr>
                                    </p:animEffect>
                                  </p:childTnLst>
                                </p:cTn>
                              </p:par>
                            </p:childTnLst>
                          </p:cTn>
                        </p:par>
                        <p:par>
                          <p:cTn id="389" fill="hold">
                            <p:stCondLst>
                              <p:cond delay="750"/>
                            </p:stCondLst>
                            <p:childTnLst>
                              <p:par>
                                <p:cTn id="390" presetID="10" presetClass="entr" presetSubtype="0" fill="hold" grpId="0" nodeType="afterEffect">
                                  <p:stCondLst>
                                    <p:cond delay="0"/>
                                  </p:stCondLst>
                                  <p:childTnLst>
                                    <p:set>
                                      <p:cBhvr>
                                        <p:cTn id="391" dur="1" fill="hold">
                                          <p:stCondLst>
                                            <p:cond delay="0"/>
                                          </p:stCondLst>
                                        </p:cTn>
                                        <p:tgtEl>
                                          <p:spTgt spid="106"/>
                                        </p:tgtEl>
                                        <p:attrNameLst>
                                          <p:attrName>style.visibility</p:attrName>
                                        </p:attrNameLst>
                                      </p:cBhvr>
                                      <p:to>
                                        <p:strVal val="visible"/>
                                      </p:to>
                                    </p:set>
                                    <p:animEffect transition="in" filter="fade">
                                      <p:cBhvr>
                                        <p:cTn id="392" dur="250"/>
                                        <p:tgtEl>
                                          <p:spTgt spid="106"/>
                                        </p:tgtEl>
                                      </p:cBhvr>
                                    </p:animEffect>
                                  </p:childTnLst>
                                </p:cTn>
                              </p:par>
                            </p:childTnLst>
                          </p:cTn>
                        </p:par>
                        <p:par>
                          <p:cTn id="393" fill="hold">
                            <p:stCondLst>
                              <p:cond delay="1000"/>
                            </p:stCondLst>
                            <p:childTnLst>
                              <p:par>
                                <p:cTn id="394" presetID="10" presetClass="entr" presetSubtype="0" fill="hold" grpId="0" nodeType="afterEffect">
                                  <p:stCondLst>
                                    <p:cond delay="0"/>
                                  </p:stCondLst>
                                  <p:childTnLst>
                                    <p:set>
                                      <p:cBhvr>
                                        <p:cTn id="395" dur="1" fill="hold">
                                          <p:stCondLst>
                                            <p:cond delay="0"/>
                                          </p:stCondLst>
                                        </p:cTn>
                                        <p:tgtEl>
                                          <p:spTgt spid="107"/>
                                        </p:tgtEl>
                                        <p:attrNameLst>
                                          <p:attrName>style.visibility</p:attrName>
                                        </p:attrNameLst>
                                      </p:cBhvr>
                                      <p:to>
                                        <p:strVal val="visible"/>
                                      </p:to>
                                    </p:set>
                                    <p:animEffect transition="in" filter="fade">
                                      <p:cBhvr>
                                        <p:cTn id="396" dur="250"/>
                                        <p:tgtEl>
                                          <p:spTgt spid="107"/>
                                        </p:tgtEl>
                                      </p:cBhvr>
                                    </p:animEffect>
                                  </p:childTnLst>
                                </p:cTn>
                              </p:par>
                              <p:par>
                                <p:cTn id="397" presetID="10" presetClass="entr" presetSubtype="0" fill="hold" grpId="0" nodeType="withEffect">
                                  <p:stCondLst>
                                    <p:cond delay="0"/>
                                  </p:stCondLst>
                                  <p:childTnLst>
                                    <p:set>
                                      <p:cBhvr>
                                        <p:cTn id="398" dur="1" fill="hold">
                                          <p:stCondLst>
                                            <p:cond delay="0"/>
                                          </p:stCondLst>
                                        </p:cTn>
                                        <p:tgtEl>
                                          <p:spTgt spid="109"/>
                                        </p:tgtEl>
                                        <p:attrNameLst>
                                          <p:attrName>style.visibility</p:attrName>
                                        </p:attrNameLst>
                                      </p:cBhvr>
                                      <p:to>
                                        <p:strVal val="visible"/>
                                      </p:to>
                                    </p:set>
                                    <p:animEffect transition="in" filter="fade">
                                      <p:cBhvr>
                                        <p:cTn id="399" dur="250"/>
                                        <p:tgtEl>
                                          <p:spTgt spid="109"/>
                                        </p:tgtEl>
                                      </p:cBhvr>
                                    </p:animEffect>
                                  </p:childTnLst>
                                </p:cTn>
                              </p:par>
                            </p:childTnLst>
                          </p:cTn>
                        </p:par>
                        <p:par>
                          <p:cTn id="400" fill="hold">
                            <p:stCondLst>
                              <p:cond delay="1200"/>
                            </p:stCondLst>
                            <p:childTnLst>
                              <p:par>
                                <p:cTn id="401" presetID="10" presetClass="entr" presetSubtype="0" fill="hold" grpId="0" nodeType="afterEffect">
                                  <p:stCondLst>
                                    <p:cond delay="0"/>
                                  </p:stCondLst>
                                  <p:childTnLst>
                                    <p:set>
                                      <p:cBhvr>
                                        <p:cTn id="402" dur="1" fill="hold">
                                          <p:stCondLst>
                                            <p:cond delay="0"/>
                                          </p:stCondLst>
                                        </p:cTn>
                                        <p:tgtEl>
                                          <p:spTgt spid="112"/>
                                        </p:tgtEl>
                                        <p:attrNameLst>
                                          <p:attrName>style.visibility</p:attrName>
                                        </p:attrNameLst>
                                      </p:cBhvr>
                                      <p:to>
                                        <p:strVal val="visible"/>
                                      </p:to>
                                    </p:set>
                                    <p:animEffect transition="in" filter="fade">
                                      <p:cBhvr>
                                        <p:cTn id="403" dur="250"/>
                                        <p:tgtEl>
                                          <p:spTgt spid="112"/>
                                        </p:tgtEl>
                                      </p:cBhvr>
                                    </p:animEffect>
                                  </p:childTnLst>
                                </p:cTn>
                              </p:par>
                              <p:par>
                                <p:cTn id="404" presetID="10" presetClass="entr" presetSubtype="0" fill="hold" grpId="0" nodeType="withEffect">
                                  <p:stCondLst>
                                    <p:cond delay="0"/>
                                  </p:stCondLst>
                                  <p:childTnLst>
                                    <p:set>
                                      <p:cBhvr>
                                        <p:cTn id="405" dur="1" fill="hold">
                                          <p:stCondLst>
                                            <p:cond delay="0"/>
                                          </p:stCondLst>
                                        </p:cTn>
                                        <p:tgtEl>
                                          <p:spTgt spid="113"/>
                                        </p:tgtEl>
                                        <p:attrNameLst>
                                          <p:attrName>style.visibility</p:attrName>
                                        </p:attrNameLst>
                                      </p:cBhvr>
                                      <p:to>
                                        <p:strVal val="visible"/>
                                      </p:to>
                                    </p:set>
                                    <p:animEffect transition="in" filter="fade">
                                      <p:cBhvr>
                                        <p:cTn id="406" dur="250"/>
                                        <p:tgtEl>
                                          <p:spTgt spid="113"/>
                                        </p:tgtEl>
                                      </p:cBhvr>
                                    </p:animEffect>
                                  </p:childTnLst>
                                </p:cTn>
                              </p:par>
                            </p:childTnLst>
                          </p:cTn>
                        </p:par>
                        <p:par>
                          <p:cTn id="407" fill="hold">
                            <p:stCondLst>
                              <p:cond delay="1300"/>
                            </p:stCondLst>
                            <p:childTnLst>
                              <p:par>
                                <p:cTn id="408" presetID="10" presetClass="entr" presetSubtype="0" fill="hold" grpId="0" nodeType="afterEffect">
                                  <p:stCondLst>
                                    <p:cond delay="0"/>
                                  </p:stCondLst>
                                  <p:childTnLst>
                                    <p:set>
                                      <p:cBhvr>
                                        <p:cTn id="409" dur="1" fill="hold">
                                          <p:stCondLst>
                                            <p:cond delay="0"/>
                                          </p:stCondLst>
                                        </p:cTn>
                                        <p:tgtEl>
                                          <p:spTgt spid="114"/>
                                        </p:tgtEl>
                                        <p:attrNameLst>
                                          <p:attrName>style.visibility</p:attrName>
                                        </p:attrNameLst>
                                      </p:cBhvr>
                                      <p:to>
                                        <p:strVal val="visible"/>
                                      </p:to>
                                    </p:set>
                                    <p:animEffect transition="in" filter="fade">
                                      <p:cBhvr>
                                        <p:cTn id="410" dur="250"/>
                                        <p:tgtEl>
                                          <p:spTgt spid="114"/>
                                        </p:tgtEl>
                                      </p:cBhvr>
                                    </p:animEffect>
                                  </p:childTnLst>
                                </p:cTn>
                              </p:par>
                            </p:childTnLst>
                          </p:cTn>
                        </p:par>
                      </p:childTnLst>
                    </p:cTn>
                  </p:par>
                  <p:par>
                    <p:cTn id="411" fill="hold">
                      <p:stCondLst>
                        <p:cond delay="indefinite"/>
                      </p:stCondLst>
                      <p:childTnLst>
                        <p:par>
                          <p:cTn id="412" fill="hold">
                            <p:stCondLst>
                              <p:cond delay="0"/>
                            </p:stCondLst>
                            <p:childTnLst>
                              <p:par>
                                <p:cTn id="413" presetID="10" presetClass="exit" presetSubtype="0" fill="hold" grpId="1" nodeType="clickEffect">
                                  <p:stCondLst>
                                    <p:cond delay="0"/>
                                  </p:stCondLst>
                                  <p:childTnLst>
                                    <p:animEffect transition="out" filter="fade">
                                      <p:cBhvr>
                                        <p:cTn id="414" dur="250"/>
                                        <p:tgtEl>
                                          <p:spTgt spid="103"/>
                                        </p:tgtEl>
                                      </p:cBhvr>
                                    </p:animEffect>
                                    <p:set>
                                      <p:cBhvr>
                                        <p:cTn id="415" dur="1" fill="hold">
                                          <p:stCondLst>
                                            <p:cond delay="249"/>
                                          </p:stCondLst>
                                        </p:cTn>
                                        <p:tgtEl>
                                          <p:spTgt spid="103"/>
                                        </p:tgtEl>
                                        <p:attrNameLst>
                                          <p:attrName>style.visibility</p:attrName>
                                        </p:attrNameLst>
                                      </p:cBhvr>
                                      <p:to>
                                        <p:strVal val="hidden"/>
                                      </p:to>
                                    </p:set>
                                  </p:childTnLst>
                                </p:cTn>
                              </p:par>
                              <p:par>
                                <p:cTn id="416" presetID="10" presetClass="exit" presetSubtype="0" fill="hold" grpId="1" nodeType="withEffect">
                                  <p:stCondLst>
                                    <p:cond delay="0"/>
                                  </p:stCondLst>
                                  <p:childTnLst>
                                    <p:animEffect transition="out" filter="fade">
                                      <p:cBhvr>
                                        <p:cTn id="417" dur="250"/>
                                        <p:tgtEl>
                                          <p:spTgt spid="105"/>
                                        </p:tgtEl>
                                      </p:cBhvr>
                                    </p:animEffect>
                                    <p:set>
                                      <p:cBhvr>
                                        <p:cTn id="418" dur="1" fill="hold">
                                          <p:stCondLst>
                                            <p:cond delay="249"/>
                                          </p:stCondLst>
                                        </p:cTn>
                                        <p:tgtEl>
                                          <p:spTgt spid="105"/>
                                        </p:tgtEl>
                                        <p:attrNameLst>
                                          <p:attrName>style.visibility</p:attrName>
                                        </p:attrNameLst>
                                      </p:cBhvr>
                                      <p:to>
                                        <p:strVal val="hidden"/>
                                      </p:to>
                                    </p:set>
                                  </p:childTnLst>
                                </p:cTn>
                              </p:par>
                              <p:par>
                                <p:cTn id="419" presetID="10" presetClass="exit" presetSubtype="0" fill="hold" grpId="1" nodeType="withEffect">
                                  <p:stCondLst>
                                    <p:cond delay="0"/>
                                  </p:stCondLst>
                                  <p:childTnLst>
                                    <p:animEffect transition="out" filter="fade">
                                      <p:cBhvr>
                                        <p:cTn id="420" dur="250"/>
                                        <p:tgtEl>
                                          <p:spTgt spid="106"/>
                                        </p:tgtEl>
                                      </p:cBhvr>
                                    </p:animEffect>
                                    <p:set>
                                      <p:cBhvr>
                                        <p:cTn id="421" dur="1" fill="hold">
                                          <p:stCondLst>
                                            <p:cond delay="249"/>
                                          </p:stCondLst>
                                        </p:cTn>
                                        <p:tgtEl>
                                          <p:spTgt spid="106"/>
                                        </p:tgtEl>
                                        <p:attrNameLst>
                                          <p:attrName>style.visibility</p:attrName>
                                        </p:attrNameLst>
                                      </p:cBhvr>
                                      <p:to>
                                        <p:strVal val="hidden"/>
                                      </p:to>
                                    </p:set>
                                  </p:childTnLst>
                                </p:cTn>
                              </p:par>
                              <p:par>
                                <p:cTn id="422" presetID="10" presetClass="exit" presetSubtype="0" fill="hold" grpId="1" nodeType="withEffect">
                                  <p:stCondLst>
                                    <p:cond delay="0"/>
                                  </p:stCondLst>
                                  <p:childTnLst>
                                    <p:animEffect transition="out" filter="fade">
                                      <p:cBhvr>
                                        <p:cTn id="423" dur="250"/>
                                        <p:tgtEl>
                                          <p:spTgt spid="107"/>
                                        </p:tgtEl>
                                      </p:cBhvr>
                                    </p:animEffect>
                                    <p:set>
                                      <p:cBhvr>
                                        <p:cTn id="424" dur="1" fill="hold">
                                          <p:stCondLst>
                                            <p:cond delay="249"/>
                                          </p:stCondLst>
                                        </p:cTn>
                                        <p:tgtEl>
                                          <p:spTgt spid="107"/>
                                        </p:tgtEl>
                                        <p:attrNameLst>
                                          <p:attrName>style.visibility</p:attrName>
                                        </p:attrNameLst>
                                      </p:cBhvr>
                                      <p:to>
                                        <p:strVal val="hidden"/>
                                      </p:to>
                                    </p:set>
                                  </p:childTnLst>
                                </p:cTn>
                              </p:par>
                              <p:par>
                                <p:cTn id="425" presetID="10" presetClass="exit" presetSubtype="0" fill="hold" grpId="1" nodeType="withEffect">
                                  <p:stCondLst>
                                    <p:cond delay="0"/>
                                  </p:stCondLst>
                                  <p:childTnLst>
                                    <p:animEffect transition="out" filter="fade">
                                      <p:cBhvr>
                                        <p:cTn id="426" dur="250"/>
                                        <p:tgtEl>
                                          <p:spTgt spid="108"/>
                                        </p:tgtEl>
                                      </p:cBhvr>
                                    </p:animEffect>
                                    <p:set>
                                      <p:cBhvr>
                                        <p:cTn id="427" dur="1" fill="hold">
                                          <p:stCondLst>
                                            <p:cond delay="249"/>
                                          </p:stCondLst>
                                        </p:cTn>
                                        <p:tgtEl>
                                          <p:spTgt spid="108"/>
                                        </p:tgtEl>
                                        <p:attrNameLst>
                                          <p:attrName>style.visibility</p:attrName>
                                        </p:attrNameLst>
                                      </p:cBhvr>
                                      <p:to>
                                        <p:strVal val="hidden"/>
                                      </p:to>
                                    </p:set>
                                  </p:childTnLst>
                                </p:cTn>
                              </p:par>
                              <p:par>
                                <p:cTn id="428" presetID="10" presetClass="exit" presetSubtype="0" fill="hold" grpId="1" nodeType="withEffect">
                                  <p:stCondLst>
                                    <p:cond delay="0"/>
                                  </p:stCondLst>
                                  <p:childTnLst>
                                    <p:animEffect transition="out" filter="fade">
                                      <p:cBhvr>
                                        <p:cTn id="429" dur="250"/>
                                        <p:tgtEl>
                                          <p:spTgt spid="109"/>
                                        </p:tgtEl>
                                      </p:cBhvr>
                                    </p:animEffect>
                                    <p:set>
                                      <p:cBhvr>
                                        <p:cTn id="430" dur="1" fill="hold">
                                          <p:stCondLst>
                                            <p:cond delay="249"/>
                                          </p:stCondLst>
                                        </p:cTn>
                                        <p:tgtEl>
                                          <p:spTgt spid="109"/>
                                        </p:tgtEl>
                                        <p:attrNameLst>
                                          <p:attrName>style.visibility</p:attrName>
                                        </p:attrNameLst>
                                      </p:cBhvr>
                                      <p:to>
                                        <p:strVal val="hidden"/>
                                      </p:to>
                                    </p:set>
                                  </p:childTnLst>
                                </p:cTn>
                              </p:par>
                              <p:par>
                                <p:cTn id="431" presetID="10" presetClass="exit" presetSubtype="0" fill="hold" grpId="1" nodeType="withEffect">
                                  <p:stCondLst>
                                    <p:cond delay="0"/>
                                  </p:stCondLst>
                                  <p:childTnLst>
                                    <p:animEffect transition="out" filter="fade">
                                      <p:cBhvr>
                                        <p:cTn id="432" dur="250"/>
                                        <p:tgtEl>
                                          <p:spTgt spid="110"/>
                                        </p:tgtEl>
                                      </p:cBhvr>
                                    </p:animEffect>
                                    <p:set>
                                      <p:cBhvr>
                                        <p:cTn id="433" dur="1" fill="hold">
                                          <p:stCondLst>
                                            <p:cond delay="249"/>
                                          </p:stCondLst>
                                        </p:cTn>
                                        <p:tgtEl>
                                          <p:spTgt spid="110"/>
                                        </p:tgtEl>
                                        <p:attrNameLst>
                                          <p:attrName>style.visibility</p:attrName>
                                        </p:attrNameLst>
                                      </p:cBhvr>
                                      <p:to>
                                        <p:strVal val="hidden"/>
                                      </p:to>
                                    </p:set>
                                  </p:childTnLst>
                                </p:cTn>
                              </p:par>
                              <p:par>
                                <p:cTn id="434" presetID="10" presetClass="exit" presetSubtype="0" fill="hold" grpId="1" nodeType="withEffect">
                                  <p:stCondLst>
                                    <p:cond delay="0"/>
                                  </p:stCondLst>
                                  <p:childTnLst>
                                    <p:animEffect transition="out" filter="fade">
                                      <p:cBhvr>
                                        <p:cTn id="435" dur="250"/>
                                        <p:tgtEl>
                                          <p:spTgt spid="111"/>
                                        </p:tgtEl>
                                      </p:cBhvr>
                                    </p:animEffect>
                                    <p:set>
                                      <p:cBhvr>
                                        <p:cTn id="436" dur="1" fill="hold">
                                          <p:stCondLst>
                                            <p:cond delay="249"/>
                                          </p:stCondLst>
                                        </p:cTn>
                                        <p:tgtEl>
                                          <p:spTgt spid="111"/>
                                        </p:tgtEl>
                                        <p:attrNameLst>
                                          <p:attrName>style.visibility</p:attrName>
                                        </p:attrNameLst>
                                      </p:cBhvr>
                                      <p:to>
                                        <p:strVal val="hidden"/>
                                      </p:to>
                                    </p:set>
                                  </p:childTnLst>
                                </p:cTn>
                              </p:par>
                              <p:par>
                                <p:cTn id="437" presetID="10" presetClass="entr" presetSubtype="0" fill="hold" grpId="0" nodeType="withEffect">
                                  <p:stCondLst>
                                    <p:cond delay="0"/>
                                  </p:stCondLst>
                                  <p:childTnLst>
                                    <p:set>
                                      <p:cBhvr>
                                        <p:cTn id="438" dur="1" fill="hold">
                                          <p:stCondLst>
                                            <p:cond delay="0"/>
                                          </p:stCondLst>
                                        </p:cTn>
                                        <p:tgtEl>
                                          <p:spTgt spid="116"/>
                                        </p:tgtEl>
                                        <p:attrNameLst>
                                          <p:attrName>style.visibility</p:attrName>
                                        </p:attrNameLst>
                                      </p:cBhvr>
                                      <p:to>
                                        <p:strVal val="visible"/>
                                      </p:to>
                                    </p:set>
                                    <p:animEffect transition="in" filter="fade">
                                      <p:cBhvr>
                                        <p:cTn id="439" dur="250"/>
                                        <p:tgtEl>
                                          <p:spTgt spid="116"/>
                                        </p:tgtEl>
                                      </p:cBhvr>
                                    </p:animEffect>
                                  </p:childTnLst>
                                </p:cTn>
                              </p:par>
                              <p:par>
                                <p:cTn id="440" presetID="10" presetClass="entr" presetSubtype="0" fill="hold" grpId="0" nodeType="withEffect">
                                  <p:stCondLst>
                                    <p:cond delay="0"/>
                                  </p:stCondLst>
                                  <p:childTnLst>
                                    <p:set>
                                      <p:cBhvr>
                                        <p:cTn id="441" dur="1" fill="hold">
                                          <p:stCondLst>
                                            <p:cond delay="0"/>
                                          </p:stCondLst>
                                        </p:cTn>
                                        <p:tgtEl>
                                          <p:spTgt spid="117"/>
                                        </p:tgtEl>
                                        <p:attrNameLst>
                                          <p:attrName>style.visibility</p:attrName>
                                        </p:attrNameLst>
                                      </p:cBhvr>
                                      <p:to>
                                        <p:strVal val="visible"/>
                                      </p:to>
                                    </p:set>
                                    <p:animEffect transition="in" filter="fade">
                                      <p:cBhvr>
                                        <p:cTn id="442" dur="25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51" grpId="1" animBg="1"/>
      <p:bldP spid="52" grpId="1" animBg="1"/>
      <p:bldP spid="53" grpId="1" animBg="1"/>
      <p:bldP spid="54" grpId="1" animBg="1"/>
      <p:bldP spid="55" grpId="1" animBg="1"/>
      <p:bldP spid="56" grpId="1" animBg="1"/>
      <p:bldP spid="57" grpId="1" animBg="1"/>
      <p:bldP spid="58" grpId="1" animBg="1"/>
      <p:bldP spid="59" grpId="1" animBg="1"/>
      <p:bldP spid="60" grpId="1" animBg="1"/>
      <p:bldP spid="61" grpId="1" animBg="1"/>
      <p:bldP spid="62" grpId="1" animBg="1"/>
      <p:bldP spid="63" grpId="1" animBg="1"/>
      <p:bldP spid="64" grpId="1" animBg="1"/>
      <p:bldP spid="65" grpId="1" animBg="1"/>
      <p:bldP spid="66" grpId="1" animBg="1"/>
      <p:bldP spid="67" grpId="1" animBg="1"/>
      <p:bldP spid="68" grpId="1" animBg="1"/>
      <p:bldP spid="69" grpId="1" animBg="1"/>
      <p:bldP spid="70" grpId="1" animBg="1"/>
      <p:bldP spid="71" grpId="1" animBg="1"/>
      <p:bldP spid="8" grpId="0" animBg="1"/>
      <p:bldP spid="9" grpId="0" animBg="1"/>
      <p:bldP spid="73" grpId="0" animBg="1"/>
      <p:bldP spid="79" grpId="0" animBg="1"/>
      <p:bldP spid="74" grpId="0" animBg="1"/>
      <p:bldP spid="75" grpId="0" animBg="1"/>
      <p:bldP spid="76" grpId="0" animBg="1"/>
      <p:bldP spid="77" grpId="0" animBg="1"/>
      <p:bldP spid="78"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80" grpId="0" animBg="1"/>
      <p:bldP spid="82" grpId="0" animBg="1"/>
      <p:bldP spid="81" grpId="0" animBg="1"/>
      <p:bldP spid="80" grpId="1" animBg="1"/>
      <p:bldP spid="83" grpId="0" animBg="1"/>
      <p:bldP spid="98" grpId="0" animBg="1"/>
      <p:bldP spid="84" grpId="0" animBg="1"/>
      <p:bldP spid="90" grpId="0" animBg="1"/>
      <p:bldP spid="94" grpId="0" animBg="1"/>
      <p:bldP spid="95" grpId="0" animBg="1"/>
      <p:bldP spid="85" grpId="0" animBg="1"/>
      <p:bldP spid="91" grpId="0" animBg="1"/>
      <p:bldP spid="86" grpId="0" animBg="1"/>
      <p:bldP spid="87" grpId="0" animBg="1"/>
      <p:bldP spid="92" grpId="0" animBg="1"/>
      <p:bldP spid="88" grpId="0" animBg="1"/>
      <p:bldP spid="93" grpId="0" animBg="1"/>
      <p:bldP spid="89" grpId="0" animBg="1"/>
      <p:bldP spid="96" grpId="0" animBg="1"/>
      <p:bldP spid="97" grpId="0" animBg="1"/>
      <p:bldP spid="83" grpId="1" animBg="1"/>
      <p:bldP spid="81" grpId="1" animBg="1"/>
      <p:bldP spid="84" grpId="1" animBg="1"/>
      <p:bldP spid="85" grpId="1" animBg="1"/>
      <p:bldP spid="86" grpId="1" animBg="1"/>
      <p:bldP spid="87" grpId="1" animBg="1"/>
      <p:bldP spid="88" grpId="1" animBg="1"/>
      <p:bldP spid="89" grpId="1" animBg="1"/>
      <p:bldP spid="90" grpId="1" animBg="1"/>
      <p:bldP spid="91" grpId="1" animBg="1"/>
      <p:bldP spid="92" grpId="1" animBg="1"/>
      <p:bldP spid="93" grpId="1" animBg="1"/>
      <p:bldP spid="94" grpId="1" animBg="1"/>
      <p:bldP spid="95" grpId="1" animBg="1"/>
      <p:bldP spid="99" grpId="0" animBg="1"/>
      <p:bldP spid="100" grpId="0" animBg="1"/>
      <p:bldP spid="102" grpId="0" animBg="1"/>
      <p:bldP spid="101" grpId="0" animBg="1"/>
      <p:bldP spid="99" grpId="1" animBg="1"/>
      <p:bldP spid="101" grpId="1" animBg="1"/>
      <p:bldP spid="96" grpId="1" animBg="1"/>
      <p:bldP spid="97" grpId="1" animBg="1"/>
      <p:bldP spid="100" grpId="1" animBg="1"/>
      <p:bldP spid="103" grpId="0" animBg="1"/>
      <p:bldP spid="104" grpId="0" animBg="1"/>
      <p:bldP spid="115" grpId="0" animBg="1"/>
      <p:bldP spid="105" grpId="0" animBg="1"/>
      <p:bldP spid="108" grpId="0" animBg="1"/>
      <p:bldP spid="110" grpId="0" animBg="1"/>
      <p:bldP spid="111" grpId="0" animBg="1"/>
      <p:bldP spid="106" grpId="0" animBg="1"/>
      <p:bldP spid="107" grpId="0" animBg="1"/>
      <p:bldP spid="109" grpId="0" animBg="1"/>
      <p:bldP spid="112" grpId="0" animBg="1"/>
      <p:bldP spid="113" grpId="0" animBg="1"/>
      <p:bldP spid="114" grpId="0" animBg="1"/>
      <p:bldP spid="103" grpId="1" animBg="1"/>
      <p:bldP spid="105" grpId="1" animBg="1"/>
      <p:bldP spid="106" grpId="1" animBg="1"/>
      <p:bldP spid="107" grpId="1" animBg="1"/>
      <p:bldP spid="108" grpId="1" animBg="1"/>
      <p:bldP spid="109" grpId="1" animBg="1"/>
      <p:bldP spid="110" grpId="1" animBg="1"/>
      <p:bldP spid="111" grpId="1" animBg="1"/>
      <p:bldP spid="116" grpId="0" animBg="1"/>
      <p:bldP spid="117"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p:nvPr/>
        </p:nvSpPr>
        <p:spPr>
          <a:xfrm>
            <a:off x="285750" y="100012"/>
            <a:ext cx="8572500" cy="357187"/>
          </a:xfrm>
          <a:prstGeom prst="rect">
            <a:avLst/>
          </a:prstGeom>
          <a:noFill/>
          <a:ln>
            <a:noFill/>
          </a:ln>
        </p:spPr>
        <p:txBody>
          <a:bodyPr rtlCol="0" anchor="ctr" wrap="square" lIns="0" rIns="0" tIns="0" bIns="0"/>
          <a:lstStyle/>
          <a:p>
            <a:pPr algn="l"/>
            <a:r>
              <a:rPr sz="1800" b="1">
                <a:solidFill>
                  <a:srgbClr val="12343B"/>
                </a:solidFill>
                <a:latin typeface="Calibri"/>
              </a:rPr>
              <a:t>Sub access: JTAG reads and writes a subordinate</a:t>
            </a:r>
          </a:p>
        </p:txBody>
      </p:sp>
      <p:sp>
        <p:nvSpPr>
          <p:cNvPr id="3" name="SA tck zone"/>
          <p:cNvSpPr/>
          <p:nvPr/>
        </p:nvSpPr>
        <p:spPr>
          <a:xfrm>
            <a:off x="214312" y="600075"/>
            <a:ext cx="4643437" cy="214312"/>
          </a:xfrm>
          <a:prstGeom prst="rect">
            <a:avLst/>
          </a:prstGeom>
          <a:solidFill>
            <a:srgbClr val="E0F2F1"/>
          </a:solidFill>
          <a:ln>
            <a:noFill/>
          </a:ln>
        </p:spPr>
        <p:txBody>
          <a:bodyPr rtlCol="0" anchor="ctr" wrap="square" lIns="0" rIns="0" tIns="0" bIns="0"/>
          <a:lstStyle/>
          <a:p>
            <a:pPr algn="ctr"/>
            <a:r>
              <a:rPr sz="843" b="1">
                <a:solidFill>
                  <a:srgbClr val="00897B"/>
                </a:solidFill>
                <a:latin typeface="Calibri"/>
              </a:rPr>
              <a:t>JTAG clock (TCK)</a:t>
            </a:r>
          </a:p>
        </p:txBody>
      </p:sp>
      <p:sp>
        <p:nvSpPr>
          <p:cNvPr id="4" name="SA sys zone"/>
          <p:cNvSpPr/>
          <p:nvPr/>
        </p:nvSpPr>
        <p:spPr>
          <a:xfrm>
            <a:off x="5000625" y="600075"/>
            <a:ext cx="3929062" cy="214312"/>
          </a:xfrm>
          <a:prstGeom prst="rect">
            <a:avLst/>
          </a:prstGeom>
          <a:solidFill>
            <a:srgbClr val="E3F2FD"/>
          </a:solidFill>
          <a:ln>
            <a:noFill/>
          </a:ln>
        </p:spPr>
        <p:txBody>
          <a:bodyPr rtlCol="0" anchor="ctr" wrap="square" lIns="0" rIns="0" tIns="0" bIns="0"/>
          <a:lstStyle/>
          <a:p>
            <a:pPr algn="ctr"/>
            <a:r>
              <a:rPr sz="843" b="1">
                <a:solidFill>
                  <a:srgbClr val="1E5A8C"/>
                </a:solidFill>
                <a:latin typeface="Calibri"/>
              </a:rPr>
              <a:t>subordinate's own clock</a:t>
            </a:r>
          </a:p>
        </p:txBody>
      </p:sp>
      <p:cxnSp>
        <p:nvCxnSpPr>
          <p:cNvPr id="5" name="SA boundary"/>
          <p:cNvCxnSpPr/>
          <p:nvPr/>
        </p:nvCxnSpPr>
        <p:spPr>
          <a:xfrm>
            <a:off x="4929187" y="600075"/>
            <a:ext cx="0" cy="3400425"/>
          </a:xfrm>
          <a:prstGeom prst="line">
            <a:avLst/>
          </a:prstGeom>
          <a:ln w="25400">
            <a:solidFill>
              <a:srgbClr val="9E9E9E"/>
            </a:solidFill>
            <a:prstDash val="dash"/>
          </a:ln>
        </p:spPr>
      </p:cxnSp>
      <p:sp>
        <p:nvSpPr>
          <p:cNvPr id="6" name="SA sync lbl"/>
          <p:cNvSpPr/>
          <p:nvPr/>
        </p:nvSpPr>
        <p:spPr>
          <a:xfrm>
            <a:off x="4357687" y="3786187"/>
            <a:ext cx="1143000" cy="214312"/>
          </a:xfrm>
          <a:prstGeom prst="rect">
            <a:avLst/>
          </a:prstGeom>
          <a:solidFill>
            <a:srgbClr val="FFFFFF"/>
          </a:solidFill>
          <a:ln>
            <a:noFill/>
          </a:ln>
        </p:spPr>
        <p:txBody>
          <a:bodyPr rtlCol="0" anchor="ctr" wrap="square" lIns="0" rIns="0" tIns="0" bIns="0"/>
          <a:lstStyle/>
          <a:p>
            <a:pPr algn="ctr"/>
            <a:r>
              <a:rPr sz="731" b="1">
                <a:solidFill>
                  <a:srgbClr val="9E9E9E"/>
                </a:solidFill>
                <a:latin typeface="Calibri"/>
              </a:rPr>
              <a:t>synchronisers</a:t>
            </a:r>
          </a:p>
        </p:txBody>
      </p:sp>
      <p:sp>
        <p:nvSpPr>
          <p:cNvPr id="7" name="SA xbar"/>
          <p:cNvSpPr/>
          <p:nvPr/>
        </p:nvSpPr>
        <p:spPr>
          <a:xfrm>
            <a:off x="285750" y="1071562"/>
            <a:ext cx="1428750" cy="2143125"/>
          </a:xfrm>
          <a:prstGeom prst="roundRect">
            <a:avLst>
              <a:gd name="adj" fmla="val 5000"/>
            </a:avLst>
          </a:prstGeom>
          <a:solidFill>
            <a:srgbClr val="F5F5F5"/>
          </a:solidFill>
          <a:ln w="19050">
            <a:solidFill>
              <a:srgbClr val="9E9E9E"/>
            </a:solidFill>
            <a:prstDash val="dash"/>
          </a:ln>
        </p:spPr>
        <p:txBody>
          <a:bodyPr rtlCol="0" anchor="ctr" wrap="square" lIns="28575" rIns="28575" tIns="28575" bIns="28575"/>
          <a:lstStyle/>
          <a:p>
            <a:pPr algn="ctr"/>
            <a:r>
              <a:rPr sz="1125" b="1">
                <a:solidFill>
                  <a:srgbClr val="9E9E9E"/>
                </a:solidFill>
                <a:latin typeface="Calibri"/>
              </a:rPr>
              <a:t>Crossbar</a:t>
            </a:r>
          </a:p>
          <a:p>
            <a:pPr algn="ctr"/>
            <a:r>
              <a:rPr sz="787" b="0">
                <a:solidFill>
                  <a:srgbClr val="9E9E9E"/>
                </a:solidFill>
                <a:latin typeface="Calibri"/>
              </a:rPr>
              <a:t>isolated,</a:t>
            </a:r>
          </a:p>
          <a:p>
            <a:pPr algn="ctr"/>
            <a:r>
              <a:rPr sz="787" b="0">
                <a:solidFill>
                  <a:srgbClr val="9E9E9E"/>
                </a:solidFill>
                <a:latin typeface="Calibri"/>
              </a:rPr>
              <a:t>not needed here</a:t>
            </a:r>
          </a:p>
        </p:txBody>
      </p:sp>
      <p:sp>
        <p:nvSpPr>
          <p:cNvPr id="8" name="SA cut"/>
          <p:cNvSpPr/>
          <p:nvPr/>
        </p:nvSpPr>
        <p:spPr>
          <a:xfrm>
            <a:off x="2143125" y="1071562"/>
            <a:ext cx="2143125" cy="2143125"/>
          </a:xfrm>
          <a:prstGeom prst="roundRect">
            <a:avLst>
              <a:gd name="adj" fmla="val 3333"/>
            </a:avLst>
          </a:prstGeom>
          <a:solidFill>
            <a:srgbClr val="FFFFFF"/>
          </a:solidFill>
          <a:ln w="19050">
            <a:solidFill>
              <a:srgbClr val="00897B"/>
            </a:solidFill>
          </a:ln>
        </p:spPr>
        <p:txBody>
          <a:bodyPr rtlCol="0" anchor="t" wrap="square" lIns="42862" rIns="42862" tIns="42862" bIns="42862"/>
          <a:lstStyle/>
          <a:p>
            <a:pPr algn="ctr"/>
            <a:r>
              <a:rPr sz="843" b="1">
                <a:solidFill>
                  <a:srgbClr val="00897B"/>
                </a:solidFill>
                <a:latin typeface="Calibri"/>
              </a:rPr>
              <a:t>subordinate-side cut</a:t>
            </a:r>
          </a:p>
        </p:txBody>
      </p:sp>
      <p:cxnSp>
        <p:nvCxnSpPr>
          <p:cNvPr id="9" name="SA xbar link A"/>
          <p:cNvCxnSpPr/>
          <p:nvPr/>
        </p:nvCxnSpPr>
        <p:spPr>
          <a:xfrm>
            <a:off x="1714500" y="1571625"/>
            <a:ext cx="571500" cy="0"/>
          </a:xfrm>
          <a:prstGeom prst="line">
            <a:avLst/>
          </a:prstGeom>
          <a:ln w="19050">
            <a:solidFill>
              <a:srgbClr val="CFCFCF"/>
            </a:solidFill>
            <a:tailEnd type="triangle" w="med" len="med"/>
          </a:ln>
        </p:spPr>
      </p:cxnSp>
      <p:cxnSp>
        <p:nvCxnSpPr>
          <p:cNvPr id="10" name="SA xbar link R"/>
          <p:cNvCxnSpPr/>
          <p:nvPr/>
        </p:nvCxnSpPr>
        <p:spPr>
          <a:xfrm flipH="1">
            <a:off x="1714500" y="2714625"/>
            <a:ext cx="571500" cy="0"/>
          </a:xfrm>
          <a:prstGeom prst="line">
            <a:avLst/>
          </a:prstGeom>
          <a:ln w="19050">
            <a:solidFill>
              <a:srgbClr val="CFCFCF"/>
            </a:solidFill>
            <a:tailEnd type="triangle" w="med" len="med"/>
          </a:ln>
        </p:spPr>
      </p:cxnSp>
      <p:sp>
        <p:nvSpPr>
          <p:cNvPr id="11" name="SA A cell"/>
          <p:cNvSpPr/>
          <p:nvPr/>
        </p:nvSpPr>
        <p:spPr>
          <a:xfrm>
            <a:off x="2286000" y="1285875"/>
            <a:ext cx="1857375" cy="571500"/>
          </a:xfrm>
          <a:prstGeom prst="rect">
            <a:avLst/>
          </a:prstGeom>
          <a:solidFill>
            <a:srgbClr val="FFFFFF"/>
          </a:solidFill>
          <a:ln w="15240">
            <a:solidFill>
              <a:srgbClr val="9E9E9E"/>
            </a:solidFill>
          </a:ln>
        </p:spPr>
        <p:txBody>
          <a:bodyPr rtlCol="0" anchor="ctr" wrap="square" lIns="21431" rIns="21431" tIns="21431" bIns="21431"/>
          <a:lstStyle/>
          <a:p>
            <a:pPr algn="ctr"/>
            <a:r>
              <a:rPr sz="731" b="1">
                <a:solidFill>
                  <a:srgbClr val="9E9E9E"/>
                </a:solidFill>
                <a:latin typeface="Calibri"/>
              </a:rPr>
              <a:t>A cell (request)</a:t>
            </a:r>
          </a:p>
          <a:p>
            <a:pPr algn="ctr"/>
            <a:r>
              <a:rPr sz="900" b="1">
                <a:solidFill>
                  <a:srgbClr val="12343B"/>
                </a:solidFill>
                <a:latin typeface="Calibri"/>
              </a:rPr>
              <a:t>valid = 0</a:t>
            </a:r>
          </a:p>
        </p:txBody>
      </p:sp>
      <p:sp>
        <p:nvSpPr>
          <p:cNvPr id="12" name="SA R cell"/>
          <p:cNvSpPr/>
          <p:nvPr/>
        </p:nvSpPr>
        <p:spPr>
          <a:xfrm>
            <a:off x="2286000" y="2428875"/>
            <a:ext cx="1857375" cy="571500"/>
          </a:xfrm>
          <a:prstGeom prst="rect">
            <a:avLst/>
          </a:prstGeom>
          <a:solidFill>
            <a:srgbClr val="FFFFFF"/>
          </a:solidFill>
          <a:ln w="15240">
            <a:solidFill>
              <a:srgbClr val="9E9E9E"/>
            </a:solidFill>
          </a:ln>
        </p:spPr>
        <p:txBody>
          <a:bodyPr rtlCol="0" anchor="ctr" wrap="square" lIns="21431" rIns="21431" tIns="21431" bIns="21431"/>
          <a:lstStyle/>
          <a:p>
            <a:pPr algn="ctr"/>
            <a:r>
              <a:rPr sz="731" b="1">
                <a:solidFill>
                  <a:srgbClr val="9E9E9E"/>
                </a:solidFill>
                <a:latin typeface="Calibri"/>
              </a:rPr>
              <a:t>R cell (reply)</a:t>
            </a:r>
          </a:p>
          <a:p>
            <a:pPr algn="ctr"/>
            <a:r>
              <a:rPr sz="900" b="1">
                <a:solidFill>
                  <a:srgbClr val="12343B"/>
                </a:solidFill>
                <a:latin typeface="Calibri"/>
              </a:rPr>
              <a:t>valid = 0</a:t>
            </a:r>
          </a:p>
        </p:txBody>
      </p:sp>
      <p:sp>
        <p:nvSpPr>
          <p:cNvPr id="13" name="SA eng"/>
          <p:cNvSpPr/>
          <p:nvPr/>
        </p:nvSpPr>
        <p:spPr>
          <a:xfrm>
            <a:off x="5429250" y="1071562"/>
            <a:ext cx="1428750" cy="2143125"/>
          </a:xfrm>
          <a:prstGeom prst="roundRect">
            <a:avLst>
              <a:gd name="adj" fmla="val 5000"/>
            </a:avLst>
          </a:prstGeom>
          <a:solidFill>
            <a:srgbClr val="FFFFFF"/>
          </a:solidFill>
          <a:ln w="19050">
            <a:solidFill>
              <a:srgbClr val="93005F"/>
            </a:solidFill>
          </a:ln>
        </p:spPr>
        <p:txBody>
          <a:bodyPr rtlCol="0" anchor="t" wrap="square" lIns="57150" rIns="57150" tIns="57150" bIns="57150"/>
          <a:lstStyle/>
          <a:p>
            <a:pPr algn="ctr"/>
            <a:r>
              <a:rPr sz="956" b="1">
                <a:solidFill>
                  <a:srgbClr val="93005F"/>
                </a:solidFill>
                <a:latin typeface="Calibri"/>
              </a:rPr>
              <a:t>access engine</a:t>
            </a:r>
          </a:p>
          <a:p>
            <a:pPr algn="ctr"/>
            <a:r>
              <a:rPr sz="731" b="0">
                <a:solidFill>
                  <a:srgbClr val="9E9E9E"/>
                </a:solidFill>
                <a:latin typeface="Calibri"/>
              </a:rPr>
              <a:t>one per cut</a:t>
            </a:r>
          </a:p>
        </p:txBody>
      </p:sp>
      <p:sp>
        <p:nvSpPr>
          <p:cNvPr id="14" name="SA mem"/>
          <p:cNvSpPr/>
          <p:nvPr/>
        </p:nvSpPr>
        <p:spPr>
          <a:xfrm>
            <a:off x="7429500" y="1071562"/>
            <a:ext cx="1428750" cy="2143125"/>
          </a:xfrm>
          <a:prstGeom prst="roundRect">
            <a:avLst>
              <a:gd name="adj" fmla="val 5000"/>
            </a:avLst>
          </a:prstGeom>
          <a:solidFill>
            <a:srgbClr val="E3F2FD"/>
          </a:solidFill>
          <a:ln w="19050">
            <a:solidFill>
              <a:srgbClr val="1E5A8C"/>
            </a:solidFill>
          </a:ln>
        </p:spPr>
        <p:txBody>
          <a:bodyPr rtlCol="0" anchor="ctr" wrap="square" lIns="28575" rIns="28575" tIns="28575" bIns="28575"/>
          <a:lstStyle/>
          <a:p>
            <a:pPr algn="ctr"/>
            <a:r>
              <a:rPr sz="1125" b="1">
                <a:solidFill>
                  <a:srgbClr val="12343B"/>
                </a:solidFill>
                <a:latin typeface="Calibri"/>
              </a:rPr>
              <a:t>Subordinate</a:t>
            </a:r>
          </a:p>
          <a:p>
            <a:pPr algn="ctr"/>
            <a:r>
              <a:rPr sz="787" b="0">
                <a:solidFill>
                  <a:srgbClr val="9E9E9E"/>
                </a:solidFill>
                <a:latin typeface="Calibri"/>
              </a:rPr>
              <a:t>e.g. a memory</a:t>
            </a:r>
          </a:p>
        </p:txBody>
      </p:sp>
      <p:cxnSp>
        <p:nvCxnSpPr>
          <p:cNvPr id="15" name="SA base req"/>
          <p:cNvCxnSpPr/>
          <p:nvPr/>
        </p:nvCxnSpPr>
        <p:spPr>
          <a:xfrm>
            <a:off x="6858000" y="1500187"/>
            <a:ext cx="571500" cy="0"/>
          </a:xfrm>
          <a:prstGeom prst="line">
            <a:avLst/>
          </a:prstGeom>
          <a:ln w="15240">
            <a:solidFill>
              <a:srgbClr val="CFCFCF"/>
            </a:solidFill>
          </a:ln>
        </p:spPr>
      </p:cxnSp>
      <p:cxnSp>
        <p:nvCxnSpPr>
          <p:cNvPr id="16" name="SA base gnt"/>
          <p:cNvCxnSpPr/>
          <p:nvPr/>
        </p:nvCxnSpPr>
        <p:spPr>
          <a:xfrm flipH="1">
            <a:off x="6858000" y="1928812"/>
            <a:ext cx="571500" cy="0"/>
          </a:xfrm>
          <a:prstGeom prst="line">
            <a:avLst/>
          </a:prstGeom>
          <a:ln w="15240">
            <a:solidFill>
              <a:srgbClr val="CFCFCF"/>
            </a:solidFill>
          </a:ln>
        </p:spPr>
      </p:cxnSp>
      <p:cxnSp>
        <p:nvCxnSpPr>
          <p:cNvPr id="17" name="SA base rv"/>
          <p:cNvCxnSpPr/>
          <p:nvPr/>
        </p:nvCxnSpPr>
        <p:spPr>
          <a:xfrm flipH="1">
            <a:off x="6858000" y="2571750"/>
            <a:ext cx="571500" cy="0"/>
          </a:xfrm>
          <a:prstGeom prst="line">
            <a:avLst/>
          </a:prstGeom>
          <a:ln w="15240">
            <a:solidFill>
              <a:srgbClr val="CFCFCF"/>
            </a:solidFill>
          </a:ln>
        </p:spPr>
      </p:cxnSp>
      <p:cxnSp>
        <p:nvCxnSpPr>
          <p:cNvPr id="18" name="SA base fire"/>
          <p:cNvCxnSpPr/>
          <p:nvPr/>
        </p:nvCxnSpPr>
        <p:spPr>
          <a:xfrm>
            <a:off x="4143375" y="1571625"/>
            <a:ext cx="1285875" cy="0"/>
          </a:xfrm>
          <a:prstGeom prst="line">
            <a:avLst/>
          </a:prstGeom>
          <a:ln w="15240">
            <a:solidFill>
              <a:srgbClr val="CFCFCF"/>
            </a:solidFill>
          </a:ln>
        </p:spPr>
      </p:cxnSp>
      <p:cxnSp>
        <p:nvCxnSpPr>
          <p:cNvPr id="19" name="SA base done"/>
          <p:cNvCxnSpPr/>
          <p:nvPr/>
        </p:nvCxnSpPr>
        <p:spPr>
          <a:xfrm flipH="1">
            <a:off x="4143375" y="2714625"/>
            <a:ext cx="1285875" cy="0"/>
          </a:xfrm>
          <a:prstGeom prst="line">
            <a:avLst/>
          </a:prstGeom>
          <a:ln w="15240">
            <a:solidFill>
              <a:srgbClr val="CFCFCF"/>
            </a:solidFill>
          </a:ln>
        </p:spPr>
      </p:cxnSp>
      <p:sp>
        <p:nvSpPr>
          <p:cNvPr id="20" name="SA tdi"/>
          <p:cNvSpPr/>
          <p:nvPr/>
        </p:nvSpPr>
        <p:spPr>
          <a:xfrm>
            <a:off x="2143125" y="3357562"/>
            <a:ext cx="642937" cy="257175"/>
          </a:xfrm>
          <a:prstGeom prst="rect">
            <a:avLst/>
          </a:prstGeom>
          <a:solidFill>
            <a:srgbClr val="12343B"/>
          </a:solidFill>
          <a:ln>
            <a:noFill/>
          </a:ln>
        </p:spPr>
        <p:txBody>
          <a:bodyPr rtlCol="0" anchor="ctr" wrap="square" lIns="0" rIns="0" tIns="0" bIns="0"/>
          <a:lstStyle/>
          <a:p>
            <a:pPr algn="ctr"/>
            <a:r>
              <a:rPr sz="843" b="1">
                <a:solidFill>
                  <a:srgbClr val="FFFFFF"/>
                </a:solidFill>
                <a:latin typeface="Calibri"/>
              </a:rPr>
              <a:t>TDI</a:t>
            </a:r>
          </a:p>
        </p:txBody>
      </p:sp>
      <p:sp>
        <p:nvSpPr>
          <p:cNvPr id="21" name="SA tdo"/>
          <p:cNvSpPr/>
          <p:nvPr/>
        </p:nvSpPr>
        <p:spPr>
          <a:xfrm>
            <a:off x="3643312" y="3357562"/>
            <a:ext cx="642937" cy="257175"/>
          </a:xfrm>
          <a:prstGeom prst="rect">
            <a:avLst/>
          </a:prstGeom>
          <a:solidFill>
            <a:srgbClr val="12343B"/>
          </a:solidFill>
          <a:ln>
            <a:noFill/>
          </a:ln>
        </p:spPr>
        <p:txBody>
          <a:bodyPr rtlCol="0" anchor="ctr" wrap="square" lIns="0" rIns="0" tIns="0" bIns="0"/>
          <a:lstStyle/>
          <a:p>
            <a:pPr algn="ctr"/>
            <a:r>
              <a:rPr sz="843" b="1">
                <a:solidFill>
                  <a:srgbClr val="FFFFFF"/>
                </a:solidFill>
                <a:latin typeface="Calibri"/>
              </a:rPr>
              <a:t>TDO</a:t>
            </a:r>
          </a:p>
        </p:txBody>
      </p:sp>
      <p:sp>
        <p:nvSpPr>
          <p:cNvPr id="22" name="SA step 0 off"/>
          <p:cNvSpPr/>
          <p:nvPr/>
        </p:nvSpPr>
        <p:spPr>
          <a:xfrm>
            <a:off x="285750" y="4107656"/>
            <a:ext cx="1071562" cy="257175"/>
          </a:xfrm>
          <a:prstGeom prst="roundRect">
            <a:avLst>
              <a:gd name="adj" fmla="val 15000"/>
            </a:avLst>
          </a:prstGeom>
          <a:solidFill>
            <a:srgbClr val="F5F5F5"/>
          </a:solidFill>
          <a:ln w="12700">
            <a:solidFill>
              <a:srgbClr val="9E9E9E"/>
            </a:solidFill>
          </a:ln>
        </p:spPr>
        <p:txBody>
          <a:bodyPr rtlCol="0" anchor="ctr" wrap="square" lIns="0" rIns="0" tIns="0" bIns="0"/>
          <a:lstStyle/>
          <a:p>
            <a:pPr algn="ctr"/>
            <a:r>
              <a:rPr sz="787" b="1">
                <a:solidFill>
                  <a:srgbClr val="9E9E9E"/>
                </a:solidFill>
                <a:latin typeface="Calibri"/>
              </a:rPr>
              <a:t>Shift-DR</a:t>
            </a:r>
          </a:p>
        </p:txBody>
      </p:sp>
      <p:sp>
        <p:nvSpPr>
          <p:cNvPr id="23" name="SA step 1 off"/>
          <p:cNvSpPr/>
          <p:nvPr/>
        </p:nvSpPr>
        <p:spPr>
          <a:xfrm>
            <a:off x="1414462" y="4107656"/>
            <a:ext cx="1071562" cy="257175"/>
          </a:xfrm>
          <a:prstGeom prst="roundRect">
            <a:avLst>
              <a:gd name="adj" fmla="val 15000"/>
            </a:avLst>
          </a:prstGeom>
          <a:solidFill>
            <a:srgbClr val="F5F5F5"/>
          </a:solidFill>
          <a:ln w="12700">
            <a:solidFill>
              <a:srgbClr val="9E9E9E"/>
            </a:solidFill>
          </a:ln>
        </p:spPr>
        <p:txBody>
          <a:bodyPr rtlCol="0" anchor="ctr" wrap="square" lIns="0" rIns="0" tIns="0" bIns="0"/>
          <a:lstStyle/>
          <a:p>
            <a:pPr algn="ctr"/>
            <a:r>
              <a:rPr sz="787" b="1">
                <a:solidFill>
                  <a:srgbClr val="9E9E9E"/>
                </a:solidFill>
                <a:latin typeface="Calibri"/>
              </a:rPr>
              <a:t>Update-DR</a:t>
            </a:r>
          </a:p>
        </p:txBody>
      </p:sp>
      <p:sp>
        <p:nvSpPr>
          <p:cNvPr id="24" name="SA step 2 off"/>
          <p:cNvSpPr/>
          <p:nvPr/>
        </p:nvSpPr>
        <p:spPr>
          <a:xfrm>
            <a:off x="2543175" y="4107656"/>
            <a:ext cx="1071562" cy="257175"/>
          </a:xfrm>
          <a:prstGeom prst="roundRect">
            <a:avLst>
              <a:gd name="adj" fmla="val 15000"/>
            </a:avLst>
          </a:prstGeom>
          <a:solidFill>
            <a:srgbClr val="F5F5F5"/>
          </a:solidFill>
          <a:ln w="12700">
            <a:solidFill>
              <a:srgbClr val="9E9E9E"/>
            </a:solidFill>
          </a:ln>
        </p:spPr>
        <p:txBody>
          <a:bodyPr rtlCol="0" anchor="ctr" wrap="square" lIns="0" rIns="0" tIns="0" bIns="0"/>
          <a:lstStyle/>
          <a:p>
            <a:pPr algn="ctr"/>
            <a:r>
              <a:rPr sz="787" b="1">
                <a:solidFill>
                  <a:srgbClr val="9E9E9E"/>
                </a:solidFill>
                <a:latin typeface="Calibri"/>
              </a:rPr>
              <a:t>wait a few TCK</a:t>
            </a:r>
          </a:p>
        </p:txBody>
      </p:sp>
      <p:sp>
        <p:nvSpPr>
          <p:cNvPr id="25" name="SA step 3 off"/>
          <p:cNvSpPr/>
          <p:nvPr/>
        </p:nvSpPr>
        <p:spPr>
          <a:xfrm>
            <a:off x="3671887" y="4107656"/>
            <a:ext cx="1071562" cy="257175"/>
          </a:xfrm>
          <a:prstGeom prst="roundRect">
            <a:avLst>
              <a:gd name="adj" fmla="val 15000"/>
            </a:avLst>
          </a:prstGeom>
          <a:solidFill>
            <a:srgbClr val="F5F5F5"/>
          </a:solidFill>
          <a:ln w="12700">
            <a:solidFill>
              <a:srgbClr val="9E9E9E"/>
            </a:solidFill>
          </a:ln>
        </p:spPr>
        <p:txBody>
          <a:bodyPr rtlCol="0" anchor="ctr" wrap="square" lIns="0" rIns="0" tIns="0" bIns="0"/>
          <a:lstStyle/>
          <a:p>
            <a:pPr algn="ctr"/>
            <a:r>
              <a:rPr sz="787" b="1">
                <a:solidFill>
                  <a:srgbClr val="9E9E9E"/>
                </a:solidFill>
                <a:latin typeface="Calibri"/>
              </a:rPr>
              <a:t>Capture-DR</a:t>
            </a:r>
          </a:p>
        </p:txBody>
      </p:sp>
      <p:sp>
        <p:nvSpPr>
          <p:cNvPr id="26" name="SA step 4 off"/>
          <p:cNvSpPr/>
          <p:nvPr/>
        </p:nvSpPr>
        <p:spPr>
          <a:xfrm>
            <a:off x="4800600" y="4107656"/>
            <a:ext cx="1071562" cy="257175"/>
          </a:xfrm>
          <a:prstGeom prst="roundRect">
            <a:avLst>
              <a:gd name="adj" fmla="val 15000"/>
            </a:avLst>
          </a:prstGeom>
          <a:solidFill>
            <a:srgbClr val="F5F5F5"/>
          </a:solidFill>
          <a:ln w="12700">
            <a:solidFill>
              <a:srgbClr val="9E9E9E"/>
            </a:solidFill>
          </a:ln>
        </p:spPr>
        <p:txBody>
          <a:bodyPr rtlCol="0" anchor="ctr" wrap="square" lIns="0" rIns="0" tIns="0" bIns="0"/>
          <a:lstStyle/>
          <a:p>
            <a:pPr algn="ctr"/>
            <a:r>
              <a:rPr sz="787" b="1">
                <a:solidFill>
                  <a:srgbClr val="9E9E9E"/>
                </a:solidFill>
                <a:latin typeface="Calibri"/>
              </a:rPr>
              <a:t>Shift-DR</a:t>
            </a:r>
          </a:p>
        </p:txBody>
      </p:sp>
      <p:sp>
        <p:nvSpPr>
          <p:cNvPr id="27" name="SA step 0 on"/>
          <p:cNvSpPr/>
          <p:nvPr/>
        </p:nvSpPr>
        <p:spPr>
          <a:xfrm>
            <a:off x="285750" y="4107656"/>
            <a:ext cx="1071562" cy="257175"/>
          </a:xfrm>
          <a:prstGeom prst="roundRect">
            <a:avLst>
              <a:gd name="adj" fmla="val 15000"/>
            </a:avLst>
          </a:prstGeom>
          <a:solidFill>
            <a:srgbClr val="E39B2D"/>
          </a:solidFill>
          <a:ln>
            <a:noFill/>
          </a:ln>
        </p:spPr>
        <p:txBody>
          <a:bodyPr rtlCol="0" anchor="ctr" wrap="square" lIns="0" rIns="0" tIns="0" bIns="0"/>
          <a:lstStyle/>
          <a:p>
            <a:pPr algn="ctr"/>
            <a:r>
              <a:rPr sz="787" b="1">
                <a:solidFill>
                  <a:srgbClr val="FFFFFF"/>
                </a:solidFill>
                <a:latin typeface="Calibri"/>
              </a:rPr>
              <a:t>Shift-DR</a:t>
            </a:r>
          </a:p>
        </p:txBody>
      </p:sp>
      <p:sp>
        <p:nvSpPr>
          <p:cNvPr id="28" name="SA step 1 on"/>
          <p:cNvSpPr/>
          <p:nvPr/>
        </p:nvSpPr>
        <p:spPr>
          <a:xfrm>
            <a:off x="1414462" y="4107656"/>
            <a:ext cx="1071562" cy="257175"/>
          </a:xfrm>
          <a:prstGeom prst="roundRect">
            <a:avLst>
              <a:gd name="adj" fmla="val 15000"/>
            </a:avLst>
          </a:prstGeom>
          <a:solidFill>
            <a:srgbClr val="E39B2D"/>
          </a:solidFill>
          <a:ln>
            <a:noFill/>
          </a:ln>
        </p:spPr>
        <p:txBody>
          <a:bodyPr rtlCol="0" anchor="ctr" wrap="square" lIns="0" rIns="0" tIns="0" bIns="0"/>
          <a:lstStyle/>
          <a:p>
            <a:pPr algn="ctr"/>
            <a:r>
              <a:rPr sz="787" b="1">
                <a:solidFill>
                  <a:srgbClr val="FFFFFF"/>
                </a:solidFill>
                <a:latin typeface="Calibri"/>
              </a:rPr>
              <a:t>Update-DR</a:t>
            </a:r>
          </a:p>
        </p:txBody>
      </p:sp>
      <p:sp>
        <p:nvSpPr>
          <p:cNvPr id="29" name="SA step 2 on"/>
          <p:cNvSpPr/>
          <p:nvPr/>
        </p:nvSpPr>
        <p:spPr>
          <a:xfrm>
            <a:off x="2543175" y="4107656"/>
            <a:ext cx="1071562" cy="257175"/>
          </a:xfrm>
          <a:prstGeom prst="roundRect">
            <a:avLst>
              <a:gd name="adj" fmla="val 15000"/>
            </a:avLst>
          </a:prstGeom>
          <a:solidFill>
            <a:srgbClr val="E39B2D"/>
          </a:solidFill>
          <a:ln>
            <a:noFill/>
          </a:ln>
        </p:spPr>
        <p:txBody>
          <a:bodyPr rtlCol="0" anchor="ctr" wrap="square" lIns="0" rIns="0" tIns="0" bIns="0"/>
          <a:lstStyle/>
          <a:p>
            <a:pPr algn="ctr"/>
            <a:r>
              <a:rPr sz="787" b="1">
                <a:solidFill>
                  <a:srgbClr val="FFFFFF"/>
                </a:solidFill>
                <a:latin typeface="Calibri"/>
              </a:rPr>
              <a:t>wait a few TCK</a:t>
            </a:r>
          </a:p>
        </p:txBody>
      </p:sp>
      <p:sp>
        <p:nvSpPr>
          <p:cNvPr id="30" name="SA step 3 on"/>
          <p:cNvSpPr/>
          <p:nvPr/>
        </p:nvSpPr>
        <p:spPr>
          <a:xfrm>
            <a:off x="3671887" y="4107656"/>
            <a:ext cx="1071562" cy="257175"/>
          </a:xfrm>
          <a:prstGeom prst="roundRect">
            <a:avLst>
              <a:gd name="adj" fmla="val 15000"/>
            </a:avLst>
          </a:prstGeom>
          <a:solidFill>
            <a:srgbClr val="E39B2D"/>
          </a:solidFill>
          <a:ln>
            <a:noFill/>
          </a:ln>
        </p:spPr>
        <p:txBody>
          <a:bodyPr rtlCol="0" anchor="ctr" wrap="square" lIns="0" rIns="0" tIns="0" bIns="0"/>
          <a:lstStyle/>
          <a:p>
            <a:pPr algn="ctr"/>
            <a:r>
              <a:rPr sz="787" b="1">
                <a:solidFill>
                  <a:srgbClr val="FFFFFF"/>
                </a:solidFill>
                <a:latin typeface="Calibri"/>
              </a:rPr>
              <a:t>Capture-DR</a:t>
            </a:r>
          </a:p>
        </p:txBody>
      </p:sp>
      <p:sp>
        <p:nvSpPr>
          <p:cNvPr id="31" name="SA step 4 on"/>
          <p:cNvSpPr/>
          <p:nvPr/>
        </p:nvSpPr>
        <p:spPr>
          <a:xfrm>
            <a:off x="4800600" y="4107656"/>
            <a:ext cx="1071562" cy="257175"/>
          </a:xfrm>
          <a:prstGeom prst="roundRect">
            <a:avLst>
              <a:gd name="adj" fmla="val 15000"/>
            </a:avLst>
          </a:prstGeom>
          <a:solidFill>
            <a:srgbClr val="E39B2D"/>
          </a:solidFill>
          <a:ln>
            <a:noFill/>
          </a:ln>
        </p:spPr>
        <p:txBody>
          <a:bodyPr rtlCol="0" anchor="ctr" wrap="square" lIns="0" rIns="0" tIns="0" bIns="0"/>
          <a:lstStyle/>
          <a:p>
            <a:pPr algn="ctr"/>
            <a:r>
              <a:rPr sz="787" b="1">
                <a:solidFill>
                  <a:srgbClr val="FFFFFF"/>
                </a:solidFill>
                <a:latin typeface="Calibri"/>
              </a:rPr>
              <a:t>Shift-DR</a:t>
            </a:r>
          </a:p>
        </p:txBody>
      </p:sp>
      <p:sp>
        <p:nvSpPr>
          <p:cNvPr id="32" name="SA cap 0"/>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A second JTAG instruction, sub access: isolation as before, and each subordinate-side cut</a:t>
            </a:r>
          </a:p>
          <a:p>
            <a:pPr algn="l"/>
            <a:r>
              <a:rPr sz="1237" b="0">
                <a:solidFill>
                  <a:srgbClr val="FFFFFF"/>
                </a:solidFill>
                <a:latin typeface="Calibri"/>
              </a:rPr>
              <a:t>can also run a real transfer to its subordinate, the same way a core would.</a:t>
            </a:r>
          </a:p>
        </p:txBody>
      </p:sp>
      <p:cxnSp>
        <p:nvCxnSpPr>
          <p:cNvPr id="33" name="SA shift in"/>
          <p:cNvCxnSpPr/>
          <p:nvPr/>
        </p:nvCxnSpPr>
        <p:spPr>
          <a:xfrm flipV="1">
            <a:off x="2464593" y="1857375"/>
            <a:ext cx="0" cy="1500187"/>
          </a:xfrm>
          <a:prstGeom prst="line">
            <a:avLst/>
          </a:prstGeom>
          <a:ln w="50800">
            <a:solidFill>
              <a:srgbClr val="E39B2D"/>
            </a:solidFill>
            <a:tailEnd type="triangle" w="med" len="med"/>
          </a:ln>
        </p:spPr>
      </p:cxnSp>
      <p:sp>
        <p:nvSpPr>
          <p:cNvPr id="34" name="SA A full"/>
          <p:cNvSpPr/>
          <p:nvPr/>
        </p:nvSpPr>
        <p:spPr>
          <a:xfrm>
            <a:off x="2286000" y="1285875"/>
            <a:ext cx="1857375" cy="571500"/>
          </a:xfrm>
          <a:prstGeom prst="rect">
            <a:avLst/>
          </a:prstGeom>
          <a:solidFill>
            <a:srgbClr val="FFF3E0"/>
          </a:solidFill>
          <a:ln w="31750">
            <a:solidFill>
              <a:srgbClr val="E39B2D"/>
            </a:solidFill>
          </a:ln>
        </p:spPr>
        <p:txBody>
          <a:bodyPr rtlCol="0" anchor="ctr" wrap="square" lIns="21431" rIns="21431" tIns="21431" bIns="21431"/>
          <a:lstStyle/>
          <a:p>
            <a:pPr algn="ctr"/>
            <a:r>
              <a:rPr sz="731" b="1">
                <a:solidFill>
                  <a:srgbClr val="9E9E9E"/>
                </a:solidFill>
                <a:latin typeface="Calibri"/>
              </a:rPr>
              <a:t>A cell (request)</a:t>
            </a:r>
          </a:p>
          <a:p>
            <a:pPr algn="ctr"/>
            <a:r>
              <a:rPr sz="900" b="1">
                <a:solidFill>
                  <a:srgbClr val="12343B"/>
                </a:solidFill>
                <a:latin typeface="Calibri"/>
              </a:rPr>
              <a:t>valid = 1 · write</a:t>
            </a:r>
          </a:p>
        </p:txBody>
      </p:sp>
      <p:sp>
        <p:nvSpPr>
          <p:cNvPr id="35" name="SA cap 1"/>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Shift-DR: a write request (valid = 1, address, data) is shifted straight into the cut</a:t>
            </a:r>
          </a:p>
          <a:p>
            <a:pPr algn="l"/>
            <a:r>
              <a:rPr sz="1237" b="0">
                <a:solidFill>
                  <a:srgbClr val="FFFFFF"/>
                </a:solidFill>
                <a:latin typeface="Calibri"/>
              </a:rPr>
              <a:t>in front of the subordinate. The crossbar is skipped.</a:t>
            </a:r>
          </a:p>
        </p:txBody>
      </p:sp>
      <p:cxnSp>
        <p:nvCxnSpPr>
          <p:cNvPr id="36" name="SA fire"/>
          <p:cNvCxnSpPr/>
          <p:nvPr/>
        </p:nvCxnSpPr>
        <p:spPr>
          <a:xfrm>
            <a:off x="4143375" y="1571625"/>
            <a:ext cx="1285875" cy="0"/>
          </a:xfrm>
          <a:prstGeom prst="line">
            <a:avLst/>
          </a:prstGeom>
          <a:ln w="50800">
            <a:solidFill>
              <a:srgbClr val="E39B2D"/>
            </a:solidFill>
            <a:tailEnd type="triangle" w="med" len="med"/>
          </a:ln>
        </p:spPr>
      </p:cxnSp>
      <p:sp>
        <p:nvSpPr>
          <p:cNvPr id="37" name="SA eng req"/>
          <p:cNvSpPr/>
          <p:nvPr/>
        </p:nvSpPr>
        <p:spPr>
          <a:xfrm>
            <a:off x="5543550" y="1471612"/>
            <a:ext cx="1200150" cy="285750"/>
          </a:xfrm>
          <a:prstGeom prst="rect">
            <a:avLst/>
          </a:prstGeom>
          <a:solidFill>
            <a:srgbClr val="FFF3E0"/>
          </a:solidFill>
          <a:ln w="19050">
            <a:solidFill>
              <a:srgbClr val="E39B2D"/>
            </a:solidFill>
          </a:ln>
        </p:spPr>
        <p:txBody>
          <a:bodyPr rtlCol="0" anchor="ctr" wrap="square" lIns="0" rIns="0" tIns="0" bIns="0"/>
          <a:lstStyle/>
          <a:p>
            <a:pPr algn="ctr"/>
            <a:r>
              <a:rPr sz="843" b="1">
                <a:solidFill>
                  <a:srgbClr val="12343B"/>
                </a:solidFill>
                <a:latin typeface="Calibri"/>
              </a:rPr>
              <a:t>send request</a:t>
            </a:r>
          </a:p>
        </p:txBody>
      </p:sp>
      <p:cxnSp>
        <p:nvCxnSpPr>
          <p:cNvPr id="38" name="SA req"/>
          <p:cNvCxnSpPr/>
          <p:nvPr/>
        </p:nvCxnSpPr>
        <p:spPr>
          <a:xfrm>
            <a:off x="6858000" y="1500187"/>
            <a:ext cx="571500" cy="0"/>
          </a:xfrm>
          <a:prstGeom prst="line">
            <a:avLst/>
          </a:prstGeom>
          <a:ln w="50800">
            <a:solidFill>
              <a:srgbClr val="E39B2D"/>
            </a:solidFill>
            <a:tailEnd type="triangle" w="med" len="med"/>
          </a:ln>
        </p:spPr>
      </p:cxnSp>
      <p:sp>
        <p:nvSpPr>
          <p:cNvPr id="39" name="SA req lbl"/>
          <p:cNvSpPr/>
          <p:nvPr/>
        </p:nvSpPr>
        <p:spPr>
          <a:xfrm>
            <a:off x="6872287" y="1285875"/>
            <a:ext cx="542925" cy="171450"/>
          </a:xfrm>
          <a:prstGeom prst="rect">
            <a:avLst/>
          </a:prstGeom>
          <a:solidFill>
            <a:srgbClr val="FFFFFF"/>
          </a:solidFill>
          <a:ln>
            <a:noFill/>
          </a:ln>
        </p:spPr>
        <p:txBody>
          <a:bodyPr rtlCol="0" anchor="ctr" wrap="square" lIns="0" rIns="0" tIns="0" bIns="0"/>
          <a:lstStyle/>
          <a:p>
            <a:pPr algn="ctr"/>
            <a:r>
              <a:rPr sz="731" b="1">
                <a:solidFill>
                  <a:srgbClr val="E39B2D"/>
                </a:solidFill>
                <a:latin typeface="Calibri"/>
              </a:rPr>
              <a:t>req</a:t>
            </a:r>
          </a:p>
        </p:txBody>
      </p:sp>
      <p:sp>
        <p:nvSpPr>
          <p:cNvPr id="40" name="SA cap 2"/>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Update-DR: the request crosses into the subordinate's clock. The engine raises req</a:t>
            </a:r>
          </a:p>
          <a:p>
            <a:pPr algn="l"/>
            <a:r>
              <a:rPr sz="1237" b="0">
                <a:solidFill>
                  <a:srgbClr val="FFFFFF"/>
                </a:solidFill>
                <a:latin typeface="Calibri"/>
              </a:rPr>
              <a:t>and holds the address and data steady, exactly like a manager.</a:t>
            </a:r>
          </a:p>
        </p:txBody>
      </p:sp>
      <p:cxnSp>
        <p:nvCxnSpPr>
          <p:cNvPr id="41" name="SA gnt"/>
          <p:cNvCxnSpPr/>
          <p:nvPr/>
        </p:nvCxnSpPr>
        <p:spPr>
          <a:xfrm flipH="1">
            <a:off x="6858000" y="1928812"/>
            <a:ext cx="571500" cy="0"/>
          </a:xfrm>
          <a:prstGeom prst="line">
            <a:avLst/>
          </a:prstGeom>
          <a:ln w="50800">
            <a:solidFill>
              <a:srgbClr val="2E7D32"/>
            </a:solidFill>
            <a:tailEnd type="triangle" w="med" len="med"/>
          </a:ln>
        </p:spPr>
      </p:cxnSp>
      <p:sp>
        <p:nvSpPr>
          <p:cNvPr id="42" name="SA gnt lbl"/>
          <p:cNvSpPr/>
          <p:nvPr/>
        </p:nvSpPr>
        <p:spPr>
          <a:xfrm>
            <a:off x="6872287" y="1714500"/>
            <a:ext cx="542925" cy="171450"/>
          </a:xfrm>
          <a:prstGeom prst="rect">
            <a:avLst/>
          </a:prstGeom>
          <a:solidFill>
            <a:srgbClr val="FFFFFF"/>
          </a:solidFill>
          <a:ln>
            <a:noFill/>
          </a:ln>
        </p:spPr>
        <p:txBody>
          <a:bodyPr rtlCol="0" anchor="ctr" wrap="square" lIns="0" rIns="0" tIns="0" bIns="0"/>
          <a:lstStyle/>
          <a:p>
            <a:pPr algn="ctr"/>
            <a:r>
              <a:rPr sz="731" b="1">
                <a:solidFill>
                  <a:srgbClr val="2E7D32"/>
                </a:solidFill>
                <a:latin typeface="Calibri"/>
              </a:rPr>
              <a:t>gnt</a:t>
            </a:r>
          </a:p>
        </p:txBody>
      </p:sp>
      <p:sp>
        <p:nvSpPr>
          <p:cNvPr id="43" name="SA mem w"/>
          <p:cNvSpPr/>
          <p:nvPr/>
        </p:nvSpPr>
        <p:spPr>
          <a:xfrm>
            <a:off x="7543800" y="2357437"/>
            <a:ext cx="1200150" cy="357187"/>
          </a:xfrm>
          <a:prstGeom prst="rect">
            <a:avLst/>
          </a:prstGeom>
          <a:solidFill>
            <a:srgbClr val="E8F5E9"/>
          </a:solidFill>
          <a:ln w="19050">
            <a:solidFill>
              <a:srgbClr val="2E7D32"/>
            </a:solidFill>
          </a:ln>
        </p:spPr>
        <p:txBody>
          <a:bodyPr rtlCol="0" anchor="ctr" wrap="square" lIns="0" rIns="0" tIns="0" bIns="0"/>
          <a:lstStyle/>
          <a:p>
            <a:pPr algn="ctr"/>
            <a:r>
              <a:rPr sz="900" b="1">
                <a:solidFill>
                  <a:srgbClr val="2E7D32"/>
                </a:solidFill>
                <a:latin typeface="Calibri"/>
              </a:rPr>
              <a:t>written ✓</a:t>
            </a:r>
          </a:p>
        </p:txBody>
      </p:sp>
      <p:cxnSp>
        <p:nvCxnSpPr>
          <p:cNvPr id="44" name="SA rv"/>
          <p:cNvCxnSpPr/>
          <p:nvPr/>
        </p:nvCxnSpPr>
        <p:spPr>
          <a:xfrm flipH="1">
            <a:off x="6858000" y="2571750"/>
            <a:ext cx="571500" cy="0"/>
          </a:xfrm>
          <a:prstGeom prst="line">
            <a:avLst/>
          </a:prstGeom>
          <a:ln w="50800">
            <a:solidFill>
              <a:srgbClr val="2E7D32"/>
            </a:solidFill>
            <a:tailEnd type="triangle" w="med" len="med"/>
          </a:ln>
        </p:spPr>
      </p:cxnSp>
      <p:sp>
        <p:nvSpPr>
          <p:cNvPr id="45" name="SA rv lbl"/>
          <p:cNvSpPr/>
          <p:nvPr/>
        </p:nvSpPr>
        <p:spPr>
          <a:xfrm>
            <a:off x="6843712" y="2357437"/>
            <a:ext cx="600075" cy="171450"/>
          </a:xfrm>
          <a:prstGeom prst="rect">
            <a:avLst/>
          </a:prstGeom>
          <a:solidFill>
            <a:srgbClr val="FFFFFF"/>
          </a:solidFill>
          <a:ln>
            <a:noFill/>
          </a:ln>
        </p:spPr>
        <p:txBody>
          <a:bodyPr rtlCol="0" anchor="ctr" wrap="square" lIns="0" rIns="0" tIns="0" bIns="0"/>
          <a:lstStyle/>
          <a:p>
            <a:pPr algn="ctr"/>
            <a:r>
              <a:rPr sz="731" b="1">
                <a:solidFill>
                  <a:srgbClr val="2E7D32"/>
                </a:solidFill>
                <a:latin typeface="Calibri"/>
              </a:rPr>
              <a:t>rvalid</a:t>
            </a:r>
          </a:p>
        </p:txBody>
      </p:sp>
      <p:sp>
        <p:nvSpPr>
          <p:cNvPr id="46" name="SA eng st"/>
          <p:cNvSpPr/>
          <p:nvPr/>
        </p:nvSpPr>
        <p:spPr>
          <a:xfrm>
            <a:off x="5543550" y="2428875"/>
            <a:ext cx="1200150" cy="285750"/>
          </a:xfrm>
          <a:prstGeom prst="rect">
            <a:avLst/>
          </a:prstGeom>
          <a:solidFill>
            <a:srgbClr val="E8F5E9"/>
          </a:solidFill>
          <a:ln w="19050">
            <a:solidFill>
              <a:srgbClr val="2E7D32"/>
            </a:solidFill>
          </a:ln>
        </p:spPr>
        <p:txBody>
          <a:bodyPr rtlCol="0" anchor="ctr" wrap="square" lIns="0" rIns="0" tIns="0" bIns="0"/>
          <a:lstStyle/>
          <a:p>
            <a:pPr algn="ctr"/>
            <a:r>
              <a:rPr sz="843" b="1">
                <a:solidFill>
                  <a:srgbClr val="12343B"/>
                </a:solidFill>
                <a:latin typeface="Calibri"/>
              </a:rPr>
              <a:t>reply stored</a:t>
            </a:r>
          </a:p>
        </p:txBody>
      </p:sp>
      <p:sp>
        <p:nvSpPr>
          <p:cNvPr id="47" name="SA cap 3"/>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The subordinate grants, does the write and answers with rvalid and a reply, all on its own</a:t>
            </a:r>
          </a:p>
          <a:p>
            <a:pPr algn="l"/>
            <a:r>
              <a:rPr sz="1237" b="0">
                <a:solidFill>
                  <a:srgbClr val="FFFFFF"/>
                </a:solidFill>
                <a:latin typeface="Calibri"/>
              </a:rPr>
              <a:t>clock. JTAG just waits a few TCK cycles meanwhile.</a:t>
            </a:r>
          </a:p>
        </p:txBody>
      </p:sp>
      <p:cxnSp>
        <p:nvCxnSpPr>
          <p:cNvPr id="48" name="SA done"/>
          <p:cNvCxnSpPr/>
          <p:nvPr/>
        </p:nvCxnSpPr>
        <p:spPr>
          <a:xfrm flipH="1">
            <a:off x="4143375" y="2714625"/>
            <a:ext cx="1285875" cy="0"/>
          </a:xfrm>
          <a:prstGeom prst="line">
            <a:avLst/>
          </a:prstGeom>
          <a:ln w="50800">
            <a:solidFill>
              <a:srgbClr val="2E7D32"/>
            </a:solidFill>
            <a:tailEnd type="triangle" w="med" len="med"/>
          </a:ln>
        </p:spPr>
      </p:cxnSp>
      <p:sp>
        <p:nvSpPr>
          <p:cNvPr id="49" name="SA R full"/>
          <p:cNvSpPr/>
          <p:nvPr/>
        </p:nvSpPr>
        <p:spPr>
          <a:xfrm>
            <a:off x="2286000" y="2428875"/>
            <a:ext cx="1857375" cy="571500"/>
          </a:xfrm>
          <a:prstGeom prst="rect">
            <a:avLst/>
          </a:prstGeom>
          <a:solidFill>
            <a:srgbClr val="E8F5E9"/>
          </a:solidFill>
          <a:ln w="31750">
            <a:solidFill>
              <a:srgbClr val="2E7D32"/>
            </a:solidFill>
          </a:ln>
        </p:spPr>
        <p:txBody>
          <a:bodyPr rtlCol="0" anchor="ctr" wrap="square" lIns="21431" rIns="21431" tIns="21431" bIns="21431"/>
          <a:lstStyle/>
          <a:p>
            <a:pPr algn="ctr"/>
            <a:r>
              <a:rPr sz="731" b="1">
                <a:solidFill>
                  <a:srgbClr val="9E9E9E"/>
                </a:solidFill>
                <a:latin typeface="Calibri"/>
              </a:rPr>
              <a:t>R cell (reply)</a:t>
            </a:r>
          </a:p>
          <a:p>
            <a:pPr algn="ctr"/>
            <a:r>
              <a:rPr sz="900" b="1">
                <a:solidFill>
                  <a:srgbClr val="12343B"/>
                </a:solidFill>
                <a:latin typeface="Calibri"/>
              </a:rPr>
              <a:t>valid = 1 · OK · same ID</a:t>
            </a:r>
          </a:p>
        </p:txBody>
      </p:sp>
      <p:sp>
        <p:nvSpPr>
          <p:cNvPr id="50" name="SA cap 4"/>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Capture-DR: the reply crosses back to TCK and the cut's R cell records it</a:t>
            </a:r>
          </a:p>
          <a:p>
            <a:pPr algn="l"/>
            <a:r>
              <a:rPr sz="1237" b="0">
                <a:solidFill>
                  <a:srgbClr val="FFFFFF"/>
                </a:solidFill>
                <a:latin typeface="Calibri"/>
              </a:rPr>
              <a:t>(valid, error flag, ID and, for a read, the data).</a:t>
            </a:r>
          </a:p>
        </p:txBody>
      </p:sp>
      <p:cxnSp>
        <p:nvCxnSpPr>
          <p:cNvPr id="51" name="SA shift out"/>
          <p:cNvCxnSpPr/>
          <p:nvPr/>
        </p:nvCxnSpPr>
        <p:spPr>
          <a:xfrm>
            <a:off x="3964781" y="3000375"/>
            <a:ext cx="0" cy="357187"/>
          </a:xfrm>
          <a:prstGeom prst="line">
            <a:avLst/>
          </a:prstGeom>
          <a:ln w="50800">
            <a:solidFill>
              <a:srgbClr val="2E7D32"/>
            </a:solidFill>
            <a:tailEnd type="triangle" w="med" len="med"/>
          </a:ln>
        </p:spPr>
      </p:cxnSp>
      <p:sp>
        <p:nvSpPr>
          <p:cNvPr id="52" name="SA tdo w"/>
          <p:cNvSpPr/>
          <p:nvPr/>
        </p:nvSpPr>
        <p:spPr>
          <a:xfrm>
            <a:off x="4429125" y="3328987"/>
            <a:ext cx="1428750" cy="314325"/>
          </a:xfrm>
          <a:prstGeom prst="roundRect">
            <a:avLst>
              <a:gd name="adj" fmla="val 15000"/>
            </a:avLst>
          </a:prstGeom>
          <a:solidFill>
            <a:srgbClr val="E8F5E9"/>
          </a:solidFill>
          <a:ln w="19050">
            <a:solidFill>
              <a:srgbClr val="2E7D32"/>
            </a:solidFill>
          </a:ln>
        </p:spPr>
        <p:txBody>
          <a:bodyPr rtlCol="0" anchor="ctr" wrap="square" lIns="0" rIns="0" tIns="0" bIns="0"/>
          <a:lstStyle/>
          <a:p>
            <a:pPr algn="ctr"/>
            <a:r>
              <a:rPr sz="843" b="1">
                <a:solidFill>
                  <a:srgbClr val="2E7D32"/>
                </a:solidFill>
                <a:latin typeface="Calibri"/>
              </a:rPr>
              <a:t>write accepted ✓</a:t>
            </a:r>
          </a:p>
        </p:txBody>
      </p:sp>
      <p:sp>
        <p:nvSpPr>
          <p:cNvPr id="53" name="SA cap 5"/>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Shift-DR: the reply comes out at TDO while the next request goes in.</a:t>
            </a:r>
          </a:p>
          <a:p>
            <a:pPr algn="l"/>
            <a:r>
              <a:rPr sz="1237" b="0">
                <a:solidFill>
                  <a:srgbClr val="FFFFFF"/>
                </a:solidFill>
                <a:latin typeface="Calibri"/>
              </a:rPr>
              <a:t>One transfer = two scans with a short wait in between.</a:t>
            </a:r>
          </a:p>
        </p:txBody>
      </p:sp>
      <p:sp>
        <p:nvSpPr>
          <p:cNvPr id="54" name="SA A read"/>
          <p:cNvSpPr/>
          <p:nvPr/>
        </p:nvSpPr>
        <p:spPr>
          <a:xfrm>
            <a:off x="2286000" y="1285875"/>
            <a:ext cx="1857375" cy="571500"/>
          </a:xfrm>
          <a:prstGeom prst="rect">
            <a:avLst/>
          </a:prstGeom>
          <a:solidFill>
            <a:srgbClr val="FFF3E0"/>
          </a:solidFill>
          <a:ln w="31750">
            <a:solidFill>
              <a:srgbClr val="E39B2D"/>
            </a:solidFill>
          </a:ln>
        </p:spPr>
        <p:txBody>
          <a:bodyPr rtlCol="0" anchor="ctr" wrap="square" lIns="21431" rIns="21431" tIns="21431" bIns="21431"/>
          <a:lstStyle/>
          <a:p>
            <a:pPr algn="ctr"/>
            <a:r>
              <a:rPr sz="731" b="1">
                <a:solidFill>
                  <a:srgbClr val="9E9E9E"/>
                </a:solidFill>
                <a:latin typeface="Calibri"/>
              </a:rPr>
              <a:t>A cell (request)</a:t>
            </a:r>
          </a:p>
          <a:p>
            <a:pPr algn="ctr"/>
            <a:r>
              <a:rPr sz="900" b="1">
                <a:solidFill>
                  <a:srgbClr val="12343B"/>
                </a:solidFill>
                <a:latin typeface="Calibri"/>
              </a:rPr>
              <a:t>valid = 1 · read</a:t>
            </a:r>
          </a:p>
        </p:txBody>
      </p:sp>
      <p:sp>
        <p:nvSpPr>
          <p:cNvPr id="55" name="SA R read"/>
          <p:cNvSpPr/>
          <p:nvPr/>
        </p:nvSpPr>
        <p:spPr>
          <a:xfrm>
            <a:off x="2286000" y="2428875"/>
            <a:ext cx="1857375" cy="571500"/>
          </a:xfrm>
          <a:prstGeom prst="rect">
            <a:avLst/>
          </a:prstGeom>
          <a:solidFill>
            <a:srgbClr val="E8F5E9"/>
          </a:solidFill>
          <a:ln w="31750">
            <a:solidFill>
              <a:srgbClr val="2E7D32"/>
            </a:solidFill>
          </a:ln>
        </p:spPr>
        <p:txBody>
          <a:bodyPr rtlCol="0" anchor="ctr" wrap="square" lIns="21431" rIns="21431" tIns="21431" bIns="21431"/>
          <a:lstStyle/>
          <a:p>
            <a:pPr algn="ctr"/>
            <a:r>
              <a:rPr sz="731" b="1">
                <a:solidFill>
                  <a:srgbClr val="9E9E9E"/>
                </a:solidFill>
                <a:latin typeface="Calibri"/>
              </a:rPr>
              <a:t>R cell (reply)</a:t>
            </a:r>
          </a:p>
          <a:p>
            <a:pPr algn="ctr"/>
            <a:r>
              <a:rPr sz="900" b="1">
                <a:solidFill>
                  <a:srgbClr val="12343B"/>
                </a:solidFill>
                <a:latin typeface="Calibri"/>
              </a:rPr>
              <a:t>valid = 1 · data</a:t>
            </a:r>
          </a:p>
        </p:txBody>
      </p:sp>
      <p:sp>
        <p:nvSpPr>
          <p:cNvPr id="56" name="SA tdo r"/>
          <p:cNvSpPr/>
          <p:nvPr/>
        </p:nvSpPr>
        <p:spPr>
          <a:xfrm>
            <a:off x="4429125" y="3328987"/>
            <a:ext cx="1428750" cy="314325"/>
          </a:xfrm>
          <a:prstGeom prst="roundRect">
            <a:avLst>
              <a:gd name="adj" fmla="val 15000"/>
            </a:avLst>
          </a:prstGeom>
          <a:solidFill>
            <a:srgbClr val="E8F5E9"/>
          </a:solidFill>
          <a:ln w="19050">
            <a:solidFill>
              <a:srgbClr val="2E7D32"/>
            </a:solidFill>
          </a:ln>
        </p:spPr>
        <p:txBody>
          <a:bodyPr rtlCol="0" anchor="ctr" wrap="square" lIns="0" rIns="0" tIns="0" bIns="0"/>
          <a:lstStyle/>
          <a:p>
            <a:pPr algn="ctr"/>
            <a:r>
              <a:rPr sz="843" b="1">
                <a:solidFill>
                  <a:srgbClr val="2E7D32"/>
                </a:solidFill>
                <a:latin typeface="Calibri"/>
              </a:rPr>
              <a:t>read = written data ✓</a:t>
            </a:r>
          </a:p>
        </p:txBody>
      </p:sp>
      <p:sp>
        <p:nvSpPr>
          <p:cNvPr id="57" name="SA cap 6"/>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The same two scans with a read return the data just written. A request to the error</a:t>
            </a:r>
          </a:p>
          <a:p>
            <a:pPr algn="l"/>
            <a:r>
              <a:rPr sz="1237" b="0">
                <a:solidFill>
                  <a:srgbClr val="FFFFFF"/>
                </a:solidFill>
                <a:latin typeface="Calibri"/>
              </a:rPr>
              <a:t>subordinate returns a bus error: JTAG sees exactly what a core would see.</a:t>
            </a:r>
          </a:p>
        </p:txBody>
      </p:sp>
      <p:sp>
        <p:nvSpPr>
          <p:cNvPr id="58" name="SA verified"/>
          <p:cNvSpPr/>
          <p:nvPr/>
        </p:nvSpPr>
        <p:spPr>
          <a:xfrm>
            <a:off x="7215187" y="185737"/>
            <a:ext cx="1643062" cy="200025"/>
          </a:xfrm>
          <a:prstGeom prst="roundRect">
            <a:avLst>
              <a:gd name="adj" fmla="val 15000"/>
            </a:avLst>
          </a:prstGeom>
          <a:solidFill>
            <a:srgbClr val="2E7D32"/>
          </a:solidFill>
          <a:ln>
            <a:noFill/>
          </a:ln>
        </p:spPr>
        <p:txBody>
          <a:bodyPr rtlCol="0" anchor="ctr" wrap="square" lIns="0" rIns="0" tIns="0" bIns="0"/>
          <a:lstStyle/>
          <a:p>
            <a:pPr algn="ctr"/>
            <a:r>
              <a:rPr sz="843" b="1">
                <a:solidFill>
                  <a:srgbClr val="FFFFFF"/>
                </a:solidFill>
                <a:latin typeface="Calibri"/>
              </a:rPr>
              <a:t>Verified in simulation</a:t>
            </a:r>
          </a:p>
        </p:txBody>
      </p:sp>
      <p:sp>
        <p:nvSpPr>
          <p:cNvPr id="59" name="SA cost"/>
          <p:cNvSpPr/>
          <p:nvPr/>
        </p:nvSpPr>
        <p:spPr>
          <a:xfrm>
            <a:off x="6143625" y="3357562"/>
            <a:ext cx="2714625" cy="642937"/>
          </a:xfrm>
          <a:prstGeom prst="roundRect">
            <a:avLst>
              <a:gd name="adj" fmla="val 11111"/>
            </a:avLst>
          </a:prstGeom>
          <a:solidFill>
            <a:srgbClr val="FFFFFF"/>
          </a:solidFill>
          <a:ln w="19050">
            <a:solidFill>
              <a:srgbClr val="93005F"/>
            </a:solidFill>
          </a:ln>
        </p:spPr>
        <p:txBody>
          <a:bodyPr rtlCol="0" anchor="ctr" wrap="square" lIns="28575" rIns="28575" tIns="28575" bIns="28575"/>
          <a:lstStyle/>
          <a:p>
            <a:pPr algn="ctr"/>
            <a:r>
              <a:rPr sz="1462" b="1">
                <a:solidFill>
                  <a:srgbClr val="93005F"/>
                </a:solidFill>
                <a:latin typeface="Calibri"/>
              </a:rPr>
              <a:t>+2.3 kGE</a:t>
            </a:r>
          </a:p>
          <a:p>
            <a:pPr algn="ctr"/>
            <a:r>
              <a:rPr sz="731" b="0">
                <a:solidFill>
                  <a:srgbClr val="9E9E9E"/>
                </a:solidFill>
                <a:latin typeface="Calibri"/>
              </a:rPr>
              <a:t>on top of isolation: engines + synchronisers</a:t>
            </a:r>
          </a:p>
        </p:txBody>
      </p:sp>
      <p:sp>
        <p:nvSpPr>
          <p:cNvPr id="60" name="SA cap 7"/>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Memories and peripherals can be read and written over JTAG even if the core or the</a:t>
            </a:r>
          </a:p>
          <a:p>
            <a:pPr algn="l"/>
            <a:r>
              <a:rPr sz="1237" b="0">
                <a:solidFill>
                  <a:srgbClr val="FFFFFF"/>
                </a:solidFill>
                <a:latin typeface="Calibri"/>
              </a:rPr>
              <a:t>debug path is broken. Cost: +2.3 kGE on top of isolation.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25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250"/>
                                        <p:tgtEl>
                                          <p:spTgt spid="3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fade">
                                      <p:cBhvr>
                                        <p:cTn id="13" dur="250"/>
                                        <p:tgtEl>
                                          <p:spTgt spid="35"/>
                                        </p:tgtEl>
                                      </p:cBhvr>
                                    </p:animEffect>
                                  </p:childTnLst>
                                </p:cTn>
                              </p:par>
                            </p:childTnLst>
                          </p:cTn>
                        </p:par>
                        <p:par>
                          <p:cTn id="14" fill="hold">
                            <p:stCondLst>
                              <p:cond delay="400"/>
                            </p:stCondLst>
                            <p:childTnLst>
                              <p:par>
                                <p:cTn id="15" presetID="10" presetClass="entr" presetSubtype="0" fill="hold" grpId="0" nodeType="after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25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250"/>
                                        <p:tgtEl>
                                          <p:spTgt spid="27"/>
                                        </p:tgtEl>
                                      </p:cBhvr>
                                    </p:animEffect>
                                    <p:set>
                                      <p:cBhvr>
                                        <p:cTn id="22" dur="1" fill="hold">
                                          <p:stCondLst>
                                            <p:cond delay="249"/>
                                          </p:stCondLst>
                                        </p:cTn>
                                        <p:tgtEl>
                                          <p:spTgt spid="27"/>
                                        </p:tgtEl>
                                        <p:attrNameLst>
                                          <p:attrName>style.visibility</p:attrName>
                                        </p:attrNameLst>
                                      </p:cBhvr>
                                      <p:to>
                                        <p:strVal val="hidden"/>
                                      </p:to>
                                    </p:se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xit" presetSubtype="0" fill="hold" grpId="1" nodeType="withEffect">
                                  <p:stCondLst>
                                    <p:cond delay="0"/>
                                  </p:stCondLst>
                                  <p:childTnLst>
                                    <p:animEffect transition="out" filter="fade">
                                      <p:cBhvr>
                                        <p:cTn id="27" dur="250"/>
                                        <p:tgtEl>
                                          <p:spTgt spid="33"/>
                                        </p:tgtEl>
                                      </p:cBhvr>
                                    </p:animEffect>
                                    <p:set>
                                      <p:cBhvr>
                                        <p:cTn id="28" dur="1" fill="hold">
                                          <p:stCondLst>
                                            <p:cond delay="249"/>
                                          </p:stCondLst>
                                        </p:cTn>
                                        <p:tgtEl>
                                          <p:spTgt spid="33"/>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250"/>
                                        <p:tgtEl>
                                          <p:spTgt spid="3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250"/>
                                        <p:tgtEl>
                                          <p:spTgt spid="40"/>
                                        </p:tgtEl>
                                      </p:cBhvr>
                                    </p:animEffect>
                                  </p:childTnLst>
                                </p:cTn>
                              </p:par>
                            </p:childTnLst>
                          </p:cTn>
                        </p:par>
                        <p:par>
                          <p:cTn id="35" fill="hold">
                            <p:stCondLst>
                              <p:cond delay="400"/>
                            </p:stCondLst>
                            <p:childTnLst>
                              <p:par>
                                <p:cTn id="36" presetID="10" presetClass="entr" presetSubtype="0" fill="hold" grpId="0" nodeType="after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250"/>
                                        <p:tgtEl>
                                          <p:spTgt spid="37"/>
                                        </p:tgtEl>
                                      </p:cBhvr>
                                    </p:animEffect>
                                  </p:childTnLst>
                                </p:cTn>
                              </p:par>
                            </p:childTnLst>
                          </p:cTn>
                        </p:par>
                        <p:par>
                          <p:cTn id="39" fill="hold">
                            <p:stCondLst>
                              <p:cond delay="700"/>
                            </p:stCondLst>
                            <p:childTnLst>
                              <p:par>
                                <p:cTn id="40" presetID="10" presetClass="entr" presetSubtype="0" fill="hold" grpId="0"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250"/>
                                        <p:tgtEl>
                                          <p:spTgt spid="3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fade">
                                      <p:cBhvr>
                                        <p:cTn id="45" dur="250"/>
                                        <p:tgtEl>
                                          <p:spTgt spid="39"/>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grpId="1" nodeType="clickEffect">
                                  <p:stCondLst>
                                    <p:cond delay="0"/>
                                  </p:stCondLst>
                                  <p:childTnLst>
                                    <p:animEffect transition="out" filter="fade">
                                      <p:cBhvr>
                                        <p:cTn id="49" dur="250"/>
                                        <p:tgtEl>
                                          <p:spTgt spid="28"/>
                                        </p:tgtEl>
                                      </p:cBhvr>
                                    </p:animEffect>
                                    <p:set>
                                      <p:cBhvr>
                                        <p:cTn id="50" dur="1" fill="hold">
                                          <p:stCondLst>
                                            <p:cond delay="249"/>
                                          </p:stCondLst>
                                        </p:cTn>
                                        <p:tgtEl>
                                          <p:spTgt spid="28"/>
                                        </p:tgtEl>
                                        <p:attrNameLst>
                                          <p:attrName>style.visibility</p:attrName>
                                        </p:attrNameLst>
                                      </p:cBhvr>
                                      <p:to>
                                        <p:strVal val="hidden"/>
                                      </p:to>
                                    </p:set>
                                  </p:childTnLst>
                                </p:cTn>
                              </p:par>
                              <p:par>
                                <p:cTn id="51"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250"/>
                                        <p:tgtEl>
                                          <p:spTgt spid="2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fade">
                                      <p:cBhvr>
                                        <p:cTn id="56" dur="250"/>
                                        <p:tgtEl>
                                          <p:spTgt spid="4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2"/>
                                        </p:tgtEl>
                                        <p:attrNameLst>
                                          <p:attrName>style.visibility</p:attrName>
                                        </p:attrNameLst>
                                      </p:cBhvr>
                                      <p:to>
                                        <p:strVal val="visible"/>
                                      </p:to>
                                    </p:set>
                                    <p:animEffect transition="in" filter="fade">
                                      <p:cBhvr>
                                        <p:cTn id="59" dur="250"/>
                                        <p:tgtEl>
                                          <p:spTgt spid="4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7"/>
                                        </p:tgtEl>
                                        <p:attrNameLst>
                                          <p:attrName>style.visibility</p:attrName>
                                        </p:attrNameLst>
                                      </p:cBhvr>
                                      <p:to>
                                        <p:strVal val="visible"/>
                                      </p:to>
                                    </p:set>
                                    <p:animEffect transition="in" filter="fade">
                                      <p:cBhvr>
                                        <p:cTn id="62" dur="250"/>
                                        <p:tgtEl>
                                          <p:spTgt spid="47"/>
                                        </p:tgtEl>
                                      </p:cBhvr>
                                    </p:animEffect>
                                  </p:childTnLst>
                                </p:cTn>
                              </p:par>
                            </p:childTnLst>
                          </p:cTn>
                        </p:par>
                        <p:par>
                          <p:cTn id="63" fill="hold">
                            <p:stCondLst>
                              <p:cond delay="500"/>
                            </p:stCondLst>
                            <p:childTnLst>
                              <p:par>
                                <p:cTn id="64" presetID="10" presetClass="entr" presetSubtype="0" fill="hold" grpId="0" nodeType="afterEffect">
                                  <p:stCondLst>
                                    <p:cond delay="0"/>
                                  </p:stCondLst>
                                  <p:childTnLst>
                                    <p:set>
                                      <p:cBhvr>
                                        <p:cTn id="65" dur="1" fill="hold">
                                          <p:stCondLst>
                                            <p:cond delay="0"/>
                                          </p:stCondLst>
                                        </p:cTn>
                                        <p:tgtEl>
                                          <p:spTgt spid="43"/>
                                        </p:tgtEl>
                                        <p:attrNameLst>
                                          <p:attrName>style.visibility</p:attrName>
                                        </p:attrNameLst>
                                      </p:cBhvr>
                                      <p:to>
                                        <p:strVal val="visible"/>
                                      </p:to>
                                    </p:set>
                                    <p:animEffect transition="in" filter="fade">
                                      <p:cBhvr>
                                        <p:cTn id="66" dur="250"/>
                                        <p:tgtEl>
                                          <p:spTgt spid="43"/>
                                        </p:tgtEl>
                                      </p:cBhvr>
                                    </p:animEffect>
                                  </p:childTnLst>
                                </p:cTn>
                              </p:par>
                            </p:childTnLst>
                          </p:cTn>
                        </p:par>
                        <p:par>
                          <p:cTn id="67" fill="hold">
                            <p:stCondLst>
                              <p:cond delay="1000"/>
                            </p:stCondLst>
                            <p:childTnLst>
                              <p:par>
                                <p:cTn id="68" presetID="10" presetClass="entr" presetSubtype="0" fill="hold" grpId="0" nodeType="after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fade">
                                      <p:cBhvr>
                                        <p:cTn id="70" dur="250"/>
                                        <p:tgtEl>
                                          <p:spTgt spid="4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250"/>
                                        <p:tgtEl>
                                          <p:spTgt spid="45"/>
                                        </p:tgtEl>
                                      </p:cBhvr>
                                    </p:animEffect>
                                  </p:childTnLst>
                                </p:cTn>
                              </p:par>
                            </p:childTnLst>
                          </p:cTn>
                        </p:par>
                        <p:par>
                          <p:cTn id="74" fill="hold">
                            <p:stCondLst>
                              <p:cond delay="1400"/>
                            </p:stCondLst>
                            <p:childTnLst>
                              <p:par>
                                <p:cTn id="75" presetID="10" presetClass="entr" presetSubtype="0" fill="hold" grpId="0" nodeType="afterEffect">
                                  <p:stCondLst>
                                    <p:cond delay="0"/>
                                  </p:stCondLst>
                                  <p:childTnLst>
                                    <p:set>
                                      <p:cBhvr>
                                        <p:cTn id="76" dur="1" fill="hold">
                                          <p:stCondLst>
                                            <p:cond delay="0"/>
                                          </p:stCondLst>
                                        </p:cTn>
                                        <p:tgtEl>
                                          <p:spTgt spid="46"/>
                                        </p:tgtEl>
                                        <p:attrNameLst>
                                          <p:attrName>style.visibility</p:attrName>
                                        </p:attrNameLst>
                                      </p:cBhvr>
                                      <p:to>
                                        <p:strVal val="visible"/>
                                      </p:to>
                                    </p:set>
                                    <p:animEffect transition="in" filter="fade">
                                      <p:cBhvr>
                                        <p:cTn id="77" dur="250"/>
                                        <p:tgtEl>
                                          <p:spTgt spid="4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xit" presetSubtype="0" fill="hold" grpId="1" nodeType="clickEffect">
                                  <p:stCondLst>
                                    <p:cond delay="0"/>
                                  </p:stCondLst>
                                  <p:childTnLst>
                                    <p:animEffect transition="out" filter="fade">
                                      <p:cBhvr>
                                        <p:cTn id="81" dur="250"/>
                                        <p:tgtEl>
                                          <p:spTgt spid="29"/>
                                        </p:tgtEl>
                                      </p:cBhvr>
                                    </p:animEffect>
                                    <p:set>
                                      <p:cBhvr>
                                        <p:cTn id="82" dur="1" fill="hold">
                                          <p:stCondLst>
                                            <p:cond delay="249"/>
                                          </p:stCondLst>
                                        </p:cTn>
                                        <p:tgtEl>
                                          <p:spTgt spid="29"/>
                                        </p:tgtEl>
                                        <p:attrNameLst>
                                          <p:attrName>style.visibility</p:attrName>
                                        </p:attrNameLst>
                                      </p:cBhvr>
                                      <p:to>
                                        <p:strVal val="hidden"/>
                                      </p:to>
                                    </p:set>
                                  </p:childTnLst>
                                </p:cTn>
                              </p:par>
                              <p:par>
                                <p:cTn id="83" presetID="10"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250"/>
                                        <p:tgtEl>
                                          <p:spTgt spid="30"/>
                                        </p:tgtEl>
                                      </p:cBhvr>
                                    </p:animEffect>
                                  </p:childTnLst>
                                </p:cTn>
                              </p:par>
                              <p:par>
                                <p:cTn id="86" presetID="10" presetClass="exit" presetSubtype="0" fill="hold" grpId="1" nodeType="withEffect">
                                  <p:stCondLst>
                                    <p:cond delay="0"/>
                                  </p:stCondLst>
                                  <p:childTnLst>
                                    <p:animEffect transition="out" filter="fade">
                                      <p:cBhvr>
                                        <p:cTn id="87" dur="250"/>
                                        <p:tgtEl>
                                          <p:spTgt spid="36"/>
                                        </p:tgtEl>
                                      </p:cBhvr>
                                    </p:animEffect>
                                    <p:set>
                                      <p:cBhvr>
                                        <p:cTn id="88" dur="1" fill="hold">
                                          <p:stCondLst>
                                            <p:cond delay="249"/>
                                          </p:stCondLst>
                                        </p:cTn>
                                        <p:tgtEl>
                                          <p:spTgt spid="36"/>
                                        </p:tgtEl>
                                        <p:attrNameLst>
                                          <p:attrName>style.visibility</p:attrName>
                                        </p:attrNameLst>
                                      </p:cBhvr>
                                      <p:to>
                                        <p:strVal val="hidden"/>
                                      </p:to>
                                    </p:set>
                                  </p:childTnLst>
                                </p:cTn>
                              </p:par>
                              <p:par>
                                <p:cTn id="89" presetID="10" presetClass="exit" presetSubtype="0" fill="hold" grpId="1" nodeType="withEffect">
                                  <p:stCondLst>
                                    <p:cond delay="0"/>
                                  </p:stCondLst>
                                  <p:childTnLst>
                                    <p:animEffect transition="out" filter="fade">
                                      <p:cBhvr>
                                        <p:cTn id="90" dur="250"/>
                                        <p:tgtEl>
                                          <p:spTgt spid="38"/>
                                        </p:tgtEl>
                                      </p:cBhvr>
                                    </p:animEffect>
                                    <p:set>
                                      <p:cBhvr>
                                        <p:cTn id="91" dur="1" fill="hold">
                                          <p:stCondLst>
                                            <p:cond delay="249"/>
                                          </p:stCondLst>
                                        </p:cTn>
                                        <p:tgtEl>
                                          <p:spTgt spid="38"/>
                                        </p:tgtEl>
                                        <p:attrNameLst>
                                          <p:attrName>style.visibility</p:attrName>
                                        </p:attrNameLst>
                                      </p:cBhvr>
                                      <p:to>
                                        <p:strVal val="hidden"/>
                                      </p:to>
                                    </p:set>
                                  </p:childTnLst>
                                </p:cTn>
                              </p:par>
                              <p:par>
                                <p:cTn id="92" presetID="10" presetClass="exit" presetSubtype="0" fill="hold" grpId="1" nodeType="withEffect">
                                  <p:stCondLst>
                                    <p:cond delay="0"/>
                                  </p:stCondLst>
                                  <p:childTnLst>
                                    <p:animEffect transition="out" filter="fade">
                                      <p:cBhvr>
                                        <p:cTn id="93" dur="250"/>
                                        <p:tgtEl>
                                          <p:spTgt spid="39"/>
                                        </p:tgtEl>
                                      </p:cBhvr>
                                    </p:animEffect>
                                    <p:set>
                                      <p:cBhvr>
                                        <p:cTn id="94" dur="1" fill="hold">
                                          <p:stCondLst>
                                            <p:cond delay="249"/>
                                          </p:stCondLst>
                                        </p:cTn>
                                        <p:tgtEl>
                                          <p:spTgt spid="39"/>
                                        </p:tgtEl>
                                        <p:attrNameLst>
                                          <p:attrName>style.visibility</p:attrName>
                                        </p:attrNameLst>
                                      </p:cBhvr>
                                      <p:to>
                                        <p:strVal val="hidden"/>
                                      </p:to>
                                    </p:set>
                                  </p:childTnLst>
                                </p:cTn>
                              </p:par>
                              <p:par>
                                <p:cTn id="95" presetID="10" presetClass="exit" presetSubtype="0" fill="hold" grpId="1" nodeType="withEffect">
                                  <p:stCondLst>
                                    <p:cond delay="0"/>
                                  </p:stCondLst>
                                  <p:childTnLst>
                                    <p:animEffect transition="out" filter="fade">
                                      <p:cBhvr>
                                        <p:cTn id="96" dur="250"/>
                                        <p:tgtEl>
                                          <p:spTgt spid="41"/>
                                        </p:tgtEl>
                                      </p:cBhvr>
                                    </p:animEffect>
                                    <p:set>
                                      <p:cBhvr>
                                        <p:cTn id="97" dur="1" fill="hold">
                                          <p:stCondLst>
                                            <p:cond delay="249"/>
                                          </p:stCondLst>
                                        </p:cTn>
                                        <p:tgtEl>
                                          <p:spTgt spid="41"/>
                                        </p:tgtEl>
                                        <p:attrNameLst>
                                          <p:attrName>style.visibility</p:attrName>
                                        </p:attrNameLst>
                                      </p:cBhvr>
                                      <p:to>
                                        <p:strVal val="hidden"/>
                                      </p:to>
                                    </p:set>
                                  </p:childTnLst>
                                </p:cTn>
                              </p:par>
                              <p:par>
                                <p:cTn id="98" presetID="10" presetClass="exit" presetSubtype="0" fill="hold" grpId="1" nodeType="withEffect">
                                  <p:stCondLst>
                                    <p:cond delay="0"/>
                                  </p:stCondLst>
                                  <p:childTnLst>
                                    <p:animEffect transition="out" filter="fade">
                                      <p:cBhvr>
                                        <p:cTn id="99" dur="250"/>
                                        <p:tgtEl>
                                          <p:spTgt spid="42"/>
                                        </p:tgtEl>
                                      </p:cBhvr>
                                    </p:animEffect>
                                    <p:set>
                                      <p:cBhvr>
                                        <p:cTn id="100" dur="1" fill="hold">
                                          <p:stCondLst>
                                            <p:cond delay="249"/>
                                          </p:stCondLst>
                                        </p:cTn>
                                        <p:tgtEl>
                                          <p:spTgt spid="42"/>
                                        </p:tgtEl>
                                        <p:attrNameLst>
                                          <p:attrName>style.visibility</p:attrName>
                                        </p:attrNameLst>
                                      </p:cBhvr>
                                      <p:to>
                                        <p:strVal val="hidden"/>
                                      </p:to>
                                    </p:set>
                                  </p:childTnLst>
                                </p:cTn>
                              </p:par>
                              <p:par>
                                <p:cTn id="101" presetID="10" presetClass="exit" presetSubtype="0" fill="hold" grpId="1" nodeType="withEffect">
                                  <p:stCondLst>
                                    <p:cond delay="0"/>
                                  </p:stCondLst>
                                  <p:childTnLst>
                                    <p:animEffect transition="out" filter="fade">
                                      <p:cBhvr>
                                        <p:cTn id="102" dur="250"/>
                                        <p:tgtEl>
                                          <p:spTgt spid="44"/>
                                        </p:tgtEl>
                                      </p:cBhvr>
                                    </p:animEffect>
                                    <p:set>
                                      <p:cBhvr>
                                        <p:cTn id="103" dur="1" fill="hold">
                                          <p:stCondLst>
                                            <p:cond delay="249"/>
                                          </p:stCondLst>
                                        </p:cTn>
                                        <p:tgtEl>
                                          <p:spTgt spid="44"/>
                                        </p:tgtEl>
                                        <p:attrNameLst>
                                          <p:attrName>style.visibility</p:attrName>
                                        </p:attrNameLst>
                                      </p:cBhvr>
                                      <p:to>
                                        <p:strVal val="hidden"/>
                                      </p:to>
                                    </p:set>
                                  </p:childTnLst>
                                </p:cTn>
                              </p:par>
                              <p:par>
                                <p:cTn id="104" presetID="10" presetClass="exit" presetSubtype="0" fill="hold" grpId="1" nodeType="withEffect">
                                  <p:stCondLst>
                                    <p:cond delay="0"/>
                                  </p:stCondLst>
                                  <p:childTnLst>
                                    <p:animEffect transition="out" filter="fade">
                                      <p:cBhvr>
                                        <p:cTn id="105" dur="250"/>
                                        <p:tgtEl>
                                          <p:spTgt spid="45"/>
                                        </p:tgtEl>
                                      </p:cBhvr>
                                    </p:animEffect>
                                    <p:set>
                                      <p:cBhvr>
                                        <p:cTn id="106" dur="1" fill="hold">
                                          <p:stCondLst>
                                            <p:cond delay="249"/>
                                          </p:stCondLst>
                                        </p:cTn>
                                        <p:tgtEl>
                                          <p:spTgt spid="45"/>
                                        </p:tgtEl>
                                        <p:attrNameLst>
                                          <p:attrName>style.visibility</p:attrName>
                                        </p:attrNameLst>
                                      </p:cBhvr>
                                      <p:to>
                                        <p:strVal val="hidden"/>
                                      </p:to>
                                    </p:set>
                                  </p:childTnLst>
                                </p:cTn>
                              </p:par>
                              <p:par>
                                <p:cTn id="107" presetID="10" presetClass="entr" presetSubtype="0" fill="hold" grpId="0" nodeType="withEffect">
                                  <p:stCondLst>
                                    <p:cond delay="0"/>
                                  </p:stCondLst>
                                  <p:childTnLst>
                                    <p:set>
                                      <p:cBhvr>
                                        <p:cTn id="108" dur="1" fill="hold">
                                          <p:stCondLst>
                                            <p:cond delay="0"/>
                                          </p:stCondLst>
                                        </p:cTn>
                                        <p:tgtEl>
                                          <p:spTgt spid="48"/>
                                        </p:tgtEl>
                                        <p:attrNameLst>
                                          <p:attrName>style.visibility</p:attrName>
                                        </p:attrNameLst>
                                      </p:cBhvr>
                                      <p:to>
                                        <p:strVal val="visible"/>
                                      </p:to>
                                    </p:set>
                                    <p:animEffect transition="in" filter="fade">
                                      <p:cBhvr>
                                        <p:cTn id="109" dur="250"/>
                                        <p:tgtEl>
                                          <p:spTgt spid="4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50"/>
                                        </p:tgtEl>
                                        <p:attrNameLst>
                                          <p:attrName>style.visibility</p:attrName>
                                        </p:attrNameLst>
                                      </p:cBhvr>
                                      <p:to>
                                        <p:strVal val="visible"/>
                                      </p:to>
                                    </p:set>
                                    <p:animEffect transition="in" filter="fade">
                                      <p:cBhvr>
                                        <p:cTn id="112" dur="250"/>
                                        <p:tgtEl>
                                          <p:spTgt spid="50"/>
                                        </p:tgtEl>
                                      </p:cBhvr>
                                    </p:animEffect>
                                  </p:childTnLst>
                                </p:cTn>
                              </p:par>
                            </p:childTnLst>
                          </p:cTn>
                        </p:par>
                        <p:par>
                          <p:cTn id="113" fill="hold">
                            <p:stCondLst>
                              <p:cond delay="400"/>
                            </p:stCondLst>
                            <p:childTnLst>
                              <p:par>
                                <p:cTn id="114" presetID="10" presetClass="entr" presetSubtype="0" fill="hold" grpId="0" nodeType="afterEffect">
                                  <p:stCondLst>
                                    <p:cond delay="0"/>
                                  </p:stCondLst>
                                  <p:childTnLst>
                                    <p:set>
                                      <p:cBhvr>
                                        <p:cTn id="115" dur="1" fill="hold">
                                          <p:stCondLst>
                                            <p:cond delay="0"/>
                                          </p:stCondLst>
                                        </p:cTn>
                                        <p:tgtEl>
                                          <p:spTgt spid="49"/>
                                        </p:tgtEl>
                                        <p:attrNameLst>
                                          <p:attrName>style.visibility</p:attrName>
                                        </p:attrNameLst>
                                      </p:cBhvr>
                                      <p:to>
                                        <p:strVal val="visible"/>
                                      </p:to>
                                    </p:set>
                                    <p:animEffect transition="in" filter="fade">
                                      <p:cBhvr>
                                        <p:cTn id="116" dur="250"/>
                                        <p:tgtEl>
                                          <p:spTgt spid="49"/>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xit" presetSubtype="0" fill="hold" grpId="1" nodeType="clickEffect">
                                  <p:stCondLst>
                                    <p:cond delay="0"/>
                                  </p:stCondLst>
                                  <p:childTnLst>
                                    <p:animEffect transition="out" filter="fade">
                                      <p:cBhvr>
                                        <p:cTn id="120" dur="250"/>
                                        <p:tgtEl>
                                          <p:spTgt spid="30"/>
                                        </p:tgtEl>
                                      </p:cBhvr>
                                    </p:animEffect>
                                    <p:set>
                                      <p:cBhvr>
                                        <p:cTn id="121" dur="1" fill="hold">
                                          <p:stCondLst>
                                            <p:cond delay="249"/>
                                          </p:stCondLst>
                                        </p:cTn>
                                        <p:tgtEl>
                                          <p:spTgt spid="30"/>
                                        </p:tgtEl>
                                        <p:attrNameLst>
                                          <p:attrName>style.visibility</p:attrName>
                                        </p:attrNameLst>
                                      </p:cBhvr>
                                      <p:to>
                                        <p:strVal val="hidden"/>
                                      </p:to>
                                    </p:set>
                                  </p:childTnLst>
                                </p:cTn>
                              </p:par>
                              <p:par>
                                <p:cTn id="122" presetID="10" presetClass="entr" presetSubtype="0" fill="hold" grpId="0" nodeType="withEffect">
                                  <p:stCondLst>
                                    <p:cond delay="0"/>
                                  </p:stCondLst>
                                  <p:childTnLst>
                                    <p:set>
                                      <p:cBhvr>
                                        <p:cTn id="123" dur="1" fill="hold">
                                          <p:stCondLst>
                                            <p:cond delay="0"/>
                                          </p:stCondLst>
                                        </p:cTn>
                                        <p:tgtEl>
                                          <p:spTgt spid="31"/>
                                        </p:tgtEl>
                                        <p:attrNameLst>
                                          <p:attrName>style.visibility</p:attrName>
                                        </p:attrNameLst>
                                      </p:cBhvr>
                                      <p:to>
                                        <p:strVal val="visible"/>
                                      </p:to>
                                    </p:set>
                                    <p:animEffect transition="in" filter="fade">
                                      <p:cBhvr>
                                        <p:cTn id="124" dur="250"/>
                                        <p:tgtEl>
                                          <p:spTgt spid="31"/>
                                        </p:tgtEl>
                                      </p:cBhvr>
                                    </p:animEffect>
                                  </p:childTnLst>
                                </p:cTn>
                              </p:par>
                              <p:par>
                                <p:cTn id="125" presetID="10" presetClass="exit" presetSubtype="0" fill="hold" grpId="1" nodeType="withEffect">
                                  <p:stCondLst>
                                    <p:cond delay="0"/>
                                  </p:stCondLst>
                                  <p:childTnLst>
                                    <p:animEffect transition="out" filter="fade">
                                      <p:cBhvr>
                                        <p:cTn id="126" dur="250"/>
                                        <p:tgtEl>
                                          <p:spTgt spid="48"/>
                                        </p:tgtEl>
                                      </p:cBhvr>
                                    </p:animEffect>
                                    <p:set>
                                      <p:cBhvr>
                                        <p:cTn id="127" dur="1" fill="hold">
                                          <p:stCondLst>
                                            <p:cond delay="249"/>
                                          </p:stCondLst>
                                        </p:cTn>
                                        <p:tgtEl>
                                          <p:spTgt spid="48"/>
                                        </p:tgtEl>
                                        <p:attrNameLst>
                                          <p:attrName>style.visibility</p:attrName>
                                        </p:attrNameLst>
                                      </p:cBhvr>
                                      <p:to>
                                        <p:strVal val="hidden"/>
                                      </p:to>
                                    </p:set>
                                  </p:childTnLst>
                                </p:cTn>
                              </p:par>
                              <p:par>
                                <p:cTn id="128" presetID="10" presetClass="entr" presetSubtype="0" fill="hold" grpId="0" nodeType="withEffect">
                                  <p:stCondLst>
                                    <p:cond delay="0"/>
                                  </p:stCondLst>
                                  <p:childTnLst>
                                    <p:set>
                                      <p:cBhvr>
                                        <p:cTn id="129" dur="1" fill="hold">
                                          <p:stCondLst>
                                            <p:cond delay="0"/>
                                          </p:stCondLst>
                                        </p:cTn>
                                        <p:tgtEl>
                                          <p:spTgt spid="51"/>
                                        </p:tgtEl>
                                        <p:attrNameLst>
                                          <p:attrName>style.visibility</p:attrName>
                                        </p:attrNameLst>
                                      </p:cBhvr>
                                      <p:to>
                                        <p:strVal val="visible"/>
                                      </p:to>
                                    </p:set>
                                    <p:animEffect transition="in" filter="fade">
                                      <p:cBhvr>
                                        <p:cTn id="130" dur="250"/>
                                        <p:tgtEl>
                                          <p:spTgt spid="51"/>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53"/>
                                        </p:tgtEl>
                                        <p:attrNameLst>
                                          <p:attrName>style.visibility</p:attrName>
                                        </p:attrNameLst>
                                      </p:cBhvr>
                                      <p:to>
                                        <p:strVal val="visible"/>
                                      </p:to>
                                    </p:set>
                                    <p:animEffect transition="in" filter="fade">
                                      <p:cBhvr>
                                        <p:cTn id="133" dur="250"/>
                                        <p:tgtEl>
                                          <p:spTgt spid="53"/>
                                        </p:tgtEl>
                                      </p:cBhvr>
                                    </p:animEffect>
                                  </p:childTnLst>
                                </p:cTn>
                              </p:par>
                            </p:childTnLst>
                          </p:cTn>
                        </p:par>
                        <p:par>
                          <p:cTn id="134" fill="hold">
                            <p:stCondLst>
                              <p:cond delay="400"/>
                            </p:stCondLst>
                            <p:childTnLst>
                              <p:par>
                                <p:cTn id="135" presetID="10" presetClass="entr" presetSubtype="0" fill="hold" grpId="0" nodeType="afterEffect">
                                  <p:stCondLst>
                                    <p:cond delay="0"/>
                                  </p:stCondLst>
                                  <p:childTnLst>
                                    <p:set>
                                      <p:cBhvr>
                                        <p:cTn id="136" dur="1" fill="hold">
                                          <p:stCondLst>
                                            <p:cond delay="0"/>
                                          </p:stCondLst>
                                        </p:cTn>
                                        <p:tgtEl>
                                          <p:spTgt spid="52"/>
                                        </p:tgtEl>
                                        <p:attrNameLst>
                                          <p:attrName>style.visibility</p:attrName>
                                        </p:attrNameLst>
                                      </p:cBhvr>
                                      <p:to>
                                        <p:strVal val="visible"/>
                                      </p:to>
                                    </p:set>
                                    <p:animEffect transition="in" filter="fade">
                                      <p:cBhvr>
                                        <p:cTn id="137" dur="250"/>
                                        <p:tgtEl>
                                          <p:spTgt spid="52"/>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xit" presetSubtype="0" fill="hold" grpId="1" nodeType="clickEffect">
                                  <p:stCondLst>
                                    <p:cond delay="0"/>
                                  </p:stCondLst>
                                  <p:childTnLst>
                                    <p:animEffect transition="out" filter="fade">
                                      <p:cBhvr>
                                        <p:cTn id="141" dur="250"/>
                                        <p:tgtEl>
                                          <p:spTgt spid="31"/>
                                        </p:tgtEl>
                                      </p:cBhvr>
                                    </p:animEffect>
                                    <p:set>
                                      <p:cBhvr>
                                        <p:cTn id="142" dur="1" fill="hold">
                                          <p:stCondLst>
                                            <p:cond delay="249"/>
                                          </p:stCondLst>
                                        </p:cTn>
                                        <p:tgtEl>
                                          <p:spTgt spid="31"/>
                                        </p:tgtEl>
                                        <p:attrNameLst>
                                          <p:attrName>style.visibility</p:attrName>
                                        </p:attrNameLst>
                                      </p:cBhvr>
                                      <p:to>
                                        <p:strVal val="hidden"/>
                                      </p:to>
                                    </p:set>
                                  </p:childTnLst>
                                </p:cTn>
                              </p:par>
                              <p:par>
                                <p:cTn id="143" presetID="10" presetClass="exit" presetSubtype="0" fill="hold" grpId="1" nodeType="withEffect">
                                  <p:stCondLst>
                                    <p:cond delay="0"/>
                                  </p:stCondLst>
                                  <p:childTnLst>
                                    <p:animEffect transition="out" filter="fade">
                                      <p:cBhvr>
                                        <p:cTn id="144" dur="250"/>
                                        <p:tgtEl>
                                          <p:spTgt spid="51"/>
                                        </p:tgtEl>
                                      </p:cBhvr>
                                    </p:animEffect>
                                    <p:set>
                                      <p:cBhvr>
                                        <p:cTn id="145" dur="1" fill="hold">
                                          <p:stCondLst>
                                            <p:cond delay="249"/>
                                          </p:stCondLst>
                                        </p:cTn>
                                        <p:tgtEl>
                                          <p:spTgt spid="51"/>
                                        </p:tgtEl>
                                        <p:attrNameLst>
                                          <p:attrName>style.visibility</p:attrName>
                                        </p:attrNameLst>
                                      </p:cBhvr>
                                      <p:to>
                                        <p:strVal val="hidden"/>
                                      </p:to>
                                    </p:set>
                                  </p:childTnLst>
                                </p:cTn>
                              </p:par>
                              <p:par>
                                <p:cTn id="146" presetID="10" presetClass="exit" presetSubtype="0" fill="hold" grpId="1" nodeType="withEffect">
                                  <p:stCondLst>
                                    <p:cond delay="0"/>
                                  </p:stCondLst>
                                  <p:childTnLst>
                                    <p:animEffect transition="out" filter="fade">
                                      <p:cBhvr>
                                        <p:cTn id="147" dur="250"/>
                                        <p:tgtEl>
                                          <p:spTgt spid="52"/>
                                        </p:tgtEl>
                                      </p:cBhvr>
                                    </p:animEffect>
                                    <p:set>
                                      <p:cBhvr>
                                        <p:cTn id="148" dur="1" fill="hold">
                                          <p:stCondLst>
                                            <p:cond delay="249"/>
                                          </p:stCondLst>
                                        </p:cTn>
                                        <p:tgtEl>
                                          <p:spTgt spid="52"/>
                                        </p:tgtEl>
                                        <p:attrNameLst>
                                          <p:attrName>style.visibility</p:attrName>
                                        </p:attrNameLst>
                                      </p:cBhvr>
                                      <p:to>
                                        <p:strVal val="hidden"/>
                                      </p:to>
                                    </p:set>
                                  </p:childTnLst>
                                </p:cTn>
                              </p:par>
                              <p:par>
                                <p:cTn id="149" presetID="10" presetClass="exit" presetSubtype="0" fill="hold" grpId="1" nodeType="withEffect">
                                  <p:stCondLst>
                                    <p:cond delay="0"/>
                                  </p:stCondLst>
                                  <p:childTnLst>
                                    <p:animEffect transition="out" filter="fade">
                                      <p:cBhvr>
                                        <p:cTn id="150" dur="250"/>
                                        <p:tgtEl>
                                          <p:spTgt spid="37"/>
                                        </p:tgtEl>
                                      </p:cBhvr>
                                    </p:animEffect>
                                    <p:set>
                                      <p:cBhvr>
                                        <p:cTn id="151" dur="1" fill="hold">
                                          <p:stCondLst>
                                            <p:cond delay="249"/>
                                          </p:stCondLst>
                                        </p:cTn>
                                        <p:tgtEl>
                                          <p:spTgt spid="37"/>
                                        </p:tgtEl>
                                        <p:attrNameLst>
                                          <p:attrName>style.visibility</p:attrName>
                                        </p:attrNameLst>
                                      </p:cBhvr>
                                      <p:to>
                                        <p:strVal val="hidden"/>
                                      </p:to>
                                    </p:set>
                                  </p:childTnLst>
                                </p:cTn>
                              </p:par>
                              <p:par>
                                <p:cTn id="152" presetID="10" presetClass="exit" presetSubtype="0" fill="hold" grpId="1" nodeType="withEffect">
                                  <p:stCondLst>
                                    <p:cond delay="0"/>
                                  </p:stCondLst>
                                  <p:childTnLst>
                                    <p:animEffect transition="out" filter="fade">
                                      <p:cBhvr>
                                        <p:cTn id="153" dur="250"/>
                                        <p:tgtEl>
                                          <p:spTgt spid="46"/>
                                        </p:tgtEl>
                                      </p:cBhvr>
                                    </p:animEffect>
                                    <p:set>
                                      <p:cBhvr>
                                        <p:cTn id="154" dur="1" fill="hold">
                                          <p:stCondLst>
                                            <p:cond delay="249"/>
                                          </p:stCondLst>
                                        </p:cTn>
                                        <p:tgtEl>
                                          <p:spTgt spid="46"/>
                                        </p:tgtEl>
                                        <p:attrNameLst>
                                          <p:attrName>style.visibility</p:attrName>
                                        </p:attrNameLst>
                                      </p:cBhvr>
                                      <p:to>
                                        <p:strVal val="hidden"/>
                                      </p:to>
                                    </p:set>
                                  </p:childTnLst>
                                </p:cTn>
                              </p:par>
                              <p:par>
                                <p:cTn id="155" presetID="10" presetClass="exit" presetSubtype="0" fill="hold" grpId="1" nodeType="withEffect">
                                  <p:stCondLst>
                                    <p:cond delay="0"/>
                                  </p:stCondLst>
                                  <p:childTnLst>
                                    <p:animEffect transition="out" filter="fade">
                                      <p:cBhvr>
                                        <p:cTn id="156" dur="250"/>
                                        <p:tgtEl>
                                          <p:spTgt spid="49"/>
                                        </p:tgtEl>
                                      </p:cBhvr>
                                    </p:animEffect>
                                    <p:set>
                                      <p:cBhvr>
                                        <p:cTn id="157" dur="1" fill="hold">
                                          <p:stCondLst>
                                            <p:cond delay="249"/>
                                          </p:stCondLst>
                                        </p:cTn>
                                        <p:tgtEl>
                                          <p:spTgt spid="49"/>
                                        </p:tgtEl>
                                        <p:attrNameLst>
                                          <p:attrName>style.visibility</p:attrName>
                                        </p:attrNameLst>
                                      </p:cBhvr>
                                      <p:to>
                                        <p:strVal val="hidden"/>
                                      </p:to>
                                    </p:set>
                                  </p:childTnLst>
                                </p:cTn>
                              </p:par>
                              <p:par>
                                <p:cTn id="158" presetID="10" presetClass="exit" presetSubtype="0" fill="hold" grpId="1" nodeType="withEffect">
                                  <p:stCondLst>
                                    <p:cond delay="0"/>
                                  </p:stCondLst>
                                  <p:childTnLst>
                                    <p:animEffect transition="out" filter="fade">
                                      <p:cBhvr>
                                        <p:cTn id="159" dur="250"/>
                                        <p:tgtEl>
                                          <p:spTgt spid="34"/>
                                        </p:tgtEl>
                                      </p:cBhvr>
                                    </p:animEffect>
                                    <p:set>
                                      <p:cBhvr>
                                        <p:cTn id="160" dur="1" fill="hold">
                                          <p:stCondLst>
                                            <p:cond delay="249"/>
                                          </p:stCondLst>
                                        </p:cTn>
                                        <p:tgtEl>
                                          <p:spTgt spid="34"/>
                                        </p:tgtEl>
                                        <p:attrNameLst>
                                          <p:attrName>style.visibility</p:attrName>
                                        </p:attrNameLst>
                                      </p:cBhvr>
                                      <p:to>
                                        <p:strVal val="hidden"/>
                                      </p:to>
                                    </p:set>
                                  </p:childTnLst>
                                </p:cTn>
                              </p:par>
                              <p:par>
                                <p:cTn id="161" presetID="10" presetClass="entr" presetSubtype="0" fill="hold" grpId="0" nodeType="withEffect">
                                  <p:stCondLst>
                                    <p:cond delay="0"/>
                                  </p:stCondLst>
                                  <p:childTnLst>
                                    <p:set>
                                      <p:cBhvr>
                                        <p:cTn id="162" dur="1" fill="hold">
                                          <p:stCondLst>
                                            <p:cond delay="0"/>
                                          </p:stCondLst>
                                        </p:cTn>
                                        <p:tgtEl>
                                          <p:spTgt spid="57"/>
                                        </p:tgtEl>
                                        <p:attrNameLst>
                                          <p:attrName>style.visibility</p:attrName>
                                        </p:attrNameLst>
                                      </p:cBhvr>
                                      <p:to>
                                        <p:strVal val="visible"/>
                                      </p:to>
                                    </p:set>
                                    <p:animEffect transition="in" filter="fade">
                                      <p:cBhvr>
                                        <p:cTn id="163" dur="250"/>
                                        <p:tgtEl>
                                          <p:spTgt spid="57"/>
                                        </p:tgtEl>
                                      </p:cBhvr>
                                    </p:animEffect>
                                  </p:childTnLst>
                                </p:cTn>
                              </p:par>
                            </p:childTnLst>
                          </p:cTn>
                        </p:par>
                        <p:par>
                          <p:cTn id="164" fill="hold">
                            <p:stCondLst>
                              <p:cond delay="300"/>
                            </p:stCondLst>
                            <p:childTnLst>
                              <p:par>
                                <p:cTn id="165" presetID="10" presetClass="entr" presetSubtype="0" fill="hold" grpId="0" nodeType="afterEffect">
                                  <p:stCondLst>
                                    <p:cond delay="0"/>
                                  </p:stCondLst>
                                  <p:childTnLst>
                                    <p:set>
                                      <p:cBhvr>
                                        <p:cTn id="166" dur="1" fill="hold">
                                          <p:stCondLst>
                                            <p:cond delay="0"/>
                                          </p:stCondLst>
                                        </p:cTn>
                                        <p:tgtEl>
                                          <p:spTgt spid="54"/>
                                        </p:tgtEl>
                                        <p:attrNameLst>
                                          <p:attrName>style.visibility</p:attrName>
                                        </p:attrNameLst>
                                      </p:cBhvr>
                                      <p:to>
                                        <p:strVal val="visible"/>
                                      </p:to>
                                    </p:set>
                                    <p:animEffect transition="in" filter="fade">
                                      <p:cBhvr>
                                        <p:cTn id="167" dur="250"/>
                                        <p:tgtEl>
                                          <p:spTgt spid="54"/>
                                        </p:tgtEl>
                                      </p:cBhvr>
                                    </p:animEffect>
                                  </p:childTnLst>
                                </p:cTn>
                              </p:par>
                            </p:childTnLst>
                          </p:cTn>
                        </p:par>
                        <p:par>
                          <p:cTn id="168" fill="hold">
                            <p:stCondLst>
                              <p:cond delay="900"/>
                            </p:stCondLst>
                            <p:childTnLst>
                              <p:par>
                                <p:cTn id="169" presetID="10" presetClass="entr" presetSubtype="0" fill="hold" grpId="0" nodeType="afterEffect">
                                  <p:stCondLst>
                                    <p:cond delay="0"/>
                                  </p:stCondLst>
                                  <p:childTnLst>
                                    <p:set>
                                      <p:cBhvr>
                                        <p:cTn id="170" dur="1" fill="hold">
                                          <p:stCondLst>
                                            <p:cond delay="0"/>
                                          </p:stCondLst>
                                        </p:cTn>
                                        <p:tgtEl>
                                          <p:spTgt spid="55"/>
                                        </p:tgtEl>
                                        <p:attrNameLst>
                                          <p:attrName>style.visibility</p:attrName>
                                        </p:attrNameLst>
                                      </p:cBhvr>
                                      <p:to>
                                        <p:strVal val="visible"/>
                                      </p:to>
                                    </p:set>
                                    <p:animEffect transition="in" filter="fade">
                                      <p:cBhvr>
                                        <p:cTn id="171" dur="250"/>
                                        <p:tgtEl>
                                          <p:spTgt spid="55"/>
                                        </p:tgtEl>
                                      </p:cBhvr>
                                    </p:animEffect>
                                  </p:childTnLst>
                                </p:cTn>
                              </p:par>
                            </p:childTnLst>
                          </p:cTn>
                        </p:par>
                        <p:par>
                          <p:cTn id="172" fill="hold">
                            <p:stCondLst>
                              <p:cond delay="1300"/>
                            </p:stCondLst>
                            <p:childTnLst>
                              <p:par>
                                <p:cTn id="173" presetID="10" presetClass="entr" presetSubtype="0" fill="hold" grpId="0" nodeType="afterEffect">
                                  <p:stCondLst>
                                    <p:cond delay="0"/>
                                  </p:stCondLst>
                                  <p:childTnLst>
                                    <p:set>
                                      <p:cBhvr>
                                        <p:cTn id="174" dur="1" fill="hold">
                                          <p:stCondLst>
                                            <p:cond delay="0"/>
                                          </p:stCondLst>
                                        </p:cTn>
                                        <p:tgtEl>
                                          <p:spTgt spid="56"/>
                                        </p:tgtEl>
                                        <p:attrNameLst>
                                          <p:attrName>style.visibility</p:attrName>
                                        </p:attrNameLst>
                                      </p:cBhvr>
                                      <p:to>
                                        <p:strVal val="visible"/>
                                      </p:to>
                                    </p:set>
                                    <p:animEffect transition="in" filter="fade">
                                      <p:cBhvr>
                                        <p:cTn id="175" dur="250"/>
                                        <p:tgtEl>
                                          <p:spTgt spid="56"/>
                                        </p:tgtEl>
                                      </p:cBhvr>
                                    </p:animEffect>
                                  </p:childTnLst>
                                </p:cTn>
                              </p:par>
                            </p:childTnLst>
                          </p:cTn>
                        </p:par>
                      </p:childTnLst>
                    </p:cTn>
                  </p:par>
                  <p:par>
                    <p:cTn id="176" fill="hold">
                      <p:stCondLst>
                        <p:cond delay="indefinite"/>
                      </p:stCondLst>
                      <p:childTnLst>
                        <p:par>
                          <p:cTn id="177" fill="hold">
                            <p:stCondLst>
                              <p:cond delay="0"/>
                            </p:stCondLst>
                            <p:childTnLst>
                              <p:par>
                                <p:cTn id="178" presetID="10" presetClass="entr" presetSubtype="0" fill="hold" grpId="0" nodeType="clickEffect">
                                  <p:stCondLst>
                                    <p:cond delay="0"/>
                                  </p:stCondLst>
                                  <p:childTnLst>
                                    <p:set>
                                      <p:cBhvr>
                                        <p:cTn id="179" dur="1" fill="hold">
                                          <p:stCondLst>
                                            <p:cond delay="0"/>
                                          </p:stCondLst>
                                        </p:cTn>
                                        <p:tgtEl>
                                          <p:spTgt spid="58"/>
                                        </p:tgtEl>
                                        <p:attrNameLst>
                                          <p:attrName>style.visibility</p:attrName>
                                        </p:attrNameLst>
                                      </p:cBhvr>
                                      <p:to>
                                        <p:strVal val="visible"/>
                                      </p:to>
                                    </p:set>
                                    <p:animEffect transition="in" filter="fade">
                                      <p:cBhvr>
                                        <p:cTn id="180" dur="250"/>
                                        <p:tgtEl>
                                          <p:spTgt spid="58"/>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59"/>
                                        </p:tgtEl>
                                        <p:attrNameLst>
                                          <p:attrName>style.visibility</p:attrName>
                                        </p:attrNameLst>
                                      </p:cBhvr>
                                      <p:to>
                                        <p:strVal val="visible"/>
                                      </p:to>
                                    </p:set>
                                    <p:animEffect transition="in" filter="fade">
                                      <p:cBhvr>
                                        <p:cTn id="183" dur="250"/>
                                        <p:tgtEl>
                                          <p:spTgt spid="59"/>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0"/>
                                        </p:tgtEl>
                                        <p:attrNameLst>
                                          <p:attrName>style.visibility</p:attrName>
                                        </p:attrNameLst>
                                      </p:cBhvr>
                                      <p:to>
                                        <p:strVal val="visible"/>
                                      </p:to>
                                    </p:set>
                                    <p:animEffect transition="in" filter="fade">
                                      <p:cBhvr>
                                        <p:cTn id="186" dur="2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3" grpId="0" animBg="1"/>
      <p:bldP spid="35" grpId="0" animBg="1"/>
      <p:bldP spid="34" grpId="0" animBg="1"/>
      <p:bldP spid="27" grpId="1" animBg="1"/>
      <p:bldP spid="28" grpId="0" animBg="1"/>
      <p:bldP spid="33" grpId="1" animBg="1"/>
      <p:bldP spid="36" grpId="0" animBg="1"/>
      <p:bldP spid="40" grpId="0" animBg="1"/>
      <p:bldP spid="37" grpId="0" animBg="1"/>
      <p:bldP spid="38" grpId="0" animBg="1"/>
      <p:bldP spid="39" grpId="0" animBg="1"/>
      <p:bldP spid="28" grpId="1" animBg="1"/>
      <p:bldP spid="29" grpId="0" animBg="1"/>
      <p:bldP spid="41" grpId="0" animBg="1"/>
      <p:bldP spid="42" grpId="0" animBg="1"/>
      <p:bldP spid="47" grpId="0" animBg="1"/>
      <p:bldP spid="43" grpId="0" animBg="1"/>
      <p:bldP spid="44" grpId="0" animBg="1"/>
      <p:bldP spid="45" grpId="0" animBg="1"/>
      <p:bldP spid="46" grpId="0" animBg="1"/>
      <p:bldP spid="29" grpId="1" animBg="1"/>
      <p:bldP spid="30" grpId="0" animBg="1"/>
      <p:bldP spid="36" grpId="1" animBg="1"/>
      <p:bldP spid="38" grpId="1" animBg="1"/>
      <p:bldP spid="39" grpId="1" animBg="1"/>
      <p:bldP spid="41" grpId="1" animBg="1"/>
      <p:bldP spid="42" grpId="1" animBg="1"/>
      <p:bldP spid="44" grpId="1" animBg="1"/>
      <p:bldP spid="45" grpId="1" animBg="1"/>
      <p:bldP spid="48" grpId="0" animBg="1"/>
      <p:bldP spid="50" grpId="0" animBg="1"/>
      <p:bldP spid="49" grpId="0" animBg="1"/>
      <p:bldP spid="30" grpId="1" animBg="1"/>
      <p:bldP spid="31" grpId="0" animBg="1"/>
      <p:bldP spid="48" grpId="1" animBg="1"/>
      <p:bldP spid="51" grpId="0" animBg="1"/>
      <p:bldP spid="53" grpId="0" animBg="1"/>
      <p:bldP spid="52" grpId="0" animBg="1"/>
      <p:bldP spid="31" grpId="1" animBg="1"/>
      <p:bldP spid="51" grpId="1" animBg="1"/>
      <p:bldP spid="52" grpId="1" animBg="1"/>
      <p:bldP spid="37" grpId="1" animBg="1"/>
      <p:bldP spid="46" grpId="1" animBg="1"/>
      <p:bldP spid="49" grpId="1" animBg="1"/>
      <p:bldP spid="34" grpId="1" animBg="1"/>
      <p:bldP spid="57" grpId="0" animBg="1"/>
      <p:bldP spid="54" grpId="0" animBg="1"/>
      <p:bldP spid="55" grpId="0" animBg="1"/>
      <p:bldP spid="56" grpId="0" animBg="1"/>
      <p:bldP spid="58" grpId="0" animBg="1"/>
      <p:bldP spid="59" grpId="0" animBg="1"/>
      <p:bldP spid="60"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p:nvPr/>
        </p:nvSpPr>
        <p:spPr>
          <a:xfrm>
            <a:off x="285750" y="100012"/>
            <a:ext cx="8572500" cy="357187"/>
          </a:xfrm>
          <a:prstGeom prst="rect">
            <a:avLst/>
          </a:prstGeom>
          <a:noFill/>
          <a:ln>
            <a:noFill/>
          </a:ln>
        </p:spPr>
        <p:txBody>
          <a:bodyPr rtlCol="0" anchor="ctr" wrap="square" lIns="0" rIns="0" tIns="0" bIns="0"/>
          <a:lstStyle/>
          <a:p>
            <a:pPr algn="l"/>
            <a:r>
              <a:rPr sz="1800" b="1">
                <a:solidFill>
                  <a:srgbClr val="12343B"/>
                </a:solidFill>
                <a:latin typeface="Calibri"/>
              </a:rPr>
              <a:t>Verification and cost</a:t>
            </a:r>
          </a:p>
        </p:txBody>
      </p:sp>
      <p:sp>
        <p:nvSpPr>
          <p:cNvPr id="3" name="Verif head"/>
          <p:cNvSpPr/>
          <p:nvPr/>
        </p:nvSpPr>
        <p:spPr>
          <a:xfrm>
            <a:off x="285750" y="571500"/>
            <a:ext cx="5000625" cy="242887"/>
          </a:xfrm>
          <a:prstGeom prst="rect">
            <a:avLst/>
          </a:prstGeom>
          <a:noFill/>
          <a:ln>
            <a:noFill/>
          </a:ln>
        </p:spPr>
        <p:txBody>
          <a:bodyPr rtlCol="0" anchor="ctr" wrap="square" lIns="0" rIns="0" tIns="0" bIns="0"/>
          <a:lstStyle/>
          <a:p>
            <a:pPr algn="l"/>
            <a:r>
              <a:rPr sz="1237" b="1">
                <a:solidFill>
                  <a:srgbClr val="00897B"/>
                </a:solidFill>
                <a:latin typeface="Calibri"/>
              </a:rPr>
              <a:t>tb_croc_chip +obi_jtag_test: 23 of 23 checks pass</a:t>
            </a:r>
          </a:p>
        </p:txBody>
      </p:sp>
      <p:sp>
        <p:nvSpPr>
          <p:cNvPr id="4" name="Check 0 a"/>
          <p:cNvSpPr/>
          <p:nvPr/>
        </p:nvSpPr>
        <p:spPr>
          <a:xfrm>
            <a:off x="285750" y="857250"/>
            <a:ext cx="1857375" cy="242887"/>
          </a:xfrm>
          <a:prstGeom prst="rect">
            <a:avLst/>
          </a:prstGeom>
          <a:solidFill>
            <a:srgbClr val="F5F5F5"/>
          </a:solidFill>
          <a:ln>
            <a:noFill/>
          </a:ln>
        </p:spPr>
        <p:txBody>
          <a:bodyPr rtlCol="0" anchor="ctr" wrap="square" lIns="71437" rIns="71437" tIns="71437" bIns="71437"/>
          <a:lstStyle/>
          <a:p>
            <a:pPr algn="l"/>
            <a:r>
              <a:rPr sz="900" b="1">
                <a:solidFill>
                  <a:srgbClr val="2E7D32"/>
                </a:solidFill>
                <a:latin typeface="Calibri"/>
              </a:rPr>
              <a:t>✓  Scan chain integrity</a:t>
            </a:r>
          </a:p>
        </p:txBody>
      </p:sp>
      <p:sp>
        <p:nvSpPr>
          <p:cNvPr id="5" name="Check 0 b"/>
          <p:cNvSpPr/>
          <p:nvPr/>
        </p:nvSpPr>
        <p:spPr>
          <a:xfrm>
            <a:off x="2143125" y="857250"/>
            <a:ext cx="3143250" cy="242887"/>
          </a:xfrm>
          <a:prstGeom prst="rect">
            <a:avLst/>
          </a:prstGeom>
          <a:solidFill>
            <a:srgbClr val="F5F5F5"/>
          </a:solidFill>
          <a:ln>
            <a:noFill/>
          </a:ln>
        </p:spPr>
        <p:txBody>
          <a:bodyPr rtlCol="0" anchor="ctr" wrap="square" lIns="71437" rIns="71437" tIns="71437" bIns="71437"/>
          <a:lstStyle/>
          <a:p>
            <a:pPr algn="l"/>
            <a:r>
              <a:rPr sz="843" b="0">
                <a:solidFill>
                  <a:srgbClr val="12343B"/>
                </a:solidFill>
                <a:latin typeface="Calibri"/>
              </a:rPr>
              <a:t>a pattern comes out after exactly the chain length</a:t>
            </a:r>
          </a:p>
        </p:txBody>
      </p:sp>
      <p:sp>
        <p:nvSpPr>
          <p:cNvPr id="6" name="Check 1 a"/>
          <p:cNvSpPr/>
          <p:nvPr/>
        </p:nvSpPr>
        <p:spPr>
          <a:xfrm>
            <a:off x="285750" y="1128712"/>
            <a:ext cx="1857375" cy="242887"/>
          </a:xfrm>
          <a:prstGeom prst="rect">
            <a:avLst/>
          </a:prstGeom>
          <a:solidFill>
            <a:srgbClr val="FFFFFF"/>
          </a:solidFill>
          <a:ln>
            <a:noFill/>
          </a:ln>
        </p:spPr>
        <p:txBody>
          <a:bodyPr rtlCol="0" anchor="ctr" wrap="square" lIns="71437" rIns="71437" tIns="71437" bIns="71437"/>
          <a:lstStyle/>
          <a:p>
            <a:pPr algn="l"/>
            <a:r>
              <a:rPr sz="900" b="1">
                <a:solidFill>
                  <a:srgbClr val="2E7D32"/>
                </a:solidFill>
                <a:latin typeface="Calibri"/>
              </a:rPr>
              <a:t>✓  Requests (5)</a:t>
            </a:r>
          </a:p>
        </p:txBody>
      </p:sp>
      <p:sp>
        <p:nvSpPr>
          <p:cNvPr id="7" name="Check 1 b"/>
          <p:cNvSpPr/>
          <p:nvPr/>
        </p:nvSpPr>
        <p:spPr>
          <a:xfrm>
            <a:off x="2143125" y="1128712"/>
            <a:ext cx="3143250" cy="242887"/>
          </a:xfrm>
          <a:prstGeom prst="rect">
            <a:avLst/>
          </a:prstGeom>
          <a:solidFill>
            <a:srgbClr val="FFFFFF"/>
          </a:solidFill>
          <a:ln>
            <a:noFill/>
          </a:ln>
        </p:spPr>
        <p:txBody>
          <a:bodyPr rtlCol="0" anchor="ctr" wrap="square" lIns="71437" rIns="71437" tIns="71437" bIns="71437"/>
          <a:lstStyle/>
          <a:p>
            <a:pPr algn="l"/>
            <a:r>
              <a:rPr sz="843" b="0">
                <a:solidFill>
                  <a:srgbClr val="12343B"/>
                </a:solidFill>
                <a:latin typeface="Calibri"/>
              </a:rPr>
              <a:t>from every manager, each reaches only the decoded subordinate</a:t>
            </a:r>
          </a:p>
        </p:txBody>
      </p:sp>
      <p:sp>
        <p:nvSpPr>
          <p:cNvPr id="8" name="Check 2 a"/>
          <p:cNvSpPr/>
          <p:nvPr/>
        </p:nvSpPr>
        <p:spPr>
          <a:xfrm>
            <a:off x="285750" y="1400175"/>
            <a:ext cx="1857375" cy="242887"/>
          </a:xfrm>
          <a:prstGeom prst="rect">
            <a:avLst/>
          </a:prstGeom>
          <a:solidFill>
            <a:srgbClr val="F5F5F5"/>
          </a:solidFill>
          <a:ln>
            <a:noFill/>
          </a:ln>
        </p:spPr>
        <p:txBody>
          <a:bodyPr rtlCol="0" anchor="ctr" wrap="square" lIns="71437" rIns="71437" tIns="71437" bIns="71437"/>
          <a:lstStyle/>
          <a:p>
            <a:pPr algn="l"/>
            <a:r>
              <a:rPr sz="900" b="1">
                <a:solidFill>
                  <a:srgbClr val="12343B"/>
                </a:solidFill>
                <a:latin typeface="Calibri"/>
              </a:rPr>
              <a:t/>
            </a:r>
          </a:p>
        </p:txBody>
      </p:sp>
      <p:sp>
        <p:nvSpPr>
          <p:cNvPr id="9" name="Check 2 b"/>
          <p:cNvSpPr/>
          <p:nvPr/>
        </p:nvSpPr>
        <p:spPr>
          <a:xfrm>
            <a:off x="2143125" y="1400175"/>
            <a:ext cx="3143250" cy="242887"/>
          </a:xfrm>
          <a:prstGeom prst="rect">
            <a:avLst/>
          </a:prstGeom>
          <a:solidFill>
            <a:srgbClr val="F5F5F5"/>
          </a:solidFill>
          <a:ln>
            <a:noFill/>
          </a:ln>
        </p:spPr>
        <p:txBody>
          <a:bodyPr rtlCol="0" anchor="ctr" wrap="square" lIns="71437" rIns="71437" tIns="71437" bIns="71437"/>
          <a:lstStyle/>
          <a:p>
            <a:pPr algn="l"/>
            <a:r>
              <a:rPr sz="843" b="0">
                <a:solidFill>
                  <a:srgbClr val="12343B"/>
                </a:solidFill>
                <a:latin typeface="Calibri"/>
              </a:rPr>
              <a:t>including an unmapped address → error subordinate</a:t>
            </a:r>
          </a:p>
        </p:txBody>
      </p:sp>
      <p:sp>
        <p:nvSpPr>
          <p:cNvPr id="10" name="Check 3 a"/>
          <p:cNvSpPr/>
          <p:nvPr/>
        </p:nvSpPr>
        <p:spPr>
          <a:xfrm>
            <a:off x="285750" y="1671637"/>
            <a:ext cx="1857375" cy="242887"/>
          </a:xfrm>
          <a:prstGeom prst="rect">
            <a:avLst/>
          </a:prstGeom>
          <a:solidFill>
            <a:srgbClr val="FFFFFF"/>
          </a:solidFill>
          <a:ln>
            <a:noFill/>
          </a:ln>
        </p:spPr>
        <p:txBody>
          <a:bodyPr rtlCol="0" anchor="ctr" wrap="square" lIns="71437" rIns="71437" tIns="71437" bIns="71437"/>
          <a:lstStyle/>
          <a:p>
            <a:pPr algn="l"/>
            <a:r>
              <a:rPr sz="900" b="1">
                <a:solidFill>
                  <a:srgbClr val="2E7D32"/>
                </a:solidFill>
                <a:latin typeface="Calibri"/>
              </a:rPr>
              <a:t>✓  Address map from JTAG (2)</a:t>
            </a:r>
          </a:p>
        </p:txBody>
      </p:sp>
      <p:sp>
        <p:nvSpPr>
          <p:cNvPr id="11" name="Check 3 b"/>
          <p:cNvSpPr/>
          <p:nvPr/>
        </p:nvSpPr>
        <p:spPr>
          <a:xfrm>
            <a:off x="2143125" y="1671637"/>
            <a:ext cx="3143250" cy="242887"/>
          </a:xfrm>
          <a:prstGeom prst="rect">
            <a:avLst/>
          </a:prstGeom>
          <a:solidFill>
            <a:srgbClr val="FFFFFF"/>
          </a:solidFill>
          <a:ln>
            <a:noFill/>
          </a:ln>
        </p:spPr>
        <p:txBody>
          <a:bodyPr rtlCol="0" anchor="ctr" wrap="square" lIns="71437" rIns="71437" tIns="71437" bIns="71437"/>
          <a:lstStyle/>
          <a:p>
            <a:pPr algn="l"/>
            <a:r>
              <a:rPr sz="843" b="0">
                <a:solidFill>
                  <a:srgbClr val="12343B"/>
                </a:solidFill>
                <a:latin typeface="Calibri"/>
              </a:rPr>
              <a:t>two ranges swapped: requests follow the new map</a:t>
            </a:r>
          </a:p>
        </p:txBody>
      </p:sp>
      <p:sp>
        <p:nvSpPr>
          <p:cNvPr id="12" name="Check 4 a"/>
          <p:cNvSpPr/>
          <p:nvPr/>
        </p:nvSpPr>
        <p:spPr>
          <a:xfrm>
            <a:off x="285750" y="1943100"/>
            <a:ext cx="1857375" cy="242887"/>
          </a:xfrm>
          <a:prstGeom prst="rect">
            <a:avLst/>
          </a:prstGeom>
          <a:solidFill>
            <a:srgbClr val="F5F5F5"/>
          </a:solidFill>
          <a:ln>
            <a:noFill/>
          </a:ln>
        </p:spPr>
        <p:txBody>
          <a:bodyPr rtlCol="0" anchor="ctr" wrap="square" lIns="71437" rIns="71437" tIns="71437" bIns="71437"/>
          <a:lstStyle/>
          <a:p>
            <a:pPr algn="l"/>
            <a:r>
              <a:rPr sz="900" b="1">
                <a:solidFill>
                  <a:srgbClr val="2E7D32"/>
                </a:solidFill>
                <a:latin typeface="Calibri"/>
              </a:rPr>
              <a:t>✓  Default index from JTAG</a:t>
            </a:r>
          </a:p>
        </p:txBody>
      </p:sp>
      <p:sp>
        <p:nvSpPr>
          <p:cNvPr id="13" name="Check 4 b"/>
          <p:cNvSpPr/>
          <p:nvPr/>
        </p:nvSpPr>
        <p:spPr>
          <a:xfrm>
            <a:off x="2143125" y="1943100"/>
            <a:ext cx="3143250" cy="242887"/>
          </a:xfrm>
          <a:prstGeom prst="rect">
            <a:avLst/>
          </a:prstGeom>
          <a:solidFill>
            <a:srgbClr val="F5F5F5"/>
          </a:solidFill>
          <a:ln>
            <a:noFill/>
          </a:ln>
        </p:spPr>
        <p:txBody>
          <a:bodyPr rtlCol="0" anchor="ctr" wrap="square" lIns="71437" rIns="71437" tIns="71437" bIns="71437"/>
          <a:lstStyle/>
          <a:p>
            <a:pPr algn="l"/>
            <a:r>
              <a:rPr sz="843" b="0">
                <a:solidFill>
                  <a:srgbClr val="12343B"/>
                </a:solidFill>
                <a:latin typeface="Calibri"/>
              </a:rPr>
              <a:t>unmapped address redirected away from the error subordinate</a:t>
            </a:r>
          </a:p>
        </p:txBody>
      </p:sp>
      <p:sp>
        <p:nvSpPr>
          <p:cNvPr id="14" name="Check 5 a"/>
          <p:cNvSpPr/>
          <p:nvPr/>
        </p:nvSpPr>
        <p:spPr>
          <a:xfrm>
            <a:off x="285750" y="2214562"/>
            <a:ext cx="1857375" cy="242887"/>
          </a:xfrm>
          <a:prstGeom prst="rect">
            <a:avLst/>
          </a:prstGeom>
          <a:solidFill>
            <a:srgbClr val="FFFFFF"/>
          </a:solidFill>
          <a:ln>
            <a:noFill/>
          </a:ln>
        </p:spPr>
        <p:txBody>
          <a:bodyPr rtlCol="0" anchor="ctr" wrap="square" lIns="71437" rIns="71437" tIns="71437" bIns="71437"/>
          <a:lstStyle/>
          <a:p>
            <a:pPr algn="l"/>
            <a:r>
              <a:rPr sz="900" b="1">
                <a:solidFill>
                  <a:srgbClr val="2E7D32"/>
                </a:solidFill>
                <a:latin typeface="Calibri"/>
              </a:rPr>
              <a:t>✓  Responses (8)</a:t>
            </a:r>
          </a:p>
        </p:txBody>
      </p:sp>
      <p:sp>
        <p:nvSpPr>
          <p:cNvPr id="15" name="Check 5 b"/>
          <p:cNvSpPr/>
          <p:nvPr/>
        </p:nvSpPr>
        <p:spPr>
          <a:xfrm>
            <a:off x="2143125" y="2214562"/>
            <a:ext cx="3143250" cy="242887"/>
          </a:xfrm>
          <a:prstGeom prst="rect">
            <a:avLst/>
          </a:prstGeom>
          <a:solidFill>
            <a:srgbClr val="FFFFFF"/>
          </a:solidFill>
          <a:ln>
            <a:noFill/>
          </a:ln>
        </p:spPr>
        <p:txBody>
          <a:bodyPr rtlCol="0" anchor="ctr" wrap="square" lIns="71437" rIns="71437" tIns="71437" bIns="71437"/>
          <a:lstStyle/>
          <a:p>
            <a:pPr algn="l"/>
            <a:r>
              <a:rPr sz="843" b="0">
                <a:solidFill>
                  <a:srgbClr val="12343B"/>
                </a:solidFill>
                <a:latin typeface="Calibri"/>
              </a:rPr>
              <a:t>rvalid + rdata return only to the requesting manager, rid = aid</a:t>
            </a:r>
          </a:p>
        </p:txBody>
      </p:sp>
      <p:sp>
        <p:nvSpPr>
          <p:cNvPr id="16" name="Check 6 a"/>
          <p:cNvSpPr/>
          <p:nvPr/>
        </p:nvSpPr>
        <p:spPr>
          <a:xfrm>
            <a:off x="285750" y="2486025"/>
            <a:ext cx="1857375" cy="242887"/>
          </a:xfrm>
          <a:prstGeom prst="rect">
            <a:avLst/>
          </a:prstGeom>
          <a:solidFill>
            <a:srgbClr val="F5F5F5"/>
          </a:solidFill>
          <a:ln>
            <a:noFill/>
          </a:ln>
        </p:spPr>
        <p:txBody>
          <a:bodyPr rtlCol="0" anchor="ctr" wrap="square" lIns="71437" rIns="71437" tIns="71437" bIns="71437"/>
          <a:lstStyle/>
          <a:p>
            <a:pPr algn="l"/>
            <a:r>
              <a:rPr sz="900" b="1">
                <a:solidFill>
                  <a:srgbClr val="2E7D32"/>
                </a:solidFill>
                <a:latin typeface="Calibri"/>
              </a:rPr>
              <a:t>✓  No leaks</a:t>
            </a:r>
          </a:p>
        </p:txBody>
      </p:sp>
      <p:sp>
        <p:nvSpPr>
          <p:cNvPr id="17" name="Check 6 b"/>
          <p:cNvSpPr/>
          <p:nvPr/>
        </p:nvSpPr>
        <p:spPr>
          <a:xfrm>
            <a:off x="2143125" y="2486025"/>
            <a:ext cx="3143250" cy="242887"/>
          </a:xfrm>
          <a:prstGeom prst="rect">
            <a:avLst/>
          </a:prstGeom>
          <a:solidFill>
            <a:srgbClr val="F5F5F5"/>
          </a:solidFill>
          <a:ln>
            <a:noFill/>
          </a:ln>
        </p:spPr>
        <p:txBody>
          <a:bodyPr rtlCol="0" anchor="ctr" wrap="square" lIns="71437" rIns="71437" tIns="71437" bIns="71437"/>
          <a:lstStyle/>
          <a:p>
            <a:pPr algn="l"/>
            <a:r>
              <a:rPr sz="843" b="0">
                <a:solidFill>
                  <a:srgbClr val="12343B"/>
                </a:solidFill>
                <a:latin typeface="Calibri"/>
              </a:rPr>
              <a:t>never gnt / rvalid to a manager or req to a subordinate</a:t>
            </a:r>
          </a:p>
        </p:txBody>
      </p:sp>
      <p:sp>
        <p:nvSpPr>
          <p:cNvPr id="18" name="Check 7 a"/>
          <p:cNvSpPr/>
          <p:nvPr/>
        </p:nvSpPr>
        <p:spPr>
          <a:xfrm>
            <a:off x="285750" y="2757487"/>
            <a:ext cx="1857375" cy="242887"/>
          </a:xfrm>
          <a:prstGeom prst="rect">
            <a:avLst/>
          </a:prstGeom>
          <a:solidFill>
            <a:srgbClr val="FFFFFF"/>
          </a:solidFill>
          <a:ln>
            <a:noFill/>
          </a:ln>
        </p:spPr>
        <p:txBody>
          <a:bodyPr rtlCol="0" anchor="ctr" wrap="square" lIns="71437" rIns="71437" tIns="71437" bIns="71437"/>
          <a:lstStyle/>
          <a:p>
            <a:pPr algn="l"/>
            <a:r>
              <a:rPr sz="900" b="1">
                <a:solidFill>
                  <a:srgbClr val="2E7D32"/>
                </a:solidFill>
                <a:latin typeface="Calibri"/>
              </a:rPr>
              <a:t>✓  Sub access (5)</a:t>
            </a:r>
          </a:p>
        </p:txBody>
      </p:sp>
      <p:sp>
        <p:nvSpPr>
          <p:cNvPr id="19" name="Check 7 b"/>
          <p:cNvSpPr/>
          <p:nvPr/>
        </p:nvSpPr>
        <p:spPr>
          <a:xfrm>
            <a:off x="2143125" y="2757487"/>
            <a:ext cx="3143250" cy="242887"/>
          </a:xfrm>
          <a:prstGeom prst="rect">
            <a:avLst/>
          </a:prstGeom>
          <a:solidFill>
            <a:srgbClr val="FFFFFF"/>
          </a:solidFill>
          <a:ln>
            <a:noFill/>
          </a:ln>
        </p:spPr>
        <p:txBody>
          <a:bodyPr rtlCol="0" anchor="ctr" wrap="square" lIns="71437" rIns="71437" tIns="71437" bIns="71437"/>
          <a:lstStyle/>
          <a:p>
            <a:pPr algn="l"/>
            <a:r>
              <a:rPr sz="843" b="0">
                <a:solidFill>
                  <a:srgbClr val="12343B"/>
                </a:solidFill>
                <a:latin typeface="Calibri"/>
              </a:rPr>
              <a:t>write + read-back of a memory, error subordinate, each exactly once</a:t>
            </a:r>
          </a:p>
        </p:txBody>
      </p:sp>
      <p:sp>
        <p:nvSpPr>
          <p:cNvPr id="20" name="Check 8 a"/>
          <p:cNvSpPr/>
          <p:nvPr/>
        </p:nvSpPr>
        <p:spPr>
          <a:xfrm>
            <a:off x="285750" y="3028950"/>
            <a:ext cx="1857375" cy="242887"/>
          </a:xfrm>
          <a:prstGeom prst="rect">
            <a:avLst/>
          </a:prstGeom>
          <a:solidFill>
            <a:srgbClr val="F5F5F5"/>
          </a:solidFill>
          <a:ln>
            <a:noFill/>
          </a:ln>
        </p:spPr>
        <p:txBody>
          <a:bodyPr rtlCol="0" anchor="ctr" wrap="square" lIns="71437" rIns="71437" tIns="71437" bIns="71437"/>
          <a:lstStyle/>
          <a:p>
            <a:pPr algn="l"/>
            <a:r>
              <a:rPr sz="900" b="1">
                <a:solidFill>
                  <a:srgbClr val="2E7D32"/>
                </a:solidFill>
                <a:latin typeface="Calibri"/>
              </a:rPr>
              <a:t>✓  After isolation (extra)</a:t>
            </a:r>
          </a:p>
        </p:txBody>
      </p:sp>
      <p:sp>
        <p:nvSpPr>
          <p:cNvPr id="21" name="Check 8 b"/>
          <p:cNvSpPr/>
          <p:nvPr/>
        </p:nvSpPr>
        <p:spPr>
          <a:xfrm>
            <a:off x="2143125" y="3028950"/>
            <a:ext cx="3143250" cy="242887"/>
          </a:xfrm>
          <a:prstGeom prst="rect">
            <a:avLst/>
          </a:prstGeom>
          <a:solidFill>
            <a:srgbClr val="F5F5F5"/>
          </a:solidFill>
          <a:ln>
            <a:noFill/>
          </a:ln>
        </p:spPr>
        <p:txBody>
          <a:bodyPr rtlCol="0" anchor="ctr" wrap="square" lIns="71437" rIns="71437" tIns="71437" bIns="71437"/>
          <a:lstStyle/>
          <a:p>
            <a:pPr algn="l"/>
            <a:r>
              <a:rPr sz="843" b="0">
                <a:solidFill>
                  <a:srgbClr val="12343B"/>
                </a:solidFill>
                <a:latin typeface="Calibri"/>
              </a:rPr>
              <a:t>sub-access write seen over debug, program runs</a:t>
            </a:r>
          </a:p>
        </p:txBody>
      </p:sp>
      <p:sp>
        <p:nvSpPr>
          <p:cNvPr id="22" name="Not tested"/>
          <p:cNvSpPr/>
          <p:nvPr/>
        </p:nvSpPr>
        <p:spPr>
          <a:xfrm>
            <a:off x="285750" y="3328987"/>
            <a:ext cx="5000625" cy="328612"/>
          </a:xfrm>
          <a:prstGeom prst="rect">
            <a:avLst/>
          </a:prstGeom>
          <a:noFill/>
          <a:ln>
            <a:noFill/>
          </a:ln>
        </p:spPr>
        <p:txBody>
          <a:bodyPr rtlCol="0" anchor="t" wrap="square" lIns="0" rIns="0" tIns="0" bIns="0"/>
          <a:lstStyle/>
          <a:p>
            <a:pPr algn="l"/>
            <a:r>
              <a:rPr sz="843" b="0">
                <a:solidFill>
                  <a:srgbClr val="C62828"/>
                </a:solidFill>
                <a:latin typeface="Calibri"/>
              </a:rPr>
              <a:t>Not covered yet: snapshot of live traffic (card 2); transfers in flight on entry are dropped; a subordinate's own gnt is not observed (the cuts grant during every step).</a:t>
            </a:r>
          </a:p>
        </p:txBody>
      </p:sp>
      <p:sp>
        <p:nvSpPr>
          <p:cNvPr id="23" name="Cmd"/>
          <p:cNvSpPr/>
          <p:nvPr/>
        </p:nvSpPr>
        <p:spPr>
          <a:xfrm>
            <a:off x="285750" y="3743325"/>
            <a:ext cx="5000625" cy="500062"/>
          </a:xfrm>
          <a:prstGeom prst="rect">
            <a:avLst/>
          </a:prstGeom>
          <a:solidFill>
            <a:srgbClr val="F5F5F5"/>
          </a:solidFill>
          <a:ln>
            <a:noFill/>
          </a:ln>
        </p:spPr>
        <p:txBody>
          <a:bodyPr rtlCol="0" anchor="ctr" wrap="square" lIns="85725" rIns="85725" tIns="85725" bIns="85725"/>
          <a:lstStyle/>
          <a:p>
            <a:pPr algn="l"/>
            <a:r>
              <a:rPr sz="843" b="0">
                <a:solidFill>
                  <a:srgbClr val="12343B"/>
                </a:solidFill>
                <a:latin typeface="Consolas"/>
              </a:rPr>
              <a:t>cd vsim</a:t>
            </a:r>
          </a:p>
          <a:p>
            <a:pPr algn="l"/>
            <a:r>
              <a:rPr sz="843" b="0">
                <a:solidFill>
                  <a:srgbClr val="12343B"/>
                </a:solidFill>
                <a:latin typeface="Consolas"/>
              </a:rPr>
              <a:t>./run_vsim.sh --tb tb_croc_chip --plusarg +obi_jtag_test \</a:t>
            </a:r>
          </a:p>
          <a:p>
            <a:pPr algn="l"/>
            <a:r>
              <a:rPr sz="843" b="0">
                <a:solidFill>
                  <a:srgbClr val="12343B"/>
                </a:solidFill>
                <a:latin typeface="Consolas"/>
              </a:rPr>
              <a:t>              --run ../sw/bin/helloworld.hex</a:t>
            </a:r>
          </a:p>
        </p:txBody>
      </p:sp>
      <p:sp>
        <p:nvSpPr>
          <p:cNvPr id="24" name="Stat 0"/>
          <p:cNvSpPr/>
          <p:nvPr/>
        </p:nvSpPr>
        <p:spPr>
          <a:xfrm>
            <a:off x="5643562" y="642937"/>
            <a:ext cx="3214687" cy="828675"/>
          </a:xfrm>
          <a:prstGeom prst="roundRect">
            <a:avLst>
              <a:gd name="adj" fmla="val 8620"/>
            </a:avLst>
          </a:prstGeom>
          <a:solidFill>
            <a:srgbClr val="FFFFFF"/>
          </a:solidFill>
          <a:ln w="19050">
            <a:solidFill>
              <a:srgbClr val="9E9E9E"/>
            </a:solidFill>
          </a:ln>
        </p:spPr>
        <p:txBody>
          <a:bodyPr rtlCol="0" anchor="ctr" wrap="square" lIns="57150" rIns="57150" tIns="57150" bIns="57150"/>
          <a:lstStyle/>
          <a:p>
            <a:pPr algn="ctr"/>
            <a:r>
              <a:rPr sz="1687" b="1">
                <a:solidFill>
                  <a:srgbClr val="00897B"/>
                </a:solidFill>
                <a:latin typeface="Calibri"/>
              </a:rPr>
              <a:t>1 chain</a:t>
            </a:r>
          </a:p>
          <a:p>
            <a:pPr algn="ctr"/>
            <a:r>
              <a:rPr sz="956" b="1">
                <a:solidFill>
                  <a:srgbClr val="12343B"/>
                </a:solidFill>
                <a:latin typeface="Calibri"/>
              </a:rPr>
              <a:t>address map + all 9 cuts</a:t>
            </a:r>
          </a:p>
          <a:p>
            <a:pPr algn="ctr"/>
            <a:r>
              <a:rPr sz="843" b="0">
                <a:solidFill>
                  <a:srgbClr val="9E9E9E"/>
                </a:solidFill>
                <a:latin typeface="Calibri"/>
              </a:rPr>
              <a:t>payload + 1 valid bit per cut register</a:t>
            </a:r>
          </a:p>
        </p:txBody>
      </p:sp>
      <p:sp>
        <p:nvSpPr>
          <p:cNvPr id="25" name="Stat 1"/>
          <p:cNvSpPr/>
          <p:nvPr/>
        </p:nvSpPr>
        <p:spPr>
          <a:xfrm>
            <a:off x="5643562" y="1557337"/>
            <a:ext cx="3214687" cy="828675"/>
          </a:xfrm>
          <a:prstGeom prst="roundRect">
            <a:avLst>
              <a:gd name="adj" fmla="val 8620"/>
            </a:avLst>
          </a:prstGeom>
          <a:solidFill>
            <a:srgbClr val="FFFFFF"/>
          </a:solidFill>
          <a:ln w="19050">
            <a:solidFill>
              <a:srgbClr val="9E9E9E"/>
            </a:solidFill>
          </a:ln>
        </p:spPr>
        <p:txBody>
          <a:bodyPr rtlCol="0" anchor="ctr" wrap="square" lIns="57150" rIns="57150" tIns="57150" bIns="57150"/>
          <a:lstStyle/>
          <a:p>
            <a:pPr algn="ctr"/>
            <a:r>
              <a:rPr sz="1687" b="1">
                <a:solidFill>
                  <a:srgbClr val="00897B"/>
                </a:solidFill>
                <a:latin typeface="Calibri"/>
              </a:rPr>
              <a:t>2 scans</a:t>
            </a:r>
          </a:p>
          <a:p>
            <a:pPr algn="ctr"/>
            <a:r>
              <a:rPr sz="956" b="1">
                <a:solidFill>
                  <a:srgbClr val="12343B"/>
                </a:solidFill>
                <a:latin typeface="Calibri"/>
              </a:rPr>
              <a:t>per step</a:t>
            </a:r>
          </a:p>
          <a:p>
            <a:pPr algn="ctr"/>
            <a:r>
              <a:rPr sz="843" b="0">
                <a:solidFill>
                  <a:srgbClr val="9E9E9E"/>
                </a:solidFill>
                <a:latin typeface="Calibri"/>
              </a:rPr>
              <a:t>one to drive, one to capture; a transfer is 2 steps</a:t>
            </a:r>
          </a:p>
        </p:txBody>
      </p:sp>
      <p:sp>
        <p:nvSpPr>
          <p:cNvPr id="26" name="Stat 2"/>
          <p:cNvSpPr/>
          <p:nvPr/>
        </p:nvSpPr>
        <p:spPr>
          <a:xfrm>
            <a:off x="5643562" y="2471737"/>
            <a:ext cx="3214687" cy="828675"/>
          </a:xfrm>
          <a:prstGeom prst="roundRect">
            <a:avLst>
              <a:gd name="adj" fmla="val 8620"/>
            </a:avLst>
          </a:prstGeom>
          <a:solidFill>
            <a:srgbClr val="FFFFFF"/>
          </a:solidFill>
          <a:ln w="19050">
            <a:solidFill>
              <a:srgbClr val="9E9E9E"/>
            </a:solidFill>
          </a:ln>
        </p:spPr>
        <p:txBody>
          <a:bodyPr rtlCol="0" anchor="ctr" wrap="square" lIns="57150" rIns="57150" tIns="57150" bIns="57150"/>
          <a:lstStyle/>
          <a:p>
            <a:pPr algn="ctr"/>
            <a:r>
              <a:rPr sz="1687" b="1">
                <a:solidFill>
                  <a:srgbClr val="93005F"/>
                </a:solidFill>
                <a:latin typeface="Calibri"/>
              </a:rPr>
              <a:t>+10.7 kGE</a:t>
            </a:r>
          </a:p>
          <a:p>
            <a:pPr algn="ctr"/>
            <a:r>
              <a:rPr sz="956" b="1">
                <a:solidFill>
                  <a:srgbClr val="12343B"/>
                </a:solidFill>
                <a:latin typeface="Calibri"/>
              </a:rPr>
              <a:t>isolation + sub access vs the plain cuts</a:t>
            </a:r>
          </a:p>
          <a:p>
            <a:pPr algn="ctr"/>
            <a:r>
              <a:rPr sz="843" b="0">
                <a:solidFill>
                  <a:srgbClr val="9E9E9E"/>
                </a:solidFill>
                <a:latin typeface="Calibri"/>
              </a:rPr>
              <a:t>isolation 8.4 (scan muxes, JTAG control, flops) + sub access 2.3</a:t>
            </a:r>
          </a:p>
        </p:txBody>
      </p:sp>
      <p:sp>
        <p:nvSpPr>
          <p:cNvPr id="27" name="Stat 3"/>
          <p:cNvSpPr/>
          <p:nvPr/>
        </p:nvSpPr>
        <p:spPr>
          <a:xfrm>
            <a:off x="5643562" y="3386137"/>
            <a:ext cx="3214687" cy="828675"/>
          </a:xfrm>
          <a:prstGeom prst="roundRect">
            <a:avLst>
              <a:gd name="adj" fmla="val 8620"/>
            </a:avLst>
          </a:prstGeom>
          <a:solidFill>
            <a:srgbClr val="FFFFFF"/>
          </a:solidFill>
          <a:ln w="19050">
            <a:solidFill>
              <a:srgbClr val="9E9E9E"/>
            </a:solidFill>
          </a:ln>
        </p:spPr>
        <p:txBody>
          <a:bodyPr rtlCol="0" anchor="ctr" wrap="square" lIns="57150" rIns="57150" tIns="57150" bIns="57150"/>
          <a:lstStyle/>
          <a:p>
            <a:pPr algn="ctr"/>
            <a:r>
              <a:rPr sz="1687" b="1">
                <a:solidFill>
                  <a:srgbClr val="93005F"/>
                </a:solidFill>
                <a:latin typeface="Calibri"/>
              </a:rPr>
              <a:t>+39 %</a:t>
            </a:r>
          </a:p>
          <a:p>
            <a:pPr algn="ctr"/>
            <a:r>
              <a:rPr sz="956" b="1">
                <a:solidFill>
                  <a:srgbClr val="12343B"/>
                </a:solidFill>
                <a:latin typeface="Calibri"/>
              </a:rPr>
              <a:t>of the original interconnect</a:t>
            </a:r>
          </a:p>
          <a:p>
            <a:pPr algn="ctr"/>
            <a:r>
              <a:rPr sz="843" b="0">
                <a:solidFill>
                  <a:srgbClr val="9E9E9E"/>
                </a:solidFill>
                <a:latin typeface="Calibri"/>
              </a:rPr>
              <a:t>crossbar + cuts were 27.6 kGE; +7.2 % of the chip</a:t>
            </a:r>
          </a:p>
        </p:txBody>
      </p:sp>
      <p:sp>
        <p:nvSpPr>
          <p:cNvPr id="28" name="Caption verif"/>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The crossbar can be tested, re-mapped, its subordinates read and written, all over the JTAG port.</a:t>
            </a:r>
          </a:p>
          <a:p>
            <a:pPr algn="l"/>
            <a:r>
              <a:rPr sz="1237" b="0">
                <a:solidFill>
                  <a:srgbClr val="FFFFFF"/>
                </a:solidFill>
                <a:latin typeface="Calibri"/>
              </a:rPr>
              <a:t>Cost: +10.7 kGE over the original cuts: 8.4 for isolation, 2.3 for sub access.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2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2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2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2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2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25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25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25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25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2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2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25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25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5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25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250"/>
                                        <p:tgtEl>
                                          <p:spTgt spid="22"/>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250"/>
                                        <p:tgtEl>
                                          <p:spTgt spid="2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250"/>
                                        <p:tgtEl>
                                          <p:spTgt spid="2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25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2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4" grpId="0" animBg="1"/>
      <p:bldP spid="25" grpId="0" animBg="1"/>
      <p:bldP spid="26" grpId="0" animBg="1"/>
      <p:bldP spid="27"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p:nvPr/>
        </p:nvSpPr>
        <p:spPr>
          <a:xfrm>
            <a:off x="285750" y="100012"/>
            <a:ext cx="8572500" cy="357187"/>
          </a:xfrm>
          <a:prstGeom prst="rect">
            <a:avLst/>
          </a:prstGeom>
          <a:noFill/>
          <a:ln>
            <a:noFill/>
          </a:ln>
        </p:spPr>
        <p:txBody>
          <a:bodyPr rtlCol="0" anchor="ctr" wrap="square" lIns="0" rIns="0" tIns="0" bIns="0"/>
          <a:lstStyle/>
          <a:p>
            <a:pPr algn="l"/>
            <a:r>
              <a:rPr sz="1800" b="1">
                <a:solidFill>
                  <a:srgbClr val="12343B"/>
                </a:solidFill>
                <a:latin typeface="Calibri"/>
              </a:rPr>
              <a:t>Area: original Croc vs our design</a:t>
            </a:r>
          </a:p>
        </p:txBody>
      </p:sp>
      <p:pic>
        <p:nvPicPr>
          <p:cNvPr id="3" name="Area: original Croc vs our design" descr="area_composition.png"/>
          <p:cNvPicPr>
            <a:picLocks noChangeAspect="1"/>
          </p:cNvPicPr>
          <p:nvPr/>
        </p:nvPicPr>
        <p:blipFill>
          <a:blip r:embed="rId2"/>
          <a:stretch>
            <a:fillRect/>
          </a:stretch>
        </p:blipFill>
        <p:spPr>
          <a:xfrm>
            <a:off x="285750" y="942975"/>
            <a:ext cx="8572500" cy="3086100"/>
          </a:xfrm>
          <a:prstGeom prst="rect">
            <a:avLst/>
          </a:prstGeom>
        </p:spPr>
      </p:pic>
      <p:sp>
        <p:nvSpPr>
          <p:cNvPr id="4" name="Caption area_composition.png"/>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+17.9 kGE (+12.1 %). Each BIST controller is counted in the memory it tests; the core and</a:t>
            </a:r>
          </a:p>
          <a:p>
            <a:pPr algn="l"/>
            <a:r>
              <a:rPr sz="1237" b="0">
                <a:solidFill>
                  <a:srgbClr val="FFFFFF"/>
                </a:solidFill>
                <a:latin typeface="Calibri"/>
              </a:rPr>
              <a:t>peripherals are unchanged. Standard cells + SRAM macros, IO pads excluded. 1 GE = NAND2X1.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p:nvPr/>
        </p:nvSpPr>
        <p:spPr>
          <a:xfrm>
            <a:off x="285750" y="100012"/>
            <a:ext cx="8572500" cy="357187"/>
          </a:xfrm>
          <a:prstGeom prst="rect">
            <a:avLst/>
          </a:prstGeom>
          <a:noFill/>
          <a:ln>
            <a:noFill/>
          </a:ln>
        </p:spPr>
        <p:txBody>
          <a:bodyPr rtlCol="0" anchor="ctr" wrap="square" lIns="0" rIns="0" tIns="0" bIns="0"/>
          <a:lstStyle/>
          <a:p>
            <a:pPr algn="l"/>
            <a:r>
              <a:rPr sz="1800" b="1">
                <a:solidFill>
                  <a:srgbClr val="12343B"/>
                </a:solidFill>
                <a:latin typeface="Calibri"/>
              </a:rPr>
              <a:t>Area overhead per block</a:t>
            </a:r>
          </a:p>
        </p:txBody>
      </p:sp>
      <p:pic>
        <p:nvPicPr>
          <p:cNvPr id="3" name="Area overhead per block" descr="area_overhead.png"/>
          <p:cNvPicPr>
            <a:picLocks noChangeAspect="1"/>
          </p:cNvPicPr>
          <p:nvPr/>
        </p:nvPicPr>
        <p:blipFill>
          <a:blip r:embed="rId2"/>
          <a:stretch>
            <a:fillRect/>
          </a:stretch>
        </p:blipFill>
        <p:spPr>
          <a:xfrm>
            <a:off x="821531" y="557212"/>
            <a:ext cx="7500937" cy="3857625"/>
          </a:xfrm>
          <a:prstGeom prst="rect">
            <a:avLst/>
          </a:prstGeom>
        </p:spPr>
      </p:pic>
      <p:sp>
        <p:nvSpPr>
          <p:cNvPr id="4" name="Caption area_overhead.png"/>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Each memory pays about 1 kGE for its March BIST (6–7 % of that memory).</a:t>
            </a:r>
          </a:p>
          <a:p>
            <a:pPr algn="l"/>
            <a:r>
              <a:rPr sz="1237" b="0">
                <a:solidFill>
                  <a:srgbClr val="FFFFFF"/>
                </a:solidFill>
                <a:latin typeface="Calibri"/>
              </a:rPr>
              <a:t>Crossbar isolation + sub access is the largest single cost: +10.7 kGE, 39 % of the original interconnect.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p:nvPr/>
        </p:nvSpPr>
        <p:spPr>
          <a:xfrm>
            <a:off x="285750" y="100012"/>
            <a:ext cx="8572500" cy="357187"/>
          </a:xfrm>
          <a:prstGeom prst="rect">
            <a:avLst/>
          </a:prstGeom>
          <a:noFill/>
          <a:ln>
            <a:noFill/>
          </a:ln>
        </p:spPr>
        <p:txBody>
          <a:bodyPr rtlCol="0" anchor="ctr" wrap="square" lIns="0" rIns="0" tIns="0" bIns="0"/>
          <a:lstStyle/>
          <a:p>
            <a:pPr algn="l"/>
            <a:r>
              <a:rPr sz="1800" b="1">
                <a:solidFill>
                  <a:srgbClr val="12343B"/>
                </a:solidFill>
                <a:latin typeface="Calibri"/>
              </a:rPr>
              <a:t>Proposal: memory bank repair</a:t>
            </a:r>
          </a:p>
        </p:txBody>
      </p:sp>
      <p:sp>
        <p:nvSpPr>
          <p:cNvPr id="3" name="Repair tag"/>
          <p:cNvSpPr/>
          <p:nvPr/>
        </p:nvSpPr>
        <p:spPr>
          <a:xfrm>
            <a:off x="7215187" y="185737"/>
            <a:ext cx="1643062" cy="200025"/>
          </a:xfrm>
          <a:prstGeom prst="roundRect">
            <a:avLst>
              <a:gd name="adj" fmla="val 15000"/>
            </a:avLst>
          </a:prstGeom>
          <a:solidFill>
            <a:srgbClr val="E39B2D"/>
          </a:solidFill>
          <a:ln>
            <a:noFill/>
          </a:ln>
        </p:spPr>
        <p:txBody>
          <a:bodyPr rtlCol="0" anchor="ctr" wrap="square" lIns="0" rIns="0" tIns="0" bIns="0"/>
          <a:lstStyle/>
          <a:p>
            <a:pPr algn="ctr"/>
            <a:r>
              <a:rPr sz="843" b="1">
                <a:solidFill>
                  <a:srgbClr val="FFFFFF"/>
                </a:solidFill>
                <a:latin typeface="Calibri"/>
              </a:rPr>
              <a:t>Proposal · not implemented</a:t>
            </a:r>
          </a:p>
        </p:txBody>
      </p:sp>
      <p:sp>
        <p:nvSpPr>
          <p:cNvPr id="4" name="RP core"/>
          <p:cNvSpPr/>
          <p:nvPr/>
        </p:nvSpPr>
        <p:spPr>
          <a:xfrm>
            <a:off x="285750" y="1643062"/>
            <a:ext cx="1214437" cy="857250"/>
          </a:xfrm>
          <a:prstGeom prst="roundRect">
            <a:avLst>
              <a:gd name="adj" fmla="val 8333"/>
            </a:avLst>
          </a:prstGeom>
          <a:solidFill>
            <a:srgbClr val="EDE7F6"/>
          </a:solidFill>
          <a:ln w="19050">
            <a:solidFill>
              <a:srgbClr val="93005F"/>
            </a:solidFill>
          </a:ln>
        </p:spPr>
        <p:txBody>
          <a:bodyPr rtlCol="0" anchor="ctr" wrap="square" lIns="28575" rIns="28575" tIns="28575" bIns="28575"/>
          <a:lstStyle/>
          <a:p>
            <a:pPr algn="ctr"/>
            <a:r>
              <a:rPr sz="1237" b="1">
                <a:solidFill>
                  <a:srgbClr val="12343B"/>
                </a:solidFill>
                <a:latin typeface="Calibri"/>
              </a:rPr>
              <a:t>Core</a:t>
            </a:r>
          </a:p>
          <a:p>
            <a:pPr algn="ctr"/>
            <a:r>
              <a:rPr sz="787" b="0">
                <a:solidFill>
                  <a:srgbClr val="9E9E9E"/>
                </a:solidFill>
                <a:latin typeface="Calibri"/>
              </a:rPr>
              <a:t>runs the program</a:t>
            </a:r>
          </a:p>
        </p:txBody>
      </p:sp>
      <p:sp>
        <p:nvSpPr>
          <p:cNvPr id="5" name="RP xbar"/>
          <p:cNvSpPr/>
          <p:nvPr/>
        </p:nvSpPr>
        <p:spPr>
          <a:xfrm>
            <a:off x="2071687" y="928687"/>
            <a:ext cx="2714625" cy="2357437"/>
          </a:xfrm>
          <a:prstGeom prst="roundRect">
            <a:avLst>
              <a:gd name="adj" fmla="val 3030"/>
            </a:avLst>
          </a:prstGeom>
          <a:solidFill>
            <a:srgbClr val="F4F8FB"/>
          </a:solidFill>
          <a:ln w="25400">
            <a:solidFill>
              <a:srgbClr val="1E5A8C"/>
            </a:solidFill>
          </a:ln>
        </p:spPr>
        <p:txBody>
          <a:bodyPr rtlCol="0" anchor="t" wrap="square" lIns="71437" rIns="71437" tIns="71437" bIns="71437"/>
          <a:lstStyle/>
          <a:p>
            <a:pPr algn="ctr"/>
            <a:r>
              <a:rPr sz="1181" b="1">
                <a:solidFill>
                  <a:srgbClr val="1E5A8C"/>
                </a:solidFill>
                <a:latin typeface="Calibri"/>
              </a:rPr>
              <a:t>Crossbar decode</a:t>
            </a:r>
          </a:p>
        </p:txBody>
      </p:sp>
      <p:cxnSp>
        <p:nvCxnSpPr>
          <p:cNvPr id="6" name="RP core link"/>
          <p:cNvCxnSpPr/>
          <p:nvPr/>
        </p:nvCxnSpPr>
        <p:spPr>
          <a:xfrm>
            <a:off x="1500187" y="2071687"/>
            <a:ext cx="571500" cy="0"/>
          </a:xfrm>
          <a:prstGeom prst="line">
            <a:avLst/>
          </a:prstGeom>
          <a:ln w="25400">
            <a:solidFill>
              <a:srgbClr val="9E9E9E"/>
            </a:solidFill>
            <a:tailEnd type="triangle" w="med" len="med"/>
          </a:ln>
        </p:spPr>
      </p:cxnSp>
      <p:sp>
        <p:nvSpPr>
          <p:cNvPr id="7" name="RP row lo"/>
          <p:cNvSpPr/>
          <p:nvPr/>
        </p:nvSpPr>
        <p:spPr>
          <a:xfrm>
            <a:off x="2214562" y="1535906"/>
            <a:ext cx="2428875" cy="400050"/>
          </a:xfrm>
          <a:prstGeom prst="rect">
            <a:avLst/>
          </a:prstGeom>
          <a:solidFill>
            <a:srgbClr val="FFFFFF"/>
          </a:solidFill>
          <a:ln w="19050">
            <a:solidFill>
              <a:srgbClr val="9E9E9E"/>
            </a:solidFill>
          </a:ln>
        </p:spPr>
        <p:txBody>
          <a:bodyPr rtlCol="0" anchor="ctr" wrap="square" lIns="28575" rIns="28575" tIns="28575" bIns="28575"/>
          <a:lstStyle/>
          <a:p>
            <a:pPr algn="ctr"/>
            <a:r>
              <a:rPr sz="843" b="1">
                <a:solidFill>
                  <a:srgbClr val="9E9E9E"/>
                </a:solidFill>
                <a:latin typeface="Calibri"/>
              </a:rPr>
              <a:t>lower half of the RAM range</a:t>
            </a:r>
          </a:p>
          <a:p>
            <a:pPr algn="ctr"/>
            <a:r>
              <a:rPr sz="956" b="1">
                <a:solidFill>
                  <a:srgbClr val="12343B"/>
                </a:solidFill>
                <a:latin typeface="Calibri"/>
              </a:rPr>
              <a:t>→ bank A</a:t>
            </a:r>
          </a:p>
        </p:txBody>
      </p:sp>
      <p:sp>
        <p:nvSpPr>
          <p:cNvPr id="8" name="RP row hi"/>
          <p:cNvSpPr/>
          <p:nvPr/>
        </p:nvSpPr>
        <p:spPr>
          <a:xfrm>
            <a:off x="2214562" y="2393156"/>
            <a:ext cx="2428875" cy="400050"/>
          </a:xfrm>
          <a:prstGeom prst="rect">
            <a:avLst/>
          </a:prstGeom>
          <a:solidFill>
            <a:srgbClr val="FFFFFF"/>
          </a:solidFill>
          <a:ln w="19050">
            <a:solidFill>
              <a:srgbClr val="9E9E9E"/>
            </a:solidFill>
          </a:ln>
        </p:spPr>
        <p:txBody>
          <a:bodyPr rtlCol="0" anchor="ctr" wrap="square" lIns="28575" rIns="28575" tIns="28575" bIns="28575"/>
          <a:lstStyle/>
          <a:p>
            <a:pPr algn="ctr"/>
            <a:r>
              <a:rPr sz="843" b="1">
                <a:solidFill>
                  <a:srgbClr val="9E9E9E"/>
                </a:solidFill>
                <a:latin typeface="Calibri"/>
              </a:rPr>
              <a:t>upper half of the RAM range</a:t>
            </a:r>
          </a:p>
          <a:p>
            <a:pPr algn="ctr"/>
            <a:r>
              <a:rPr sz="956" b="1">
                <a:solidFill>
                  <a:srgbClr val="12343B"/>
                </a:solidFill>
                <a:latin typeface="Calibri"/>
              </a:rPr>
              <a:t>→ bank B</a:t>
            </a:r>
          </a:p>
        </p:txBody>
      </p:sp>
      <p:sp>
        <p:nvSpPr>
          <p:cNvPr id="9" name="RP bank A"/>
          <p:cNvSpPr/>
          <p:nvPr/>
        </p:nvSpPr>
        <p:spPr>
          <a:xfrm>
            <a:off x="5572125" y="1071562"/>
            <a:ext cx="1428750" cy="642937"/>
          </a:xfrm>
          <a:prstGeom prst="roundRect">
            <a:avLst>
              <a:gd name="adj" fmla="val 11111"/>
            </a:avLst>
          </a:prstGeom>
          <a:solidFill>
            <a:srgbClr val="E3F2FD"/>
          </a:solidFill>
          <a:ln w="19050">
            <a:solidFill>
              <a:srgbClr val="1E5A8C"/>
            </a:solidFill>
          </a:ln>
        </p:spPr>
        <p:txBody>
          <a:bodyPr rtlCol="0" anchor="ctr" wrap="square" lIns="28575" rIns="28575" tIns="28575" bIns="28575"/>
          <a:lstStyle/>
          <a:p>
            <a:pPr algn="ctr"/>
            <a:r>
              <a:rPr sz="1181" b="1">
                <a:solidFill>
                  <a:srgbClr val="12343B"/>
                </a:solidFill>
                <a:latin typeface="Calibri"/>
              </a:rPr>
              <a:t>Bank A</a:t>
            </a:r>
          </a:p>
          <a:p>
            <a:pPr algn="ctr"/>
            <a:r>
              <a:rPr sz="787" b="0">
                <a:solidFill>
                  <a:srgbClr val="9E9E9E"/>
                </a:solidFill>
                <a:latin typeface="Calibri"/>
              </a:rPr>
              <a:t>memory</a:t>
            </a:r>
          </a:p>
        </p:txBody>
      </p:sp>
      <p:sp>
        <p:nvSpPr>
          <p:cNvPr id="10" name="RP bank B"/>
          <p:cNvSpPr/>
          <p:nvPr/>
        </p:nvSpPr>
        <p:spPr>
          <a:xfrm>
            <a:off x="5572125" y="1928812"/>
            <a:ext cx="1428750" cy="642937"/>
          </a:xfrm>
          <a:prstGeom prst="roundRect">
            <a:avLst>
              <a:gd name="adj" fmla="val 11111"/>
            </a:avLst>
          </a:prstGeom>
          <a:solidFill>
            <a:srgbClr val="E3F2FD"/>
          </a:solidFill>
          <a:ln w="19050">
            <a:solidFill>
              <a:srgbClr val="1E5A8C"/>
            </a:solidFill>
          </a:ln>
        </p:spPr>
        <p:txBody>
          <a:bodyPr rtlCol="0" anchor="ctr" wrap="square" lIns="28575" rIns="28575" tIns="28575" bIns="28575"/>
          <a:lstStyle/>
          <a:p>
            <a:pPr algn="ctr"/>
            <a:r>
              <a:rPr sz="1181" b="1">
                <a:solidFill>
                  <a:srgbClr val="12343B"/>
                </a:solidFill>
                <a:latin typeface="Calibri"/>
              </a:rPr>
              <a:t>Bank B</a:t>
            </a:r>
          </a:p>
          <a:p>
            <a:pPr algn="ctr"/>
            <a:r>
              <a:rPr sz="787" b="0">
                <a:solidFill>
                  <a:srgbClr val="9E9E9E"/>
                </a:solidFill>
                <a:latin typeface="Calibri"/>
              </a:rPr>
              <a:t>memory</a:t>
            </a:r>
          </a:p>
        </p:txBody>
      </p:sp>
      <p:sp>
        <p:nvSpPr>
          <p:cNvPr id="11" name="RP err"/>
          <p:cNvSpPr/>
          <p:nvPr/>
        </p:nvSpPr>
        <p:spPr>
          <a:xfrm>
            <a:off x="5572125" y="2857500"/>
            <a:ext cx="1428750" cy="500062"/>
          </a:xfrm>
          <a:prstGeom prst="roundRect">
            <a:avLst>
              <a:gd name="adj" fmla="val 14285"/>
            </a:avLst>
          </a:prstGeom>
          <a:solidFill>
            <a:srgbClr val="F5F5F5"/>
          </a:solidFill>
          <a:ln w="19050">
            <a:solidFill>
              <a:srgbClr val="9E9E9E"/>
            </a:solidFill>
          </a:ln>
        </p:spPr>
        <p:txBody>
          <a:bodyPr rtlCol="0" anchor="ctr" wrap="square" lIns="28575" rIns="28575" tIns="28575" bIns="28575"/>
          <a:lstStyle/>
          <a:p>
            <a:pPr algn="ctr"/>
            <a:r>
              <a:rPr sz="956" b="1">
                <a:solidFill>
                  <a:srgbClr val="12343B"/>
                </a:solidFill>
                <a:latin typeface="Calibri"/>
              </a:rPr>
              <a:t>Error subordinate</a:t>
            </a:r>
          </a:p>
          <a:p>
            <a:pPr algn="ctr"/>
            <a:r>
              <a:rPr sz="731" b="0">
                <a:solidFill>
                  <a:srgbClr val="9E9E9E"/>
                </a:solidFill>
                <a:latin typeface="Calibri"/>
              </a:rPr>
              <a:t>answers with a bus error</a:t>
            </a:r>
          </a:p>
        </p:txBody>
      </p:sp>
      <p:sp>
        <p:nvSpPr>
          <p:cNvPr id="12" name="RP bist"/>
          <p:cNvSpPr/>
          <p:nvPr/>
        </p:nvSpPr>
        <p:spPr>
          <a:xfrm>
            <a:off x="7286625" y="1071562"/>
            <a:ext cx="1571625" cy="1500187"/>
          </a:xfrm>
          <a:prstGeom prst="roundRect">
            <a:avLst>
              <a:gd name="adj" fmla="val 4761"/>
            </a:avLst>
          </a:prstGeom>
          <a:solidFill>
            <a:srgbClr val="FFFFFF"/>
          </a:solidFill>
          <a:ln w="19050">
            <a:solidFill>
              <a:srgbClr val="9E9E9E"/>
            </a:solidFill>
          </a:ln>
        </p:spPr>
        <p:txBody>
          <a:bodyPr rtlCol="0" anchor="t" wrap="square" lIns="85725" rIns="85725" tIns="85725" bIns="85725"/>
          <a:lstStyle/>
          <a:p>
            <a:pPr algn="ctr"/>
            <a:r>
              <a:rPr sz="1068" b="1">
                <a:solidFill>
                  <a:srgbClr val="12343B"/>
                </a:solidFill>
                <a:latin typeface="Calibri"/>
              </a:rPr>
              <a:t>March BIST</a:t>
            </a:r>
          </a:p>
          <a:p>
            <a:pPr algn="ctr"/>
            <a:r>
              <a:rPr sz="787" b="0">
                <a:solidFill>
                  <a:srgbClr val="9E9E9E"/>
                </a:solidFill>
                <a:latin typeface="Calibri"/>
              </a:rPr>
              <a:t>one per bank, run after reset</a:t>
            </a:r>
          </a:p>
        </p:txBody>
      </p:sp>
      <p:sp>
        <p:nvSpPr>
          <p:cNvPr id="13" name="RP reg"/>
          <p:cNvSpPr/>
          <p:nvPr/>
        </p:nvSpPr>
        <p:spPr>
          <a:xfrm>
            <a:off x="2071687" y="3500437"/>
            <a:ext cx="2714625" cy="400050"/>
          </a:xfrm>
          <a:prstGeom prst="roundRect">
            <a:avLst>
              <a:gd name="adj" fmla="val 15000"/>
            </a:avLst>
          </a:prstGeom>
          <a:solidFill>
            <a:srgbClr val="FFFFFF"/>
          </a:solidFill>
          <a:ln w="19050">
            <a:solidFill>
              <a:srgbClr val="9E9E9E"/>
            </a:solidFill>
          </a:ln>
        </p:spPr>
        <p:txBody>
          <a:bodyPr rtlCol="0" anchor="ctr" wrap="square" lIns="28575" rIns="28575" tIns="28575" bIns="28575"/>
          <a:lstStyle/>
          <a:p>
            <a:pPr algn="ctr"/>
            <a:r>
              <a:rPr sz="843" b="1">
                <a:solidFill>
                  <a:srgbClr val="12343B"/>
                </a:solidFill>
                <a:latin typeface="Calibri"/>
              </a:rPr>
              <a:t>remap register:   bank A bad = 0   ·   bank B bad = 0</a:t>
            </a:r>
          </a:p>
        </p:txBody>
      </p:sp>
      <p:cxnSp>
        <p:nvCxnSpPr>
          <p:cNvPr id="14" name="RP reg link"/>
          <p:cNvCxnSpPr/>
          <p:nvPr/>
        </p:nvCxnSpPr>
        <p:spPr>
          <a:xfrm flipV="1">
            <a:off x="3429000" y="3286125"/>
            <a:ext cx="0" cy="214312"/>
          </a:xfrm>
          <a:prstGeom prst="line">
            <a:avLst/>
          </a:prstGeom>
          <a:ln w="25400">
            <a:solidFill>
              <a:srgbClr val="9E9E9E"/>
            </a:solidFill>
            <a:tailEnd type="triangle" w="med" len="med"/>
          </a:ln>
        </p:spPr>
      </p:cxnSp>
      <p:sp>
        <p:nvSpPr>
          <p:cNvPr id="15" name="RP cap 0"/>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If BIST finds a broken memory bank, the same decode mechanism can steer around it.</a:t>
            </a:r>
          </a:p>
          <a:p>
            <a:pPr algn="l"/>
            <a:r>
              <a:rPr sz="1237" b="0">
                <a:solidFill>
                  <a:srgbClr val="FFFFFF"/>
                </a:solidFill>
                <a:latin typeface="Calibri"/>
              </a:rPr>
              <a:t>Click to step through.</a:t>
            </a:r>
          </a:p>
        </p:txBody>
      </p:sp>
      <p:cxnSp>
        <p:nvCxnSpPr>
          <p:cNvPr id="16" name="RP n lo"/>
          <p:cNvCxnSpPr/>
          <p:nvPr/>
        </p:nvCxnSpPr>
        <p:spPr>
          <a:xfrm flipV="1">
            <a:off x="4643437" y="1393031"/>
            <a:ext cx="928688" cy="342900"/>
          </a:xfrm>
          <a:prstGeom prst="line">
            <a:avLst/>
          </a:prstGeom>
          <a:ln w="44450">
            <a:solidFill>
              <a:srgbClr val="93005F"/>
            </a:solidFill>
            <a:tailEnd type="triangle" w="med" len="med"/>
          </a:ln>
        </p:spPr>
      </p:cxnSp>
      <p:cxnSp>
        <p:nvCxnSpPr>
          <p:cNvPr id="17" name="RP n hi"/>
          <p:cNvCxnSpPr/>
          <p:nvPr/>
        </p:nvCxnSpPr>
        <p:spPr>
          <a:xfrm flipV="1">
            <a:off x="4643437" y="2250281"/>
            <a:ext cx="928688" cy="342900"/>
          </a:xfrm>
          <a:prstGeom prst="line">
            <a:avLst/>
          </a:prstGeom>
          <a:ln w="44450">
            <a:solidFill>
              <a:srgbClr val="93005F"/>
            </a:solidFill>
            <a:tailEnd type="triangle" w="med" len="med"/>
          </a:ln>
        </p:spPr>
      </p:cxnSp>
      <p:sp>
        <p:nvSpPr>
          <p:cNvPr id="18" name="RP cap 1"/>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Today the decode is fixed: the lower half of the RAM range goes to bank A,</a:t>
            </a:r>
          </a:p>
          <a:p>
            <a:pPr algn="l"/>
            <a:r>
              <a:rPr sz="1237" b="0">
                <a:solidFill>
                  <a:srgbClr val="FFFFFF"/>
                </a:solidFill>
                <a:latin typeface="Calibri"/>
              </a:rPr>
              <a:t>the upper half to bank B.</a:t>
            </a:r>
          </a:p>
        </p:txBody>
      </p:sp>
      <p:sp>
        <p:nvSpPr>
          <p:cNvPr id="19" name="RP bist res"/>
          <p:cNvSpPr/>
          <p:nvPr/>
        </p:nvSpPr>
        <p:spPr>
          <a:xfrm>
            <a:off x="7400925" y="1685925"/>
            <a:ext cx="1343025" cy="714375"/>
          </a:xfrm>
          <a:prstGeom prst="rect">
            <a:avLst/>
          </a:prstGeom>
          <a:solidFill>
            <a:srgbClr val="FFFFFF"/>
          </a:solidFill>
          <a:ln>
            <a:noFill/>
          </a:ln>
        </p:spPr>
        <p:txBody>
          <a:bodyPr rtlCol="0" anchor="ctr" wrap="square" lIns="42862" rIns="42862" tIns="42862" bIns="42862"/>
          <a:lstStyle/>
          <a:p>
            <a:pPr algn="l"/>
            <a:r>
              <a:rPr sz="956" b="1">
                <a:solidFill>
                  <a:srgbClr val="C62828"/>
                </a:solidFill>
                <a:latin typeface="Consolas"/>
              </a:rPr>
              <a:t>bank A:  FAIL</a:t>
            </a:r>
          </a:p>
          <a:p>
            <a:pPr algn="l"/>
            <a:r>
              <a:rPr sz="956" b="1">
                <a:solidFill>
                  <a:srgbClr val="2E7D32"/>
                </a:solidFill>
                <a:latin typeface="Consolas"/>
              </a:rPr>
              <a:t>bank B:  pass</a:t>
            </a:r>
          </a:p>
        </p:txBody>
      </p:sp>
      <p:sp>
        <p:nvSpPr>
          <p:cNvPr id="20" name="RP bad A"/>
          <p:cNvSpPr/>
          <p:nvPr/>
        </p:nvSpPr>
        <p:spPr>
          <a:xfrm>
            <a:off x="5572125" y="1071562"/>
            <a:ext cx="1428750" cy="642937"/>
          </a:xfrm>
          <a:prstGeom prst="roundRect">
            <a:avLst>
              <a:gd name="adj" fmla="val 11111"/>
            </a:avLst>
          </a:prstGeom>
          <a:solidFill>
            <a:srgbClr val="FFEBEE"/>
          </a:solidFill>
          <a:ln w="38100">
            <a:solidFill>
              <a:srgbClr val="C62828"/>
            </a:solidFill>
          </a:ln>
        </p:spPr>
        <p:txBody>
          <a:bodyPr rtlCol="0" anchor="ctr" wrap="square" lIns="28575" rIns="28575" tIns="28575" bIns="28575"/>
          <a:lstStyle/>
          <a:p>
            <a:pPr algn="ctr"/>
            <a:r>
              <a:rPr sz="1181" b="1">
                <a:solidFill>
                  <a:srgbClr val="C62828"/>
                </a:solidFill>
                <a:latin typeface="Calibri"/>
              </a:rPr>
              <a:t>Bank A  ✗</a:t>
            </a:r>
          </a:p>
          <a:p>
            <a:pPr algn="ctr"/>
            <a:r>
              <a:rPr sz="787" b="0">
                <a:solidFill>
                  <a:srgbClr val="C62828"/>
                </a:solidFill>
                <a:latin typeface="Calibri"/>
              </a:rPr>
              <a:t>stuck cell found</a:t>
            </a:r>
          </a:p>
        </p:txBody>
      </p:sp>
      <p:sp>
        <p:nvSpPr>
          <p:cNvPr id="21" name="RP cap 2"/>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After reset, March BIST tests every bank. Here bank A has a stuck cell:</a:t>
            </a:r>
          </a:p>
          <a:p>
            <a:pPr algn="l"/>
            <a:r>
              <a:rPr sz="1237" b="0">
                <a:solidFill>
                  <a:srgbClr val="FFFFFF"/>
                </a:solidFill>
                <a:latin typeface="Calibri"/>
              </a:rPr>
              <a:t>without repair, any program using the RAM would fail.</a:t>
            </a:r>
          </a:p>
        </p:txBody>
      </p:sp>
      <p:sp>
        <p:nvSpPr>
          <p:cNvPr id="22" name="RP reg set"/>
          <p:cNvSpPr/>
          <p:nvPr/>
        </p:nvSpPr>
        <p:spPr>
          <a:xfrm>
            <a:off x="2071687" y="3500437"/>
            <a:ext cx="2714625" cy="400050"/>
          </a:xfrm>
          <a:prstGeom prst="roundRect">
            <a:avLst>
              <a:gd name="adj" fmla="val 15000"/>
            </a:avLst>
          </a:prstGeom>
          <a:solidFill>
            <a:srgbClr val="FFF3E0"/>
          </a:solidFill>
          <a:ln w="31750">
            <a:solidFill>
              <a:srgbClr val="E39B2D"/>
            </a:solidFill>
          </a:ln>
        </p:spPr>
        <p:txBody>
          <a:bodyPr rtlCol="0" anchor="ctr" wrap="square" lIns="28575" rIns="28575" tIns="28575" bIns="28575"/>
          <a:lstStyle/>
          <a:p>
            <a:pPr algn="ctr"/>
            <a:r>
              <a:rPr sz="843" b="1">
                <a:solidFill>
                  <a:srgbClr val="12343B"/>
                </a:solidFill>
                <a:latin typeface="Calibri"/>
              </a:rPr>
              <a:t>remap register:   bank A bad = 1   ·   bank B bad = 0</a:t>
            </a:r>
          </a:p>
        </p:txBody>
      </p:sp>
      <p:sp>
        <p:nvSpPr>
          <p:cNvPr id="23" name="RP row lo 2"/>
          <p:cNvSpPr/>
          <p:nvPr/>
        </p:nvSpPr>
        <p:spPr>
          <a:xfrm>
            <a:off x="2214562" y="1535906"/>
            <a:ext cx="2428875" cy="400050"/>
          </a:xfrm>
          <a:prstGeom prst="rect">
            <a:avLst/>
          </a:prstGeom>
          <a:solidFill>
            <a:srgbClr val="E8F5E9"/>
          </a:solidFill>
          <a:ln w="19050">
            <a:solidFill>
              <a:srgbClr val="2E7D32"/>
            </a:solidFill>
          </a:ln>
        </p:spPr>
        <p:txBody>
          <a:bodyPr rtlCol="0" anchor="ctr" wrap="square" lIns="28575" rIns="28575" tIns="28575" bIns="28575"/>
          <a:lstStyle/>
          <a:p>
            <a:pPr algn="ctr"/>
            <a:r>
              <a:rPr sz="843" b="1">
                <a:solidFill>
                  <a:srgbClr val="9E9E9E"/>
                </a:solidFill>
                <a:latin typeface="Calibri"/>
              </a:rPr>
              <a:t>lower half of the RAM range</a:t>
            </a:r>
          </a:p>
          <a:p>
            <a:pPr algn="ctr"/>
            <a:r>
              <a:rPr sz="956" b="1">
                <a:solidFill>
                  <a:srgbClr val="2E7D32"/>
                </a:solidFill>
                <a:latin typeface="Calibri"/>
              </a:rPr>
              <a:t>→ bank B</a:t>
            </a:r>
          </a:p>
        </p:txBody>
      </p:sp>
      <p:sp>
        <p:nvSpPr>
          <p:cNvPr id="24" name="RP row hi 2"/>
          <p:cNvSpPr/>
          <p:nvPr/>
        </p:nvSpPr>
        <p:spPr>
          <a:xfrm>
            <a:off x="2214562" y="2393156"/>
            <a:ext cx="2428875" cy="400050"/>
          </a:xfrm>
          <a:prstGeom prst="rect">
            <a:avLst/>
          </a:prstGeom>
          <a:solidFill>
            <a:srgbClr val="FFEBEE"/>
          </a:solidFill>
          <a:ln w="19050">
            <a:solidFill>
              <a:srgbClr val="C62828"/>
            </a:solidFill>
          </a:ln>
        </p:spPr>
        <p:txBody>
          <a:bodyPr rtlCol="0" anchor="ctr" wrap="square" lIns="28575" rIns="28575" tIns="28575" bIns="28575"/>
          <a:lstStyle/>
          <a:p>
            <a:pPr algn="ctr"/>
            <a:r>
              <a:rPr sz="843" b="1">
                <a:solidFill>
                  <a:srgbClr val="9E9E9E"/>
                </a:solidFill>
                <a:latin typeface="Calibri"/>
              </a:rPr>
              <a:t>upper half of the RAM range</a:t>
            </a:r>
          </a:p>
          <a:p>
            <a:pPr algn="ctr"/>
            <a:r>
              <a:rPr sz="956" b="1">
                <a:solidFill>
                  <a:srgbClr val="C62828"/>
                </a:solidFill>
                <a:latin typeface="Calibri"/>
              </a:rPr>
              <a:t>→ error subordinate</a:t>
            </a:r>
          </a:p>
        </p:txBody>
      </p:sp>
      <p:cxnSp>
        <p:nvCxnSpPr>
          <p:cNvPr id="25" name="RP m lo"/>
          <p:cNvCxnSpPr/>
          <p:nvPr/>
        </p:nvCxnSpPr>
        <p:spPr>
          <a:xfrm>
            <a:off x="4643437" y="1735931"/>
            <a:ext cx="928688" cy="514350"/>
          </a:xfrm>
          <a:prstGeom prst="line">
            <a:avLst/>
          </a:prstGeom>
          <a:ln w="44450">
            <a:solidFill>
              <a:srgbClr val="2E7D32"/>
            </a:solidFill>
            <a:tailEnd type="triangle" w="med" len="med"/>
          </a:ln>
        </p:spPr>
      </p:cxnSp>
      <p:cxnSp>
        <p:nvCxnSpPr>
          <p:cNvPr id="26" name="RP m hi"/>
          <p:cNvCxnSpPr/>
          <p:nvPr/>
        </p:nvCxnSpPr>
        <p:spPr>
          <a:xfrm>
            <a:off x="4643437" y="2593181"/>
            <a:ext cx="928688" cy="514350"/>
          </a:xfrm>
          <a:prstGeom prst="line">
            <a:avLst/>
          </a:prstGeom>
          <a:ln w="38100">
            <a:solidFill>
              <a:srgbClr val="C62828"/>
            </a:solidFill>
            <a:prstDash val="dash"/>
            <a:tailEnd type="triangle" w="med" len="med"/>
          </a:ln>
        </p:spPr>
      </p:cxnSp>
      <p:sp>
        <p:nvSpPr>
          <p:cNvPr id="27" name="RP cap 3"/>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Boot code or the debugger sets one bit. The decode now sends the lower half to the good bank</a:t>
            </a:r>
          </a:p>
          <a:p>
            <a:pPr algn="l"/>
            <a:r>
              <a:rPr sz="1237" b="0">
                <a:solidFill>
                  <a:srgbClr val="FFFFFF"/>
                </a:solidFill>
                <a:latin typeface="Calibri"/>
              </a:rPr>
              <a:t>and the upper half to the error subordinate. Set it before the program is loaded.</a:t>
            </a:r>
          </a:p>
        </p:txBody>
      </p:sp>
      <p:sp>
        <p:nvSpPr>
          <p:cNvPr id="28" name="RP sw"/>
          <p:cNvSpPr/>
          <p:nvPr/>
        </p:nvSpPr>
        <p:spPr>
          <a:xfrm>
            <a:off x="285750" y="2643187"/>
            <a:ext cx="1428750" cy="542925"/>
          </a:xfrm>
          <a:prstGeom prst="roundRect">
            <a:avLst>
              <a:gd name="adj" fmla="val 13157"/>
            </a:avLst>
          </a:prstGeom>
          <a:solidFill>
            <a:srgbClr val="E8F5E9"/>
          </a:solidFill>
          <a:ln w="19050">
            <a:solidFill>
              <a:srgbClr val="2E7D32"/>
            </a:solidFill>
          </a:ln>
        </p:spPr>
        <p:txBody>
          <a:bodyPr rtlCol="0" anchor="ctr" wrap="square" lIns="28575" rIns="28575" tIns="28575" bIns="28575"/>
          <a:lstStyle/>
          <a:p>
            <a:pPr algn="ctr"/>
            <a:r>
              <a:rPr sz="787" b="1">
                <a:solidFill>
                  <a:srgbClr val="2E7D32"/>
                </a:solidFill>
                <a:latin typeface="Calibri"/>
              </a:rPr>
              <a:t>same start address,</a:t>
            </a:r>
          </a:p>
          <a:p>
            <a:pPr algn="ctr"/>
            <a:r>
              <a:rPr sz="787" b="1">
                <a:solidFill>
                  <a:srgbClr val="2E7D32"/>
                </a:solidFill>
                <a:latin typeface="Calibri"/>
              </a:rPr>
              <a:t>half the RAM ✓</a:t>
            </a:r>
          </a:p>
        </p:txBody>
      </p:sp>
      <p:sp>
        <p:nvSpPr>
          <p:cNvPr id="29" name="RP no alias"/>
          <p:cNvSpPr/>
          <p:nvPr/>
        </p:nvSpPr>
        <p:spPr>
          <a:xfrm>
            <a:off x="7072312" y="2857500"/>
            <a:ext cx="1857375" cy="500062"/>
          </a:xfrm>
          <a:prstGeom prst="roundRect">
            <a:avLst>
              <a:gd name="adj" fmla="val 14285"/>
            </a:avLst>
          </a:prstGeom>
          <a:solidFill>
            <a:srgbClr val="FFFFFF"/>
          </a:solidFill>
          <a:ln w="19050">
            <a:solidFill>
              <a:srgbClr val="C62828"/>
            </a:solidFill>
          </a:ln>
        </p:spPr>
        <p:txBody>
          <a:bodyPr rtlCol="0" anchor="ctr" wrap="square" lIns="28575" rIns="28575" tIns="28575" bIns="28575"/>
          <a:lstStyle/>
          <a:p>
            <a:pPr algn="ctr"/>
            <a:r>
              <a:rPr sz="787" b="1">
                <a:solidFill>
                  <a:srgbClr val="C62828"/>
                </a:solidFill>
                <a:latin typeface="Calibri"/>
              </a:rPr>
              <a:t>stray access → bus error,</a:t>
            </a:r>
          </a:p>
          <a:p>
            <a:pPr algn="ctr"/>
            <a:r>
              <a:rPr sz="787" b="1">
                <a:solidFill>
                  <a:srgbClr val="C62828"/>
                </a:solidFill>
                <a:latin typeface="Calibri"/>
              </a:rPr>
              <a:t>never silent corruption</a:t>
            </a:r>
          </a:p>
        </p:txBody>
      </p:sp>
      <p:sp>
        <p:nvSpPr>
          <p:cNvPr id="30" name="RP cap 4"/>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Software keeps its start address and sees half the RAM. An access to the missing half</a:t>
            </a:r>
          </a:p>
          <a:p>
            <a:pPr algn="l"/>
            <a:r>
              <a:rPr sz="1237" b="0">
                <a:solidFill>
                  <a:srgbClr val="FFFFFF"/>
                </a:solidFill>
                <a:latin typeface="Calibri"/>
              </a:rPr>
              <a:t>returns a bus error instead of silently overwriting good data. Cost: two register bits.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5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250"/>
                                        <p:tgtEl>
                                          <p:spTgt spid="1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250"/>
                                        <p:tgtEl>
                                          <p:spTgt spid="21"/>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250"/>
                                        <p:tgtEl>
                                          <p:spTgt spid="2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grpId="1" nodeType="clickEffect">
                                  <p:stCondLst>
                                    <p:cond delay="0"/>
                                  </p:stCondLst>
                                  <p:childTnLst>
                                    <p:animEffect transition="out" filter="fade">
                                      <p:cBhvr>
                                        <p:cTn id="29" dur="250"/>
                                        <p:tgtEl>
                                          <p:spTgt spid="16"/>
                                        </p:tgtEl>
                                      </p:cBhvr>
                                    </p:animEffect>
                                    <p:set>
                                      <p:cBhvr>
                                        <p:cTn id="30" dur="1" fill="hold">
                                          <p:stCondLst>
                                            <p:cond delay="249"/>
                                          </p:stCondLst>
                                        </p:cTn>
                                        <p:tgtEl>
                                          <p:spTgt spid="16"/>
                                        </p:tgtEl>
                                        <p:attrNameLst>
                                          <p:attrName>style.visibility</p:attrName>
                                        </p:attrNameLst>
                                      </p:cBhvr>
                                      <p:to>
                                        <p:strVal val="hidden"/>
                                      </p:to>
                                    </p:set>
                                  </p:childTnLst>
                                </p:cTn>
                              </p:par>
                              <p:par>
                                <p:cTn id="31" presetID="10" presetClass="exit" presetSubtype="0" fill="hold" grpId="1" nodeType="withEffect">
                                  <p:stCondLst>
                                    <p:cond delay="0"/>
                                  </p:stCondLst>
                                  <p:childTnLst>
                                    <p:animEffect transition="out" filter="fade">
                                      <p:cBhvr>
                                        <p:cTn id="32" dur="250"/>
                                        <p:tgtEl>
                                          <p:spTgt spid="17"/>
                                        </p:tgtEl>
                                      </p:cBhvr>
                                    </p:animEffect>
                                    <p:set>
                                      <p:cBhvr>
                                        <p:cTn id="33" dur="1" fill="hold">
                                          <p:stCondLst>
                                            <p:cond delay="249"/>
                                          </p:stCondLst>
                                        </p:cTn>
                                        <p:tgtEl>
                                          <p:spTgt spid="17"/>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25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250"/>
                                        <p:tgtEl>
                                          <p:spTgt spid="27"/>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25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250"/>
                                        <p:tgtEl>
                                          <p:spTgt spid="24"/>
                                        </p:tgtEl>
                                      </p:cBhvr>
                                    </p:animEffect>
                                  </p:childTnLst>
                                </p:cTn>
                              </p:par>
                            </p:childTnLst>
                          </p:cTn>
                        </p:par>
                        <p:par>
                          <p:cTn id="47" fill="hold">
                            <p:stCondLst>
                              <p:cond delay="1000"/>
                            </p:stCondLst>
                            <p:childTnLst>
                              <p:par>
                                <p:cTn id="48" presetID="10" presetClass="entr" presetSubtype="0" fill="hold" grpId="0" nodeType="after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250"/>
                                        <p:tgtEl>
                                          <p:spTgt spid="2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250"/>
                                        <p:tgtEl>
                                          <p:spTgt spid="2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250"/>
                                        <p:tgtEl>
                                          <p:spTgt spid="2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250"/>
                                        <p:tgtEl>
                                          <p:spTgt spid="2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2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1" grpId="0" animBg="1"/>
      <p:bldP spid="20" grpId="0" animBg="1"/>
      <p:bldP spid="16" grpId="1" animBg="1"/>
      <p:bldP spid="17" grpId="1" animBg="1"/>
      <p:bldP spid="22" grpId="0" animBg="1"/>
      <p:bldP spid="27" grpId="0" animBg="1"/>
      <p:bldP spid="23" grpId="0" animBg="1"/>
      <p:bldP spid="24" grpId="0" animBg="1"/>
      <p:bldP spid="25" grpId="0" animBg="1"/>
      <p:bldP spid="26" grpId="0" animBg="1"/>
      <p:bldP spid="28" grpId="0" animBg="1"/>
      <p:bldP spid="29" grpId="0" animBg="1"/>
      <p:bldP spid="3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