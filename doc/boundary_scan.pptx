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oundary scan" id="{611320e1-3ea7-a31c-9c3b-8ffe7cc2d615}">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scan is the part of our DFT work that sits at the edge of the chip, between the pads and the core. This section shows what it is, where it sits in Croc, what each instruction is for, and how we verified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situations we will face after tape-out. First, when something does not work on the board we must separate chip faults from board faults. Second, we cannot probe 48 pins, and a probe cannot drive anything. Third, the Thomy chip from IIS showed that silicon can come back in a state we did not intend: synthesis in IHP130 flipped the init values of control signals assigned through an array, and they needed scan access to set them. Boundary scan answers the pin-level part of all three: from the five JTAG pins we can observe and control every signal pin, without any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teal squares around the edge are the 40 boundary-scan cells, one per signal pin except the clocks, reset and JTAG pins. They form one shift register, driven by its own TAP, which is the first TAP after TDI. The other two TAPs, for crossbar isolation and for debug, follow it in the same chain. The instruction register is 4 bits wide; we implement the four standard instructions and every unused opcode falls back to BYPASS.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has a shift flip-flop and an update flip-flop. Capture copies what is on the pin into the shift flip-flop. Shift moves the whole chain one bit per TCK, so we read the captured values out at TDO while the next pattern goes in at TDI. Update copies the new pattern into the update flip-flops at once, and the mux, controlled by the instruction, decides whether the pin or the core sees the functional value or the scanned value. In normal operation the functional path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BYPASS: boundary scan is out of the way. All pins and the core work normally, and the only thing between TDI and TDO is a single bit, so reaching the other TAPs behind it costs one extra shift. This is the state after reset. Click 2, SAMPLE: the chip still runs normally, nothing is changed on any pin. On Capture, every input cell records the value on its pin and every output cell records what the core is driving; Shift moves that snapshot out at TDO. Click 3, PRELOAD: it is the same instruction, used the other way round. The values we shift in are stored in the cells on Update but not applied, so when we then switch to EXTEST or INTEST, the pins or the core start from values we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EXTEST: now boundary scan takes control of the outputs. Every output pin is driven by its cell, so the core cannot disturb the board test; what the core wanted to drive is still recorded in the cell. Input cells record what arrives on the input pins, and in our design the core still sees those inputs. Typical use: walk a single 1 across the output pins and read the input pins back to find shorts, opens or a wrong pin map. Click 2, INTEST: the mirror image. The cells drive the core's inputs and the real input pins are ignored, so the core sees exactly the pattern we shifted in. The output cells record the core's answer, and in our design the core keeps driving its output pins. Typical use: test the core with known inputs even if the board is broken; our testbench does this with a program that echoes inputs to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cases. One: the classic bring-up problem, UART silent. SAMPLE tells us in one scan whether the core is driving the pin. Two: board shorts and opens, found with a walking one under EXTEST, with no firmware and no probes. Three: the Thomy lesson. Boundary scan cannot reach internal registers, but it does give us control over every input the core sees from outside, for example testmode. Four: this is exactly what our testbench does, the core echoes GPIO inputs to outputs, and under INTEST it echoes the pattern we scanned in, which proves the core path works independently of the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verified boundary scan from the outside only: the testbench drives the JTAG pins and the chip pins, exactly as a tester would. Part A runs with the core idle and checks the chain lengths, every instruction, and that a TAP reset or TRST always gives the pins back to the core. Part B runs a small program on the core so we can see SAMPLE, EXTEST and INTEST interact with real core activity. All 34 checks pass (QuestaSim, 31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for the cost of 40 scan cells and one small TAP, we can tell chip faults from board faults, observe and drive every signal pin, and test the core on its own. Area numbers are in the evaluation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429000"/>
            <a:ext cx="1069848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Boundary Scan on Croc</a:t>
            </a:r>
            <a:endParaRPr lang="en-US" sz="4400" dirty="0"/>
          </a:p>
        </p:txBody>
      </p:sp>
      <p:sp>
        <p:nvSpPr>
          <p:cNvPr id="3"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algn="l" indent="0" marL="0">
              <a:buNone/>
            </a:pPr>
            <a:r>
              <a:rPr lang="en-US" sz="2000" dirty="0">
                <a:solidFill>
                  <a:schemeClr val="accent6"/>
                </a:solidFill>
              </a:rPr>
              <a:t>Reading and driving every signal pin over five JTAG wires</a:t>
            </a:r>
            <a:endParaRPr lang="en-US" sz="2000" dirty="0"/>
          </a:p>
        </p:txBody>
      </p:sp>
      <p:sp>
        <p:nvSpPr>
          <p:cNvPr id="4" name="motif_cell0"/>
          <p:cNvSpPr/>
          <p:nvPr/>
        </p:nvSpPr>
        <p:spPr>
          <a:xfrm>
            <a:off x="731520" y="5120640"/>
            <a:ext cx="320040" cy="320040"/>
          </a:xfrm>
          <a:prstGeom prst="rect">
            <a:avLst/>
          </a:prstGeom>
          <a:solidFill>
            <a:schemeClr val="accent6"/>
          </a:solidFill>
          <a:ln w="19050">
            <a:solidFill>
              <a:schemeClr val="accent1"/>
            </a:solidFill>
            <a:prstDash val="solid"/>
          </a:ln>
        </p:spPr>
      </p:sp>
      <p:sp>
        <p:nvSpPr>
          <p:cNvPr id="5" name="motif_link0"/>
          <p:cNvSpPr/>
          <p:nvPr/>
        </p:nvSpPr>
        <p:spPr>
          <a:xfrm>
            <a:off x="1051560" y="5280660"/>
            <a:ext cx="365760" cy="0"/>
          </a:xfrm>
          <a:prstGeom prst="line">
            <a:avLst/>
          </a:prstGeom>
          <a:noFill/>
          <a:ln w="19050">
            <a:solidFill>
              <a:schemeClr val="accent1"/>
            </a:solidFill>
            <a:prstDash val="dash"/>
            <a:tailEnd type="triangle"/>
          </a:ln>
        </p:spPr>
      </p:sp>
      <p:sp>
        <p:nvSpPr>
          <p:cNvPr id="6" name="motif_cell1"/>
          <p:cNvSpPr/>
          <p:nvPr/>
        </p:nvSpPr>
        <p:spPr>
          <a:xfrm>
            <a:off x="1417320" y="5120640"/>
            <a:ext cx="320040" cy="320040"/>
          </a:xfrm>
          <a:prstGeom prst="rect">
            <a:avLst/>
          </a:prstGeom>
          <a:solidFill>
            <a:schemeClr val="accent6"/>
          </a:solidFill>
          <a:ln w="19050">
            <a:solidFill>
              <a:schemeClr val="accent1"/>
            </a:solidFill>
            <a:prstDash val="solid"/>
          </a:ln>
        </p:spPr>
      </p:sp>
      <p:sp>
        <p:nvSpPr>
          <p:cNvPr id="7" name="motif_link1"/>
          <p:cNvSpPr/>
          <p:nvPr/>
        </p:nvSpPr>
        <p:spPr>
          <a:xfrm>
            <a:off x="1737360" y="5280660"/>
            <a:ext cx="365760" cy="0"/>
          </a:xfrm>
          <a:prstGeom prst="line">
            <a:avLst/>
          </a:prstGeom>
          <a:noFill/>
          <a:ln w="19050">
            <a:solidFill>
              <a:schemeClr val="accent1"/>
            </a:solidFill>
            <a:prstDash val="dash"/>
            <a:tailEnd type="triangle"/>
          </a:ln>
        </p:spPr>
      </p:sp>
      <p:sp>
        <p:nvSpPr>
          <p:cNvPr id="8" name="motif_cell2"/>
          <p:cNvSpPr/>
          <p:nvPr/>
        </p:nvSpPr>
        <p:spPr>
          <a:xfrm>
            <a:off x="2103120" y="5120640"/>
            <a:ext cx="320040" cy="320040"/>
          </a:xfrm>
          <a:prstGeom prst="rect">
            <a:avLst/>
          </a:prstGeom>
          <a:solidFill>
            <a:schemeClr val="accent6"/>
          </a:solidFill>
          <a:ln w="19050">
            <a:solidFill>
              <a:schemeClr val="accent1"/>
            </a:solidFill>
            <a:prstDash val="solid"/>
          </a:ln>
        </p:spPr>
      </p:sp>
      <p:sp>
        <p:nvSpPr>
          <p:cNvPr id="9" name="motif_link2"/>
          <p:cNvSpPr/>
          <p:nvPr/>
        </p:nvSpPr>
        <p:spPr>
          <a:xfrm>
            <a:off x="2423160" y="5280660"/>
            <a:ext cx="365760" cy="0"/>
          </a:xfrm>
          <a:prstGeom prst="line">
            <a:avLst/>
          </a:prstGeom>
          <a:noFill/>
          <a:ln w="19050">
            <a:solidFill>
              <a:schemeClr val="accent1"/>
            </a:solidFill>
            <a:prstDash val="dash"/>
            <a:tailEnd type="triangle"/>
          </a:ln>
        </p:spPr>
      </p:sp>
      <p:sp>
        <p:nvSpPr>
          <p:cNvPr id="10" name="motif_cell3"/>
          <p:cNvSpPr/>
          <p:nvPr/>
        </p:nvSpPr>
        <p:spPr>
          <a:xfrm>
            <a:off x="2788920" y="5120640"/>
            <a:ext cx="320040" cy="320040"/>
          </a:xfrm>
          <a:prstGeom prst="rect">
            <a:avLst/>
          </a:prstGeom>
          <a:solidFill>
            <a:schemeClr val="accent6"/>
          </a:solidFill>
          <a:ln w="19050">
            <a:solidFill>
              <a:schemeClr val="accent1"/>
            </a:solidFill>
            <a:prstDash val="solid"/>
          </a:ln>
        </p:spPr>
      </p:sp>
      <p:sp>
        <p:nvSpPr>
          <p:cNvPr id="11" name="motif_link3"/>
          <p:cNvSpPr/>
          <p:nvPr/>
        </p:nvSpPr>
        <p:spPr>
          <a:xfrm>
            <a:off x="3108960" y="5280660"/>
            <a:ext cx="365760" cy="0"/>
          </a:xfrm>
          <a:prstGeom prst="line">
            <a:avLst/>
          </a:prstGeom>
          <a:noFill/>
          <a:ln w="19050">
            <a:solidFill>
              <a:schemeClr val="accent1"/>
            </a:solidFill>
            <a:prstDash val="dash"/>
            <a:tailEnd type="triangle"/>
          </a:ln>
        </p:spPr>
      </p:sp>
      <p:sp>
        <p:nvSpPr>
          <p:cNvPr id="12" name="motif_cell4"/>
          <p:cNvSpPr/>
          <p:nvPr/>
        </p:nvSpPr>
        <p:spPr>
          <a:xfrm>
            <a:off x="3474720" y="5120640"/>
            <a:ext cx="320040" cy="320040"/>
          </a:xfrm>
          <a:prstGeom prst="rect">
            <a:avLst/>
          </a:prstGeom>
          <a:solidFill>
            <a:schemeClr val="accent6"/>
          </a:solidFill>
          <a:ln w="19050">
            <a:solidFill>
              <a:schemeClr val="accent1"/>
            </a:solidFill>
            <a:prstDash val="solid"/>
          </a:ln>
        </p:spPr>
      </p:sp>
      <p:sp>
        <p:nvSpPr>
          <p:cNvPr id="13" name="motif_link4"/>
          <p:cNvSpPr/>
          <p:nvPr/>
        </p:nvSpPr>
        <p:spPr>
          <a:xfrm>
            <a:off x="3794760" y="5280660"/>
            <a:ext cx="365760" cy="0"/>
          </a:xfrm>
          <a:prstGeom prst="line">
            <a:avLst/>
          </a:prstGeom>
          <a:noFill/>
          <a:ln w="19050">
            <a:solidFill>
              <a:schemeClr val="accent1"/>
            </a:solidFill>
            <a:prstDash val="dash"/>
            <a:tailEnd type="triangle"/>
          </a:ln>
        </p:spPr>
      </p:sp>
      <p:sp>
        <p:nvSpPr>
          <p:cNvPr id="14" name="motif_cell5"/>
          <p:cNvSpPr/>
          <p:nvPr/>
        </p:nvSpPr>
        <p:spPr>
          <a:xfrm>
            <a:off x="4160520" y="5120640"/>
            <a:ext cx="320040" cy="320040"/>
          </a:xfrm>
          <a:prstGeom prst="rect">
            <a:avLst/>
          </a:prstGeom>
          <a:solidFill>
            <a:schemeClr val="accent6"/>
          </a:solidFill>
          <a:ln w="19050">
            <a:solidFill>
              <a:schemeClr val="accent1"/>
            </a:solidFill>
            <a:prstDash val="solid"/>
          </a:ln>
        </p:spPr>
      </p:sp>
      <p:sp>
        <p:nvSpPr>
          <p:cNvPr id="15" name="motif_link5"/>
          <p:cNvSpPr/>
          <p:nvPr/>
        </p:nvSpPr>
        <p:spPr>
          <a:xfrm>
            <a:off x="4480560" y="5280660"/>
            <a:ext cx="365760" cy="0"/>
          </a:xfrm>
          <a:prstGeom prst="line">
            <a:avLst/>
          </a:prstGeom>
          <a:noFill/>
          <a:ln w="19050">
            <a:solidFill>
              <a:schemeClr val="accent1"/>
            </a:solidFill>
            <a:prstDash val="dash"/>
            <a:tailEnd type="triangle"/>
          </a:ln>
        </p:spPr>
      </p:sp>
      <p:sp>
        <p:nvSpPr>
          <p:cNvPr id="16" name="motif_cell6"/>
          <p:cNvSpPr/>
          <p:nvPr/>
        </p:nvSpPr>
        <p:spPr>
          <a:xfrm>
            <a:off x="4846320" y="5120640"/>
            <a:ext cx="320040" cy="320040"/>
          </a:xfrm>
          <a:prstGeom prst="rect">
            <a:avLst/>
          </a:prstGeom>
          <a:solidFill>
            <a:schemeClr val="accent6"/>
          </a:solidFill>
          <a:ln w="19050">
            <a:solidFill>
              <a:schemeClr val="accent1"/>
            </a:solidFill>
            <a:prstDash val="solid"/>
          </a:ln>
        </p:spPr>
      </p:sp>
      <p:sp>
        <p:nvSpPr>
          <p:cNvPr id="17" name="motif_link6"/>
          <p:cNvSpPr/>
          <p:nvPr/>
        </p:nvSpPr>
        <p:spPr>
          <a:xfrm>
            <a:off x="5166360" y="5280660"/>
            <a:ext cx="365760" cy="0"/>
          </a:xfrm>
          <a:prstGeom prst="line">
            <a:avLst/>
          </a:prstGeom>
          <a:noFill/>
          <a:ln w="19050">
            <a:solidFill>
              <a:schemeClr val="accent1"/>
            </a:solidFill>
            <a:prstDash val="dash"/>
            <a:tailEnd type="triangle"/>
          </a:ln>
        </p:spPr>
      </p:sp>
      <p:sp>
        <p:nvSpPr>
          <p:cNvPr id="18" name="motif_cell7"/>
          <p:cNvSpPr/>
          <p:nvPr/>
        </p:nvSpPr>
        <p:spPr>
          <a:xfrm>
            <a:off x="5532120" y="5120640"/>
            <a:ext cx="320040" cy="320040"/>
          </a:xfrm>
          <a:prstGeom prst="rect">
            <a:avLst/>
          </a:prstGeom>
          <a:solidFill>
            <a:schemeClr val="accent6"/>
          </a:solidFill>
          <a:ln w="19050">
            <a:solidFill>
              <a:schemeClr val="accent1"/>
            </a:solidFill>
            <a:prstDash val="solid"/>
          </a:ln>
        </p:spPr>
      </p:sp>
      <p:sp>
        <p:nvSpPr>
          <p:cNvPr id="19" name="motif_tdi"/>
          <p:cNvSpPr txBox="1"/>
          <p:nvPr/>
        </p:nvSpPr>
        <p:spPr>
          <a:xfrm>
            <a:off x="731520" y="5532120"/>
            <a:ext cx="548640" cy="274320"/>
          </a:xfrm>
          <a:prstGeom prst="rect">
            <a:avLst/>
          </a:prstGeom>
          <a:noFill/>
          <a:ln/>
        </p:spPr>
        <p:txBody>
          <a:bodyPr wrap="square" lIns="0" tIns="0" rIns="0" bIns="0" rtlCol="0" anchor="t"/>
          <a:lstStyle/>
          <a:p>
            <a:pPr indent="0" marL="0">
              <a:buNone/>
            </a:pPr>
            <a:r>
              <a:rPr lang="en-US" sz="1200" dirty="0">
                <a:solidFill>
                  <a:schemeClr val="accent6"/>
                </a:solidFill>
              </a:rPr>
              <a:t>TDI</a:t>
            </a:r>
            <a:endParaRPr lang="en-US" sz="1200" dirty="0"/>
          </a:p>
        </p:txBody>
      </p:sp>
      <p:sp>
        <p:nvSpPr>
          <p:cNvPr id="20" name="motif_tdo"/>
          <p:cNvSpPr txBox="1"/>
          <p:nvPr/>
        </p:nvSpPr>
        <p:spPr>
          <a:xfrm>
            <a:off x="5532120" y="5532120"/>
            <a:ext cx="548640" cy="274320"/>
          </a:xfrm>
          <a:prstGeom prst="rect">
            <a:avLst/>
          </a:prstGeom>
          <a:noFill/>
          <a:ln/>
        </p:spPr>
        <p:txBody>
          <a:bodyPr wrap="square" lIns="0" tIns="0" rIns="0" bIns="0" rtlCol="0" anchor="t"/>
          <a:lstStyle/>
          <a:p>
            <a:pPr indent="0" marL="0">
              <a:buNone/>
            </a:pPr>
            <a:r>
              <a:rPr lang="en-US" sz="1200" dirty="0">
                <a:solidFill>
                  <a:schemeClr val="accent6"/>
                </a:solidFill>
              </a:rPr>
              <a:t>TDO</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Why we need access at the pins</a:t>
            </a:r>
            <a:endParaRPr lang="en-US" sz="3400" dirty="0"/>
          </a:p>
        </p:txBody>
      </p:sp>
      <p:sp>
        <p:nvSpPr>
          <p:cNvPr id="3" name="why0_bg"/>
          <p:cNvSpPr/>
          <p:nvPr/>
        </p:nvSpPr>
        <p:spPr>
          <a:xfrm>
            <a:off x="548640" y="1417320"/>
            <a:ext cx="6400800" cy="1371600"/>
          </a:xfrm>
          <a:prstGeom prst="roundRect">
            <a:avLst>
              <a:gd name="adj" fmla="val 5333"/>
            </a:avLst>
          </a:prstGeom>
          <a:solidFill>
            <a:schemeClr val="bg2"/>
          </a:solidFill>
          <a:ln/>
        </p:spPr>
      </p:sp>
      <p:sp>
        <p:nvSpPr>
          <p:cNvPr id="4" name="why0_c"/>
          <p:cNvSpPr/>
          <p:nvPr/>
        </p:nvSpPr>
        <p:spPr>
          <a:xfrm>
            <a:off x="777240" y="1691640"/>
            <a:ext cx="457200" cy="457200"/>
          </a:xfrm>
          <a:prstGeom prst="ellipse">
            <a:avLst/>
          </a:prstGeom>
          <a:solidFill>
            <a:schemeClr val="accent1"/>
          </a:solidFill>
          <a:ln/>
        </p:spPr>
      </p:sp>
      <p:sp>
        <p:nvSpPr>
          <p:cNvPr id="5" name="why0_n"/>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why0_h"/>
          <p:cNvSpPr txBox="1"/>
          <p:nvPr/>
        </p:nvSpPr>
        <p:spPr>
          <a:xfrm>
            <a:off x="1463040" y="16002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Is it the chip or the board?</a:t>
            </a:r>
            <a:endParaRPr lang="en-US" sz="1800" dirty="0"/>
          </a:p>
        </p:txBody>
      </p:sp>
      <p:sp>
        <p:nvSpPr>
          <p:cNvPr id="7" name="why0_b"/>
          <p:cNvSpPr txBox="1"/>
          <p:nvPr/>
        </p:nvSpPr>
        <p:spPr>
          <a:xfrm>
            <a:off x="1463040" y="1984248"/>
            <a:ext cx="5303520" cy="731520"/>
          </a:xfrm>
          <a:prstGeom prst="rect">
            <a:avLst/>
          </a:prstGeom>
          <a:noFill/>
          <a:ln/>
        </p:spPr>
        <p:txBody>
          <a:bodyPr wrap="square" lIns="0" tIns="0" rIns="0" bIns="0" rtlCol="0" anchor="t"/>
          <a:lstStyle/>
          <a:p>
            <a:pPr indent="0" marL="0">
              <a:buNone/>
            </a:pPr>
            <a:r>
              <a:rPr lang="en-US" sz="1400" dirty="0">
                <a:solidFill>
                  <a:schemeClr val="tx1"/>
                </a:solidFill>
              </a:rPr>
              <a:t>UART prints nothing on the first board. A bad solder joint, a wrong pin map and a broken core all look the same from the outside.</a:t>
            </a:r>
            <a:endParaRPr lang="en-US" sz="1400" dirty="0"/>
          </a:p>
        </p:txBody>
      </p:sp>
      <p:sp>
        <p:nvSpPr>
          <p:cNvPr id="8" name="why1_bg"/>
          <p:cNvSpPr/>
          <p:nvPr/>
        </p:nvSpPr>
        <p:spPr>
          <a:xfrm>
            <a:off x="548640" y="3017520"/>
            <a:ext cx="6400800" cy="1371600"/>
          </a:xfrm>
          <a:prstGeom prst="roundRect">
            <a:avLst>
              <a:gd name="adj" fmla="val 5333"/>
            </a:avLst>
          </a:prstGeom>
          <a:solidFill>
            <a:schemeClr val="bg2"/>
          </a:solidFill>
          <a:ln/>
        </p:spPr>
      </p:sp>
      <p:sp>
        <p:nvSpPr>
          <p:cNvPr id="9" name="why1_c"/>
          <p:cNvSpPr/>
          <p:nvPr/>
        </p:nvSpPr>
        <p:spPr>
          <a:xfrm>
            <a:off x="777240" y="3291840"/>
            <a:ext cx="457200" cy="457200"/>
          </a:xfrm>
          <a:prstGeom prst="ellipse">
            <a:avLst/>
          </a:prstGeom>
          <a:solidFill>
            <a:schemeClr val="accent1"/>
          </a:solidFill>
          <a:ln/>
        </p:spPr>
      </p:sp>
      <p:sp>
        <p:nvSpPr>
          <p:cNvPr id="10" name="why1_n"/>
          <p:cNvSpPr txBox="1"/>
          <p:nvPr/>
        </p:nvSpPr>
        <p:spPr>
          <a:xfrm>
            <a:off x="777240" y="32918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why1_h"/>
          <p:cNvSpPr txBox="1"/>
          <p:nvPr/>
        </p:nvSpPr>
        <p:spPr>
          <a:xfrm>
            <a:off x="1463040" y="32004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Pins we cannot probe</a:t>
            </a:r>
            <a:endParaRPr lang="en-US" sz="1800" dirty="0"/>
          </a:p>
        </p:txBody>
      </p:sp>
      <p:sp>
        <p:nvSpPr>
          <p:cNvPr id="12" name="why1_b"/>
          <p:cNvSpPr txBox="1"/>
          <p:nvPr/>
        </p:nvSpPr>
        <p:spPr>
          <a:xfrm>
            <a:off x="1463040" y="3584448"/>
            <a:ext cx="5303520" cy="731520"/>
          </a:xfrm>
          <a:prstGeom prst="rect">
            <a:avLst/>
          </a:prstGeom>
          <a:noFill/>
          <a:ln/>
        </p:spPr>
        <p:txBody>
          <a:bodyPr wrap="square" lIns="0" tIns="0" rIns="0" bIns="0" rtlCol="0" anchor="t"/>
          <a:lstStyle/>
          <a:p>
            <a:pPr indent="0" marL="0">
              <a:buNone/>
            </a:pPr>
            <a:r>
              <a:rPr lang="en-US" sz="1400" dirty="0">
                <a:solidFill>
                  <a:schemeClr val="tx1"/>
                </a:solidFill>
              </a:rPr>
              <a:t>48 signal pins on a fine-pitch package. There is no room for a probe on each one, and a probe only sees, it cannot drive.</a:t>
            </a:r>
            <a:endParaRPr lang="en-US" sz="1400" dirty="0"/>
          </a:p>
        </p:txBody>
      </p:sp>
      <p:sp>
        <p:nvSpPr>
          <p:cNvPr id="13" name="why2_bg"/>
          <p:cNvSpPr/>
          <p:nvPr/>
        </p:nvSpPr>
        <p:spPr>
          <a:xfrm>
            <a:off x="548640" y="4617720"/>
            <a:ext cx="6400800" cy="1371600"/>
          </a:xfrm>
          <a:prstGeom prst="roundRect">
            <a:avLst>
              <a:gd name="adj" fmla="val 5333"/>
            </a:avLst>
          </a:prstGeom>
          <a:solidFill>
            <a:schemeClr val="bg2"/>
          </a:solidFill>
          <a:ln/>
        </p:spPr>
      </p:sp>
      <p:sp>
        <p:nvSpPr>
          <p:cNvPr id="14" name="why2_c"/>
          <p:cNvSpPr/>
          <p:nvPr/>
        </p:nvSpPr>
        <p:spPr>
          <a:xfrm>
            <a:off x="777240" y="4892040"/>
            <a:ext cx="457200" cy="457200"/>
          </a:xfrm>
          <a:prstGeom prst="ellipse">
            <a:avLst/>
          </a:prstGeom>
          <a:solidFill>
            <a:schemeClr val="accent1"/>
          </a:solidFill>
          <a:ln/>
        </p:spPr>
      </p:sp>
      <p:sp>
        <p:nvSpPr>
          <p:cNvPr id="15" name="why2_n"/>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why2_h"/>
          <p:cNvSpPr txBox="1"/>
          <p:nvPr/>
        </p:nvSpPr>
        <p:spPr>
          <a:xfrm>
            <a:off x="1463040" y="48006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A core we cannot fully trust</a:t>
            </a:r>
            <a:endParaRPr lang="en-US" sz="1800" dirty="0"/>
          </a:p>
        </p:txBody>
      </p:sp>
      <p:sp>
        <p:nvSpPr>
          <p:cNvPr id="17" name="why2_b"/>
          <p:cNvSpPr txBox="1"/>
          <p:nvPr/>
        </p:nvSpPr>
        <p:spPr>
          <a:xfrm>
            <a:off x="1463040" y="5184648"/>
            <a:ext cx="5303520" cy="731520"/>
          </a:xfrm>
          <a:prstGeom prst="rect">
            <a:avLst/>
          </a:prstGeom>
          <a:noFill/>
          <a:ln/>
        </p:spPr>
        <p:txBody>
          <a:bodyPr wrap="square" lIns="0" tIns="0" rIns="0" bIns="0" rtlCol="0" anchor="t"/>
          <a:lstStyle/>
          <a:p>
            <a:pPr indent="0" marL="0">
              <a:buNone/>
            </a:pPr>
            <a:r>
              <a:rPr lang="en-US" sz="1400" dirty="0">
                <a:solidFill>
                  <a:schemeClr val="tx1"/>
                </a:solidFill>
              </a:rPr>
              <a:t>Thomy (IIS, IHP130): synthesis flipped the reset values of array-assigned control signals. The team needed scan access to force the right values.</a:t>
            </a:r>
            <a:endParaRPr lang="en-US" sz="1400" dirty="0"/>
          </a:p>
        </p:txBody>
      </p:sp>
      <p:sp>
        <p:nvSpPr>
          <p:cNvPr id="18" name="why_ans"/>
          <p:cNvSpPr/>
          <p:nvPr/>
        </p:nvSpPr>
        <p:spPr>
          <a:xfrm>
            <a:off x="7315200" y="1417320"/>
            <a:ext cx="4297680" cy="4572000"/>
          </a:xfrm>
          <a:prstGeom prst="roundRect">
            <a:avLst>
              <a:gd name="adj" fmla="val 1702"/>
            </a:avLst>
          </a:prstGeom>
          <a:solidFill>
            <a:schemeClr val="tx2"/>
          </a:solidFill>
          <a:ln/>
        </p:spPr>
      </p:sp>
      <p:sp>
        <p:nvSpPr>
          <p:cNvPr id="19" name="why_ans_h"/>
          <p:cNvSpPr txBox="1"/>
          <p:nvPr/>
        </p:nvSpPr>
        <p:spPr>
          <a:xfrm>
            <a:off x="7635240" y="1691640"/>
            <a:ext cx="365760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Boundary scan</a:t>
            </a:r>
            <a:endParaRPr lang="en-US" sz="2200" dirty="0"/>
          </a:p>
        </p:txBody>
      </p:sp>
      <p:sp>
        <p:nvSpPr>
          <p:cNvPr id="20" name="why_ans_b"/>
          <p:cNvSpPr txBox="1"/>
          <p:nvPr/>
        </p:nvSpPr>
        <p:spPr>
          <a:xfrm>
            <a:off x="7635240" y="2286000"/>
            <a:ext cx="3657600" cy="3474720"/>
          </a:xfrm>
          <a:prstGeom prst="rect">
            <a:avLst/>
          </a:prstGeom>
          <a:noFill/>
          <a:ln/>
        </p:spPr>
        <p:txBody>
          <a:bodyPr wrap="square" lIns="0" tIns="0" rIns="0" bIns="0" rtlCol="0" anchor="t"/>
          <a:lstStyle/>
          <a:p>
            <a:pPr indent="0" marL="0">
              <a:spcAft>
                <a:spcPts val="1000"/>
              </a:spcAft>
              <a:buNone/>
            </a:pPr>
            <a:r>
              <a:rPr lang="en-US" sz="1600" dirty="0">
                <a:solidFill>
                  <a:schemeClr val="bg1"/>
                </a:solidFill>
              </a:rPr>
              <a:t>A scan cell sits between every signal pad and the core. From 5 JTAG pins we can:</a:t>
            </a:r>
            <a:endParaRPr lang="en-US" sz="1600" dirty="0"/>
          </a:p>
          <a:p>
            <a:pPr marL="342900" indent="-342900">
              <a:spcAft>
                <a:spcPts val="600"/>
              </a:spcAft>
              <a:buSzPct val="100000"/>
              <a:buChar char="•"/>
            </a:pPr>
            <a:r>
              <a:rPr lang="en-US" sz="1600" dirty="0">
                <a:solidFill>
                  <a:schemeClr val="bg1"/>
                </a:solidFill>
              </a:rPr>
              <a:t>read every pin while the chip runs</a:t>
            </a:r>
            <a:endParaRPr lang="en-US" sz="1600" dirty="0"/>
          </a:p>
          <a:p>
            <a:pPr marL="342900" indent="-342900">
              <a:spcAft>
                <a:spcPts val="600"/>
              </a:spcAft>
              <a:buSzPct val="100000"/>
              <a:buChar char="•"/>
            </a:pPr>
            <a:r>
              <a:rPr lang="en-US" sz="1600" dirty="0">
                <a:solidFill>
                  <a:schemeClr val="bg1"/>
                </a:solidFill>
              </a:rPr>
              <a:t>drive every output pin ourselves</a:t>
            </a:r>
            <a:endParaRPr lang="en-US" sz="1600" dirty="0"/>
          </a:p>
          <a:p>
            <a:pPr marL="342900" indent="-342900">
              <a:spcAft>
                <a:spcPts val="600"/>
              </a:spcAft>
              <a:buSzPct val="100000"/>
              <a:buChar char="•"/>
            </a:pPr>
            <a:r>
              <a:rPr lang="en-US" sz="1600" dirty="0">
                <a:solidFill>
                  <a:schemeClr val="bg1"/>
                </a:solidFill>
              </a:rPr>
              <a:t>feed the core any input pattern</a:t>
            </a:r>
            <a:endParaRPr lang="en-US" sz="1600" dirty="0"/>
          </a:p>
          <a:p>
            <a:pPr marL="342900" indent="-342900">
              <a:buSzPct val="100000"/>
              <a:buChar char="•"/>
            </a:pPr>
            <a:r>
              <a:rPr lang="en-US" sz="1600" dirty="0">
                <a:solidFill>
                  <a:schemeClr val="bg1"/>
                </a:solidFill>
              </a:rPr>
              <a:t>do all of it without firmware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strVal val="0"/>
                                          </p:val>
                                        </p:tav>
                                        <p:tav tm="100000">
                                          <p:val>
                                            <p:strVal val="#ppt_w"/>
                                          </p:val>
                                        </p:tav>
                                      </p:tavLst>
                                    </p:anim>
                                    <p:anim calcmode="lin" valueType="num">
                                      <p:cBhvr>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350" fill="hold"/>
                                        <p:tgtEl>
                                          <p:spTgt spid="4"/>
                                        </p:tgtEl>
                                        <p:attrNameLst>
                                          <p:attrName>ppt_w</p:attrName>
                                        </p:attrNameLst>
                                      </p:cBhvr>
                                      <p:tavLst>
                                        <p:tav tm="0">
                                          <p:val>
                                            <p:strVal val="0"/>
                                          </p:val>
                                        </p:tav>
                                        <p:tav tm="100000">
                                          <p:val>
                                            <p:strVal val="#ppt_w"/>
                                          </p:val>
                                        </p:tav>
                                      </p:tavLst>
                                    </p:anim>
                                    <p:anim calcmode="lin" valueType="num">
                                      <p:cBhvr>
                                        <p:cTn id="13" dur="350" fill="hold"/>
                                        <p:tgtEl>
                                          <p:spTgt spid="4"/>
                                        </p:tgtEl>
                                        <p:attrNameLst>
                                          <p:attrName>ppt_h</p:attrName>
                                        </p:attrNameLst>
                                      </p:cBhvr>
                                      <p:tavLst>
                                        <p:tav tm="0">
                                          <p:val>
                                            <p:strVal val="0"/>
                                          </p:val>
                                        </p:tav>
                                        <p:tav tm="100000">
                                          <p:val>
                                            <p:strVal val="#ppt_h"/>
                                          </p:val>
                                        </p:tav>
                                      </p:tavLst>
                                    </p:anim>
                                    <p:animEffect transition="in" filter="fade">
                                      <p:cBhvr>
                                        <p:cTn id="14" dur="35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350" fill="hold"/>
                                        <p:tgtEl>
                                          <p:spTgt spid="5"/>
                                        </p:tgtEl>
                                        <p:attrNameLst>
                                          <p:attrName>ppt_w</p:attrName>
                                        </p:attrNameLst>
                                      </p:cBhvr>
                                      <p:tavLst>
                                        <p:tav tm="0">
                                          <p:val>
                                            <p:strVal val="0"/>
                                          </p:val>
                                        </p:tav>
                                        <p:tav tm="100000">
                                          <p:val>
                                            <p:strVal val="#ppt_w"/>
                                          </p:val>
                                        </p:tav>
                                      </p:tavLst>
                                    </p:anim>
                                    <p:anim calcmode="lin" valueType="num">
                                      <p:cBhvr>
                                        <p:cTn id="18" dur="350" fill="hold"/>
                                        <p:tgtEl>
                                          <p:spTgt spid="5"/>
                                        </p:tgtEl>
                                        <p:attrNameLst>
                                          <p:attrName>ppt_h</p:attrName>
                                        </p:attrNameLst>
                                      </p:cBhvr>
                                      <p:tavLst>
                                        <p:tav tm="0">
                                          <p:val>
                                            <p:strVal val="0"/>
                                          </p:val>
                                        </p:tav>
                                        <p:tav tm="100000">
                                          <p:val>
                                            <p:strVal val="#ppt_h"/>
                                          </p:val>
                                        </p:tav>
                                      </p:tavLst>
                                    </p:anim>
                                    <p:animEffect transition="in" filter="fade">
                                      <p:cBhvr>
                                        <p:cTn id="19" dur="350"/>
                                        <p:tgtEl>
                                          <p:spTgt spid="5"/>
                                        </p:tgtEl>
                                      </p:cBhvr>
                                    </p:animEffect>
                                  </p:childTnLst>
                                </p:cTn>
                              </p:par>
                            </p:childTnLst>
                          </p:cTn>
                        </p:par>
                        <p:par>
                          <p:cTn id="20" fill="hold">
                            <p:stCondLst>
                              <p:cond delay="2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4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350" fill="hold"/>
                                        <p:tgtEl>
                                          <p:spTgt spid="8"/>
                                        </p:tgtEl>
                                        <p:attrNameLst>
                                          <p:attrName>ppt_w</p:attrName>
                                        </p:attrNameLst>
                                      </p:cBhvr>
                                      <p:tavLst>
                                        <p:tav tm="0">
                                          <p:val>
                                            <p:strVal val="0"/>
                                          </p:val>
                                        </p:tav>
                                        <p:tav tm="100000">
                                          <p:val>
                                            <p:strVal val="#ppt_w"/>
                                          </p:val>
                                        </p:tav>
                                      </p:tavLst>
                                    </p:anim>
                                    <p:anim calcmode="lin" valueType="num">
                                      <p:cBhvr>
                                        <p:cTn id="32" dur="350" fill="hold"/>
                                        <p:tgtEl>
                                          <p:spTgt spid="8"/>
                                        </p:tgtEl>
                                        <p:attrNameLst>
                                          <p:attrName>ppt_h</p:attrName>
                                        </p:attrNameLst>
                                      </p:cBhvr>
                                      <p:tavLst>
                                        <p:tav tm="0">
                                          <p:val>
                                            <p:strVal val="0"/>
                                          </p:val>
                                        </p:tav>
                                        <p:tav tm="100000">
                                          <p:val>
                                            <p:strVal val="#ppt_h"/>
                                          </p:val>
                                        </p:tav>
                                      </p:tavLst>
                                    </p:anim>
                                    <p:animEffect transition="in" filter="fade">
                                      <p:cBhvr>
                                        <p:cTn id="33" dur="350"/>
                                        <p:tgtEl>
                                          <p:spTgt spid="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350" fill="hold"/>
                                        <p:tgtEl>
                                          <p:spTgt spid="9"/>
                                        </p:tgtEl>
                                        <p:attrNameLst>
                                          <p:attrName>ppt_w</p:attrName>
                                        </p:attrNameLst>
                                      </p:cBhvr>
                                      <p:tavLst>
                                        <p:tav tm="0">
                                          <p:val>
                                            <p:strVal val="0"/>
                                          </p:val>
                                        </p:tav>
                                        <p:tav tm="100000">
                                          <p:val>
                                            <p:strVal val="#ppt_w"/>
                                          </p:val>
                                        </p:tav>
                                      </p:tavLst>
                                    </p:anim>
                                    <p:anim calcmode="lin" valueType="num">
                                      <p:cBhvr>
                                        <p:cTn id="37" dur="350" fill="hold"/>
                                        <p:tgtEl>
                                          <p:spTgt spid="9"/>
                                        </p:tgtEl>
                                        <p:attrNameLst>
                                          <p:attrName>ppt_h</p:attrName>
                                        </p:attrNameLst>
                                      </p:cBhvr>
                                      <p:tavLst>
                                        <p:tav tm="0">
                                          <p:val>
                                            <p:strVal val="0"/>
                                          </p:val>
                                        </p:tav>
                                        <p:tav tm="100000">
                                          <p:val>
                                            <p:strVal val="#ppt_h"/>
                                          </p:val>
                                        </p:tav>
                                      </p:tavLst>
                                    </p:anim>
                                    <p:animEffect transition="in" filter="fade">
                                      <p:cBhvr>
                                        <p:cTn id="38" dur="350"/>
                                        <p:tgtEl>
                                          <p:spTgt spid="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350" fill="hold"/>
                                        <p:tgtEl>
                                          <p:spTgt spid="10"/>
                                        </p:tgtEl>
                                        <p:attrNameLst>
                                          <p:attrName>ppt_w</p:attrName>
                                        </p:attrNameLst>
                                      </p:cBhvr>
                                      <p:tavLst>
                                        <p:tav tm="0">
                                          <p:val>
                                            <p:strVal val="0"/>
                                          </p:val>
                                        </p:tav>
                                        <p:tav tm="100000">
                                          <p:val>
                                            <p:strVal val="#ppt_w"/>
                                          </p:val>
                                        </p:tav>
                                      </p:tavLst>
                                    </p:anim>
                                    <p:anim calcmode="lin" valueType="num">
                                      <p:cBhvr>
                                        <p:cTn id="42" dur="350" fill="hold"/>
                                        <p:tgtEl>
                                          <p:spTgt spid="10"/>
                                        </p:tgtEl>
                                        <p:attrNameLst>
                                          <p:attrName>ppt_h</p:attrName>
                                        </p:attrNameLst>
                                      </p:cBhvr>
                                      <p:tavLst>
                                        <p:tav tm="0">
                                          <p:val>
                                            <p:strVal val="0"/>
                                          </p:val>
                                        </p:tav>
                                        <p:tav tm="100000">
                                          <p:val>
                                            <p:strVal val="#ppt_h"/>
                                          </p:val>
                                        </p:tav>
                                      </p:tavLst>
                                    </p:anim>
                                    <p:animEffect transition="in" filter="fade">
                                      <p:cBhvr>
                                        <p:cTn id="43" dur="350"/>
                                        <p:tgtEl>
                                          <p:spTgt spid="10"/>
                                        </p:tgtEl>
                                      </p:cBhvr>
                                    </p:animEffect>
                                  </p:childTnLst>
                                </p:cTn>
                              </p:par>
                            </p:childTnLst>
                          </p:cTn>
                        </p:par>
                        <p:par>
                          <p:cTn id="44" fill="hold">
                            <p:stCondLst>
                              <p:cond delay="200"/>
                            </p:stCondLst>
                            <p:childTnLst>
                              <p:par>
                                <p:cTn id="45" presetID="10" presetClass="entr" presetSubtype="0"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4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350" fill="hold"/>
                                        <p:tgtEl>
                                          <p:spTgt spid="13"/>
                                        </p:tgtEl>
                                        <p:attrNameLst>
                                          <p:attrName>ppt_w</p:attrName>
                                        </p:attrNameLst>
                                      </p:cBhvr>
                                      <p:tavLst>
                                        <p:tav tm="0">
                                          <p:val>
                                            <p:strVal val="0"/>
                                          </p:val>
                                        </p:tav>
                                        <p:tav tm="100000">
                                          <p:val>
                                            <p:strVal val="#ppt_w"/>
                                          </p:val>
                                        </p:tav>
                                      </p:tavLst>
                                    </p:anim>
                                    <p:anim calcmode="lin" valueType="num">
                                      <p:cBhvr>
                                        <p:cTn id="56" dur="350" fill="hold"/>
                                        <p:tgtEl>
                                          <p:spTgt spid="13"/>
                                        </p:tgtEl>
                                        <p:attrNameLst>
                                          <p:attrName>ppt_h</p:attrName>
                                        </p:attrNameLst>
                                      </p:cBhvr>
                                      <p:tavLst>
                                        <p:tav tm="0">
                                          <p:val>
                                            <p:strVal val="0"/>
                                          </p:val>
                                        </p:tav>
                                        <p:tav tm="100000">
                                          <p:val>
                                            <p:strVal val="#ppt_h"/>
                                          </p:val>
                                        </p:tav>
                                      </p:tavLst>
                                    </p:anim>
                                    <p:animEffect transition="in" filter="fade">
                                      <p:cBhvr>
                                        <p:cTn id="57" dur="35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350" fill="hold"/>
                                        <p:tgtEl>
                                          <p:spTgt spid="14"/>
                                        </p:tgtEl>
                                        <p:attrNameLst>
                                          <p:attrName>ppt_w</p:attrName>
                                        </p:attrNameLst>
                                      </p:cBhvr>
                                      <p:tavLst>
                                        <p:tav tm="0">
                                          <p:val>
                                            <p:strVal val="0"/>
                                          </p:val>
                                        </p:tav>
                                        <p:tav tm="100000">
                                          <p:val>
                                            <p:strVal val="#ppt_w"/>
                                          </p:val>
                                        </p:tav>
                                      </p:tavLst>
                                    </p:anim>
                                    <p:anim calcmode="lin" valueType="num">
                                      <p:cBhvr>
                                        <p:cTn id="61" dur="350" fill="hold"/>
                                        <p:tgtEl>
                                          <p:spTgt spid="14"/>
                                        </p:tgtEl>
                                        <p:attrNameLst>
                                          <p:attrName>ppt_h</p:attrName>
                                        </p:attrNameLst>
                                      </p:cBhvr>
                                      <p:tavLst>
                                        <p:tav tm="0">
                                          <p:val>
                                            <p:strVal val="0"/>
                                          </p:val>
                                        </p:tav>
                                        <p:tav tm="100000">
                                          <p:val>
                                            <p:strVal val="#ppt_h"/>
                                          </p:val>
                                        </p:tav>
                                      </p:tavLst>
                                    </p:anim>
                                    <p:animEffect transition="in" filter="fade">
                                      <p:cBhvr>
                                        <p:cTn id="62" dur="35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350" fill="hold"/>
                                        <p:tgtEl>
                                          <p:spTgt spid="15"/>
                                        </p:tgtEl>
                                        <p:attrNameLst>
                                          <p:attrName>ppt_w</p:attrName>
                                        </p:attrNameLst>
                                      </p:cBhvr>
                                      <p:tavLst>
                                        <p:tav tm="0">
                                          <p:val>
                                            <p:strVal val="0"/>
                                          </p:val>
                                        </p:tav>
                                        <p:tav tm="100000">
                                          <p:val>
                                            <p:strVal val="#ppt_w"/>
                                          </p:val>
                                        </p:tav>
                                      </p:tavLst>
                                    </p:anim>
                                    <p:anim calcmode="lin" valueType="num">
                                      <p:cBhvr>
                                        <p:cTn id="66" dur="350" fill="hold"/>
                                        <p:tgtEl>
                                          <p:spTgt spid="15"/>
                                        </p:tgtEl>
                                        <p:attrNameLst>
                                          <p:attrName>ppt_h</p:attrName>
                                        </p:attrNameLst>
                                      </p:cBhvr>
                                      <p:tavLst>
                                        <p:tav tm="0">
                                          <p:val>
                                            <p:strVal val="0"/>
                                          </p:val>
                                        </p:tav>
                                        <p:tav tm="100000">
                                          <p:val>
                                            <p:strVal val="#ppt_h"/>
                                          </p:val>
                                        </p:tav>
                                      </p:tavLst>
                                    </p:anim>
                                    <p:animEffect transition="in" filter="fade">
                                      <p:cBhvr>
                                        <p:cTn id="67" dur="350"/>
                                        <p:tgtEl>
                                          <p:spTgt spid="15"/>
                                        </p:tgtEl>
                                      </p:cBhvr>
                                    </p:animEffect>
                                  </p:childTnLst>
                                </p:cTn>
                              </p:par>
                            </p:childTnLst>
                          </p:cTn>
                        </p:par>
                        <p:par>
                          <p:cTn id="68" fill="hold">
                            <p:stCondLst>
                              <p:cond delay="200"/>
                            </p:stCondLst>
                            <p:childTnLst>
                              <p:par>
                                <p:cTn id="69" presetID="10" presetClass="entr" presetSubtype="0" fill="hold" grpId="0" nodeType="after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400"/>
                                        <p:tgtEl>
                                          <p:spTgt spid="1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400"/>
                                        <p:tgtEl>
                                          <p:spTgt spid="1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Where it sits in Croc</a:t>
            </a:r>
            <a:endParaRPr lang="en-US" sz="3400" dirty="0"/>
          </a:p>
        </p:txBody>
      </p:sp>
      <p:pic>
        <p:nvPicPr>
          <p:cNvPr id="3" name="where_img" descr="Croc chip after DFT: boundary-scan cells between every signal pad and the core, chained from the Bndscan TAP">    </p:cNvPr>
          <p:cNvPicPr>
            <a:picLocks noChangeAspect="1"/>
          </p:cNvPicPr>
          <p:nvPr/>
        </p:nvPicPr>
        <p:blipFill>
          <a:blip r:embed="rId1"/>
          <a:stretch>
            <a:fillRect/>
          </a:stretch>
        </p:blipFill>
        <p:spPr>
          <a:xfrm>
            <a:off x="457200" y="1280160"/>
            <a:ext cx="6753412" cy="5166360"/>
          </a:xfrm>
          <a:prstGeom prst="rect">
            <a:avLst/>
          </a:prstGeom>
        </p:spPr>
      </p:pic>
      <p:sp>
        <p:nvSpPr>
          <p:cNvPr id="4" name="where0_c"/>
          <p:cNvSpPr/>
          <p:nvPr/>
        </p:nvSpPr>
        <p:spPr>
          <a:xfrm>
            <a:off x="7452360" y="1371600"/>
            <a:ext cx="411480" cy="411480"/>
          </a:xfrm>
          <a:prstGeom prst="ellipse">
            <a:avLst/>
          </a:prstGeom>
          <a:solidFill>
            <a:schemeClr val="accent1"/>
          </a:solidFill>
          <a:ln/>
        </p:spPr>
      </p:sp>
      <p:sp>
        <p:nvSpPr>
          <p:cNvPr id="5" name="where0_n"/>
          <p:cNvSpPr txBox="1"/>
          <p:nvPr/>
        </p:nvSpPr>
        <p:spPr>
          <a:xfrm>
            <a:off x="7452360" y="137160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where0_h"/>
          <p:cNvSpPr txBox="1"/>
          <p:nvPr/>
        </p:nvSpPr>
        <p:spPr>
          <a:xfrm>
            <a:off x="8001000" y="1325880"/>
            <a:ext cx="3657600" cy="365760"/>
          </a:xfrm>
          <a:prstGeom prst="rect">
            <a:avLst/>
          </a:prstGeom>
          <a:noFill/>
          <a:ln/>
        </p:spPr>
        <p:txBody>
          <a:bodyPr wrap="square" lIns="0" tIns="0" rIns="0" bIns="0" rtlCol="0" anchor="t"/>
          <a:lstStyle/>
          <a:p>
            <a:pPr indent="0" marL="0">
              <a:buNone/>
            </a:pPr>
            <a:r>
              <a:rPr lang="en-US" sz="1800" b="1" dirty="0">
                <a:solidFill>
                  <a:schemeClr val="tx2"/>
                </a:solidFill>
              </a:rPr>
              <a:t>40 cells</a:t>
            </a:r>
            <a:endParaRPr lang="en-US" sz="1800" dirty="0"/>
          </a:p>
        </p:txBody>
      </p:sp>
      <p:sp>
        <p:nvSpPr>
          <p:cNvPr id="7" name="where0_b"/>
          <p:cNvSpPr txBox="1"/>
          <p:nvPr/>
        </p:nvSpPr>
        <p:spPr>
          <a:xfrm>
            <a:off x="8001000" y="1709928"/>
            <a:ext cx="3749040" cy="822960"/>
          </a:xfrm>
          <a:prstGeom prst="rect">
            <a:avLst/>
          </a:prstGeom>
          <a:noFill/>
          <a:ln/>
        </p:spPr>
        <p:txBody>
          <a:bodyPr wrap="square" lIns="0" tIns="0" rIns="0" bIns="0" rtlCol="0" anchor="t"/>
          <a:lstStyle/>
          <a:p>
            <a:pPr indent="0" marL="0">
              <a:buNone/>
            </a:pPr>
            <a:r>
              <a:rPr lang="en-US" sz="1400" dirty="0">
                <a:solidFill>
                  <a:schemeClr val="tx1"/>
                </a:solidFill>
              </a:rPr>
              <a:t>uart_rx, testmode, uart_tx, status, unused0–3, gpio0–31. Bit 0 (uart_rx) is shifted out first.</a:t>
            </a:r>
            <a:endParaRPr lang="en-US" sz="1400" dirty="0"/>
          </a:p>
        </p:txBody>
      </p:sp>
      <p:sp>
        <p:nvSpPr>
          <p:cNvPr id="8" name="where1_c"/>
          <p:cNvSpPr/>
          <p:nvPr/>
        </p:nvSpPr>
        <p:spPr>
          <a:xfrm>
            <a:off x="7452360" y="2651760"/>
            <a:ext cx="411480" cy="411480"/>
          </a:xfrm>
          <a:prstGeom prst="ellipse">
            <a:avLst/>
          </a:prstGeom>
          <a:solidFill>
            <a:schemeClr val="accent1"/>
          </a:solidFill>
          <a:ln/>
        </p:spPr>
      </p:sp>
      <p:sp>
        <p:nvSpPr>
          <p:cNvPr id="9" name="where1_n"/>
          <p:cNvSpPr txBox="1"/>
          <p:nvPr/>
        </p:nvSpPr>
        <p:spPr>
          <a:xfrm>
            <a:off x="7452360" y="26517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where1_h"/>
          <p:cNvSpPr txBox="1"/>
          <p:nvPr/>
        </p:nvSpPr>
        <p:spPr>
          <a:xfrm>
            <a:off x="8001000" y="2606040"/>
            <a:ext cx="3657600" cy="365760"/>
          </a:xfrm>
          <a:prstGeom prst="rect">
            <a:avLst/>
          </a:prstGeom>
          <a:noFill/>
          <a:ln/>
        </p:spPr>
        <p:txBody>
          <a:bodyPr wrap="square" lIns="0" tIns="0" rIns="0" bIns="0" rtlCol="0" anchor="t"/>
          <a:lstStyle/>
          <a:p>
            <a:pPr indent="0" marL="0">
              <a:buNone/>
            </a:pPr>
            <a:r>
              <a:rPr lang="en-US" sz="1800" b="1" dirty="0">
                <a:solidFill>
                  <a:schemeClr val="tx2"/>
                </a:solidFill>
              </a:rPr>
              <a:t>No cell on</a:t>
            </a:r>
            <a:endParaRPr lang="en-US" sz="1800" dirty="0"/>
          </a:p>
        </p:txBody>
      </p:sp>
      <p:sp>
        <p:nvSpPr>
          <p:cNvPr id="11" name="where1_b"/>
          <p:cNvSpPr txBox="1"/>
          <p:nvPr/>
        </p:nvSpPr>
        <p:spPr>
          <a:xfrm>
            <a:off x="8001000" y="2990088"/>
            <a:ext cx="3749040" cy="822960"/>
          </a:xfrm>
          <a:prstGeom prst="rect">
            <a:avLst/>
          </a:prstGeom>
          <a:noFill/>
          <a:ln/>
        </p:spPr>
        <p:txBody>
          <a:bodyPr wrap="square" lIns="0" tIns="0" rIns="0" bIns="0" rtlCol="0" anchor="t"/>
          <a:lstStyle/>
          <a:p>
            <a:pPr indent="0" marL="0">
              <a:buNone/>
            </a:pPr>
            <a:r>
              <a:rPr lang="en-US" sz="1400" dirty="0">
                <a:solidFill>
                  <a:schemeClr val="tx1"/>
                </a:solidFill>
              </a:rPr>
              <a:t>clk, rst_n, ref_clk and the five JTAG pins themselves.</a:t>
            </a:r>
            <a:endParaRPr lang="en-US" sz="1400" dirty="0"/>
          </a:p>
        </p:txBody>
      </p:sp>
      <p:sp>
        <p:nvSpPr>
          <p:cNvPr id="12" name="where2_c"/>
          <p:cNvSpPr/>
          <p:nvPr/>
        </p:nvSpPr>
        <p:spPr>
          <a:xfrm>
            <a:off x="7452360" y="3931920"/>
            <a:ext cx="411480" cy="411480"/>
          </a:xfrm>
          <a:prstGeom prst="ellipse">
            <a:avLst/>
          </a:prstGeom>
          <a:solidFill>
            <a:schemeClr val="accent1"/>
          </a:solidFill>
          <a:ln/>
        </p:spPr>
      </p:sp>
      <p:sp>
        <p:nvSpPr>
          <p:cNvPr id="13" name="where2_n"/>
          <p:cNvSpPr txBox="1"/>
          <p:nvPr/>
        </p:nvSpPr>
        <p:spPr>
          <a:xfrm>
            <a:off x="7452360" y="3931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where2_h"/>
          <p:cNvSpPr txBox="1"/>
          <p:nvPr/>
        </p:nvSpPr>
        <p:spPr>
          <a:xfrm>
            <a:off x="8001000" y="3886200"/>
            <a:ext cx="3657600" cy="365760"/>
          </a:xfrm>
          <a:prstGeom prst="rect">
            <a:avLst/>
          </a:prstGeom>
          <a:noFill/>
          <a:ln/>
        </p:spPr>
        <p:txBody>
          <a:bodyPr wrap="square" lIns="0" tIns="0" rIns="0" bIns="0" rtlCol="0" anchor="t"/>
          <a:lstStyle/>
          <a:p>
            <a:pPr indent="0" marL="0">
              <a:buNone/>
            </a:pPr>
            <a:r>
              <a:rPr lang="en-US" sz="1800" b="1" dirty="0">
                <a:solidFill>
                  <a:schemeClr val="tx2"/>
                </a:solidFill>
              </a:rPr>
              <a:t>Own TAP</a:t>
            </a:r>
            <a:endParaRPr lang="en-US" sz="1800" dirty="0"/>
          </a:p>
        </p:txBody>
      </p:sp>
      <p:sp>
        <p:nvSpPr>
          <p:cNvPr id="15" name="where2_b"/>
          <p:cNvSpPr txBox="1"/>
          <p:nvPr/>
        </p:nvSpPr>
        <p:spPr>
          <a:xfrm>
            <a:off x="8001000" y="4270248"/>
            <a:ext cx="3749040" cy="822960"/>
          </a:xfrm>
          <a:prstGeom prst="rect">
            <a:avLst/>
          </a:prstGeom>
          <a:noFill/>
          <a:ln/>
        </p:spPr>
        <p:txBody>
          <a:bodyPr wrap="square" lIns="0" tIns="0" rIns="0" bIns="0" rtlCol="0" anchor="t"/>
          <a:lstStyle/>
          <a:p>
            <a:pPr indent="0" marL="0">
              <a:buNone/>
            </a:pPr>
            <a:r>
              <a:rPr lang="en-US" sz="1400" dirty="0">
                <a:solidFill>
                  <a:schemeClr val="tx1"/>
                </a:solidFill>
              </a:rPr>
              <a:t>First in the JTAG chain: TDI → Bndscan TAP → OBI-JTAG TAP → debug TAP → TDO.</a:t>
            </a:r>
            <a:endParaRPr lang="en-US" sz="1400" dirty="0"/>
          </a:p>
        </p:txBody>
      </p:sp>
      <p:sp>
        <p:nvSpPr>
          <p:cNvPr id="16" name="where3_c"/>
          <p:cNvSpPr/>
          <p:nvPr/>
        </p:nvSpPr>
        <p:spPr>
          <a:xfrm>
            <a:off x="7452360" y="5212080"/>
            <a:ext cx="411480" cy="411480"/>
          </a:xfrm>
          <a:prstGeom prst="ellipse">
            <a:avLst/>
          </a:prstGeom>
          <a:solidFill>
            <a:schemeClr val="accent1"/>
          </a:solidFill>
          <a:ln/>
        </p:spPr>
      </p:sp>
      <p:sp>
        <p:nvSpPr>
          <p:cNvPr id="17" name="where3_n"/>
          <p:cNvSpPr txBox="1"/>
          <p:nvPr/>
        </p:nvSpPr>
        <p:spPr>
          <a:xfrm>
            <a:off x="7452360" y="521208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where3_h"/>
          <p:cNvSpPr txBox="1"/>
          <p:nvPr/>
        </p:nvSpPr>
        <p:spPr>
          <a:xfrm>
            <a:off x="8001000" y="5166360"/>
            <a:ext cx="3657600" cy="365760"/>
          </a:xfrm>
          <a:prstGeom prst="rect">
            <a:avLst/>
          </a:prstGeom>
          <a:noFill/>
          <a:ln/>
        </p:spPr>
        <p:txBody>
          <a:bodyPr wrap="square" lIns="0" tIns="0" rIns="0" bIns="0" rtlCol="0" anchor="t"/>
          <a:lstStyle/>
          <a:p>
            <a:pPr indent="0" marL="0">
              <a:buNone/>
            </a:pPr>
            <a:r>
              <a:rPr lang="en-US" sz="1800" b="1" dirty="0">
                <a:solidFill>
                  <a:schemeClr val="tx2"/>
                </a:solidFill>
              </a:rPr>
              <a:t>4-bit IR</a:t>
            </a:r>
            <a:endParaRPr lang="en-US" sz="1800" dirty="0"/>
          </a:p>
        </p:txBody>
      </p:sp>
      <p:sp>
        <p:nvSpPr>
          <p:cNvPr id="19" name="where3_b"/>
          <p:cNvSpPr txBox="1"/>
          <p:nvPr/>
        </p:nvSpPr>
        <p:spPr>
          <a:xfrm>
            <a:off x="8001000" y="5550408"/>
            <a:ext cx="3749040" cy="822960"/>
          </a:xfrm>
          <a:prstGeom prst="rect">
            <a:avLst/>
          </a:prstGeom>
          <a:noFill/>
          <a:ln/>
        </p:spPr>
        <p:txBody>
          <a:bodyPr wrap="square" lIns="0" tIns="0" rIns="0" bIns="0" rtlCol="0" anchor="t"/>
          <a:lstStyle/>
          <a:p>
            <a:pPr indent="0" marL="0">
              <a:buNone/>
            </a:pPr>
            <a:r>
              <a:rPr lang="en-US" sz="1400" dirty="0">
                <a:solidFill>
                  <a:schemeClr val="tx1"/>
                </a:solidFill>
              </a:rPr>
              <a:t>0 BYPASS, 1 SAMPLE/PRELOAD, 2 EXTEST, 3 INTEST. Unused opcodes select BYPASS.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350" fill="hold"/>
                                        <p:tgtEl>
                                          <p:spTgt spid="4"/>
                                        </p:tgtEl>
                                        <p:attrNameLst>
                                          <p:attrName>ppt_w</p:attrName>
                                        </p:attrNameLst>
                                      </p:cBhvr>
                                      <p:tavLst>
                                        <p:tav tm="0">
                                          <p:val>
                                            <p:strVal val="0"/>
                                          </p:val>
                                        </p:tav>
                                        <p:tav tm="100000">
                                          <p:val>
                                            <p:strVal val="#ppt_w"/>
                                          </p:val>
                                        </p:tav>
                                      </p:tavLst>
                                    </p:anim>
                                    <p:anim calcmode="lin" valueType="num">
                                      <p:cBhvr>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350" fill="hold"/>
                                        <p:tgtEl>
                                          <p:spTgt spid="5"/>
                                        </p:tgtEl>
                                        <p:attrNameLst>
                                          <p:attrName>ppt_w</p:attrName>
                                        </p:attrNameLst>
                                      </p:cBhvr>
                                      <p:tavLst>
                                        <p:tav tm="0">
                                          <p:val>
                                            <p:strVal val="0"/>
                                          </p:val>
                                        </p:tav>
                                        <p:tav tm="100000">
                                          <p:val>
                                            <p:strVal val="#ppt_w"/>
                                          </p:val>
                                        </p:tav>
                                      </p:tavLst>
                                    </p:anim>
                                    <p:anim calcmode="lin" valueType="num">
                                      <p:cBhvr>
                                        <p:cTn id="13" dur="350" fill="hold"/>
                                        <p:tgtEl>
                                          <p:spTgt spid="5"/>
                                        </p:tgtEl>
                                        <p:attrNameLst>
                                          <p:attrName>ppt_h</p:attrName>
                                        </p:attrNameLst>
                                      </p:cBhvr>
                                      <p:tavLst>
                                        <p:tav tm="0">
                                          <p:val>
                                            <p:strVal val="0"/>
                                          </p:val>
                                        </p:tav>
                                        <p:tav tm="100000">
                                          <p:val>
                                            <p:strVal val="#ppt_h"/>
                                          </p:val>
                                        </p:tav>
                                      </p:tavLst>
                                    </p:anim>
                                    <p:animEffect transition="in" filter="fade">
                                      <p:cBhvr>
                                        <p:cTn id="14" dur="350"/>
                                        <p:tgtEl>
                                          <p:spTgt spid="5"/>
                                        </p:tgtEl>
                                      </p:cBhvr>
                                    </p:animEffect>
                                  </p:childTnLst>
                                </p:cTn>
                              </p:par>
                            </p:childTnLst>
                          </p:cTn>
                        </p:par>
                        <p:par>
                          <p:cTn id="15" fill="hold">
                            <p:stCondLst>
                              <p:cond delay="2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350" fill="hold"/>
                                        <p:tgtEl>
                                          <p:spTgt spid="8"/>
                                        </p:tgtEl>
                                        <p:attrNameLst>
                                          <p:attrName>ppt_w</p:attrName>
                                        </p:attrNameLst>
                                      </p:cBhvr>
                                      <p:tavLst>
                                        <p:tav tm="0">
                                          <p:val>
                                            <p:strVal val="0"/>
                                          </p:val>
                                        </p:tav>
                                        <p:tav tm="100000">
                                          <p:val>
                                            <p:strVal val="#ppt_w"/>
                                          </p:val>
                                        </p:tav>
                                      </p:tavLst>
                                    </p:anim>
                                    <p:anim calcmode="lin" valueType="num">
                                      <p:cBhvr>
                                        <p:cTn id="27" dur="350" fill="hold"/>
                                        <p:tgtEl>
                                          <p:spTgt spid="8"/>
                                        </p:tgtEl>
                                        <p:attrNameLst>
                                          <p:attrName>ppt_h</p:attrName>
                                        </p:attrNameLst>
                                      </p:cBhvr>
                                      <p:tavLst>
                                        <p:tav tm="0">
                                          <p:val>
                                            <p:strVal val="0"/>
                                          </p:val>
                                        </p:tav>
                                        <p:tav tm="100000">
                                          <p:val>
                                            <p:strVal val="#ppt_h"/>
                                          </p:val>
                                        </p:tav>
                                      </p:tavLst>
                                    </p:anim>
                                    <p:animEffect transition="in" filter="fade">
                                      <p:cBhvr>
                                        <p:cTn id="28" dur="35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350" fill="hold"/>
                                        <p:tgtEl>
                                          <p:spTgt spid="9"/>
                                        </p:tgtEl>
                                        <p:attrNameLst>
                                          <p:attrName>ppt_w</p:attrName>
                                        </p:attrNameLst>
                                      </p:cBhvr>
                                      <p:tavLst>
                                        <p:tav tm="0">
                                          <p:val>
                                            <p:strVal val="0"/>
                                          </p:val>
                                        </p:tav>
                                        <p:tav tm="100000">
                                          <p:val>
                                            <p:strVal val="#ppt_w"/>
                                          </p:val>
                                        </p:tav>
                                      </p:tavLst>
                                    </p:anim>
                                    <p:anim calcmode="lin" valueType="num">
                                      <p:cBhvr>
                                        <p:cTn id="32" dur="350" fill="hold"/>
                                        <p:tgtEl>
                                          <p:spTgt spid="9"/>
                                        </p:tgtEl>
                                        <p:attrNameLst>
                                          <p:attrName>ppt_h</p:attrName>
                                        </p:attrNameLst>
                                      </p:cBhvr>
                                      <p:tavLst>
                                        <p:tav tm="0">
                                          <p:val>
                                            <p:strVal val="0"/>
                                          </p:val>
                                        </p:tav>
                                        <p:tav tm="100000">
                                          <p:val>
                                            <p:strVal val="#ppt_h"/>
                                          </p:val>
                                        </p:tav>
                                      </p:tavLst>
                                    </p:anim>
                                    <p:animEffect transition="in" filter="fade">
                                      <p:cBhvr>
                                        <p:cTn id="33" dur="350"/>
                                        <p:tgtEl>
                                          <p:spTgt spid="9"/>
                                        </p:tgtEl>
                                      </p:cBhvr>
                                    </p:animEffect>
                                  </p:childTnLst>
                                </p:cTn>
                              </p:par>
                            </p:childTnLst>
                          </p:cTn>
                        </p:par>
                        <p:par>
                          <p:cTn id="34" fill="hold">
                            <p:stCondLst>
                              <p:cond delay="20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00"/>
                                        <p:tgtEl>
                                          <p:spTgt spid="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350" fill="hold"/>
                                        <p:tgtEl>
                                          <p:spTgt spid="12"/>
                                        </p:tgtEl>
                                        <p:attrNameLst>
                                          <p:attrName>ppt_w</p:attrName>
                                        </p:attrNameLst>
                                      </p:cBhvr>
                                      <p:tavLst>
                                        <p:tav tm="0">
                                          <p:val>
                                            <p:strVal val="0"/>
                                          </p:val>
                                        </p:tav>
                                        <p:tav tm="100000">
                                          <p:val>
                                            <p:strVal val="#ppt_w"/>
                                          </p:val>
                                        </p:tav>
                                      </p:tavLst>
                                    </p:anim>
                                    <p:anim calcmode="lin" valueType="num">
                                      <p:cBhvr>
                                        <p:cTn id="46" dur="350" fill="hold"/>
                                        <p:tgtEl>
                                          <p:spTgt spid="12"/>
                                        </p:tgtEl>
                                        <p:attrNameLst>
                                          <p:attrName>ppt_h</p:attrName>
                                        </p:attrNameLst>
                                      </p:cBhvr>
                                      <p:tavLst>
                                        <p:tav tm="0">
                                          <p:val>
                                            <p:strVal val="0"/>
                                          </p:val>
                                        </p:tav>
                                        <p:tav tm="100000">
                                          <p:val>
                                            <p:strVal val="#ppt_h"/>
                                          </p:val>
                                        </p:tav>
                                      </p:tavLst>
                                    </p:anim>
                                    <p:animEffect transition="in" filter="fade">
                                      <p:cBhvr>
                                        <p:cTn id="47" dur="350"/>
                                        <p:tgtEl>
                                          <p:spTgt spid="12"/>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350" fill="hold"/>
                                        <p:tgtEl>
                                          <p:spTgt spid="13"/>
                                        </p:tgtEl>
                                        <p:attrNameLst>
                                          <p:attrName>ppt_w</p:attrName>
                                        </p:attrNameLst>
                                      </p:cBhvr>
                                      <p:tavLst>
                                        <p:tav tm="0">
                                          <p:val>
                                            <p:strVal val="0"/>
                                          </p:val>
                                        </p:tav>
                                        <p:tav tm="100000">
                                          <p:val>
                                            <p:strVal val="#ppt_w"/>
                                          </p:val>
                                        </p:tav>
                                      </p:tavLst>
                                    </p:anim>
                                    <p:anim calcmode="lin" valueType="num">
                                      <p:cBhvr>
                                        <p:cTn id="51" dur="350" fill="hold"/>
                                        <p:tgtEl>
                                          <p:spTgt spid="13"/>
                                        </p:tgtEl>
                                        <p:attrNameLst>
                                          <p:attrName>ppt_h</p:attrName>
                                        </p:attrNameLst>
                                      </p:cBhvr>
                                      <p:tavLst>
                                        <p:tav tm="0">
                                          <p:val>
                                            <p:strVal val="0"/>
                                          </p:val>
                                        </p:tav>
                                        <p:tav tm="100000">
                                          <p:val>
                                            <p:strVal val="#ppt_h"/>
                                          </p:val>
                                        </p:tav>
                                      </p:tavLst>
                                    </p:anim>
                                    <p:animEffect transition="in" filter="fade">
                                      <p:cBhvr>
                                        <p:cTn id="52" dur="350"/>
                                        <p:tgtEl>
                                          <p:spTgt spid="13"/>
                                        </p:tgtEl>
                                      </p:cBhvr>
                                    </p:animEffect>
                                  </p:childTnLst>
                                </p:cTn>
                              </p:par>
                            </p:childTnLst>
                          </p:cTn>
                        </p:par>
                        <p:par>
                          <p:cTn id="53" fill="hold">
                            <p:stCondLst>
                              <p:cond delay="200"/>
                            </p:stCondLst>
                            <p:childTnLst>
                              <p:par>
                                <p:cTn id="54" presetID="10" presetClass="entr" presetSubtype="0"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350" fill="hold"/>
                                        <p:tgtEl>
                                          <p:spTgt spid="16"/>
                                        </p:tgtEl>
                                        <p:attrNameLst>
                                          <p:attrName>ppt_w</p:attrName>
                                        </p:attrNameLst>
                                      </p:cBhvr>
                                      <p:tavLst>
                                        <p:tav tm="0">
                                          <p:val>
                                            <p:strVal val="0"/>
                                          </p:val>
                                        </p:tav>
                                        <p:tav tm="100000">
                                          <p:val>
                                            <p:strVal val="#ppt_w"/>
                                          </p:val>
                                        </p:tav>
                                      </p:tavLst>
                                    </p:anim>
                                    <p:anim calcmode="lin" valueType="num">
                                      <p:cBhvr>
                                        <p:cTn id="65" dur="350" fill="hold"/>
                                        <p:tgtEl>
                                          <p:spTgt spid="16"/>
                                        </p:tgtEl>
                                        <p:attrNameLst>
                                          <p:attrName>ppt_h</p:attrName>
                                        </p:attrNameLst>
                                      </p:cBhvr>
                                      <p:tavLst>
                                        <p:tav tm="0">
                                          <p:val>
                                            <p:strVal val="0"/>
                                          </p:val>
                                        </p:tav>
                                        <p:tav tm="100000">
                                          <p:val>
                                            <p:strVal val="#ppt_h"/>
                                          </p:val>
                                        </p:tav>
                                      </p:tavLst>
                                    </p:anim>
                                    <p:animEffect transition="in" filter="fade">
                                      <p:cBhvr>
                                        <p:cTn id="66" dur="350"/>
                                        <p:tgtEl>
                                          <p:spTgt spid="16"/>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350" fill="hold"/>
                                        <p:tgtEl>
                                          <p:spTgt spid="17"/>
                                        </p:tgtEl>
                                        <p:attrNameLst>
                                          <p:attrName>ppt_w</p:attrName>
                                        </p:attrNameLst>
                                      </p:cBhvr>
                                      <p:tavLst>
                                        <p:tav tm="0">
                                          <p:val>
                                            <p:strVal val="0"/>
                                          </p:val>
                                        </p:tav>
                                        <p:tav tm="100000">
                                          <p:val>
                                            <p:strVal val="#ppt_w"/>
                                          </p:val>
                                        </p:tav>
                                      </p:tavLst>
                                    </p:anim>
                                    <p:anim calcmode="lin" valueType="num">
                                      <p:cBhvr>
                                        <p:cTn id="70" dur="350" fill="hold"/>
                                        <p:tgtEl>
                                          <p:spTgt spid="17"/>
                                        </p:tgtEl>
                                        <p:attrNameLst>
                                          <p:attrName>ppt_h</p:attrName>
                                        </p:attrNameLst>
                                      </p:cBhvr>
                                      <p:tavLst>
                                        <p:tav tm="0">
                                          <p:val>
                                            <p:strVal val="0"/>
                                          </p:val>
                                        </p:tav>
                                        <p:tav tm="100000">
                                          <p:val>
                                            <p:strVal val="#ppt_h"/>
                                          </p:val>
                                        </p:tav>
                                      </p:tavLst>
                                    </p:anim>
                                    <p:animEffect transition="in" filter="fade">
                                      <p:cBhvr>
                                        <p:cTn id="71" dur="350"/>
                                        <p:tgtEl>
                                          <p:spTgt spid="17"/>
                                        </p:tgtEl>
                                      </p:cBhvr>
                                    </p:animEffect>
                                  </p:childTnLst>
                                </p:cTn>
                              </p:par>
                            </p:childTnLst>
                          </p:cTn>
                        </p:par>
                        <p:par>
                          <p:cTn id="72" fill="hold">
                            <p:stCondLst>
                              <p:cond delay="200"/>
                            </p:stCondLst>
                            <p:childTnLst>
                              <p:par>
                                <p:cTn id="73" presetID="10"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400"/>
                                        <p:tgtEl>
                                          <p:spTgt spid="1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One cell, three steps</a:t>
            </a:r>
            <a:endParaRPr lang="en-US" sz="3400" dirty="0"/>
          </a:p>
        </p:txBody>
      </p:sp>
      <p:sp>
        <p:nvSpPr>
          <p:cNvPr id="3" name="cell_pad"/>
          <p:cNvSpPr/>
          <p:nvPr/>
        </p:nvSpPr>
        <p:spPr>
          <a:xfrm>
            <a:off x="640080" y="2377440"/>
            <a:ext cx="1463040" cy="1188720"/>
          </a:xfrm>
          <a:prstGeom prst="roundRect">
            <a:avLst>
              <a:gd name="adj" fmla="val 6154"/>
            </a:avLst>
          </a:prstGeom>
          <a:solidFill>
            <a:srgbClr val="F1DDE9"/>
          </a:solidFill>
          <a:ln/>
        </p:spPr>
      </p:sp>
      <p:sp>
        <p:nvSpPr>
          <p:cNvPr id="4" name="cell_pad_t"/>
          <p:cNvSpPr txBox="1"/>
          <p:nvPr/>
        </p:nvSpPr>
        <p:spPr>
          <a:xfrm>
            <a:off x="640080" y="2377440"/>
            <a:ext cx="1463040" cy="1188720"/>
          </a:xfrm>
          <a:prstGeom prst="rect">
            <a:avLst/>
          </a:prstGeom>
          <a:noFill/>
          <a:ln/>
        </p:spPr>
        <p:txBody>
          <a:bodyPr wrap="square" lIns="0" tIns="0" rIns="0" bIns="0" rtlCol="0" anchor="ctr"/>
          <a:lstStyle/>
          <a:p>
            <a:pPr algn="ctr" indent="0" marL="0">
              <a:buNone/>
            </a:pPr>
            <a:r>
              <a:rPr lang="en-US" sz="2000" b="1" dirty="0">
                <a:solidFill>
                  <a:schemeClr val="accent2"/>
                </a:solidFill>
              </a:rPr>
              <a:t>Pad</a:t>
            </a:r>
            <a:endParaRPr lang="en-US" sz="2000" dirty="0"/>
          </a:p>
        </p:txBody>
      </p:sp>
      <p:sp>
        <p:nvSpPr>
          <p:cNvPr id="5" name="cell_core"/>
          <p:cNvSpPr/>
          <p:nvPr/>
        </p:nvSpPr>
        <p:spPr>
          <a:xfrm>
            <a:off x="10149840" y="2377440"/>
            <a:ext cx="1463040" cy="1188720"/>
          </a:xfrm>
          <a:prstGeom prst="roundRect">
            <a:avLst>
              <a:gd name="adj" fmla="val 6154"/>
            </a:avLst>
          </a:prstGeom>
          <a:solidFill>
            <a:schemeClr val="tx2"/>
          </a:solidFill>
          <a:ln/>
        </p:spPr>
      </p:sp>
      <p:sp>
        <p:nvSpPr>
          <p:cNvPr id="6" name="cell_core_t"/>
          <p:cNvSpPr txBox="1"/>
          <p:nvPr/>
        </p:nvSpPr>
        <p:spPr>
          <a:xfrm>
            <a:off x="10149840" y="2377440"/>
            <a:ext cx="1463040" cy="1188720"/>
          </a:xfrm>
          <a:prstGeom prst="rect">
            <a:avLst/>
          </a:prstGeom>
          <a:noFill/>
          <a:ln/>
        </p:spPr>
        <p:txBody>
          <a:bodyPr wrap="square" lIns="0" tIns="0" rIns="0" bIns="0" rtlCol="0" anchor="ctr"/>
          <a:lstStyle/>
          <a:p>
            <a:pPr algn="ctr" indent="0" marL="0">
              <a:buNone/>
            </a:pPr>
            <a:r>
              <a:rPr lang="en-US" sz="2000" b="1" dirty="0">
                <a:solidFill>
                  <a:schemeClr val="bg1"/>
                </a:solidFill>
              </a:rPr>
              <a:t>Core</a:t>
            </a:r>
            <a:endParaRPr lang="en-US" sz="2000" dirty="0"/>
          </a:p>
        </p:txBody>
      </p:sp>
      <p:sp>
        <p:nvSpPr>
          <p:cNvPr id="7" name="cell_bg"/>
          <p:cNvSpPr/>
          <p:nvPr/>
        </p:nvSpPr>
        <p:spPr>
          <a:xfrm>
            <a:off x="3017520" y="1508760"/>
            <a:ext cx="6400800" cy="2834640"/>
          </a:xfrm>
          <a:prstGeom prst="roundRect">
            <a:avLst>
              <a:gd name="adj" fmla="val 2581"/>
            </a:avLst>
          </a:prstGeom>
          <a:solidFill>
            <a:schemeClr val="bg2"/>
          </a:solidFill>
          <a:ln w="19050">
            <a:solidFill>
              <a:schemeClr val="accent1"/>
            </a:solidFill>
            <a:prstDash val="solid"/>
          </a:ln>
        </p:spPr>
      </p:sp>
      <p:sp>
        <p:nvSpPr>
          <p:cNvPr id="8" name="cell_lbl"/>
          <p:cNvSpPr txBox="1"/>
          <p:nvPr/>
        </p:nvSpPr>
        <p:spPr>
          <a:xfrm>
            <a:off x="6766560" y="1600200"/>
            <a:ext cx="2468880" cy="320040"/>
          </a:xfrm>
          <a:prstGeom prst="rect">
            <a:avLst/>
          </a:prstGeom>
          <a:noFill/>
          <a:ln/>
        </p:spPr>
        <p:txBody>
          <a:bodyPr wrap="square" lIns="0" tIns="0" rIns="0" bIns="0" rtlCol="0" anchor="t"/>
          <a:lstStyle/>
          <a:p>
            <a:pPr algn="r" indent="0" marL="0">
              <a:buNone/>
            </a:pPr>
            <a:r>
              <a:rPr lang="en-US" sz="1400" b="1" dirty="0">
                <a:solidFill>
                  <a:schemeClr val="accent1"/>
                </a:solidFill>
              </a:rPr>
              <a:t>Boundary-scan cell</a:t>
            </a:r>
            <a:endParaRPr lang="en-US" sz="1400" dirty="0"/>
          </a:p>
        </p:txBody>
      </p:sp>
      <p:sp>
        <p:nvSpPr>
          <p:cNvPr id="9" name="cell_sff"/>
          <p:cNvSpPr/>
          <p:nvPr/>
        </p:nvSpPr>
        <p:spPr>
          <a:xfrm>
            <a:off x="3657600" y="2743200"/>
            <a:ext cx="1737360" cy="822960"/>
          </a:xfrm>
          <a:prstGeom prst="roundRect">
            <a:avLst>
              <a:gd name="adj" fmla="val 8889"/>
            </a:avLst>
          </a:prstGeom>
          <a:solidFill>
            <a:schemeClr val="accent1"/>
          </a:solidFill>
          <a:ln/>
        </p:spPr>
      </p:sp>
      <p:sp>
        <p:nvSpPr>
          <p:cNvPr id="10" name="cell_sff_t"/>
          <p:cNvSpPr txBox="1"/>
          <p:nvPr/>
        </p:nvSpPr>
        <p:spPr>
          <a:xfrm>
            <a:off x="3657600" y="2743200"/>
            <a:ext cx="1737360" cy="822960"/>
          </a:xfrm>
          <a:prstGeom prst="rect">
            <a:avLst/>
          </a:prstGeom>
          <a:noFill/>
          <a:ln/>
        </p:spPr>
        <p:txBody>
          <a:bodyPr wrap="square" lIns="0" tIns="0" rIns="0" bIns="0" rtlCol="0" anchor="ctr"/>
          <a:lstStyle/>
          <a:p>
            <a:pPr algn="ctr" indent="0" marL="0">
              <a:buNone/>
            </a:pPr>
            <a:r>
              <a:rPr lang="en-US" sz="1600" b="1" dirty="0">
                <a:solidFill>
                  <a:schemeClr val="bg1"/>
                </a:solidFill>
              </a:rPr>
              <a:t>Shift FF</a:t>
            </a:r>
            <a:endParaRPr lang="en-US" sz="1600" dirty="0"/>
          </a:p>
        </p:txBody>
      </p:sp>
      <p:sp>
        <p:nvSpPr>
          <p:cNvPr id="11" name="cell_uff"/>
          <p:cNvSpPr/>
          <p:nvPr/>
        </p:nvSpPr>
        <p:spPr>
          <a:xfrm>
            <a:off x="6035040" y="2743200"/>
            <a:ext cx="1737360" cy="822960"/>
          </a:xfrm>
          <a:prstGeom prst="roundRect">
            <a:avLst>
              <a:gd name="adj" fmla="val 8889"/>
            </a:avLst>
          </a:prstGeom>
          <a:solidFill>
            <a:schemeClr val="accent1"/>
          </a:solidFill>
          <a:ln/>
        </p:spPr>
      </p:sp>
      <p:sp>
        <p:nvSpPr>
          <p:cNvPr id="12" name="cell_uff_t"/>
          <p:cNvSpPr txBox="1"/>
          <p:nvPr/>
        </p:nvSpPr>
        <p:spPr>
          <a:xfrm>
            <a:off x="6035040" y="2743200"/>
            <a:ext cx="1737360" cy="822960"/>
          </a:xfrm>
          <a:prstGeom prst="rect">
            <a:avLst/>
          </a:prstGeom>
          <a:noFill/>
          <a:ln/>
        </p:spPr>
        <p:txBody>
          <a:bodyPr wrap="square" lIns="0" tIns="0" rIns="0" bIns="0" rtlCol="0" anchor="ctr"/>
          <a:lstStyle/>
          <a:p>
            <a:pPr algn="ctr" indent="0" marL="0">
              <a:buNone/>
            </a:pPr>
            <a:r>
              <a:rPr lang="en-US" sz="1600" b="1" dirty="0">
                <a:solidFill>
                  <a:schemeClr val="bg1"/>
                </a:solidFill>
              </a:rPr>
              <a:t>Update FF</a:t>
            </a:r>
            <a:endParaRPr lang="en-US" sz="1600" dirty="0"/>
          </a:p>
        </p:txBody>
      </p:sp>
      <p:sp>
        <p:nvSpPr>
          <p:cNvPr id="13" name="cell_mux"/>
          <p:cNvSpPr/>
          <p:nvPr/>
        </p:nvSpPr>
        <p:spPr>
          <a:xfrm>
            <a:off x="8229600" y="2377440"/>
            <a:ext cx="685800" cy="1371600"/>
          </a:xfrm>
          <a:prstGeom prst="roundRect">
            <a:avLst>
              <a:gd name="adj" fmla="val 10667"/>
            </a:avLst>
          </a:prstGeom>
          <a:solidFill>
            <a:schemeClr val="accent5"/>
          </a:solidFill>
          <a:ln/>
        </p:spPr>
      </p:sp>
      <p:sp>
        <p:nvSpPr>
          <p:cNvPr id="14" name="cell_mux_t"/>
          <p:cNvSpPr txBox="1"/>
          <p:nvPr/>
        </p:nvSpPr>
        <p:spPr>
          <a:xfrm>
            <a:off x="8229600" y="2377440"/>
            <a:ext cx="685800" cy="1371600"/>
          </a:xfrm>
          <a:prstGeom prst="rect">
            <a:avLst/>
          </a:prstGeom>
          <a:noFill/>
          <a:ln/>
        </p:spPr>
        <p:txBody>
          <a:bodyPr wrap="square" lIns="0" tIns="0" rIns="0" bIns="0" rtlCol="0" anchor="ctr"/>
          <a:lstStyle/>
          <a:p>
            <a:pPr algn="ctr" indent="0" marL="0">
              <a:buNone/>
            </a:pPr>
            <a:r>
              <a:rPr lang="en-US" sz="1200" b="1" dirty="0">
                <a:solidFill>
                  <a:schemeClr val="bg1"/>
                </a:solidFill>
              </a:rPr>
              <a:t>MUX</a:t>
            </a:r>
            <a:endParaRPr lang="en-US" sz="1200" dirty="0"/>
          </a:p>
        </p:txBody>
      </p:sp>
      <p:sp>
        <p:nvSpPr>
          <p:cNvPr id="15" name="cell_mode"/>
          <p:cNvSpPr txBox="1"/>
          <p:nvPr/>
        </p:nvSpPr>
        <p:spPr>
          <a:xfrm>
            <a:off x="7818120" y="3840480"/>
            <a:ext cx="1554480" cy="274320"/>
          </a:xfrm>
          <a:prstGeom prst="rect">
            <a:avLst/>
          </a:prstGeom>
          <a:noFill/>
          <a:ln/>
        </p:spPr>
        <p:txBody>
          <a:bodyPr wrap="square" lIns="0" tIns="0" rIns="0" bIns="0" rtlCol="0" anchor="t"/>
          <a:lstStyle/>
          <a:p>
            <a:pPr algn="ctr" indent="0" marL="0">
              <a:buNone/>
            </a:pPr>
            <a:r>
              <a:rPr lang="en-US" sz="1100" dirty="0">
                <a:solidFill>
                  <a:schemeClr val="accent5"/>
                </a:solidFill>
              </a:rPr>
              <a:t>mode (from IR)</a:t>
            </a:r>
            <a:endParaRPr lang="en-US" sz="1100" dirty="0"/>
          </a:p>
        </p:txBody>
      </p:sp>
      <p:sp>
        <p:nvSpPr>
          <p:cNvPr id="16" name="w_func"/>
          <p:cNvSpPr/>
          <p:nvPr/>
        </p:nvSpPr>
        <p:spPr>
          <a:xfrm>
            <a:off x="2103120" y="2560320"/>
            <a:ext cx="6126480" cy="0"/>
          </a:xfrm>
          <a:prstGeom prst="line">
            <a:avLst/>
          </a:prstGeom>
          <a:noFill/>
          <a:ln w="19050">
            <a:solidFill>
              <a:schemeClr val="accent5"/>
            </a:solidFill>
            <a:prstDash val="solid"/>
            <a:tailEnd type="triangle"/>
          </a:ln>
        </p:spPr>
      </p:sp>
      <p:sp>
        <p:nvSpPr>
          <p:cNvPr id="17" name="w_func_t"/>
          <p:cNvSpPr txBox="1"/>
          <p:nvPr/>
        </p:nvSpPr>
        <p:spPr>
          <a:xfrm>
            <a:off x="4754880" y="2212848"/>
            <a:ext cx="1828800" cy="274320"/>
          </a:xfrm>
          <a:prstGeom prst="rect">
            <a:avLst/>
          </a:prstGeom>
          <a:noFill/>
          <a:ln/>
        </p:spPr>
        <p:txBody>
          <a:bodyPr wrap="square" lIns="0" tIns="0" rIns="0" bIns="0" rtlCol="0" anchor="t"/>
          <a:lstStyle/>
          <a:p>
            <a:pPr algn="ctr" indent="0" marL="0">
              <a:buNone/>
            </a:pPr>
            <a:r>
              <a:rPr lang="en-US" sz="1100" dirty="0">
                <a:solidFill>
                  <a:schemeClr val="accent5"/>
                </a:solidFill>
              </a:rPr>
              <a:t>functional path</a:t>
            </a:r>
            <a:endParaRPr lang="en-US" sz="1100" dirty="0"/>
          </a:p>
        </p:txBody>
      </p:sp>
      <p:sp>
        <p:nvSpPr>
          <p:cNvPr id="18" name="w_cap"/>
          <p:cNvSpPr/>
          <p:nvPr/>
        </p:nvSpPr>
        <p:spPr>
          <a:xfrm>
            <a:off x="2103120" y="3154680"/>
            <a:ext cx="1554480" cy="0"/>
          </a:xfrm>
          <a:prstGeom prst="line">
            <a:avLst/>
          </a:prstGeom>
          <a:noFill/>
          <a:ln w="15875">
            <a:solidFill>
              <a:schemeClr val="accent5"/>
            </a:solidFill>
            <a:prstDash val="dash"/>
            <a:tailEnd type="triangle"/>
          </a:ln>
        </p:spPr>
      </p:sp>
      <p:sp>
        <p:nvSpPr>
          <p:cNvPr id="19" name="w_tdi"/>
          <p:cNvSpPr/>
          <p:nvPr/>
        </p:nvSpPr>
        <p:spPr>
          <a:xfrm>
            <a:off x="4526280" y="1143000"/>
            <a:ext cx="0" cy="1600200"/>
          </a:xfrm>
          <a:prstGeom prst="line">
            <a:avLst/>
          </a:prstGeom>
          <a:noFill/>
          <a:ln w="15875">
            <a:solidFill>
              <a:schemeClr val="accent5"/>
            </a:solidFill>
            <a:prstDash val="dash"/>
            <a:tailEnd type="triangle"/>
          </a:ln>
        </p:spPr>
      </p:sp>
      <p:sp>
        <p:nvSpPr>
          <p:cNvPr id="20" name="w_tdo"/>
          <p:cNvSpPr/>
          <p:nvPr/>
        </p:nvSpPr>
        <p:spPr>
          <a:xfrm>
            <a:off x="4526280" y="3566160"/>
            <a:ext cx="0" cy="1051560"/>
          </a:xfrm>
          <a:prstGeom prst="line">
            <a:avLst/>
          </a:prstGeom>
          <a:noFill/>
          <a:ln w="15875">
            <a:solidFill>
              <a:schemeClr val="accent5"/>
            </a:solidFill>
            <a:prstDash val="dash"/>
            <a:tailEnd type="triangle"/>
          </a:ln>
        </p:spPr>
      </p:sp>
      <p:sp>
        <p:nvSpPr>
          <p:cNvPr id="21" name="w_upd1"/>
          <p:cNvSpPr/>
          <p:nvPr/>
        </p:nvSpPr>
        <p:spPr>
          <a:xfrm>
            <a:off x="5394960" y="3154680"/>
            <a:ext cx="640080" cy="0"/>
          </a:xfrm>
          <a:prstGeom prst="line">
            <a:avLst/>
          </a:prstGeom>
          <a:noFill/>
          <a:ln w="15875">
            <a:solidFill>
              <a:schemeClr val="accent5"/>
            </a:solidFill>
            <a:prstDash val="dash"/>
            <a:tailEnd type="triangle"/>
          </a:ln>
        </p:spPr>
      </p:sp>
      <p:sp>
        <p:nvSpPr>
          <p:cNvPr id="22" name="w_upd2"/>
          <p:cNvSpPr/>
          <p:nvPr/>
        </p:nvSpPr>
        <p:spPr>
          <a:xfrm>
            <a:off x="7772400" y="3154680"/>
            <a:ext cx="457200" cy="0"/>
          </a:xfrm>
          <a:prstGeom prst="line">
            <a:avLst/>
          </a:prstGeom>
          <a:noFill/>
          <a:ln w="15875">
            <a:solidFill>
              <a:schemeClr val="accent5"/>
            </a:solidFill>
            <a:prstDash val="dash"/>
            <a:tailEnd type="triangle"/>
          </a:ln>
        </p:spPr>
      </p:sp>
      <p:sp>
        <p:nvSpPr>
          <p:cNvPr id="23" name="w_core"/>
          <p:cNvSpPr/>
          <p:nvPr/>
        </p:nvSpPr>
        <p:spPr>
          <a:xfrm>
            <a:off x="8915400" y="2971800"/>
            <a:ext cx="1234440" cy="0"/>
          </a:xfrm>
          <a:prstGeom prst="line">
            <a:avLst/>
          </a:prstGeom>
          <a:noFill/>
          <a:ln w="19050">
            <a:solidFill>
              <a:schemeClr val="accent5"/>
            </a:solidFill>
            <a:prstDash val="solid"/>
            <a:tailEnd type="triangle"/>
          </a:ln>
        </p:spPr>
      </p:sp>
      <p:sp>
        <p:nvSpPr>
          <p:cNvPr id="24" name="w_tdi_t"/>
          <p:cNvSpPr txBox="1"/>
          <p:nvPr/>
        </p:nvSpPr>
        <p:spPr>
          <a:xfrm>
            <a:off x="4663440" y="1097280"/>
            <a:ext cx="2377440" cy="274320"/>
          </a:xfrm>
          <a:prstGeom prst="rect">
            <a:avLst/>
          </a:prstGeom>
          <a:noFill/>
          <a:ln/>
        </p:spPr>
        <p:txBody>
          <a:bodyPr wrap="square" lIns="0" tIns="0" rIns="0" bIns="0" rtlCol="0" anchor="t"/>
          <a:lstStyle/>
          <a:p>
            <a:pPr indent="0" marL="0">
              <a:buNone/>
            </a:pPr>
            <a:r>
              <a:rPr lang="en-US" sz="1100" dirty="0">
                <a:solidFill>
                  <a:schemeClr val="accent5"/>
                </a:solidFill>
              </a:rPr>
              <a:t>TDI (from previous cell)</a:t>
            </a:r>
            <a:endParaRPr lang="en-US" sz="1100" dirty="0"/>
          </a:p>
        </p:txBody>
      </p:sp>
      <p:sp>
        <p:nvSpPr>
          <p:cNvPr id="25" name="w_tdo_t"/>
          <p:cNvSpPr txBox="1"/>
          <p:nvPr/>
        </p:nvSpPr>
        <p:spPr>
          <a:xfrm>
            <a:off x="4663440" y="438912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TDO (to next cell)</a:t>
            </a:r>
            <a:endParaRPr lang="en-US" sz="1100" dirty="0"/>
          </a:p>
        </p:txBody>
      </p:sp>
      <p:sp>
        <p:nvSpPr>
          <p:cNvPr id="26" name="h_cap"/>
          <p:cNvSpPr/>
          <p:nvPr/>
        </p:nvSpPr>
        <p:spPr>
          <a:xfrm>
            <a:off x="2103120" y="3154680"/>
            <a:ext cx="1554480" cy="0"/>
          </a:xfrm>
          <a:prstGeom prst="line">
            <a:avLst/>
          </a:prstGeom>
          <a:noFill/>
          <a:ln w="50800">
            <a:solidFill>
              <a:schemeClr val="accent3"/>
            </a:solidFill>
            <a:prstDash val="solid"/>
            <a:tailEnd type="triangle"/>
          </a:ln>
        </p:spPr>
      </p:sp>
      <p:sp>
        <p:nvSpPr>
          <p:cNvPr id="27" name="h_tdi"/>
          <p:cNvSpPr/>
          <p:nvPr/>
        </p:nvSpPr>
        <p:spPr>
          <a:xfrm>
            <a:off x="4526280" y="1143000"/>
            <a:ext cx="0" cy="1600200"/>
          </a:xfrm>
          <a:prstGeom prst="line">
            <a:avLst/>
          </a:prstGeom>
          <a:noFill/>
          <a:ln w="50800">
            <a:solidFill>
              <a:schemeClr val="accent3"/>
            </a:solidFill>
            <a:prstDash val="solid"/>
            <a:tailEnd type="triangle"/>
          </a:ln>
        </p:spPr>
      </p:sp>
      <p:sp>
        <p:nvSpPr>
          <p:cNvPr id="28" name="h_tdo"/>
          <p:cNvSpPr/>
          <p:nvPr/>
        </p:nvSpPr>
        <p:spPr>
          <a:xfrm>
            <a:off x="4526280" y="3566160"/>
            <a:ext cx="0" cy="1051560"/>
          </a:xfrm>
          <a:prstGeom prst="line">
            <a:avLst/>
          </a:prstGeom>
          <a:noFill/>
          <a:ln w="50800">
            <a:solidFill>
              <a:schemeClr val="accent3"/>
            </a:solidFill>
            <a:prstDash val="solid"/>
            <a:tailEnd type="triangle"/>
          </a:ln>
        </p:spPr>
      </p:sp>
      <p:sp>
        <p:nvSpPr>
          <p:cNvPr id="29" name="h_upd1"/>
          <p:cNvSpPr/>
          <p:nvPr/>
        </p:nvSpPr>
        <p:spPr>
          <a:xfrm>
            <a:off x="5394960" y="3154680"/>
            <a:ext cx="640080" cy="0"/>
          </a:xfrm>
          <a:prstGeom prst="line">
            <a:avLst/>
          </a:prstGeom>
          <a:noFill/>
          <a:ln w="50800">
            <a:solidFill>
              <a:schemeClr val="accent3"/>
            </a:solidFill>
            <a:prstDash val="solid"/>
            <a:tailEnd type="triangle"/>
          </a:ln>
        </p:spPr>
      </p:sp>
      <p:sp>
        <p:nvSpPr>
          <p:cNvPr id="30" name="h_upd2"/>
          <p:cNvSpPr/>
          <p:nvPr/>
        </p:nvSpPr>
        <p:spPr>
          <a:xfrm>
            <a:off x="7772400" y="3154680"/>
            <a:ext cx="457200" cy="0"/>
          </a:xfrm>
          <a:prstGeom prst="line">
            <a:avLst/>
          </a:prstGeom>
          <a:noFill/>
          <a:ln w="50800">
            <a:solidFill>
              <a:schemeClr val="accent3"/>
            </a:solidFill>
            <a:prstDash val="solid"/>
            <a:tailEnd type="triangle"/>
          </a:ln>
        </p:spPr>
      </p:sp>
      <p:sp>
        <p:nvSpPr>
          <p:cNvPr id="31" name="h_core"/>
          <p:cNvSpPr/>
          <p:nvPr/>
        </p:nvSpPr>
        <p:spPr>
          <a:xfrm>
            <a:off x="8915400" y="2971800"/>
            <a:ext cx="1234440" cy="0"/>
          </a:xfrm>
          <a:prstGeom prst="line">
            <a:avLst/>
          </a:prstGeom>
          <a:noFill/>
          <a:ln w="50800">
            <a:solidFill>
              <a:schemeClr val="accent3"/>
            </a:solidFill>
            <a:prstDash val="solid"/>
            <a:tailEnd type="triangle"/>
          </a:ln>
        </p:spPr>
      </p:sp>
      <p:sp>
        <p:nvSpPr>
          <p:cNvPr id="32" name="step0_bg"/>
          <p:cNvSpPr/>
          <p:nvPr/>
        </p:nvSpPr>
        <p:spPr>
          <a:xfrm>
            <a:off x="640080" y="4983480"/>
            <a:ext cx="3474720" cy="1371600"/>
          </a:xfrm>
          <a:prstGeom prst="roundRect">
            <a:avLst>
              <a:gd name="adj" fmla="val 5333"/>
            </a:avLst>
          </a:prstGeom>
          <a:solidFill>
            <a:schemeClr val="bg2"/>
          </a:solidFill>
          <a:ln/>
        </p:spPr>
      </p:sp>
      <p:sp>
        <p:nvSpPr>
          <p:cNvPr id="33" name="step0_c"/>
          <p:cNvSpPr/>
          <p:nvPr/>
        </p:nvSpPr>
        <p:spPr>
          <a:xfrm>
            <a:off x="822960" y="5166360"/>
            <a:ext cx="411480" cy="411480"/>
          </a:xfrm>
          <a:prstGeom prst="ellipse">
            <a:avLst/>
          </a:prstGeom>
          <a:solidFill>
            <a:schemeClr val="accent3"/>
          </a:solidFill>
          <a:ln/>
        </p:spPr>
      </p:sp>
      <p:sp>
        <p:nvSpPr>
          <p:cNvPr id="34" name="step0_n"/>
          <p:cNvSpPr txBox="1"/>
          <p:nvPr/>
        </p:nvSpPr>
        <p:spPr>
          <a:xfrm>
            <a:off x="822960" y="51663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5" name="step0_h"/>
          <p:cNvSpPr txBox="1"/>
          <p:nvPr/>
        </p:nvSpPr>
        <p:spPr>
          <a:xfrm>
            <a:off x="1371600" y="5166360"/>
            <a:ext cx="2560320" cy="365760"/>
          </a:xfrm>
          <a:prstGeom prst="rect">
            <a:avLst/>
          </a:prstGeom>
          <a:noFill/>
          <a:ln/>
        </p:spPr>
        <p:txBody>
          <a:bodyPr wrap="square" lIns="0" tIns="0" rIns="0" bIns="0" rtlCol="0" anchor="t"/>
          <a:lstStyle/>
          <a:p>
            <a:pPr indent="0" marL="0">
              <a:buNone/>
            </a:pPr>
            <a:r>
              <a:rPr lang="en-US" sz="1800" b="1" dirty="0">
                <a:solidFill>
                  <a:schemeClr val="tx2"/>
                </a:solidFill>
              </a:rPr>
              <a:t>Capture</a:t>
            </a:r>
            <a:endParaRPr lang="en-US" sz="1800" dirty="0"/>
          </a:p>
        </p:txBody>
      </p:sp>
      <p:sp>
        <p:nvSpPr>
          <p:cNvPr id="36" name="step0_b"/>
          <p:cNvSpPr txBox="1"/>
          <p:nvPr/>
        </p:nvSpPr>
        <p:spPr>
          <a:xfrm>
            <a:off x="1371600" y="5550408"/>
            <a:ext cx="2606040" cy="777240"/>
          </a:xfrm>
          <a:prstGeom prst="rect">
            <a:avLst/>
          </a:prstGeom>
          <a:noFill/>
          <a:ln/>
        </p:spPr>
        <p:txBody>
          <a:bodyPr wrap="square" lIns="0" tIns="0" rIns="0" bIns="0" rtlCol="0" anchor="t"/>
          <a:lstStyle/>
          <a:p>
            <a:pPr indent="0" marL="0">
              <a:buNone/>
            </a:pPr>
            <a:r>
              <a:rPr lang="en-US" sz="1300" dirty="0">
                <a:solidFill>
                  <a:schemeClr val="tx1"/>
                </a:solidFill>
              </a:rPr>
              <a:t>The pin value (or the core output) is copied into the shift FF.</a:t>
            </a:r>
            <a:endParaRPr lang="en-US" sz="1300" dirty="0"/>
          </a:p>
        </p:txBody>
      </p:sp>
      <p:sp>
        <p:nvSpPr>
          <p:cNvPr id="37" name="step1_bg"/>
          <p:cNvSpPr/>
          <p:nvPr/>
        </p:nvSpPr>
        <p:spPr>
          <a:xfrm>
            <a:off x="4343400" y="4983480"/>
            <a:ext cx="3474720" cy="1371600"/>
          </a:xfrm>
          <a:prstGeom prst="roundRect">
            <a:avLst>
              <a:gd name="adj" fmla="val 5333"/>
            </a:avLst>
          </a:prstGeom>
          <a:solidFill>
            <a:schemeClr val="bg2"/>
          </a:solidFill>
          <a:ln/>
        </p:spPr>
      </p:sp>
      <p:sp>
        <p:nvSpPr>
          <p:cNvPr id="38" name="step1_c"/>
          <p:cNvSpPr/>
          <p:nvPr/>
        </p:nvSpPr>
        <p:spPr>
          <a:xfrm>
            <a:off x="4526280" y="5166360"/>
            <a:ext cx="411480" cy="411480"/>
          </a:xfrm>
          <a:prstGeom prst="ellipse">
            <a:avLst/>
          </a:prstGeom>
          <a:solidFill>
            <a:schemeClr val="accent3"/>
          </a:solidFill>
          <a:ln/>
        </p:spPr>
      </p:sp>
      <p:sp>
        <p:nvSpPr>
          <p:cNvPr id="39" name="step1_n"/>
          <p:cNvSpPr txBox="1"/>
          <p:nvPr/>
        </p:nvSpPr>
        <p:spPr>
          <a:xfrm>
            <a:off x="4526280" y="51663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40" name="step1_h"/>
          <p:cNvSpPr txBox="1"/>
          <p:nvPr/>
        </p:nvSpPr>
        <p:spPr>
          <a:xfrm>
            <a:off x="5074920" y="5166360"/>
            <a:ext cx="2560320" cy="365760"/>
          </a:xfrm>
          <a:prstGeom prst="rect">
            <a:avLst/>
          </a:prstGeom>
          <a:noFill/>
          <a:ln/>
        </p:spPr>
        <p:txBody>
          <a:bodyPr wrap="square" lIns="0" tIns="0" rIns="0" bIns="0" rtlCol="0" anchor="t"/>
          <a:lstStyle/>
          <a:p>
            <a:pPr indent="0" marL="0">
              <a:buNone/>
            </a:pPr>
            <a:r>
              <a:rPr lang="en-US" sz="1800" b="1" dirty="0">
                <a:solidFill>
                  <a:schemeClr val="tx2"/>
                </a:solidFill>
              </a:rPr>
              <a:t>Shift</a:t>
            </a:r>
            <a:endParaRPr lang="en-US" sz="1800" dirty="0"/>
          </a:p>
        </p:txBody>
      </p:sp>
      <p:sp>
        <p:nvSpPr>
          <p:cNvPr id="41" name="step1_b"/>
          <p:cNvSpPr txBox="1"/>
          <p:nvPr/>
        </p:nvSpPr>
        <p:spPr>
          <a:xfrm>
            <a:off x="5074920" y="5550408"/>
            <a:ext cx="2606040" cy="777240"/>
          </a:xfrm>
          <a:prstGeom prst="rect">
            <a:avLst/>
          </a:prstGeom>
          <a:noFill/>
          <a:ln/>
        </p:spPr>
        <p:txBody>
          <a:bodyPr wrap="square" lIns="0" tIns="0" rIns="0" bIns="0" rtlCol="0" anchor="t"/>
          <a:lstStyle/>
          <a:p>
            <a:pPr indent="0" marL="0">
              <a:buNone/>
            </a:pPr>
            <a:r>
              <a:rPr lang="en-US" sz="1300" dirty="0">
                <a:solidFill>
                  <a:schemeClr val="tx1"/>
                </a:solidFill>
              </a:rPr>
              <a:t>One bit per TCK: a new pattern goes in at TDI while the captured values come out at TDO.</a:t>
            </a:r>
            <a:endParaRPr lang="en-US" sz="1300" dirty="0"/>
          </a:p>
        </p:txBody>
      </p:sp>
      <p:sp>
        <p:nvSpPr>
          <p:cNvPr id="42" name="step2_bg"/>
          <p:cNvSpPr/>
          <p:nvPr/>
        </p:nvSpPr>
        <p:spPr>
          <a:xfrm>
            <a:off x="8046720" y="4983480"/>
            <a:ext cx="3474720" cy="1371600"/>
          </a:xfrm>
          <a:prstGeom prst="roundRect">
            <a:avLst>
              <a:gd name="adj" fmla="val 5333"/>
            </a:avLst>
          </a:prstGeom>
          <a:solidFill>
            <a:schemeClr val="bg2"/>
          </a:solidFill>
          <a:ln/>
        </p:spPr>
      </p:sp>
      <p:sp>
        <p:nvSpPr>
          <p:cNvPr id="43" name="step2_c"/>
          <p:cNvSpPr/>
          <p:nvPr/>
        </p:nvSpPr>
        <p:spPr>
          <a:xfrm>
            <a:off x="8229600" y="5166360"/>
            <a:ext cx="411480" cy="411480"/>
          </a:xfrm>
          <a:prstGeom prst="ellipse">
            <a:avLst/>
          </a:prstGeom>
          <a:solidFill>
            <a:schemeClr val="accent3"/>
          </a:solidFill>
          <a:ln/>
        </p:spPr>
      </p:sp>
      <p:sp>
        <p:nvSpPr>
          <p:cNvPr id="44" name="step2_n"/>
          <p:cNvSpPr txBox="1"/>
          <p:nvPr/>
        </p:nvSpPr>
        <p:spPr>
          <a:xfrm>
            <a:off x="8229600" y="51663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45" name="step2_h"/>
          <p:cNvSpPr txBox="1"/>
          <p:nvPr/>
        </p:nvSpPr>
        <p:spPr>
          <a:xfrm>
            <a:off x="8778240" y="5166360"/>
            <a:ext cx="2560320" cy="365760"/>
          </a:xfrm>
          <a:prstGeom prst="rect">
            <a:avLst/>
          </a:prstGeom>
          <a:noFill/>
          <a:ln/>
        </p:spPr>
        <p:txBody>
          <a:bodyPr wrap="square" lIns="0" tIns="0" rIns="0" bIns="0" rtlCol="0" anchor="t"/>
          <a:lstStyle/>
          <a:p>
            <a:pPr indent="0" marL="0">
              <a:buNone/>
            </a:pPr>
            <a:r>
              <a:rPr lang="en-US" sz="1800" b="1" dirty="0">
                <a:solidFill>
                  <a:schemeClr val="tx2"/>
                </a:solidFill>
              </a:rPr>
              <a:t>Update</a:t>
            </a:r>
            <a:endParaRPr lang="en-US" sz="1800" dirty="0"/>
          </a:p>
        </p:txBody>
      </p:sp>
      <p:sp>
        <p:nvSpPr>
          <p:cNvPr id="46" name="step2_b"/>
          <p:cNvSpPr txBox="1"/>
          <p:nvPr/>
        </p:nvSpPr>
        <p:spPr>
          <a:xfrm>
            <a:off x="8778240" y="5550408"/>
            <a:ext cx="2606040" cy="777240"/>
          </a:xfrm>
          <a:prstGeom prst="rect">
            <a:avLst/>
          </a:prstGeom>
          <a:noFill/>
          <a:ln/>
        </p:spPr>
        <p:txBody>
          <a:bodyPr wrap="square" lIns="0" tIns="0" rIns="0" bIns="0" rtlCol="0" anchor="t"/>
          <a:lstStyle/>
          <a:p>
            <a:pPr indent="0" marL="0">
              <a:buNone/>
            </a:pPr>
            <a:r>
              <a:rPr lang="en-US" sz="1300" dirty="0">
                <a:solidFill>
                  <a:schemeClr val="tx1"/>
                </a:solidFill>
              </a:rPr>
              <a:t>The shifted-in value moves to the update FF and, in EXTEST/INTEST, drives the pin or the core.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600"/>
                                        <p:tgtEl>
                                          <p:spTgt spid="26"/>
                                        </p:tgtEl>
                                      </p:cBhvr>
                                    </p:animEffect>
                                  </p:childTnLst>
                                </p:cTn>
                              </p:par>
                            </p:childTnLst>
                          </p:cTn>
                        </p:par>
                        <p:par>
                          <p:cTn id="8" fill="hold">
                            <p:stCondLst>
                              <p:cond delay="750"/>
                            </p:stCondLst>
                            <p:childTnLst>
                              <p:par>
                                <p:cTn id="9" presetID="53" presetClass="entr" presetSubtype="16"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p:cTn id="11" dur="350" fill="hold"/>
                                        <p:tgtEl>
                                          <p:spTgt spid="32"/>
                                        </p:tgtEl>
                                        <p:attrNameLst>
                                          <p:attrName>ppt_w</p:attrName>
                                        </p:attrNameLst>
                                      </p:cBhvr>
                                      <p:tavLst>
                                        <p:tav tm="0">
                                          <p:val>
                                            <p:strVal val="0"/>
                                          </p:val>
                                        </p:tav>
                                        <p:tav tm="100000">
                                          <p:val>
                                            <p:strVal val="#ppt_w"/>
                                          </p:val>
                                        </p:tav>
                                      </p:tavLst>
                                    </p:anim>
                                    <p:anim calcmode="lin" valueType="num">
                                      <p:cBhvr>
                                        <p:cTn id="12" dur="350" fill="hold"/>
                                        <p:tgtEl>
                                          <p:spTgt spid="32"/>
                                        </p:tgtEl>
                                        <p:attrNameLst>
                                          <p:attrName>ppt_h</p:attrName>
                                        </p:attrNameLst>
                                      </p:cBhvr>
                                      <p:tavLst>
                                        <p:tav tm="0">
                                          <p:val>
                                            <p:strVal val="0"/>
                                          </p:val>
                                        </p:tav>
                                        <p:tav tm="100000">
                                          <p:val>
                                            <p:strVal val="#ppt_h"/>
                                          </p:val>
                                        </p:tav>
                                      </p:tavLst>
                                    </p:anim>
                                    <p:animEffect transition="in" filter="fade">
                                      <p:cBhvr>
                                        <p:cTn id="13" dur="350"/>
                                        <p:tgtEl>
                                          <p:spTgt spid="32"/>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p:cTn id="16" dur="350" fill="hold"/>
                                        <p:tgtEl>
                                          <p:spTgt spid="33"/>
                                        </p:tgtEl>
                                        <p:attrNameLst>
                                          <p:attrName>ppt_w</p:attrName>
                                        </p:attrNameLst>
                                      </p:cBhvr>
                                      <p:tavLst>
                                        <p:tav tm="0">
                                          <p:val>
                                            <p:strVal val="0"/>
                                          </p:val>
                                        </p:tav>
                                        <p:tav tm="100000">
                                          <p:val>
                                            <p:strVal val="#ppt_w"/>
                                          </p:val>
                                        </p:tav>
                                      </p:tavLst>
                                    </p:anim>
                                    <p:anim calcmode="lin" valueType="num">
                                      <p:cBhvr>
                                        <p:cTn id="17" dur="350" fill="hold"/>
                                        <p:tgtEl>
                                          <p:spTgt spid="33"/>
                                        </p:tgtEl>
                                        <p:attrNameLst>
                                          <p:attrName>ppt_h</p:attrName>
                                        </p:attrNameLst>
                                      </p:cBhvr>
                                      <p:tavLst>
                                        <p:tav tm="0">
                                          <p:val>
                                            <p:strVal val="0"/>
                                          </p:val>
                                        </p:tav>
                                        <p:tav tm="100000">
                                          <p:val>
                                            <p:strVal val="#ppt_h"/>
                                          </p:val>
                                        </p:tav>
                                      </p:tavLst>
                                    </p:anim>
                                    <p:animEffect transition="in" filter="fade">
                                      <p:cBhvr>
                                        <p:cTn id="18" dur="350"/>
                                        <p:tgtEl>
                                          <p:spTgt spid="33"/>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p:cTn id="21" dur="350" fill="hold"/>
                                        <p:tgtEl>
                                          <p:spTgt spid="34"/>
                                        </p:tgtEl>
                                        <p:attrNameLst>
                                          <p:attrName>ppt_w</p:attrName>
                                        </p:attrNameLst>
                                      </p:cBhvr>
                                      <p:tavLst>
                                        <p:tav tm="0">
                                          <p:val>
                                            <p:strVal val="0"/>
                                          </p:val>
                                        </p:tav>
                                        <p:tav tm="100000">
                                          <p:val>
                                            <p:strVal val="#ppt_w"/>
                                          </p:val>
                                        </p:tav>
                                      </p:tavLst>
                                    </p:anim>
                                    <p:anim calcmode="lin" valueType="num">
                                      <p:cBhvr>
                                        <p:cTn id="22" dur="350" fill="hold"/>
                                        <p:tgtEl>
                                          <p:spTgt spid="34"/>
                                        </p:tgtEl>
                                        <p:attrNameLst>
                                          <p:attrName>ppt_h</p:attrName>
                                        </p:attrNameLst>
                                      </p:cBhvr>
                                      <p:tavLst>
                                        <p:tav tm="0">
                                          <p:val>
                                            <p:strVal val="0"/>
                                          </p:val>
                                        </p:tav>
                                        <p:tav tm="100000">
                                          <p:val>
                                            <p:strVal val="#ppt_h"/>
                                          </p:val>
                                        </p:tav>
                                      </p:tavLst>
                                    </p:anim>
                                    <p:animEffect transition="in" filter="fade">
                                      <p:cBhvr>
                                        <p:cTn id="23" dur="350"/>
                                        <p:tgtEl>
                                          <p:spTgt spid="34"/>
                                        </p:tgtEl>
                                      </p:cBhvr>
                                    </p:animEffect>
                                  </p:childTnLst>
                                </p:cTn>
                              </p:par>
                            </p:childTnLst>
                          </p:cTn>
                        </p:par>
                        <p:par>
                          <p:cTn id="24" fill="hold">
                            <p:stCondLst>
                              <p:cond delay="950"/>
                            </p:stCondLst>
                            <p:childTnLst>
                              <p:par>
                                <p:cTn id="25" presetID="10" presetClass="entr" presetSubtype="0"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4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up)">
                                      <p:cBhvr>
                                        <p:cTn id="39" dur="500"/>
                                        <p:tgtEl>
                                          <p:spTgt spid="28"/>
                                        </p:tgtEl>
                                      </p:cBhvr>
                                    </p:animEffect>
                                  </p:childTnLst>
                                </p:cTn>
                              </p:par>
                            </p:childTnLst>
                          </p:cTn>
                        </p:par>
                        <p:par>
                          <p:cTn id="40" fill="hold">
                            <p:stCondLst>
                              <p:cond delay="1150"/>
                            </p:stCondLst>
                            <p:childTnLst>
                              <p:par>
                                <p:cTn id="41" presetID="53" presetClass="entr" presetSubtype="16"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p:cTn id="43" dur="350" fill="hold"/>
                                        <p:tgtEl>
                                          <p:spTgt spid="37"/>
                                        </p:tgtEl>
                                        <p:attrNameLst>
                                          <p:attrName>ppt_w</p:attrName>
                                        </p:attrNameLst>
                                      </p:cBhvr>
                                      <p:tavLst>
                                        <p:tav tm="0">
                                          <p:val>
                                            <p:strVal val="0"/>
                                          </p:val>
                                        </p:tav>
                                        <p:tav tm="100000">
                                          <p:val>
                                            <p:strVal val="#ppt_w"/>
                                          </p:val>
                                        </p:tav>
                                      </p:tavLst>
                                    </p:anim>
                                    <p:anim calcmode="lin" valueType="num">
                                      <p:cBhvr>
                                        <p:cTn id="44" dur="350" fill="hold"/>
                                        <p:tgtEl>
                                          <p:spTgt spid="37"/>
                                        </p:tgtEl>
                                        <p:attrNameLst>
                                          <p:attrName>ppt_h</p:attrName>
                                        </p:attrNameLst>
                                      </p:cBhvr>
                                      <p:tavLst>
                                        <p:tav tm="0">
                                          <p:val>
                                            <p:strVal val="0"/>
                                          </p:val>
                                        </p:tav>
                                        <p:tav tm="100000">
                                          <p:val>
                                            <p:strVal val="#ppt_h"/>
                                          </p:val>
                                        </p:tav>
                                      </p:tavLst>
                                    </p:anim>
                                    <p:animEffect transition="in" filter="fade">
                                      <p:cBhvr>
                                        <p:cTn id="45" dur="350"/>
                                        <p:tgtEl>
                                          <p:spTgt spid="37"/>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 calcmode="lin" valueType="num">
                                      <p:cBhvr>
                                        <p:cTn id="48" dur="350" fill="hold"/>
                                        <p:tgtEl>
                                          <p:spTgt spid="38"/>
                                        </p:tgtEl>
                                        <p:attrNameLst>
                                          <p:attrName>ppt_w</p:attrName>
                                        </p:attrNameLst>
                                      </p:cBhvr>
                                      <p:tavLst>
                                        <p:tav tm="0">
                                          <p:val>
                                            <p:strVal val="0"/>
                                          </p:val>
                                        </p:tav>
                                        <p:tav tm="100000">
                                          <p:val>
                                            <p:strVal val="#ppt_w"/>
                                          </p:val>
                                        </p:tav>
                                      </p:tavLst>
                                    </p:anim>
                                    <p:anim calcmode="lin" valueType="num">
                                      <p:cBhvr>
                                        <p:cTn id="49" dur="350" fill="hold"/>
                                        <p:tgtEl>
                                          <p:spTgt spid="38"/>
                                        </p:tgtEl>
                                        <p:attrNameLst>
                                          <p:attrName>ppt_h</p:attrName>
                                        </p:attrNameLst>
                                      </p:cBhvr>
                                      <p:tavLst>
                                        <p:tav tm="0">
                                          <p:val>
                                            <p:strVal val="0"/>
                                          </p:val>
                                        </p:tav>
                                        <p:tav tm="100000">
                                          <p:val>
                                            <p:strVal val="#ppt_h"/>
                                          </p:val>
                                        </p:tav>
                                      </p:tavLst>
                                    </p:anim>
                                    <p:animEffect transition="in" filter="fade">
                                      <p:cBhvr>
                                        <p:cTn id="50" dur="350"/>
                                        <p:tgtEl>
                                          <p:spTgt spid="38"/>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 calcmode="lin" valueType="num">
                                      <p:cBhvr>
                                        <p:cTn id="53" dur="350" fill="hold"/>
                                        <p:tgtEl>
                                          <p:spTgt spid="39"/>
                                        </p:tgtEl>
                                        <p:attrNameLst>
                                          <p:attrName>ppt_w</p:attrName>
                                        </p:attrNameLst>
                                      </p:cBhvr>
                                      <p:tavLst>
                                        <p:tav tm="0">
                                          <p:val>
                                            <p:strVal val="0"/>
                                          </p:val>
                                        </p:tav>
                                        <p:tav tm="100000">
                                          <p:val>
                                            <p:strVal val="#ppt_w"/>
                                          </p:val>
                                        </p:tav>
                                      </p:tavLst>
                                    </p:anim>
                                    <p:anim calcmode="lin" valueType="num">
                                      <p:cBhvr>
                                        <p:cTn id="54" dur="350" fill="hold"/>
                                        <p:tgtEl>
                                          <p:spTgt spid="39"/>
                                        </p:tgtEl>
                                        <p:attrNameLst>
                                          <p:attrName>ppt_h</p:attrName>
                                        </p:attrNameLst>
                                      </p:cBhvr>
                                      <p:tavLst>
                                        <p:tav tm="0">
                                          <p:val>
                                            <p:strVal val="0"/>
                                          </p:val>
                                        </p:tav>
                                        <p:tav tm="100000">
                                          <p:val>
                                            <p:strVal val="#ppt_h"/>
                                          </p:val>
                                        </p:tav>
                                      </p:tavLst>
                                    </p:anim>
                                    <p:animEffect transition="in" filter="fade">
                                      <p:cBhvr>
                                        <p:cTn id="55" dur="350"/>
                                        <p:tgtEl>
                                          <p:spTgt spid="39"/>
                                        </p:tgtEl>
                                      </p:cBhvr>
                                    </p:animEffect>
                                  </p:childTnLst>
                                </p:cTn>
                              </p:par>
                            </p:childTnLst>
                          </p:cTn>
                        </p:par>
                        <p:par>
                          <p:cTn id="56" fill="hold">
                            <p:stCondLst>
                              <p:cond delay="1350"/>
                            </p:stCondLst>
                            <p:childTnLst>
                              <p:par>
                                <p:cTn id="57" presetID="10" presetClass="entr" presetSubtype="0" fill="hold" grpId="0" nodeType="after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400"/>
                                        <p:tgtEl>
                                          <p:spTgt spid="4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4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350"/>
                                        <p:tgtEl>
                                          <p:spTgt spid="29"/>
                                        </p:tgtEl>
                                      </p:cBhvr>
                                    </p:animEffect>
                                  </p:childTnLst>
                                </p:cTn>
                              </p:par>
                            </p:childTnLst>
                          </p:cTn>
                        </p:par>
                        <p:par>
                          <p:cTn id="68" fill="hold">
                            <p:stCondLst>
                              <p:cond delay="350"/>
                            </p:stCondLst>
                            <p:childTnLst>
                              <p:par>
                                <p:cTn id="69" presetID="22" presetClass="entr" presetSubtype="8" fill="hold" grpId="0" nodeType="after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wipe(left)">
                                      <p:cBhvr>
                                        <p:cTn id="71" dur="300"/>
                                        <p:tgtEl>
                                          <p:spTgt spid="30"/>
                                        </p:tgtEl>
                                      </p:cBhvr>
                                    </p:animEffect>
                                  </p:childTnLst>
                                </p:cTn>
                              </p:par>
                            </p:childTnLst>
                          </p:cTn>
                        </p:par>
                        <p:par>
                          <p:cTn id="72" fill="hold">
                            <p:stCondLst>
                              <p:cond delay="650"/>
                            </p:stCondLst>
                            <p:childTnLst>
                              <p:par>
                                <p:cTn id="73" presetID="22" presetClass="entr" presetSubtype="8"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left)">
                                      <p:cBhvr>
                                        <p:cTn id="75" dur="450"/>
                                        <p:tgtEl>
                                          <p:spTgt spid="31"/>
                                        </p:tgtEl>
                                      </p:cBhvr>
                                    </p:animEffect>
                                  </p:childTnLst>
                                </p:cTn>
                              </p:par>
                            </p:childTnLst>
                          </p:cTn>
                        </p:par>
                        <p:par>
                          <p:cTn id="76" fill="hold">
                            <p:stCondLst>
                              <p:cond delay="1250"/>
                            </p:stCondLst>
                            <p:childTnLst>
                              <p:par>
                                <p:cTn id="77" presetID="53" presetClass="entr" presetSubtype="16" fill="hold" grpId="0" nodeType="after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p:cTn id="79" dur="350" fill="hold"/>
                                        <p:tgtEl>
                                          <p:spTgt spid="42"/>
                                        </p:tgtEl>
                                        <p:attrNameLst>
                                          <p:attrName>ppt_w</p:attrName>
                                        </p:attrNameLst>
                                      </p:cBhvr>
                                      <p:tavLst>
                                        <p:tav tm="0">
                                          <p:val>
                                            <p:strVal val="0"/>
                                          </p:val>
                                        </p:tav>
                                        <p:tav tm="100000">
                                          <p:val>
                                            <p:strVal val="#ppt_w"/>
                                          </p:val>
                                        </p:tav>
                                      </p:tavLst>
                                    </p:anim>
                                    <p:anim calcmode="lin" valueType="num">
                                      <p:cBhvr>
                                        <p:cTn id="80" dur="350" fill="hold"/>
                                        <p:tgtEl>
                                          <p:spTgt spid="42"/>
                                        </p:tgtEl>
                                        <p:attrNameLst>
                                          <p:attrName>ppt_h</p:attrName>
                                        </p:attrNameLst>
                                      </p:cBhvr>
                                      <p:tavLst>
                                        <p:tav tm="0">
                                          <p:val>
                                            <p:strVal val="0"/>
                                          </p:val>
                                        </p:tav>
                                        <p:tav tm="100000">
                                          <p:val>
                                            <p:strVal val="#ppt_h"/>
                                          </p:val>
                                        </p:tav>
                                      </p:tavLst>
                                    </p:anim>
                                    <p:animEffect transition="in" filter="fade">
                                      <p:cBhvr>
                                        <p:cTn id="81" dur="350"/>
                                        <p:tgtEl>
                                          <p:spTgt spid="42"/>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 calcmode="lin" valueType="num">
                                      <p:cBhvr>
                                        <p:cTn id="84" dur="350" fill="hold"/>
                                        <p:tgtEl>
                                          <p:spTgt spid="43"/>
                                        </p:tgtEl>
                                        <p:attrNameLst>
                                          <p:attrName>ppt_w</p:attrName>
                                        </p:attrNameLst>
                                      </p:cBhvr>
                                      <p:tavLst>
                                        <p:tav tm="0">
                                          <p:val>
                                            <p:strVal val="0"/>
                                          </p:val>
                                        </p:tav>
                                        <p:tav tm="100000">
                                          <p:val>
                                            <p:strVal val="#ppt_w"/>
                                          </p:val>
                                        </p:tav>
                                      </p:tavLst>
                                    </p:anim>
                                    <p:anim calcmode="lin" valueType="num">
                                      <p:cBhvr>
                                        <p:cTn id="85" dur="350" fill="hold"/>
                                        <p:tgtEl>
                                          <p:spTgt spid="43"/>
                                        </p:tgtEl>
                                        <p:attrNameLst>
                                          <p:attrName>ppt_h</p:attrName>
                                        </p:attrNameLst>
                                      </p:cBhvr>
                                      <p:tavLst>
                                        <p:tav tm="0">
                                          <p:val>
                                            <p:strVal val="0"/>
                                          </p:val>
                                        </p:tav>
                                        <p:tav tm="100000">
                                          <p:val>
                                            <p:strVal val="#ppt_h"/>
                                          </p:val>
                                        </p:tav>
                                      </p:tavLst>
                                    </p:anim>
                                    <p:animEffect transition="in" filter="fade">
                                      <p:cBhvr>
                                        <p:cTn id="86" dur="350"/>
                                        <p:tgtEl>
                                          <p:spTgt spid="43"/>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 calcmode="lin" valueType="num">
                                      <p:cBhvr>
                                        <p:cTn id="89" dur="350" fill="hold"/>
                                        <p:tgtEl>
                                          <p:spTgt spid="44"/>
                                        </p:tgtEl>
                                        <p:attrNameLst>
                                          <p:attrName>ppt_w</p:attrName>
                                        </p:attrNameLst>
                                      </p:cBhvr>
                                      <p:tavLst>
                                        <p:tav tm="0">
                                          <p:val>
                                            <p:strVal val="0"/>
                                          </p:val>
                                        </p:tav>
                                        <p:tav tm="100000">
                                          <p:val>
                                            <p:strVal val="#ppt_w"/>
                                          </p:val>
                                        </p:tav>
                                      </p:tavLst>
                                    </p:anim>
                                    <p:anim calcmode="lin" valueType="num">
                                      <p:cBhvr>
                                        <p:cTn id="90" dur="350" fill="hold"/>
                                        <p:tgtEl>
                                          <p:spTgt spid="44"/>
                                        </p:tgtEl>
                                        <p:attrNameLst>
                                          <p:attrName>ppt_h</p:attrName>
                                        </p:attrNameLst>
                                      </p:cBhvr>
                                      <p:tavLst>
                                        <p:tav tm="0">
                                          <p:val>
                                            <p:strVal val="0"/>
                                          </p:val>
                                        </p:tav>
                                        <p:tav tm="100000">
                                          <p:val>
                                            <p:strVal val="#ppt_h"/>
                                          </p:val>
                                        </p:tav>
                                      </p:tavLst>
                                    </p:anim>
                                    <p:animEffect transition="in" filter="fade">
                                      <p:cBhvr>
                                        <p:cTn id="91" dur="350"/>
                                        <p:tgtEl>
                                          <p:spTgt spid="44"/>
                                        </p:tgtEl>
                                      </p:cBhvr>
                                    </p:animEffect>
                                  </p:childTnLst>
                                </p:cTn>
                              </p:par>
                            </p:childTnLst>
                          </p:cTn>
                        </p:par>
                        <p:par>
                          <p:cTn id="92" fill="hold">
                            <p:stCondLst>
                              <p:cond delay="1450"/>
                            </p:stCondLst>
                            <p:childTnLst>
                              <p:par>
                                <p:cTn id="93" presetID="10" presetClass="entr" presetSubtype="0" fill="hold" grpId="0" nodeType="after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400"/>
                                        <p:tgtEl>
                                          <p:spTgt spid="4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fade">
                                      <p:cBhvr>
                                        <p:cTn id="98"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2" grpId="0"/>
      <p:bldP spid="33" grpId="0"/>
      <p:bldP spid="34" grpId="0"/>
      <p:bldP spid="35" grpId="0"/>
      <p:bldP spid="36" grpId="0"/>
      <p:bldP spid="27" grpId="0"/>
      <p:bldP spid="28" grpId="0"/>
      <p:bldP spid="37" grpId="0"/>
      <p:bldP spid="38" grpId="0"/>
      <p:bldP spid="39" grpId="0"/>
      <p:bldP spid="40" grpId="0"/>
      <p:bldP spid="41" grpId="0"/>
      <p:bldP spid="29" grpId="0"/>
      <p:bldP spid="30" grpId="0"/>
      <p:bldP spid="31" grpId="0"/>
      <p:bldP spid="42" grpId="0"/>
      <p:bldP spid="43" grpId="0"/>
      <p:bldP spid="44" grpId="0"/>
      <p:bldP spid="45" grpId="0"/>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Watching: BYPASS and SAMPLE / PRELOAD</a:t>
            </a:r>
            <a:endParaRPr lang="en-US" sz="3400" dirty="0"/>
          </a:p>
        </p:txBody>
      </p:sp>
      <p:sp>
        <p:nvSpPr>
          <p:cNvPr id="3" name="byp_bg"/>
          <p:cNvSpPr/>
          <p:nvPr/>
        </p:nvSpPr>
        <p:spPr>
          <a:xfrm>
            <a:off x="548640" y="1234440"/>
            <a:ext cx="5486400" cy="5120640"/>
          </a:xfrm>
          <a:prstGeom prst="roundRect">
            <a:avLst>
              <a:gd name="adj" fmla="val 1429"/>
            </a:avLst>
          </a:prstGeom>
          <a:solidFill>
            <a:schemeClr val="bg2"/>
          </a:solidFill>
          <a:ln/>
        </p:spPr>
      </p:sp>
      <p:sp>
        <p:nvSpPr>
          <p:cNvPr id="4" name="byp_h"/>
          <p:cNvSpPr txBox="1"/>
          <p:nvPr/>
        </p:nvSpPr>
        <p:spPr>
          <a:xfrm>
            <a:off x="777240" y="1399032"/>
            <a:ext cx="5029200" cy="384048"/>
          </a:xfrm>
          <a:prstGeom prst="rect">
            <a:avLst/>
          </a:prstGeom>
          <a:noFill/>
          <a:ln/>
        </p:spPr>
        <p:txBody>
          <a:bodyPr wrap="square" lIns="0" tIns="0" rIns="0" bIns="0" rtlCol="0" anchor="t"/>
          <a:lstStyle/>
          <a:p>
            <a:pPr indent="0" marL="0">
              <a:buNone/>
            </a:pPr>
            <a:r>
              <a:rPr lang="en-US" sz="2000" b="1" dirty="0">
                <a:solidFill>
                  <a:schemeClr val="tx2"/>
                </a:solidFill>
              </a:rPr>
              <a:t>BYPASS</a:t>
            </a:r>
            <a:endParaRPr lang="en-US" sz="2000" dirty="0"/>
          </a:p>
        </p:txBody>
      </p:sp>
      <p:sp>
        <p:nvSpPr>
          <p:cNvPr id="5" name="byp_tag"/>
          <p:cNvSpPr txBox="1"/>
          <p:nvPr/>
        </p:nvSpPr>
        <p:spPr>
          <a:xfrm>
            <a:off x="777240" y="1801368"/>
            <a:ext cx="5029200" cy="292608"/>
          </a:xfrm>
          <a:prstGeom prst="rect">
            <a:avLst/>
          </a:prstGeom>
          <a:noFill/>
          <a:ln/>
        </p:spPr>
        <p:txBody>
          <a:bodyPr wrap="square" lIns="0" tIns="0" rIns="0" bIns="0" rtlCol="0" anchor="t"/>
          <a:lstStyle/>
          <a:p>
            <a:pPr indent="0" marL="0">
              <a:buNone/>
            </a:pPr>
            <a:r>
              <a:rPr lang="en-US" sz="1400" i="1" dirty="0">
                <a:solidFill>
                  <a:schemeClr val="accent5"/>
                </a:solidFill>
              </a:rPr>
              <a:t>Boundary scan steps aside</a:t>
            </a:r>
            <a:endParaRPr lang="en-US" sz="1400" dirty="0"/>
          </a:p>
        </p:txBody>
      </p:sp>
      <p:sp>
        <p:nvSpPr>
          <p:cNvPr id="6" name="byp_pin0"/>
          <p:cNvSpPr/>
          <p:nvPr/>
        </p:nvSpPr>
        <p:spPr>
          <a:xfrm>
            <a:off x="822960" y="2468880"/>
            <a:ext cx="1051560" cy="548640"/>
          </a:xfrm>
          <a:prstGeom prst="roundRect">
            <a:avLst>
              <a:gd name="adj" fmla="val 13333"/>
            </a:avLst>
          </a:prstGeom>
          <a:solidFill>
            <a:srgbClr val="F1DDE9"/>
          </a:solidFill>
          <a:ln/>
        </p:spPr>
      </p:sp>
      <p:sp>
        <p:nvSpPr>
          <p:cNvPr id="7" name="byp_pint0"/>
          <p:cNvSpPr txBox="1"/>
          <p:nvPr/>
        </p:nvSpPr>
        <p:spPr>
          <a:xfrm>
            <a:off x="822960" y="246888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Input pin</a:t>
            </a:r>
            <a:endParaRPr lang="en-US" sz="1300" dirty="0"/>
          </a:p>
        </p:txBody>
      </p:sp>
      <p:sp>
        <p:nvSpPr>
          <p:cNvPr id="8" name="byp_pin1"/>
          <p:cNvSpPr/>
          <p:nvPr/>
        </p:nvSpPr>
        <p:spPr>
          <a:xfrm>
            <a:off x="822960" y="3474720"/>
            <a:ext cx="1051560" cy="548640"/>
          </a:xfrm>
          <a:prstGeom prst="roundRect">
            <a:avLst>
              <a:gd name="adj" fmla="val 13333"/>
            </a:avLst>
          </a:prstGeom>
          <a:solidFill>
            <a:srgbClr val="F1DDE9"/>
          </a:solidFill>
          <a:ln/>
        </p:spPr>
      </p:sp>
      <p:sp>
        <p:nvSpPr>
          <p:cNvPr id="9" name="byp_pint1"/>
          <p:cNvSpPr txBox="1"/>
          <p:nvPr/>
        </p:nvSpPr>
        <p:spPr>
          <a:xfrm>
            <a:off x="822960" y="347472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Output pin</a:t>
            </a:r>
            <a:endParaRPr lang="en-US" sz="1300" dirty="0"/>
          </a:p>
        </p:txBody>
      </p:sp>
      <p:sp>
        <p:nvSpPr>
          <p:cNvPr id="10" name="byp_core"/>
          <p:cNvSpPr/>
          <p:nvPr/>
        </p:nvSpPr>
        <p:spPr>
          <a:xfrm>
            <a:off x="4526280" y="2468880"/>
            <a:ext cx="1234440" cy="1554480"/>
          </a:xfrm>
          <a:prstGeom prst="roundRect">
            <a:avLst>
              <a:gd name="adj" fmla="val 5926"/>
            </a:avLst>
          </a:prstGeom>
          <a:solidFill>
            <a:schemeClr val="tx2"/>
          </a:solidFill>
          <a:ln/>
        </p:spPr>
      </p:sp>
      <p:sp>
        <p:nvSpPr>
          <p:cNvPr id="11" name="byp_coret"/>
          <p:cNvSpPr txBox="1"/>
          <p:nvPr/>
        </p:nvSpPr>
        <p:spPr>
          <a:xfrm>
            <a:off x="4526280" y="2468880"/>
            <a:ext cx="1234440" cy="1554480"/>
          </a:xfrm>
          <a:prstGeom prst="rect">
            <a:avLst/>
          </a:prstGeom>
          <a:noFill/>
          <a:ln/>
        </p:spPr>
        <p:txBody>
          <a:bodyPr wrap="square" lIns="0" tIns="0" rIns="0" bIns="0" rtlCol="0" anchor="ctr"/>
          <a:lstStyle/>
          <a:p>
            <a:pPr algn="ctr" indent="0" marL="0">
              <a:buNone/>
            </a:pPr>
            <a:r>
              <a:rPr lang="en-US" sz="1600" b="1" dirty="0">
                <a:solidFill>
                  <a:schemeClr val="bg1"/>
                </a:solidFill>
              </a:rPr>
              <a:t>Core</a:t>
            </a:r>
            <a:endParaRPr lang="en-US" sz="1600" dirty="0"/>
          </a:p>
        </p:txBody>
      </p:sp>
      <p:sp>
        <p:nvSpPr>
          <p:cNvPr id="12" name="byp_cell0"/>
          <p:cNvSpPr/>
          <p:nvPr/>
        </p:nvSpPr>
        <p:spPr>
          <a:xfrm>
            <a:off x="2606040" y="2468880"/>
            <a:ext cx="868680" cy="548640"/>
          </a:xfrm>
          <a:prstGeom prst="roundRect">
            <a:avLst>
              <a:gd name="adj" fmla="val 13333"/>
            </a:avLst>
          </a:prstGeom>
          <a:solidFill>
            <a:srgbClr val="D5DCDD"/>
          </a:solidFill>
          <a:ln w="25400">
            <a:solidFill>
              <a:schemeClr val="accent5"/>
            </a:solidFill>
            <a:prstDash val="solid"/>
          </a:ln>
        </p:spPr>
      </p:sp>
      <p:sp>
        <p:nvSpPr>
          <p:cNvPr id="13" name="byp_cellt0"/>
          <p:cNvSpPr txBox="1"/>
          <p:nvPr/>
        </p:nvSpPr>
        <p:spPr>
          <a:xfrm>
            <a:off x="2606040" y="246888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14" name="byp_cl0"/>
          <p:cNvSpPr txBox="1"/>
          <p:nvPr/>
        </p:nvSpPr>
        <p:spPr>
          <a:xfrm>
            <a:off x="2057400" y="2103120"/>
            <a:ext cx="1965960" cy="274320"/>
          </a:xfrm>
          <a:prstGeom prst="rect">
            <a:avLst/>
          </a:prstGeom>
          <a:noFill/>
          <a:ln/>
        </p:spPr>
        <p:txBody>
          <a:bodyPr wrap="square" lIns="0" tIns="0" rIns="0" bIns="0" rtlCol="0" anchor="t"/>
          <a:lstStyle/>
          <a:p>
            <a:pPr algn="ctr" indent="0" marL="0">
              <a:buNone/>
            </a:pPr>
            <a:r>
              <a:rPr lang="en-US" sz="1200" b="1" dirty="0">
                <a:solidFill>
                  <a:schemeClr val="accent5"/>
                </a:solidFill>
              </a:rPr>
              <a:t>transparent</a:t>
            </a:r>
            <a:endParaRPr lang="en-US" sz="1200" dirty="0"/>
          </a:p>
        </p:txBody>
      </p:sp>
      <p:sp>
        <p:nvSpPr>
          <p:cNvPr id="15" name="byp_cell1"/>
          <p:cNvSpPr/>
          <p:nvPr/>
        </p:nvSpPr>
        <p:spPr>
          <a:xfrm>
            <a:off x="2606040" y="3474720"/>
            <a:ext cx="868680" cy="548640"/>
          </a:xfrm>
          <a:prstGeom prst="roundRect">
            <a:avLst>
              <a:gd name="adj" fmla="val 13333"/>
            </a:avLst>
          </a:prstGeom>
          <a:solidFill>
            <a:srgbClr val="D5DCDD"/>
          </a:solidFill>
          <a:ln w="25400">
            <a:solidFill>
              <a:schemeClr val="accent5"/>
            </a:solidFill>
            <a:prstDash val="solid"/>
          </a:ln>
        </p:spPr>
      </p:sp>
      <p:sp>
        <p:nvSpPr>
          <p:cNvPr id="16" name="byp_cellt1"/>
          <p:cNvSpPr txBox="1"/>
          <p:nvPr/>
        </p:nvSpPr>
        <p:spPr>
          <a:xfrm>
            <a:off x="2606040" y="347472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17" name="byp_cl1"/>
          <p:cNvSpPr txBox="1"/>
          <p:nvPr/>
        </p:nvSpPr>
        <p:spPr>
          <a:xfrm>
            <a:off x="2057400" y="4123944"/>
            <a:ext cx="1965960" cy="274320"/>
          </a:xfrm>
          <a:prstGeom prst="rect">
            <a:avLst/>
          </a:prstGeom>
          <a:noFill/>
          <a:ln/>
        </p:spPr>
        <p:txBody>
          <a:bodyPr wrap="square" lIns="0" tIns="0" rIns="0" bIns="0" rtlCol="0" anchor="t"/>
          <a:lstStyle/>
          <a:p>
            <a:pPr algn="ctr" indent="0" marL="0">
              <a:buNone/>
            </a:pPr>
            <a:r>
              <a:rPr lang="en-US" sz="1200" b="1" dirty="0">
                <a:solidFill>
                  <a:schemeClr val="accent5"/>
                </a:solidFill>
              </a:rPr>
              <a:t>transparent</a:t>
            </a:r>
            <a:endParaRPr lang="en-US" sz="1200" dirty="0"/>
          </a:p>
        </p:txBody>
      </p:sp>
      <p:sp>
        <p:nvSpPr>
          <p:cNvPr id="18" name="byp_a1"/>
          <p:cNvSpPr/>
          <p:nvPr/>
        </p:nvSpPr>
        <p:spPr>
          <a:xfrm>
            <a:off x="1874520" y="2743200"/>
            <a:ext cx="731520" cy="0"/>
          </a:xfrm>
          <a:prstGeom prst="line">
            <a:avLst/>
          </a:prstGeom>
          <a:noFill/>
          <a:ln w="38100">
            <a:solidFill>
              <a:schemeClr val="accent5"/>
            </a:solidFill>
            <a:prstDash val="solid"/>
            <a:tailEnd type="triangle"/>
          </a:ln>
        </p:spPr>
      </p:sp>
      <p:sp>
        <p:nvSpPr>
          <p:cNvPr id="19" name="byp_a2"/>
          <p:cNvSpPr/>
          <p:nvPr/>
        </p:nvSpPr>
        <p:spPr>
          <a:xfrm>
            <a:off x="3474720" y="2743200"/>
            <a:ext cx="1051560" cy="0"/>
          </a:xfrm>
          <a:prstGeom prst="line">
            <a:avLst/>
          </a:prstGeom>
          <a:noFill/>
          <a:ln w="38100">
            <a:solidFill>
              <a:schemeClr val="accent5"/>
            </a:solidFill>
            <a:prstDash val="solid"/>
            <a:tailEnd type="triangle"/>
          </a:ln>
        </p:spPr>
      </p:sp>
      <p:sp>
        <p:nvSpPr>
          <p:cNvPr id="20" name="byp_b2"/>
          <p:cNvSpPr/>
          <p:nvPr/>
        </p:nvSpPr>
        <p:spPr>
          <a:xfrm flipH="1">
            <a:off x="3474720" y="3749040"/>
            <a:ext cx="1051560" cy="0"/>
          </a:xfrm>
          <a:prstGeom prst="line">
            <a:avLst/>
          </a:prstGeom>
          <a:noFill/>
          <a:ln w="38100">
            <a:solidFill>
              <a:schemeClr val="accent5"/>
            </a:solidFill>
            <a:prstDash val="solid"/>
            <a:tailEnd type="triangle"/>
          </a:ln>
        </p:spPr>
      </p:sp>
      <p:sp>
        <p:nvSpPr>
          <p:cNvPr id="21" name="byp_b1"/>
          <p:cNvSpPr/>
          <p:nvPr/>
        </p:nvSpPr>
        <p:spPr>
          <a:xfrm flipH="1">
            <a:off x="1874520" y="3749040"/>
            <a:ext cx="731520" cy="0"/>
          </a:xfrm>
          <a:prstGeom prst="line">
            <a:avLst/>
          </a:prstGeom>
          <a:noFill/>
          <a:ln w="38100">
            <a:solidFill>
              <a:schemeClr val="accent5"/>
            </a:solidFill>
            <a:prstDash val="solid"/>
            <a:tailEnd type="triangle"/>
          </a:ln>
        </p:spPr>
      </p:sp>
      <p:sp>
        <p:nvSpPr>
          <p:cNvPr id="22" name="byp_jbg"/>
          <p:cNvSpPr/>
          <p:nvPr/>
        </p:nvSpPr>
        <p:spPr>
          <a:xfrm>
            <a:off x="777240" y="4434840"/>
            <a:ext cx="5029200" cy="384048"/>
          </a:xfrm>
          <a:prstGeom prst="roundRect">
            <a:avLst>
              <a:gd name="adj" fmla="val 19048"/>
            </a:avLst>
          </a:prstGeom>
          <a:solidFill>
            <a:schemeClr val="bg1"/>
          </a:solidFill>
          <a:ln w="12700">
            <a:solidFill>
              <a:srgbClr val="D5DCDD"/>
            </a:solidFill>
            <a:prstDash val="solid"/>
          </a:ln>
        </p:spPr>
      </p:sp>
      <p:sp>
        <p:nvSpPr>
          <p:cNvPr id="23" name="byp_j"/>
          <p:cNvSpPr txBox="1"/>
          <p:nvPr/>
        </p:nvSpPr>
        <p:spPr>
          <a:xfrm>
            <a:off x="914400" y="4434840"/>
            <a:ext cx="4754880" cy="384048"/>
          </a:xfrm>
          <a:prstGeom prst="rect">
            <a:avLst/>
          </a:prstGeom>
          <a:noFill/>
          <a:ln/>
        </p:spPr>
        <p:txBody>
          <a:bodyPr wrap="square" lIns="0" tIns="0" rIns="0" bIns="0" rtlCol="0" anchor="ctr"/>
          <a:lstStyle/>
          <a:p>
            <a:pPr indent="0" marL="0">
              <a:buNone/>
            </a:pPr>
            <a:r>
              <a:rPr lang="en-US" sz="1300" b="1" dirty="0">
                <a:solidFill>
                  <a:schemeClr val="accent2"/>
                </a:solidFill>
              </a:rPr>
              <a:t>JTAG  </a:t>
            </a:r>
            <a:pPr indent="0" marL="0">
              <a:buNone/>
            </a:pPr>
            <a:r>
              <a:rPr lang="en-US" sz="1300" dirty="0">
                <a:solidFill>
                  <a:schemeClr val="tx2"/>
                </a:solidFill>
              </a:rPr>
              <a:t>TDI → one 1-bit register → TDO</a:t>
            </a:r>
            <a:endParaRPr lang="en-US" sz="1300" dirty="0"/>
          </a:p>
        </p:txBody>
      </p:sp>
      <p:sp>
        <p:nvSpPr>
          <p:cNvPr id="24" name="byp_w"/>
          <p:cNvSpPr txBox="1"/>
          <p:nvPr/>
        </p:nvSpPr>
        <p:spPr>
          <a:xfrm>
            <a:off x="777240" y="4937760"/>
            <a:ext cx="5029200" cy="777240"/>
          </a:xfrm>
          <a:prstGeom prst="rect">
            <a:avLst/>
          </a:prstGeom>
          <a:noFill/>
          <a:ln/>
        </p:spPr>
        <p:txBody>
          <a:bodyPr wrap="square" lIns="0" tIns="0" rIns="0" bIns="0" rtlCol="0" anchor="t"/>
          <a:lstStyle/>
          <a:p>
            <a:pPr indent="0" marL="0">
              <a:buNone/>
            </a:pPr>
            <a:r>
              <a:rPr lang="en-US" sz="1400" dirty="0">
                <a:solidFill>
                  <a:schemeClr val="tx1"/>
                </a:solidFill>
              </a:rPr>
              <a:t>Every pin works normally and the cells are transparent. Between TDI and TDO there is only one bit, so the other JTAG blocks in the chain are reached with one extra shift.</a:t>
            </a:r>
            <a:endParaRPr lang="en-US" sz="1400" dirty="0"/>
          </a:p>
        </p:txBody>
      </p:sp>
      <p:sp>
        <p:nvSpPr>
          <p:cNvPr id="25" name="byp_u"/>
          <p:cNvSpPr txBox="1"/>
          <p:nvPr/>
        </p:nvSpPr>
        <p:spPr>
          <a:xfrm>
            <a:off x="777240" y="5715000"/>
            <a:ext cx="5029200" cy="548640"/>
          </a:xfrm>
          <a:prstGeom prst="rect">
            <a:avLst/>
          </a:prstGeom>
          <a:noFill/>
          <a:ln/>
        </p:spPr>
        <p:txBody>
          <a:bodyPr wrap="square" lIns="0" tIns="0" rIns="0" bIns="0" rtlCol="0" anchor="t"/>
          <a:lstStyle/>
          <a:p>
            <a:pPr indent="0" marL="0">
              <a:buNone/>
            </a:pPr>
            <a:r>
              <a:rPr lang="en-US" sz="1400" b="1" dirty="0">
                <a:solidFill>
                  <a:schemeClr val="accent1"/>
                </a:solidFill>
              </a:rPr>
              <a:t>Use it for: </a:t>
            </a:r>
            <a:pPr indent="0" marL="0">
              <a:buNone/>
            </a:pPr>
            <a:r>
              <a:rPr lang="en-US" sz="1400" i="1" dirty="0">
                <a:solidFill>
                  <a:schemeClr val="tx2"/>
                </a:solidFill>
              </a:rPr>
              <a:t>normal operation (the default after reset) and talking to the other JTAG blocks.</a:t>
            </a:r>
            <a:endParaRPr lang="en-US" sz="1400" dirty="0"/>
          </a:p>
        </p:txBody>
      </p:sp>
      <p:sp>
        <p:nvSpPr>
          <p:cNvPr id="26" name="smp_bg"/>
          <p:cNvSpPr/>
          <p:nvPr/>
        </p:nvSpPr>
        <p:spPr>
          <a:xfrm>
            <a:off x="6172200" y="1234440"/>
            <a:ext cx="5486400" cy="5120640"/>
          </a:xfrm>
          <a:prstGeom prst="roundRect">
            <a:avLst>
              <a:gd name="adj" fmla="val 1429"/>
            </a:avLst>
          </a:prstGeom>
          <a:solidFill>
            <a:schemeClr val="bg2"/>
          </a:solidFill>
          <a:ln/>
        </p:spPr>
      </p:sp>
      <p:sp>
        <p:nvSpPr>
          <p:cNvPr id="27" name="smp_h"/>
          <p:cNvSpPr txBox="1"/>
          <p:nvPr/>
        </p:nvSpPr>
        <p:spPr>
          <a:xfrm>
            <a:off x="6400800" y="1399032"/>
            <a:ext cx="5029200" cy="384048"/>
          </a:xfrm>
          <a:prstGeom prst="rect">
            <a:avLst/>
          </a:prstGeom>
          <a:noFill/>
          <a:ln/>
        </p:spPr>
        <p:txBody>
          <a:bodyPr wrap="square" lIns="0" tIns="0" rIns="0" bIns="0" rtlCol="0" anchor="t"/>
          <a:lstStyle/>
          <a:p>
            <a:pPr indent="0" marL="0">
              <a:buNone/>
            </a:pPr>
            <a:r>
              <a:rPr lang="en-US" sz="2000" b="1" dirty="0">
                <a:solidFill>
                  <a:schemeClr val="tx2"/>
                </a:solidFill>
              </a:rPr>
              <a:t>SAMPLE / PRELOAD</a:t>
            </a:r>
            <a:endParaRPr lang="en-US" sz="2000" dirty="0"/>
          </a:p>
        </p:txBody>
      </p:sp>
      <p:sp>
        <p:nvSpPr>
          <p:cNvPr id="28" name="smp_tag"/>
          <p:cNvSpPr txBox="1"/>
          <p:nvPr/>
        </p:nvSpPr>
        <p:spPr>
          <a:xfrm>
            <a:off x="6400800" y="1801368"/>
            <a:ext cx="5029200" cy="292608"/>
          </a:xfrm>
          <a:prstGeom prst="rect">
            <a:avLst/>
          </a:prstGeom>
          <a:noFill/>
          <a:ln/>
        </p:spPr>
        <p:txBody>
          <a:bodyPr wrap="square" lIns="0" tIns="0" rIns="0" bIns="0" rtlCol="0" anchor="t"/>
          <a:lstStyle/>
          <a:p>
            <a:pPr indent="0" marL="0">
              <a:buNone/>
            </a:pPr>
            <a:r>
              <a:rPr lang="en-US" sz="1400" i="1" dirty="0">
                <a:solidFill>
                  <a:schemeClr val="accent5"/>
                </a:solidFill>
              </a:rPr>
              <a:t>Look at every pin while the chip runs</a:t>
            </a:r>
            <a:endParaRPr lang="en-US" sz="1400" dirty="0"/>
          </a:p>
        </p:txBody>
      </p:sp>
      <p:sp>
        <p:nvSpPr>
          <p:cNvPr id="29" name="smp_pin0"/>
          <p:cNvSpPr/>
          <p:nvPr/>
        </p:nvSpPr>
        <p:spPr>
          <a:xfrm>
            <a:off x="6446520" y="2468880"/>
            <a:ext cx="1051560" cy="548640"/>
          </a:xfrm>
          <a:prstGeom prst="roundRect">
            <a:avLst>
              <a:gd name="adj" fmla="val 13333"/>
            </a:avLst>
          </a:prstGeom>
          <a:solidFill>
            <a:srgbClr val="F1DDE9"/>
          </a:solidFill>
          <a:ln/>
        </p:spPr>
      </p:sp>
      <p:sp>
        <p:nvSpPr>
          <p:cNvPr id="30" name="smp_pint0"/>
          <p:cNvSpPr txBox="1"/>
          <p:nvPr/>
        </p:nvSpPr>
        <p:spPr>
          <a:xfrm>
            <a:off x="6446520" y="246888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Input pin</a:t>
            </a:r>
            <a:endParaRPr lang="en-US" sz="1300" dirty="0"/>
          </a:p>
        </p:txBody>
      </p:sp>
      <p:sp>
        <p:nvSpPr>
          <p:cNvPr id="31" name="smp_pin1"/>
          <p:cNvSpPr/>
          <p:nvPr/>
        </p:nvSpPr>
        <p:spPr>
          <a:xfrm>
            <a:off x="6446520" y="3474720"/>
            <a:ext cx="1051560" cy="548640"/>
          </a:xfrm>
          <a:prstGeom prst="roundRect">
            <a:avLst>
              <a:gd name="adj" fmla="val 13333"/>
            </a:avLst>
          </a:prstGeom>
          <a:solidFill>
            <a:srgbClr val="F1DDE9"/>
          </a:solidFill>
          <a:ln/>
        </p:spPr>
      </p:sp>
      <p:sp>
        <p:nvSpPr>
          <p:cNvPr id="32" name="smp_pint1"/>
          <p:cNvSpPr txBox="1"/>
          <p:nvPr/>
        </p:nvSpPr>
        <p:spPr>
          <a:xfrm>
            <a:off x="6446520" y="347472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Output pin</a:t>
            </a:r>
            <a:endParaRPr lang="en-US" sz="1300" dirty="0"/>
          </a:p>
        </p:txBody>
      </p:sp>
      <p:sp>
        <p:nvSpPr>
          <p:cNvPr id="33" name="smp_core"/>
          <p:cNvSpPr/>
          <p:nvPr/>
        </p:nvSpPr>
        <p:spPr>
          <a:xfrm>
            <a:off x="10149840" y="2468880"/>
            <a:ext cx="1234440" cy="1554480"/>
          </a:xfrm>
          <a:prstGeom prst="roundRect">
            <a:avLst>
              <a:gd name="adj" fmla="val 5926"/>
            </a:avLst>
          </a:prstGeom>
          <a:solidFill>
            <a:schemeClr val="tx2"/>
          </a:solidFill>
          <a:ln/>
        </p:spPr>
      </p:sp>
      <p:sp>
        <p:nvSpPr>
          <p:cNvPr id="34" name="smp_coret"/>
          <p:cNvSpPr txBox="1"/>
          <p:nvPr/>
        </p:nvSpPr>
        <p:spPr>
          <a:xfrm>
            <a:off x="10149840" y="2468880"/>
            <a:ext cx="1234440" cy="1554480"/>
          </a:xfrm>
          <a:prstGeom prst="rect">
            <a:avLst/>
          </a:prstGeom>
          <a:noFill/>
          <a:ln/>
        </p:spPr>
        <p:txBody>
          <a:bodyPr wrap="square" lIns="0" tIns="0" rIns="0" bIns="0" rtlCol="0" anchor="ctr"/>
          <a:lstStyle/>
          <a:p>
            <a:pPr algn="ctr" indent="0" marL="0">
              <a:buNone/>
            </a:pPr>
            <a:r>
              <a:rPr lang="en-US" sz="1600" b="1" dirty="0">
                <a:solidFill>
                  <a:schemeClr val="bg1"/>
                </a:solidFill>
              </a:rPr>
              <a:t>Core</a:t>
            </a:r>
            <a:endParaRPr lang="en-US" sz="1600" dirty="0"/>
          </a:p>
        </p:txBody>
      </p:sp>
      <p:sp>
        <p:nvSpPr>
          <p:cNvPr id="35" name="smp_cell0"/>
          <p:cNvSpPr/>
          <p:nvPr/>
        </p:nvSpPr>
        <p:spPr>
          <a:xfrm>
            <a:off x="8229600" y="2468880"/>
            <a:ext cx="868680" cy="548640"/>
          </a:xfrm>
          <a:prstGeom prst="roundRect">
            <a:avLst>
              <a:gd name="adj" fmla="val 13333"/>
            </a:avLst>
          </a:prstGeom>
          <a:solidFill>
            <a:schemeClr val="bg1"/>
          </a:solidFill>
          <a:ln w="25400">
            <a:solidFill>
              <a:schemeClr val="accent3"/>
            </a:solidFill>
            <a:prstDash val="solid"/>
          </a:ln>
        </p:spPr>
      </p:sp>
      <p:sp>
        <p:nvSpPr>
          <p:cNvPr id="36" name="smp_cellt0"/>
          <p:cNvSpPr txBox="1"/>
          <p:nvPr/>
        </p:nvSpPr>
        <p:spPr>
          <a:xfrm>
            <a:off x="8229600" y="246888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37" name="smp_cl0"/>
          <p:cNvSpPr txBox="1"/>
          <p:nvPr/>
        </p:nvSpPr>
        <p:spPr>
          <a:xfrm>
            <a:off x="7680960" y="2103120"/>
            <a:ext cx="1965960" cy="274320"/>
          </a:xfrm>
          <a:prstGeom prst="rect">
            <a:avLst/>
          </a:prstGeom>
          <a:noFill/>
          <a:ln/>
        </p:spPr>
        <p:txBody>
          <a:bodyPr wrap="square" lIns="0" tIns="0" rIns="0" bIns="0" rtlCol="0" anchor="t"/>
          <a:lstStyle/>
          <a:p>
            <a:pPr algn="ctr" indent="0" marL="0">
              <a:buNone/>
            </a:pPr>
            <a:r>
              <a:rPr lang="en-US" sz="1200" b="1" dirty="0">
                <a:solidFill>
                  <a:schemeClr val="accent3"/>
                </a:solidFill>
              </a:rPr>
              <a:t>records the pin</a:t>
            </a:r>
            <a:endParaRPr lang="en-US" sz="1200" dirty="0"/>
          </a:p>
        </p:txBody>
      </p:sp>
      <p:sp>
        <p:nvSpPr>
          <p:cNvPr id="38" name="smp_cell1"/>
          <p:cNvSpPr/>
          <p:nvPr/>
        </p:nvSpPr>
        <p:spPr>
          <a:xfrm>
            <a:off x="8229600" y="3474720"/>
            <a:ext cx="868680" cy="548640"/>
          </a:xfrm>
          <a:prstGeom prst="roundRect">
            <a:avLst>
              <a:gd name="adj" fmla="val 13333"/>
            </a:avLst>
          </a:prstGeom>
          <a:solidFill>
            <a:schemeClr val="bg1"/>
          </a:solidFill>
          <a:ln w="25400">
            <a:solidFill>
              <a:schemeClr val="accent3"/>
            </a:solidFill>
            <a:prstDash val="solid"/>
          </a:ln>
        </p:spPr>
      </p:sp>
      <p:sp>
        <p:nvSpPr>
          <p:cNvPr id="39" name="smp_cellt1"/>
          <p:cNvSpPr txBox="1"/>
          <p:nvPr/>
        </p:nvSpPr>
        <p:spPr>
          <a:xfrm>
            <a:off x="8229600" y="347472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40" name="smp_cl1"/>
          <p:cNvSpPr txBox="1"/>
          <p:nvPr/>
        </p:nvSpPr>
        <p:spPr>
          <a:xfrm>
            <a:off x="7680960" y="4123944"/>
            <a:ext cx="1965960" cy="274320"/>
          </a:xfrm>
          <a:prstGeom prst="rect">
            <a:avLst/>
          </a:prstGeom>
          <a:noFill/>
          <a:ln/>
        </p:spPr>
        <p:txBody>
          <a:bodyPr wrap="square" lIns="0" tIns="0" rIns="0" bIns="0" rtlCol="0" anchor="t"/>
          <a:lstStyle/>
          <a:p>
            <a:pPr algn="ctr" indent="0" marL="0">
              <a:buNone/>
            </a:pPr>
            <a:r>
              <a:rPr lang="en-US" sz="1200" b="1" dirty="0">
                <a:solidFill>
                  <a:schemeClr val="accent3"/>
                </a:solidFill>
              </a:rPr>
              <a:t>records the core output</a:t>
            </a:r>
            <a:endParaRPr lang="en-US" sz="1200" dirty="0"/>
          </a:p>
        </p:txBody>
      </p:sp>
      <p:sp>
        <p:nvSpPr>
          <p:cNvPr id="41" name="smp_a1"/>
          <p:cNvSpPr/>
          <p:nvPr/>
        </p:nvSpPr>
        <p:spPr>
          <a:xfrm>
            <a:off x="7498080" y="2743200"/>
            <a:ext cx="731520" cy="0"/>
          </a:xfrm>
          <a:prstGeom prst="line">
            <a:avLst/>
          </a:prstGeom>
          <a:noFill/>
          <a:ln w="38100">
            <a:solidFill>
              <a:schemeClr val="accent5"/>
            </a:solidFill>
            <a:prstDash val="solid"/>
            <a:tailEnd type="triangle"/>
          </a:ln>
        </p:spPr>
      </p:sp>
      <p:sp>
        <p:nvSpPr>
          <p:cNvPr id="42" name="smp_a2"/>
          <p:cNvSpPr/>
          <p:nvPr/>
        </p:nvSpPr>
        <p:spPr>
          <a:xfrm>
            <a:off x="9098280" y="2743200"/>
            <a:ext cx="1051560" cy="0"/>
          </a:xfrm>
          <a:prstGeom prst="line">
            <a:avLst/>
          </a:prstGeom>
          <a:noFill/>
          <a:ln w="38100">
            <a:solidFill>
              <a:schemeClr val="accent5"/>
            </a:solidFill>
            <a:prstDash val="solid"/>
            <a:tailEnd type="triangle"/>
          </a:ln>
        </p:spPr>
      </p:sp>
      <p:sp>
        <p:nvSpPr>
          <p:cNvPr id="43" name="smp_b2"/>
          <p:cNvSpPr/>
          <p:nvPr/>
        </p:nvSpPr>
        <p:spPr>
          <a:xfrm flipH="1">
            <a:off x="9098280" y="3749040"/>
            <a:ext cx="1051560" cy="0"/>
          </a:xfrm>
          <a:prstGeom prst="line">
            <a:avLst/>
          </a:prstGeom>
          <a:noFill/>
          <a:ln w="38100">
            <a:solidFill>
              <a:schemeClr val="accent5"/>
            </a:solidFill>
            <a:prstDash val="solid"/>
            <a:tailEnd type="triangle"/>
          </a:ln>
        </p:spPr>
      </p:sp>
      <p:sp>
        <p:nvSpPr>
          <p:cNvPr id="44" name="smp_b1"/>
          <p:cNvSpPr/>
          <p:nvPr/>
        </p:nvSpPr>
        <p:spPr>
          <a:xfrm flipH="1">
            <a:off x="7498080" y="3749040"/>
            <a:ext cx="731520" cy="0"/>
          </a:xfrm>
          <a:prstGeom prst="line">
            <a:avLst/>
          </a:prstGeom>
          <a:noFill/>
          <a:ln w="38100">
            <a:solidFill>
              <a:schemeClr val="accent5"/>
            </a:solidFill>
            <a:prstDash val="solid"/>
            <a:tailEnd type="triangle"/>
          </a:ln>
        </p:spPr>
      </p:sp>
      <p:sp>
        <p:nvSpPr>
          <p:cNvPr id="45" name="smp_jbg"/>
          <p:cNvSpPr/>
          <p:nvPr/>
        </p:nvSpPr>
        <p:spPr>
          <a:xfrm>
            <a:off x="6400800" y="4434840"/>
            <a:ext cx="5029200" cy="384048"/>
          </a:xfrm>
          <a:prstGeom prst="roundRect">
            <a:avLst>
              <a:gd name="adj" fmla="val 19048"/>
            </a:avLst>
          </a:prstGeom>
          <a:solidFill>
            <a:schemeClr val="bg1"/>
          </a:solidFill>
          <a:ln w="12700">
            <a:solidFill>
              <a:srgbClr val="D5DCDD"/>
            </a:solidFill>
            <a:prstDash val="solid"/>
          </a:ln>
        </p:spPr>
      </p:sp>
      <p:sp>
        <p:nvSpPr>
          <p:cNvPr id="46" name="smp_j"/>
          <p:cNvSpPr txBox="1"/>
          <p:nvPr/>
        </p:nvSpPr>
        <p:spPr>
          <a:xfrm>
            <a:off x="6537960" y="4434840"/>
            <a:ext cx="4754880" cy="384048"/>
          </a:xfrm>
          <a:prstGeom prst="rect">
            <a:avLst/>
          </a:prstGeom>
          <a:noFill/>
          <a:ln/>
        </p:spPr>
        <p:txBody>
          <a:bodyPr wrap="square" lIns="0" tIns="0" rIns="0" bIns="0" rtlCol="0" anchor="ctr"/>
          <a:lstStyle/>
          <a:p>
            <a:pPr indent="0" marL="0">
              <a:buNone/>
            </a:pPr>
            <a:r>
              <a:rPr lang="en-US" sz="1300" b="1" dirty="0">
                <a:solidFill>
                  <a:schemeClr val="accent2"/>
                </a:solidFill>
              </a:rPr>
              <a:t>JTAG  </a:t>
            </a:r>
            <a:pPr indent="0" marL="0">
              <a:buNone/>
            </a:pPr>
            <a:r>
              <a:rPr lang="en-US" sz="1300" dirty="0">
                <a:solidFill>
                  <a:schemeClr val="tx2"/>
                </a:solidFill>
              </a:rPr>
              <a:t>the snapshot shifts out at TDO</a:t>
            </a:r>
            <a:endParaRPr lang="en-US" sz="1300" dirty="0"/>
          </a:p>
        </p:txBody>
      </p:sp>
      <p:sp>
        <p:nvSpPr>
          <p:cNvPr id="47" name="smp_w"/>
          <p:cNvSpPr txBox="1"/>
          <p:nvPr/>
        </p:nvSpPr>
        <p:spPr>
          <a:xfrm>
            <a:off x="6400800" y="4937760"/>
            <a:ext cx="5029200" cy="777240"/>
          </a:xfrm>
          <a:prstGeom prst="rect">
            <a:avLst/>
          </a:prstGeom>
          <a:noFill/>
          <a:ln/>
        </p:spPr>
        <p:txBody>
          <a:bodyPr wrap="square" lIns="0" tIns="0" rIns="0" bIns="0" rtlCol="0" anchor="t"/>
          <a:lstStyle/>
          <a:p>
            <a:pPr indent="0" marL="0">
              <a:buNone/>
            </a:pPr>
            <a:r>
              <a:rPr lang="en-US" sz="1400" dirty="0">
                <a:solidFill>
                  <a:schemeClr val="tx1"/>
                </a:solidFill>
              </a:rPr>
              <a:t>SAMPLE: the chip keeps running. Each input cell records its pin, each output cell records what the core drives, and the snapshot is shifted out.</a:t>
            </a:r>
            <a:endParaRPr lang="en-US" sz="1400" dirty="0"/>
          </a:p>
        </p:txBody>
      </p:sp>
      <p:sp>
        <p:nvSpPr>
          <p:cNvPr id="48" name="smp_u"/>
          <p:cNvSpPr txBox="1"/>
          <p:nvPr/>
        </p:nvSpPr>
        <p:spPr>
          <a:xfrm>
            <a:off x="6400800" y="5715000"/>
            <a:ext cx="5029200" cy="548640"/>
          </a:xfrm>
          <a:prstGeom prst="rect">
            <a:avLst/>
          </a:prstGeom>
          <a:noFill/>
          <a:ln/>
        </p:spPr>
        <p:txBody>
          <a:bodyPr wrap="square" lIns="0" tIns="0" rIns="0" bIns="0" rtlCol="0" anchor="t"/>
          <a:lstStyle/>
          <a:p>
            <a:pPr indent="0" marL="0">
              <a:buNone/>
            </a:pPr>
            <a:r>
              <a:rPr lang="en-US" sz="1400" b="1" dirty="0">
                <a:solidFill>
                  <a:schemeClr val="accent1"/>
                </a:solidFill>
              </a:rPr>
              <a:t>Use it for: </a:t>
            </a:r>
            <a:pPr indent="0" marL="0">
              <a:buNone/>
            </a:pPr>
            <a:r>
              <a:rPr lang="en-US" sz="1400" i="1" dirty="0">
                <a:solidFill>
                  <a:schemeClr val="tx2"/>
                </a:solidFill>
              </a:rPr>
              <a:t>watching the pins live while firmware runs.</a:t>
            </a:r>
            <a:endParaRPr lang="en-US" sz="1400" dirty="0"/>
          </a:p>
        </p:txBody>
      </p:sp>
      <p:sp>
        <p:nvSpPr>
          <p:cNvPr id="49" name="pre_ring0"/>
          <p:cNvSpPr/>
          <p:nvPr/>
        </p:nvSpPr>
        <p:spPr>
          <a:xfrm>
            <a:off x="8156448" y="2395728"/>
            <a:ext cx="1014984" cy="694944"/>
          </a:xfrm>
          <a:prstGeom prst="roundRect">
            <a:avLst>
              <a:gd name="adj" fmla="val 10526"/>
            </a:avLst>
          </a:prstGeom>
          <a:ln w="25400">
            <a:solidFill>
              <a:schemeClr val="accent1"/>
            </a:solidFill>
            <a:prstDash val="dash"/>
          </a:ln>
        </p:spPr>
      </p:sp>
      <p:sp>
        <p:nvSpPr>
          <p:cNvPr id="50" name="pre_ring1"/>
          <p:cNvSpPr/>
          <p:nvPr/>
        </p:nvSpPr>
        <p:spPr>
          <a:xfrm>
            <a:off x="8156448" y="3401568"/>
            <a:ext cx="1014984" cy="694944"/>
          </a:xfrm>
          <a:prstGeom prst="roundRect">
            <a:avLst>
              <a:gd name="adj" fmla="val 10526"/>
            </a:avLst>
          </a:prstGeom>
          <a:ln w="25400">
            <a:solidFill>
              <a:schemeClr val="accent1"/>
            </a:solidFill>
            <a:prstDash val="dash"/>
          </a:ln>
        </p:spPr>
      </p:sp>
      <p:sp>
        <p:nvSpPr>
          <p:cNvPr id="51" name="pre_jbg"/>
          <p:cNvSpPr/>
          <p:nvPr/>
        </p:nvSpPr>
        <p:spPr>
          <a:xfrm>
            <a:off x="6400800" y="4434840"/>
            <a:ext cx="5029200" cy="384048"/>
          </a:xfrm>
          <a:prstGeom prst="roundRect">
            <a:avLst>
              <a:gd name="adj" fmla="val 19048"/>
            </a:avLst>
          </a:prstGeom>
          <a:solidFill>
            <a:schemeClr val="bg1"/>
          </a:solidFill>
          <a:ln w="19050">
            <a:solidFill>
              <a:schemeClr val="accent1"/>
            </a:solidFill>
            <a:prstDash val="solid"/>
          </a:ln>
        </p:spPr>
      </p:sp>
      <p:sp>
        <p:nvSpPr>
          <p:cNvPr id="52" name="pre_j"/>
          <p:cNvSpPr txBox="1"/>
          <p:nvPr/>
        </p:nvSpPr>
        <p:spPr>
          <a:xfrm>
            <a:off x="6537960" y="4434840"/>
            <a:ext cx="4754880" cy="384048"/>
          </a:xfrm>
          <a:prstGeom prst="rect">
            <a:avLst/>
          </a:prstGeom>
          <a:noFill/>
          <a:ln/>
        </p:spPr>
        <p:txBody>
          <a:bodyPr wrap="square" lIns="0" tIns="0" rIns="0" bIns="0" rtlCol="0" anchor="ctr"/>
          <a:lstStyle/>
          <a:p>
            <a:pPr indent="0" marL="0">
              <a:buNone/>
            </a:pPr>
            <a:r>
              <a:rPr lang="en-US" sz="1300" b="1" dirty="0">
                <a:solidFill>
                  <a:schemeClr val="accent2"/>
                </a:solidFill>
              </a:rPr>
              <a:t>JTAG  </a:t>
            </a:r>
            <a:pPr indent="0" marL="0">
              <a:buNone/>
            </a:pPr>
            <a:r>
              <a:rPr lang="en-US" sz="1300" dirty="0">
                <a:solidFill>
                  <a:schemeClr val="tx2"/>
                </a:solidFill>
              </a:rPr>
              <a:t>PRELOAD: new values shift in and wait in the cells</a:t>
            </a:r>
            <a:endParaRPr lang="en-US" sz="1300" dirty="0"/>
          </a:p>
        </p:txBody>
      </p:sp>
      <p:sp>
        <p:nvSpPr>
          <p:cNvPr id="53" name="pre_wbg"/>
          <p:cNvSpPr/>
          <p:nvPr/>
        </p:nvSpPr>
        <p:spPr>
          <a:xfrm>
            <a:off x="6309360" y="4892040"/>
            <a:ext cx="5212080" cy="1371600"/>
          </a:xfrm>
          <a:prstGeom prst="roundRect">
            <a:avLst>
              <a:gd name="adj" fmla="val 5333"/>
            </a:avLst>
          </a:prstGeom>
          <a:solidFill>
            <a:schemeClr val="bg2"/>
          </a:solidFill>
          <a:ln/>
        </p:spPr>
      </p:sp>
      <p:sp>
        <p:nvSpPr>
          <p:cNvPr id="54" name="pre_w"/>
          <p:cNvSpPr txBox="1"/>
          <p:nvPr/>
        </p:nvSpPr>
        <p:spPr>
          <a:xfrm>
            <a:off x="6400800" y="4937760"/>
            <a:ext cx="5029200" cy="777240"/>
          </a:xfrm>
          <a:prstGeom prst="rect">
            <a:avLst/>
          </a:prstGeom>
          <a:noFill/>
          <a:ln/>
        </p:spPr>
        <p:txBody>
          <a:bodyPr wrap="square" lIns="0" tIns="0" rIns="0" bIns="0" rtlCol="0" anchor="t"/>
          <a:lstStyle/>
          <a:p>
            <a:pPr indent="0" marL="0">
              <a:buNone/>
            </a:pPr>
            <a:r>
              <a:rPr lang="en-US" sz="1400" dirty="0">
                <a:solidFill>
                  <a:schemeClr val="tx1"/>
                </a:solidFill>
              </a:rPr>
              <a:t>PRELOAD: values shifted in are stored in the cells but not applied yet, so EXTEST or INTEST starts from safe, known values instead of random ones.</a:t>
            </a:r>
            <a:endParaRPr lang="en-US" sz="1400" dirty="0"/>
          </a:p>
        </p:txBody>
      </p:sp>
      <p:sp>
        <p:nvSpPr>
          <p:cNvPr id="55" name="pre_u"/>
          <p:cNvSpPr txBox="1"/>
          <p:nvPr/>
        </p:nvSpPr>
        <p:spPr>
          <a:xfrm>
            <a:off x="6400800" y="5715000"/>
            <a:ext cx="5029200" cy="548640"/>
          </a:xfrm>
          <a:prstGeom prst="rect">
            <a:avLst/>
          </a:prstGeom>
          <a:noFill/>
          <a:ln/>
        </p:spPr>
        <p:txBody>
          <a:bodyPr wrap="square" lIns="0" tIns="0" rIns="0" bIns="0" rtlCol="0" anchor="t"/>
          <a:lstStyle/>
          <a:p>
            <a:pPr indent="0" marL="0">
              <a:buNone/>
            </a:pPr>
            <a:r>
              <a:rPr lang="en-US" sz="1400" b="1" dirty="0">
                <a:solidFill>
                  <a:schemeClr val="accent1"/>
                </a:solidFill>
              </a:rPr>
              <a:t>Use it for: </a:t>
            </a:r>
            <a:pPr indent="0" marL="0">
              <a:buNone/>
            </a:pPr>
            <a:r>
              <a:rPr lang="en-US" sz="1400" i="1" dirty="0">
                <a:solidFill>
                  <a:schemeClr val="tx2"/>
                </a:solidFill>
              </a:rPr>
              <a:t>loading safe values before taking control of the pins or the core.</a:t>
            </a:r>
            <a:endParaRPr lang="en-US" sz="1400" dirty="0"/>
          </a:p>
        </p:txBody>
      </p:sp>
      <p:sp>
        <p:nvSpPr>
          <p:cNvPr id="56" name="ins_key1"/>
          <p:cNvSpPr txBox="1"/>
          <p:nvPr/>
        </p:nvSpPr>
        <p:spPr>
          <a:xfrm>
            <a:off x="548640" y="6428232"/>
            <a:ext cx="9144000" cy="274320"/>
          </a:xfrm>
          <a:prstGeom prst="rect">
            <a:avLst/>
          </a:prstGeom>
          <a:noFill/>
          <a:ln/>
        </p:spPr>
        <p:txBody>
          <a:bodyPr wrap="square" lIns="0" tIns="0" rIns="0" bIns="0" rtlCol="0" anchor="t"/>
          <a:lstStyle/>
          <a:p>
            <a:pPr indent="0" marL="0">
              <a:buNone/>
            </a:pPr>
            <a:r>
              <a:rPr lang="en-US" sz="1100" b="1" dirty="0">
                <a:solidFill>
                  <a:schemeClr val="accent1"/>
                </a:solidFill>
              </a:rPr>
              <a:t>teal</a:t>
            </a:r>
            <a:pPr indent="0" marL="0">
              <a:buNone/>
            </a:pPr>
            <a:r>
              <a:rPr lang="en-US" sz="1100" dirty="0">
                <a:solidFill>
                  <a:schemeClr val="accent5"/>
                </a:solidFill>
              </a:rPr>
              <a:t> = the cell drives    </a:t>
            </a:r>
            <a:pPr indent="0" marL="0">
              <a:buNone/>
            </a:pPr>
            <a:r>
              <a:rPr lang="en-US" sz="1100" b="1" dirty="0">
                <a:solidFill>
                  <a:schemeClr val="accent3"/>
                </a:solidFill>
              </a:rPr>
              <a:t>amber</a:t>
            </a:r>
            <a:pPr indent="0" marL="0">
              <a:buNone/>
            </a:pPr>
            <a:r>
              <a:rPr lang="en-US" sz="1100" dirty="0">
                <a:solidFill>
                  <a:schemeClr val="accent5"/>
                </a:solidFill>
              </a:rPr>
              <a:t> = the cell records it    </a:t>
            </a:r>
            <a:pPr indent="0" marL="0">
              <a:buNone/>
            </a:pPr>
            <a:r>
              <a:rPr lang="en-US" sz="1100" b="1" dirty="0">
                <a:solidFill>
                  <a:schemeClr val="accent5"/>
                </a:solidFill>
              </a:rPr>
              <a:t>grey</a:t>
            </a:r>
            <a:pPr indent="0" marL="0">
              <a:buNone/>
            </a:pPr>
            <a:r>
              <a:rPr lang="en-US" sz="1100" dirty="0">
                <a:solidFill>
                  <a:schemeClr val="accent5"/>
                </a:solidFill>
              </a:rPr>
              <a:t> = normal path    </a:t>
            </a:r>
            <a:pPr indent="0" marL="0">
              <a:buNone/>
            </a:pPr>
            <a:r>
              <a:rPr lang="en-US" sz="1100" b="1" dirty="0">
                <a:solidFill>
                  <a:srgbClr val="C62828"/>
                </a:solidFill>
              </a:rPr>
              <a:t>✕</a:t>
            </a:r>
            <a:pPr indent="0" marL="0">
              <a:buNone/>
            </a:pPr>
            <a:r>
              <a:rPr lang="en-US" sz="1100" dirty="0">
                <a:solidFill>
                  <a:schemeClr val="accent5"/>
                </a:solidFill>
              </a:rPr>
              <a:t> = cut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childTnLst>
                          </p:cTn>
                        </p:par>
                        <p:par>
                          <p:cTn id="44" fill="hold">
                            <p:stCondLst>
                              <p:cond delay="450"/>
                            </p:stCondLst>
                            <p:childTnLst>
                              <p:par>
                                <p:cTn id="45" presetID="22" presetClass="entr" presetSubtype="8"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450"/>
                                        <p:tgtEl>
                                          <p:spTgt spid="18"/>
                                        </p:tgtEl>
                                      </p:cBhvr>
                                    </p:animEffect>
                                  </p:childTnLst>
                                </p:cTn>
                              </p:par>
                            </p:childTnLst>
                          </p:cTn>
                        </p:par>
                        <p:par>
                          <p:cTn id="48" fill="hold">
                            <p:stCondLst>
                              <p:cond delay="450"/>
                            </p:stCondLst>
                            <p:childTnLst>
                              <p:par>
                                <p:cTn id="49" presetID="22" presetClass="entr" presetSubtype="2"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right)">
                                      <p:cBhvr>
                                        <p:cTn id="51" dur="450"/>
                                        <p:tgtEl>
                                          <p:spTgt spid="20"/>
                                        </p:tgtEl>
                                      </p:cBhvr>
                                    </p:animEffect>
                                  </p:childTnLst>
                                </p:cTn>
                              </p:par>
                            </p:childTnLst>
                          </p:cTn>
                        </p:par>
                        <p:par>
                          <p:cTn id="52" fill="hold">
                            <p:stCondLst>
                              <p:cond delay="900"/>
                            </p:stCondLst>
                            <p:childTnLst>
                              <p:par>
                                <p:cTn id="53" presetID="22" presetClass="entr" presetSubtype="8"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450"/>
                                        <p:tgtEl>
                                          <p:spTgt spid="19"/>
                                        </p:tgtEl>
                                      </p:cBhvr>
                                    </p:animEffect>
                                  </p:childTnLst>
                                </p:cTn>
                              </p:par>
                            </p:childTnLst>
                          </p:cTn>
                        </p:par>
                        <p:par>
                          <p:cTn id="56" fill="hold">
                            <p:stCondLst>
                              <p:cond delay="900"/>
                            </p:stCondLst>
                            <p:childTnLst>
                              <p:par>
                                <p:cTn id="57" presetID="22" presetClass="entr" presetSubtype="2"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right)">
                                      <p:cBhvr>
                                        <p:cTn id="59" dur="450"/>
                                        <p:tgtEl>
                                          <p:spTgt spid="21"/>
                                        </p:tgtEl>
                                      </p:cBhvr>
                                    </p:animEffect>
                                  </p:childTnLst>
                                </p:cTn>
                              </p:par>
                            </p:childTnLst>
                          </p:cTn>
                        </p:par>
                        <p:par>
                          <p:cTn id="60" fill="hold">
                            <p:stCondLst>
                              <p:cond delay="1450"/>
                            </p:stCondLst>
                            <p:childTnLst>
                              <p:par>
                                <p:cTn id="61" presetID="53" presetClass="entr" presetSubtype="16"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p:cTn id="63" dur="350" fill="hold"/>
                                        <p:tgtEl>
                                          <p:spTgt spid="14"/>
                                        </p:tgtEl>
                                        <p:attrNameLst>
                                          <p:attrName>ppt_w</p:attrName>
                                        </p:attrNameLst>
                                      </p:cBhvr>
                                      <p:tavLst>
                                        <p:tav tm="0">
                                          <p:val>
                                            <p:strVal val="0"/>
                                          </p:val>
                                        </p:tav>
                                        <p:tav tm="100000">
                                          <p:val>
                                            <p:strVal val="#ppt_w"/>
                                          </p:val>
                                        </p:tav>
                                      </p:tavLst>
                                    </p:anim>
                                    <p:anim calcmode="lin" valueType="num">
                                      <p:cBhvr>
                                        <p:cTn id="64" dur="350" fill="hold"/>
                                        <p:tgtEl>
                                          <p:spTgt spid="14"/>
                                        </p:tgtEl>
                                        <p:attrNameLst>
                                          <p:attrName>ppt_h</p:attrName>
                                        </p:attrNameLst>
                                      </p:cBhvr>
                                      <p:tavLst>
                                        <p:tav tm="0">
                                          <p:val>
                                            <p:strVal val="0"/>
                                          </p:val>
                                        </p:tav>
                                        <p:tav tm="100000">
                                          <p:val>
                                            <p:strVal val="#ppt_h"/>
                                          </p:val>
                                        </p:tav>
                                      </p:tavLst>
                                    </p:anim>
                                    <p:animEffect transition="in" filter="fade">
                                      <p:cBhvr>
                                        <p:cTn id="65" dur="350"/>
                                        <p:tgtEl>
                                          <p:spTgt spid="1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p:cTn id="68" dur="350" fill="hold"/>
                                        <p:tgtEl>
                                          <p:spTgt spid="17"/>
                                        </p:tgtEl>
                                        <p:attrNameLst>
                                          <p:attrName>ppt_w</p:attrName>
                                        </p:attrNameLst>
                                      </p:cBhvr>
                                      <p:tavLst>
                                        <p:tav tm="0">
                                          <p:val>
                                            <p:strVal val="0"/>
                                          </p:val>
                                        </p:tav>
                                        <p:tav tm="100000">
                                          <p:val>
                                            <p:strVal val="#ppt_w"/>
                                          </p:val>
                                        </p:tav>
                                      </p:tavLst>
                                    </p:anim>
                                    <p:anim calcmode="lin" valueType="num">
                                      <p:cBhvr>
                                        <p:cTn id="69" dur="350" fill="hold"/>
                                        <p:tgtEl>
                                          <p:spTgt spid="17"/>
                                        </p:tgtEl>
                                        <p:attrNameLst>
                                          <p:attrName>ppt_h</p:attrName>
                                        </p:attrNameLst>
                                      </p:cBhvr>
                                      <p:tavLst>
                                        <p:tav tm="0">
                                          <p:val>
                                            <p:strVal val="0"/>
                                          </p:val>
                                        </p:tav>
                                        <p:tav tm="100000">
                                          <p:val>
                                            <p:strVal val="#ppt_h"/>
                                          </p:val>
                                        </p:tav>
                                      </p:tavLst>
                                    </p:anim>
                                    <p:animEffect transition="in" filter="fade">
                                      <p:cBhvr>
                                        <p:cTn id="70" dur="350"/>
                                        <p:tgtEl>
                                          <p:spTgt spid="17"/>
                                        </p:tgtEl>
                                      </p:cBhvr>
                                    </p:animEffect>
                                  </p:childTnLst>
                                </p:cTn>
                              </p:par>
                            </p:childTnLst>
                          </p:cTn>
                        </p:par>
                        <p:par>
                          <p:cTn id="71" fill="hold">
                            <p:stCondLst>
                              <p:cond delay="1900"/>
                            </p:stCondLst>
                            <p:childTnLst>
                              <p:par>
                                <p:cTn id="72" presetID="22" presetClass="entr" presetSubtype="8"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left)">
                                      <p:cBhvr>
                                        <p:cTn id="74" dur="500"/>
                                        <p:tgtEl>
                                          <p:spTgt spid="22"/>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left)">
                                      <p:cBhvr>
                                        <p:cTn id="77" dur="500"/>
                                        <p:tgtEl>
                                          <p:spTgt spid="23"/>
                                        </p:tgtEl>
                                      </p:cBhvr>
                                    </p:animEffect>
                                  </p:childTnLst>
                                </p:cTn>
                              </p:par>
                            </p:childTnLst>
                          </p:cTn>
                        </p:par>
                        <p:par>
                          <p:cTn id="78" fill="hold">
                            <p:stCondLst>
                              <p:cond delay="2450"/>
                            </p:stCondLst>
                            <p:childTnLst>
                              <p:par>
                                <p:cTn id="79" presetID="10" presetClass="entr" presetSubtype="0" fill="hold" grpId="0" nodeType="after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400"/>
                                        <p:tgtEl>
                                          <p:spTgt spid="2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00"/>
                                        <p:tgtEl>
                                          <p:spTgt spid="2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400"/>
                                        <p:tgtEl>
                                          <p:spTgt spid="2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400"/>
                                        <p:tgtEl>
                                          <p:spTgt spid="2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400"/>
                                        <p:tgtEl>
                                          <p:spTgt spid="3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400"/>
                                        <p:tgtEl>
                                          <p:spTgt spid="3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400"/>
                                        <p:tgtEl>
                                          <p:spTgt spid="3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fade">
                                      <p:cBhvr>
                                        <p:cTn id="110" dur="400"/>
                                        <p:tgtEl>
                                          <p:spTgt spid="3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400"/>
                                        <p:tgtEl>
                                          <p:spTgt spid="3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fade">
                                      <p:cBhvr>
                                        <p:cTn id="116" dur="400"/>
                                        <p:tgtEl>
                                          <p:spTgt spid="3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400"/>
                                        <p:tgtEl>
                                          <p:spTgt spid="3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400"/>
                                        <p:tgtEl>
                                          <p:spTgt spid="3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5" dur="400"/>
                                        <p:tgtEl>
                                          <p:spTgt spid="39"/>
                                        </p:tgtEl>
                                      </p:cBhvr>
                                    </p:animEffect>
                                  </p:childTnLst>
                                </p:cTn>
                              </p:par>
                            </p:childTnLst>
                          </p:cTn>
                        </p:par>
                        <p:par>
                          <p:cTn id="126" fill="hold">
                            <p:stCondLst>
                              <p:cond delay="450"/>
                            </p:stCondLst>
                            <p:childTnLst>
                              <p:par>
                                <p:cTn id="127" presetID="22" presetClass="entr" presetSubtype="8" fill="hold" grpId="0" nodeType="after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wipe(left)">
                                      <p:cBhvr>
                                        <p:cTn id="129" dur="450"/>
                                        <p:tgtEl>
                                          <p:spTgt spid="41"/>
                                        </p:tgtEl>
                                      </p:cBhvr>
                                    </p:animEffect>
                                  </p:childTnLst>
                                </p:cTn>
                              </p:par>
                            </p:childTnLst>
                          </p:cTn>
                        </p:par>
                        <p:par>
                          <p:cTn id="130" fill="hold">
                            <p:stCondLst>
                              <p:cond delay="450"/>
                            </p:stCondLst>
                            <p:childTnLst>
                              <p:par>
                                <p:cTn id="131" presetID="22" presetClass="entr" presetSubtype="2" fill="hold" grpId="0" nodeType="after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wipe(right)">
                                      <p:cBhvr>
                                        <p:cTn id="133" dur="450"/>
                                        <p:tgtEl>
                                          <p:spTgt spid="43"/>
                                        </p:tgtEl>
                                      </p:cBhvr>
                                    </p:animEffect>
                                  </p:childTnLst>
                                </p:cTn>
                              </p:par>
                            </p:childTnLst>
                          </p:cTn>
                        </p:par>
                        <p:par>
                          <p:cTn id="134" fill="hold">
                            <p:stCondLst>
                              <p:cond delay="900"/>
                            </p:stCondLst>
                            <p:childTnLst>
                              <p:par>
                                <p:cTn id="135" presetID="22" presetClass="entr" presetSubtype="8" fill="hold" grpId="0" nodeType="afterEffect">
                                  <p:stCondLst>
                                    <p:cond delay="0"/>
                                  </p:stCondLst>
                                  <p:childTnLst>
                                    <p:set>
                                      <p:cBhvr>
                                        <p:cTn id="136" dur="1" fill="hold">
                                          <p:stCondLst>
                                            <p:cond delay="0"/>
                                          </p:stCondLst>
                                        </p:cTn>
                                        <p:tgtEl>
                                          <p:spTgt spid="42"/>
                                        </p:tgtEl>
                                        <p:attrNameLst>
                                          <p:attrName>style.visibility</p:attrName>
                                        </p:attrNameLst>
                                      </p:cBhvr>
                                      <p:to>
                                        <p:strVal val="visible"/>
                                      </p:to>
                                    </p:set>
                                    <p:animEffect transition="in" filter="wipe(left)">
                                      <p:cBhvr>
                                        <p:cTn id="137" dur="450"/>
                                        <p:tgtEl>
                                          <p:spTgt spid="42"/>
                                        </p:tgtEl>
                                      </p:cBhvr>
                                    </p:animEffect>
                                  </p:childTnLst>
                                </p:cTn>
                              </p:par>
                            </p:childTnLst>
                          </p:cTn>
                        </p:par>
                        <p:par>
                          <p:cTn id="138" fill="hold">
                            <p:stCondLst>
                              <p:cond delay="900"/>
                            </p:stCondLst>
                            <p:childTnLst>
                              <p:par>
                                <p:cTn id="139" presetID="22" presetClass="entr" presetSubtype="2" fill="hold" grpId="0" nodeType="afterEffect">
                                  <p:stCondLst>
                                    <p:cond delay="0"/>
                                  </p:stCondLst>
                                  <p:childTnLst>
                                    <p:set>
                                      <p:cBhvr>
                                        <p:cTn id="140" dur="1" fill="hold">
                                          <p:stCondLst>
                                            <p:cond delay="0"/>
                                          </p:stCondLst>
                                        </p:cTn>
                                        <p:tgtEl>
                                          <p:spTgt spid="44"/>
                                        </p:tgtEl>
                                        <p:attrNameLst>
                                          <p:attrName>style.visibility</p:attrName>
                                        </p:attrNameLst>
                                      </p:cBhvr>
                                      <p:to>
                                        <p:strVal val="visible"/>
                                      </p:to>
                                    </p:set>
                                    <p:animEffect transition="in" filter="wipe(right)">
                                      <p:cBhvr>
                                        <p:cTn id="141" dur="450"/>
                                        <p:tgtEl>
                                          <p:spTgt spid="44"/>
                                        </p:tgtEl>
                                      </p:cBhvr>
                                    </p:animEffect>
                                  </p:childTnLst>
                                </p:cTn>
                              </p:par>
                            </p:childTnLst>
                          </p:cTn>
                        </p:par>
                        <p:par>
                          <p:cTn id="142" fill="hold">
                            <p:stCondLst>
                              <p:cond delay="1450"/>
                            </p:stCondLst>
                            <p:childTnLst>
                              <p:par>
                                <p:cTn id="143" presetID="53" presetClass="entr" presetSubtype="16" fill="hold" grpId="0" nodeType="after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p:cTn id="145" dur="350" fill="hold"/>
                                        <p:tgtEl>
                                          <p:spTgt spid="37"/>
                                        </p:tgtEl>
                                        <p:attrNameLst>
                                          <p:attrName>ppt_w</p:attrName>
                                        </p:attrNameLst>
                                      </p:cBhvr>
                                      <p:tavLst>
                                        <p:tav tm="0">
                                          <p:val>
                                            <p:strVal val="0"/>
                                          </p:val>
                                        </p:tav>
                                        <p:tav tm="100000">
                                          <p:val>
                                            <p:strVal val="#ppt_w"/>
                                          </p:val>
                                        </p:tav>
                                      </p:tavLst>
                                    </p:anim>
                                    <p:anim calcmode="lin" valueType="num">
                                      <p:cBhvr>
                                        <p:cTn id="146" dur="350" fill="hold"/>
                                        <p:tgtEl>
                                          <p:spTgt spid="37"/>
                                        </p:tgtEl>
                                        <p:attrNameLst>
                                          <p:attrName>ppt_h</p:attrName>
                                        </p:attrNameLst>
                                      </p:cBhvr>
                                      <p:tavLst>
                                        <p:tav tm="0">
                                          <p:val>
                                            <p:strVal val="0"/>
                                          </p:val>
                                        </p:tav>
                                        <p:tav tm="100000">
                                          <p:val>
                                            <p:strVal val="#ppt_h"/>
                                          </p:val>
                                        </p:tav>
                                      </p:tavLst>
                                    </p:anim>
                                    <p:animEffect transition="in" filter="fade">
                                      <p:cBhvr>
                                        <p:cTn id="147" dur="350"/>
                                        <p:tgtEl>
                                          <p:spTgt spid="37"/>
                                        </p:tgtEl>
                                      </p:cBhvr>
                                    </p:animEffect>
                                  </p:childTnLst>
                                </p:cTn>
                              </p:par>
                              <p:par>
                                <p:cTn id="148" presetID="53" presetClass="entr" presetSubtype="16" fill="hold" grpId="0" nodeType="withEffect">
                                  <p:stCondLst>
                                    <p:cond delay="0"/>
                                  </p:stCondLst>
                                  <p:childTnLst>
                                    <p:set>
                                      <p:cBhvr>
                                        <p:cTn id="149" dur="1" fill="hold">
                                          <p:stCondLst>
                                            <p:cond delay="0"/>
                                          </p:stCondLst>
                                        </p:cTn>
                                        <p:tgtEl>
                                          <p:spTgt spid="40"/>
                                        </p:tgtEl>
                                        <p:attrNameLst>
                                          <p:attrName>style.visibility</p:attrName>
                                        </p:attrNameLst>
                                      </p:cBhvr>
                                      <p:to>
                                        <p:strVal val="visible"/>
                                      </p:to>
                                    </p:set>
                                    <p:anim calcmode="lin" valueType="num">
                                      <p:cBhvr>
                                        <p:cTn id="150" dur="350" fill="hold"/>
                                        <p:tgtEl>
                                          <p:spTgt spid="40"/>
                                        </p:tgtEl>
                                        <p:attrNameLst>
                                          <p:attrName>ppt_w</p:attrName>
                                        </p:attrNameLst>
                                      </p:cBhvr>
                                      <p:tavLst>
                                        <p:tav tm="0">
                                          <p:val>
                                            <p:strVal val="0"/>
                                          </p:val>
                                        </p:tav>
                                        <p:tav tm="100000">
                                          <p:val>
                                            <p:strVal val="#ppt_w"/>
                                          </p:val>
                                        </p:tav>
                                      </p:tavLst>
                                    </p:anim>
                                    <p:anim calcmode="lin" valueType="num">
                                      <p:cBhvr>
                                        <p:cTn id="151" dur="350" fill="hold"/>
                                        <p:tgtEl>
                                          <p:spTgt spid="40"/>
                                        </p:tgtEl>
                                        <p:attrNameLst>
                                          <p:attrName>ppt_h</p:attrName>
                                        </p:attrNameLst>
                                      </p:cBhvr>
                                      <p:tavLst>
                                        <p:tav tm="0">
                                          <p:val>
                                            <p:strVal val="0"/>
                                          </p:val>
                                        </p:tav>
                                        <p:tav tm="100000">
                                          <p:val>
                                            <p:strVal val="#ppt_h"/>
                                          </p:val>
                                        </p:tav>
                                      </p:tavLst>
                                    </p:anim>
                                    <p:animEffect transition="in" filter="fade">
                                      <p:cBhvr>
                                        <p:cTn id="152" dur="350"/>
                                        <p:tgtEl>
                                          <p:spTgt spid="40"/>
                                        </p:tgtEl>
                                      </p:cBhvr>
                                    </p:animEffect>
                                  </p:childTnLst>
                                </p:cTn>
                              </p:par>
                            </p:childTnLst>
                          </p:cTn>
                        </p:par>
                        <p:par>
                          <p:cTn id="153" fill="hold">
                            <p:stCondLst>
                              <p:cond delay="1900"/>
                            </p:stCondLst>
                            <p:childTnLst>
                              <p:par>
                                <p:cTn id="154" presetID="22" presetClass="entr" presetSubtype="8" fill="hold" grpId="0" nodeType="afterEffect">
                                  <p:stCondLst>
                                    <p:cond delay="0"/>
                                  </p:stCondLst>
                                  <p:childTnLst>
                                    <p:set>
                                      <p:cBhvr>
                                        <p:cTn id="155" dur="1" fill="hold">
                                          <p:stCondLst>
                                            <p:cond delay="0"/>
                                          </p:stCondLst>
                                        </p:cTn>
                                        <p:tgtEl>
                                          <p:spTgt spid="45"/>
                                        </p:tgtEl>
                                        <p:attrNameLst>
                                          <p:attrName>style.visibility</p:attrName>
                                        </p:attrNameLst>
                                      </p:cBhvr>
                                      <p:to>
                                        <p:strVal val="visible"/>
                                      </p:to>
                                    </p:set>
                                    <p:animEffect transition="in" filter="wipe(left)">
                                      <p:cBhvr>
                                        <p:cTn id="156" dur="500"/>
                                        <p:tgtEl>
                                          <p:spTgt spid="45"/>
                                        </p:tgtEl>
                                      </p:cBhvr>
                                    </p:animEffect>
                                  </p:childTnLst>
                                </p:cTn>
                              </p:par>
                              <p:par>
                                <p:cTn id="157" presetID="22" presetClass="entr" presetSubtype="8" fill="hold" grpId="0" nodeType="withEffect">
                                  <p:stCondLst>
                                    <p:cond delay="0"/>
                                  </p:stCondLst>
                                  <p:childTnLst>
                                    <p:set>
                                      <p:cBhvr>
                                        <p:cTn id="158" dur="1" fill="hold">
                                          <p:stCondLst>
                                            <p:cond delay="0"/>
                                          </p:stCondLst>
                                        </p:cTn>
                                        <p:tgtEl>
                                          <p:spTgt spid="46"/>
                                        </p:tgtEl>
                                        <p:attrNameLst>
                                          <p:attrName>style.visibility</p:attrName>
                                        </p:attrNameLst>
                                      </p:cBhvr>
                                      <p:to>
                                        <p:strVal val="visible"/>
                                      </p:to>
                                    </p:set>
                                    <p:animEffect transition="in" filter="wipe(left)">
                                      <p:cBhvr>
                                        <p:cTn id="159" dur="500"/>
                                        <p:tgtEl>
                                          <p:spTgt spid="46"/>
                                        </p:tgtEl>
                                      </p:cBhvr>
                                    </p:animEffect>
                                  </p:childTnLst>
                                </p:cTn>
                              </p:par>
                            </p:childTnLst>
                          </p:cTn>
                        </p:par>
                        <p:par>
                          <p:cTn id="160" fill="hold">
                            <p:stCondLst>
                              <p:cond delay="2450"/>
                            </p:stCondLst>
                            <p:childTnLst>
                              <p:par>
                                <p:cTn id="161" presetID="10" presetClass="entr" presetSubtype="0" fill="hold" grpId="0" nodeType="afterEffect">
                                  <p:stCondLst>
                                    <p:cond delay="0"/>
                                  </p:stCondLst>
                                  <p:childTnLst>
                                    <p:set>
                                      <p:cBhvr>
                                        <p:cTn id="162" dur="1" fill="hold">
                                          <p:stCondLst>
                                            <p:cond delay="0"/>
                                          </p:stCondLst>
                                        </p:cTn>
                                        <p:tgtEl>
                                          <p:spTgt spid="47"/>
                                        </p:tgtEl>
                                        <p:attrNameLst>
                                          <p:attrName>style.visibility</p:attrName>
                                        </p:attrNameLst>
                                      </p:cBhvr>
                                      <p:to>
                                        <p:strVal val="visible"/>
                                      </p:to>
                                    </p:set>
                                    <p:animEffect transition="in" filter="fade">
                                      <p:cBhvr>
                                        <p:cTn id="163" dur="500"/>
                                        <p:tgtEl>
                                          <p:spTgt spid="47"/>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48"/>
                                        </p:tgtEl>
                                        <p:attrNameLst>
                                          <p:attrName>style.visibility</p:attrName>
                                        </p:attrNameLst>
                                      </p:cBhvr>
                                      <p:to>
                                        <p:strVal val="visible"/>
                                      </p:to>
                                    </p:set>
                                    <p:animEffect transition="in" filter="fade">
                                      <p:cBhvr>
                                        <p:cTn id="166" dur="500"/>
                                        <p:tgtEl>
                                          <p:spTgt spid="48"/>
                                        </p:tgtEl>
                                      </p:cBhvr>
                                    </p:animEffect>
                                  </p:childTnLst>
                                </p:cTn>
                              </p:par>
                            </p:childTnLst>
                          </p:cTn>
                        </p:par>
                      </p:childTnLst>
                    </p:cTn>
                  </p:par>
                  <p:par>
                    <p:cTn id="167" fill="hold">
                      <p:stCondLst>
                        <p:cond delay="indefinite"/>
                      </p:stCondLst>
                      <p:childTnLst>
                        <p:par>
                          <p:cTn id="168" fill="hold">
                            <p:stCondLst>
                              <p:cond delay="0"/>
                            </p:stCondLst>
                            <p:childTnLst>
                              <p:par>
                                <p:cTn id="169" presetID="53" presetClass="entr" presetSubtype="16" fill="hold" grpId="0" nodeType="clickEffect">
                                  <p:stCondLst>
                                    <p:cond delay="0"/>
                                  </p:stCondLst>
                                  <p:childTnLst>
                                    <p:set>
                                      <p:cBhvr>
                                        <p:cTn id="170" dur="1" fill="hold">
                                          <p:stCondLst>
                                            <p:cond delay="0"/>
                                          </p:stCondLst>
                                        </p:cTn>
                                        <p:tgtEl>
                                          <p:spTgt spid="49"/>
                                        </p:tgtEl>
                                        <p:attrNameLst>
                                          <p:attrName>style.visibility</p:attrName>
                                        </p:attrNameLst>
                                      </p:cBhvr>
                                      <p:to>
                                        <p:strVal val="visible"/>
                                      </p:to>
                                    </p:set>
                                    <p:anim calcmode="lin" valueType="num">
                                      <p:cBhvr>
                                        <p:cTn id="171" dur="400" fill="hold"/>
                                        <p:tgtEl>
                                          <p:spTgt spid="49"/>
                                        </p:tgtEl>
                                        <p:attrNameLst>
                                          <p:attrName>ppt_w</p:attrName>
                                        </p:attrNameLst>
                                      </p:cBhvr>
                                      <p:tavLst>
                                        <p:tav tm="0">
                                          <p:val>
                                            <p:strVal val="0"/>
                                          </p:val>
                                        </p:tav>
                                        <p:tav tm="100000">
                                          <p:val>
                                            <p:strVal val="#ppt_w"/>
                                          </p:val>
                                        </p:tav>
                                      </p:tavLst>
                                    </p:anim>
                                    <p:anim calcmode="lin" valueType="num">
                                      <p:cBhvr>
                                        <p:cTn id="172" dur="400" fill="hold"/>
                                        <p:tgtEl>
                                          <p:spTgt spid="49"/>
                                        </p:tgtEl>
                                        <p:attrNameLst>
                                          <p:attrName>ppt_h</p:attrName>
                                        </p:attrNameLst>
                                      </p:cBhvr>
                                      <p:tavLst>
                                        <p:tav tm="0">
                                          <p:val>
                                            <p:strVal val="0"/>
                                          </p:val>
                                        </p:tav>
                                        <p:tav tm="100000">
                                          <p:val>
                                            <p:strVal val="#ppt_h"/>
                                          </p:val>
                                        </p:tav>
                                      </p:tavLst>
                                    </p:anim>
                                    <p:animEffect transition="in" filter="fade">
                                      <p:cBhvr>
                                        <p:cTn id="173" dur="400"/>
                                        <p:tgtEl>
                                          <p:spTgt spid="49"/>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50"/>
                                        </p:tgtEl>
                                        <p:attrNameLst>
                                          <p:attrName>style.visibility</p:attrName>
                                        </p:attrNameLst>
                                      </p:cBhvr>
                                      <p:to>
                                        <p:strVal val="visible"/>
                                      </p:to>
                                    </p:set>
                                    <p:anim calcmode="lin" valueType="num">
                                      <p:cBhvr>
                                        <p:cTn id="176" dur="400" fill="hold"/>
                                        <p:tgtEl>
                                          <p:spTgt spid="50"/>
                                        </p:tgtEl>
                                        <p:attrNameLst>
                                          <p:attrName>ppt_w</p:attrName>
                                        </p:attrNameLst>
                                      </p:cBhvr>
                                      <p:tavLst>
                                        <p:tav tm="0">
                                          <p:val>
                                            <p:strVal val="0"/>
                                          </p:val>
                                        </p:tav>
                                        <p:tav tm="100000">
                                          <p:val>
                                            <p:strVal val="#ppt_w"/>
                                          </p:val>
                                        </p:tav>
                                      </p:tavLst>
                                    </p:anim>
                                    <p:anim calcmode="lin" valueType="num">
                                      <p:cBhvr>
                                        <p:cTn id="177" dur="400" fill="hold"/>
                                        <p:tgtEl>
                                          <p:spTgt spid="50"/>
                                        </p:tgtEl>
                                        <p:attrNameLst>
                                          <p:attrName>ppt_h</p:attrName>
                                        </p:attrNameLst>
                                      </p:cBhvr>
                                      <p:tavLst>
                                        <p:tav tm="0">
                                          <p:val>
                                            <p:strVal val="0"/>
                                          </p:val>
                                        </p:tav>
                                        <p:tav tm="100000">
                                          <p:val>
                                            <p:strVal val="#ppt_h"/>
                                          </p:val>
                                        </p:tav>
                                      </p:tavLst>
                                    </p:anim>
                                    <p:animEffect transition="in" filter="fade">
                                      <p:cBhvr>
                                        <p:cTn id="178" dur="400"/>
                                        <p:tgtEl>
                                          <p:spTgt spid="50"/>
                                        </p:tgtEl>
                                      </p:cBhvr>
                                    </p:animEffect>
                                  </p:childTnLst>
                                </p:cTn>
                              </p:par>
                            </p:childTnLst>
                          </p:cTn>
                        </p:par>
                        <p:par>
                          <p:cTn id="179" fill="hold">
                            <p:stCondLst>
                              <p:cond delay="500"/>
                            </p:stCondLst>
                            <p:childTnLst>
                              <p:par>
                                <p:cTn id="180" presetID="22" presetClass="entr" presetSubtype="8" fill="hold" grpId="0" nodeType="afterEffect">
                                  <p:stCondLst>
                                    <p:cond delay="0"/>
                                  </p:stCondLst>
                                  <p:childTnLst>
                                    <p:set>
                                      <p:cBhvr>
                                        <p:cTn id="181" dur="1" fill="hold">
                                          <p:stCondLst>
                                            <p:cond delay="0"/>
                                          </p:stCondLst>
                                        </p:cTn>
                                        <p:tgtEl>
                                          <p:spTgt spid="51"/>
                                        </p:tgtEl>
                                        <p:attrNameLst>
                                          <p:attrName>style.visibility</p:attrName>
                                        </p:attrNameLst>
                                      </p:cBhvr>
                                      <p:to>
                                        <p:strVal val="visible"/>
                                      </p:to>
                                    </p:set>
                                    <p:animEffect transition="in" filter="wipe(left)">
                                      <p:cBhvr>
                                        <p:cTn id="182" dur="500"/>
                                        <p:tgtEl>
                                          <p:spTgt spid="51"/>
                                        </p:tgtEl>
                                      </p:cBhvr>
                                    </p:animEffect>
                                  </p:childTnLst>
                                </p:cTn>
                              </p:par>
                              <p:par>
                                <p:cTn id="183" presetID="22" presetClass="entr" presetSubtype="8" fill="hold" grpId="0" nodeType="withEffect">
                                  <p:stCondLst>
                                    <p:cond delay="0"/>
                                  </p:stCondLst>
                                  <p:childTnLst>
                                    <p:set>
                                      <p:cBhvr>
                                        <p:cTn id="184" dur="1" fill="hold">
                                          <p:stCondLst>
                                            <p:cond delay="0"/>
                                          </p:stCondLst>
                                        </p:cTn>
                                        <p:tgtEl>
                                          <p:spTgt spid="52"/>
                                        </p:tgtEl>
                                        <p:attrNameLst>
                                          <p:attrName>style.visibility</p:attrName>
                                        </p:attrNameLst>
                                      </p:cBhvr>
                                      <p:to>
                                        <p:strVal val="visible"/>
                                      </p:to>
                                    </p:set>
                                    <p:animEffect transition="in" filter="wipe(left)">
                                      <p:cBhvr>
                                        <p:cTn id="185" dur="500"/>
                                        <p:tgtEl>
                                          <p:spTgt spid="52"/>
                                        </p:tgtEl>
                                      </p:cBhvr>
                                    </p:animEffect>
                                  </p:childTnLst>
                                </p:cTn>
                              </p:par>
                            </p:childTnLst>
                          </p:cTn>
                        </p:par>
                        <p:par>
                          <p:cTn id="186" fill="hold">
                            <p:stCondLst>
                              <p:cond delay="1050"/>
                            </p:stCondLst>
                            <p:childTnLst>
                              <p:par>
                                <p:cTn id="187" presetID="10" presetClass="entr" presetSubtype="0" fill="hold" grpId="0" nodeType="afterEffect">
                                  <p:stCondLst>
                                    <p:cond delay="0"/>
                                  </p:stCondLst>
                                  <p:childTnLst>
                                    <p:set>
                                      <p:cBhvr>
                                        <p:cTn id="188" dur="1" fill="hold">
                                          <p:stCondLst>
                                            <p:cond delay="0"/>
                                          </p:stCondLst>
                                        </p:cTn>
                                        <p:tgtEl>
                                          <p:spTgt spid="53"/>
                                        </p:tgtEl>
                                        <p:attrNameLst>
                                          <p:attrName>style.visibility</p:attrName>
                                        </p:attrNameLst>
                                      </p:cBhvr>
                                      <p:to>
                                        <p:strVal val="visible"/>
                                      </p:to>
                                    </p:set>
                                    <p:animEffect transition="in" filter="fade">
                                      <p:cBhvr>
                                        <p:cTn id="189" dur="500"/>
                                        <p:tgtEl>
                                          <p:spTgt spid="53"/>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54"/>
                                        </p:tgtEl>
                                        <p:attrNameLst>
                                          <p:attrName>style.visibility</p:attrName>
                                        </p:attrNameLst>
                                      </p:cBhvr>
                                      <p:to>
                                        <p:strVal val="visible"/>
                                      </p:to>
                                    </p:set>
                                    <p:animEffect transition="in" filter="fade">
                                      <p:cBhvr>
                                        <p:cTn id="192" dur="500"/>
                                        <p:tgtEl>
                                          <p:spTgt spid="54"/>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55"/>
                                        </p:tgtEl>
                                        <p:attrNameLst>
                                          <p:attrName>style.visibility</p:attrName>
                                        </p:attrNameLst>
                                      </p:cBhvr>
                                      <p:to>
                                        <p:strVal val="visible"/>
                                      </p:to>
                                    </p:set>
                                    <p:animEffect transition="in" filter="fade">
                                      <p:cBhvr>
                                        <p:cTn id="19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5" grpId="0"/>
      <p:bldP spid="16" grpId="0"/>
      <p:bldP spid="18" grpId="0"/>
      <p:bldP spid="19" grpId="0"/>
      <p:bldP spid="20" grpId="0"/>
      <p:bldP spid="21" grpId="0"/>
      <p:bldP spid="14" grpId="0"/>
      <p:bldP spid="17"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8" grpId="0"/>
      <p:bldP spid="39" grpId="0"/>
      <p:bldP spid="41" grpId="0"/>
      <p:bldP spid="42" grpId="0"/>
      <p:bldP spid="43" grpId="0"/>
      <p:bldP spid="44" grpId="0"/>
      <p:bldP spid="37" grpId="0"/>
      <p:bldP spid="40" grpId="0"/>
      <p:bldP spid="45" grpId="0"/>
      <p:bldP spid="46" grpId="0"/>
      <p:bldP spid="47" grpId="0"/>
      <p:bldP spid="48" grpId="0"/>
      <p:bldP spid="49" grpId="0"/>
      <p:bldP spid="50" grpId="0"/>
      <p:bldP spid="51" grpId="0"/>
      <p:bldP spid="52" grpId="0"/>
      <p:bldP spid="53" grpId="0"/>
      <p:bldP spid="54" grpId="0"/>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Taking control: EXTEST and INTEST</a:t>
            </a:r>
            <a:endParaRPr lang="en-US" sz="3400" dirty="0"/>
          </a:p>
        </p:txBody>
      </p:sp>
      <p:sp>
        <p:nvSpPr>
          <p:cNvPr id="3" name="ext_bg"/>
          <p:cNvSpPr/>
          <p:nvPr/>
        </p:nvSpPr>
        <p:spPr>
          <a:xfrm>
            <a:off x="548640" y="1234440"/>
            <a:ext cx="5486400" cy="5120640"/>
          </a:xfrm>
          <a:prstGeom prst="roundRect">
            <a:avLst>
              <a:gd name="adj" fmla="val 1429"/>
            </a:avLst>
          </a:prstGeom>
          <a:solidFill>
            <a:schemeClr val="bg2"/>
          </a:solidFill>
          <a:ln/>
        </p:spPr>
      </p:sp>
      <p:sp>
        <p:nvSpPr>
          <p:cNvPr id="4" name="ext_h"/>
          <p:cNvSpPr txBox="1"/>
          <p:nvPr/>
        </p:nvSpPr>
        <p:spPr>
          <a:xfrm>
            <a:off x="777240" y="1399032"/>
            <a:ext cx="5029200" cy="384048"/>
          </a:xfrm>
          <a:prstGeom prst="rect">
            <a:avLst/>
          </a:prstGeom>
          <a:noFill/>
          <a:ln/>
        </p:spPr>
        <p:txBody>
          <a:bodyPr wrap="square" lIns="0" tIns="0" rIns="0" bIns="0" rtlCol="0" anchor="t"/>
          <a:lstStyle/>
          <a:p>
            <a:pPr indent="0" marL="0">
              <a:buNone/>
            </a:pPr>
            <a:r>
              <a:rPr lang="en-US" sz="2000" b="1" dirty="0">
                <a:solidFill>
                  <a:schemeClr val="tx2"/>
                </a:solidFill>
              </a:rPr>
              <a:t>EXTEST</a:t>
            </a:r>
            <a:endParaRPr lang="en-US" sz="2000" dirty="0"/>
          </a:p>
        </p:txBody>
      </p:sp>
      <p:sp>
        <p:nvSpPr>
          <p:cNvPr id="5" name="ext_tag"/>
          <p:cNvSpPr txBox="1"/>
          <p:nvPr/>
        </p:nvSpPr>
        <p:spPr>
          <a:xfrm>
            <a:off x="777240" y="1801368"/>
            <a:ext cx="5029200" cy="292608"/>
          </a:xfrm>
          <a:prstGeom prst="rect">
            <a:avLst/>
          </a:prstGeom>
          <a:noFill/>
          <a:ln/>
        </p:spPr>
        <p:txBody>
          <a:bodyPr wrap="square" lIns="0" tIns="0" rIns="0" bIns="0" rtlCol="0" anchor="t"/>
          <a:lstStyle/>
          <a:p>
            <a:pPr indent="0" marL="0">
              <a:buNone/>
            </a:pPr>
            <a:r>
              <a:rPr lang="en-US" sz="1400" i="1" dirty="0">
                <a:solidFill>
                  <a:schemeClr val="accent5"/>
                </a:solidFill>
              </a:rPr>
              <a:t>Take over the output pins to test the board</a:t>
            </a:r>
            <a:endParaRPr lang="en-US" sz="1400" dirty="0"/>
          </a:p>
        </p:txBody>
      </p:sp>
      <p:sp>
        <p:nvSpPr>
          <p:cNvPr id="6" name="ext_pin0"/>
          <p:cNvSpPr/>
          <p:nvPr/>
        </p:nvSpPr>
        <p:spPr>
          <a:xfrm>
            <a:off x="822960" y="2468880"/>
            <a:ext cx="1051560" cy="548640"/>
          </a:xfrm>
          <a:prstGeom prst="roundRect">
            <a:avLst>
              <a:gd name="adj" fmla="val 13333"/>
            </a:avLst>
          </a:prstGeom>
          <a:solidFill>
            <a:srgbClr val="F1DDE9"/>
          </a:solidFill>
          <a:ln/>
        </p:spPr>
      </p:sp>
      <p:sp>
        <p:nvSpPr>
          <p:cNvPr id="7" name="ext_pint0"/>
          <p:cNvSpPr txBox="1"/>
          <p:nvPr/>
        </p:nvSpPr>
        <p:spPr>
          <a:xfrm>
            <a:off x="822960" y="246888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Input pin</a:t>
            </a:r>
            <a:endParaRPr lang="en-US" sz="1300" dirty="0"/>
          </a:p>
        </p:txBody>
      </p:sp>
      <p:sp>
        <p:nvSpPr>
          <p:cNvPr id="8" name="ext_pin1"/>
          <p:cNvSpPr/>
          <p:nvPr/>
        </p:nvSpPr>
        <p:spPr>
          <a:xfrm>
            <a:off x="822960" y="3474720"/>
            <a:ext cx="1051560" cy="548640"/>
          </a:xfrm>
          <a:prstGeom prst="roundRect">
            <a:avLst>
              <a:gd name="adj" fmla="val 13333"/>
            </a:avLst>
          </a:prstGeom>
          <a:solidFill>
            <a:srgbClr val="F1DDE9"/>
          </a:solidFill>
          <a:ln/>
        </p:spPr>
      </p:sp>
      <p:sp>
        <p:nvSpPr>
          <p:cNvPr id="9" name="ext_pint1"/>
          <p:cNvSpPr txBox="1"/>
          <p:nvPr/>
        </p:nvSpPr>
        <p:spPr>
          <a:xfrm>
            <a:off x="822960" y="347472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Output pin</a:t>
            </a:r>
            <a:endParaRPr lang="en-US" sz="1300" dirty="0"/>
          </a:p>
        </p:txBody>
      </p:sp>
      <p:sp>
        <p:nvSpPr>
          <p:cNvPr id="10" name="ext_core"/>
          <p:cNvSpPr/>
          <p:nvPr/>
        </p:nvSpPr>
        <p:spPr>
          <a:xfrm>
            <a:off x="4526280" y="2468880"/>
            <a:ext cx="1234440" cy="1554480"/>
          </a:xfrm>
          <a:prstGeom prst="roundRect">
            <a:avLst>
              <a:gd name="adj" fmla="val 5926"/>
            </a:avLst>
          </a:prstGeom>
          <a:solidFill>
            <a:schemeClr val="tx2"/>
          </a:solidFill>
          <a:ln/>
        </p:spPr>
      </p:sp>
      <p:sp>
        <p:nvSpPr>
          <p:cNvPr id="11" name="ext_coret"/>
          <p:cNvSpPr txBox="1"/>
          <p:nvPr/>
        </p:nvSpPr>
        <p:spPr>
          <a:xfrm>
            <a:off x="4526280" y="2468880"/>
            <a:ext cx="1234440" cy="1554480"/>
          </a:xfrm>
          <a:prstGeom prst="rect">
            <a:avLst/>
          </a:prstGeom>
          <a:noFill/>
          <a:ln/>
        </p:spPr>
        <p:txBody>
          <a:bodyPr wrap="square" lIns="0" tIns="0" rIns="0" bIns="0" rtlCol="0" anchor="ctr"/>
          <a:lstStyle/>
          <a:p>
            <a:pPr algn="ctr" indent="0" marL="0">
              <a:buNone/>
            </a:pPr>
            <a:r>
              <a:rPr lang="en-US" sz="1600" b="1" dirty="0">
                <a:solidFill>
                  <a:schemeClr val="bg1"/>
                </a:solidFill>
              </a:rPr>
              <a:t>Core</a:t>
            </a:r>
            <a:endParaRPr lang="en-US" sz="1600" dirty="0"/>
          </a:p>
        </p:txBody>
      </p:sp>
      <p:sp>
        <p:nvSpPr>
          <p:cNvPr id="12" name="ext_cell0"/>
          <p:cNvSpPr/>
          <p:nvPr/>
        </p:nvSpPr>
        <p:spPr>
          <a:xfrm>
            <a:off x="2606040" y="2468880"/>
            <a:ext cx="868680" cy="548640"/>
          </a:xfrm>
          <a:prstGeom prst="roundRect">
            <a:avLst>
              <a:gd name="adj" fmla="val 13333"/>
            </a:avLst>
          </a:prstGeom>
          <a:solidFill>
            <a:schemeClr val="bg1"/>
          </a:solidFill>
          <a:ln w="25400">
            <a:solidFill>
              <a:schemeClr val="accent3"/>
            </a:solidFill>
            <a:prstDash val="solid"/>
          </a:ln>
        </p:spPr>
      </p:sp>
      <p:sp>
        <p:nvSpPr>
          <p:cNvPr id="13" name="ext_cellt0"/>
          <p:cNvSpPr txBox="1"/>
          <p:nvPr/>
        </p:nvSpPr>
        <p:spPr>
          <a:xfrm>
            <a:off x="2606040" y="246888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14" name="ext_cl0"/>
          <p:cNvSpPr txBox="1"/>
          <p:nvPr/>
        </p:nvSpPr>
        <p:spPr>
          <a:xfrm>
            <a:off x="2057400" y="2103120"/>
            <a:ext cx="1965960" cy="274320"/>
          </a:xfrm>
          <a:prstGeom prst="rect">
            <a:avLst/>
          </a:prstGeom>
          <a:noFill/>
          <a:ln/>
        </p:spPr>
        <p:txBody>
          <a:bodyPr wrap="square" lIns="0" tIns="0" rIns="0" bIns="0" rtlCol="0" anchor="t"/>
          <a:lstStyle/>
          <a:p>
            <a:pPr algn="ctr" indent="0" marL="0">
              <a:buNone/>
            </a:pPr>
            <a:r>
              <a:rPr lang="en-US" sz="1200" b="1" dirty="0">
                <a:solidFill>
                  <a:schemeClr val="accent3"/>
                </a:solidFill>
              </a:rPr>
              <a:t>records the pin</a:t>
            </a:r>
            <a:endParaRPr lang="en-US" sz="1200" dirty="0"/>
          </a:p>
        </p:txBody>
      </p:sp>
      <p:sp>
        <p:nvSpPr>
          <p:cNvPr id="15" name="ext_cell1"/>
          <p:cNvSpPr/>
          <p:nvPr/>
        </p:nvSpPr>
        <p:spPr>
          <a:xfrm>
            <a:off x="2606040" y="3474720"/>
            <a:ext cx="868680" cy="548640"/>
          </a:xfrm>
          <a:prstGeom prst="roundRect">
            <a:avLst>
              <a:gd name="adj" fmla="val 13333"/>
            </a:avLst>
          </a:prstGeom>
          <a:solidFill>
            <a:schemeClr val="accent6"/>
          </a:solidFill>
          <a:ln w="25400">
            <a:solidFill>
              <a:schemeClr val="accent1"/>
            </a:solidFill>
            <a:prstDash val="solid"/>
          </a:ln>
        </p:spPr>
      </p:sp>
      <p:sp>
        <p:nvSpPr>
          <p:cNvPr id="16" name="ext_cellt1"/>
          <p:cNvSpPr txBox="1"/>
          <p:nvPr/>
        </p:nvSpPr>
        <p:spPr>
          <a:xfrm>
            <a:off x="2606040" y="347472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17" name="ext_cl1"/>
          <p:cNvSpPr txBox="1"/>
          <p:nvPr/>
        </p:nvSpPr>
        <p:spPr>
          <a:xfrm>
            <a:off x="2057400" y="4123944"/>
            <a:ext cx="1965960" cy="274320"/>
          </a:xfrm>
          <a:prstGeom prst="rect">
            <a:avLst/>
          </a:prstGeom>
          <a:noFill/>
          <a:ln/>
        </p:spPr>
        <p:txBody>
          <a:bodyPr wrap="square" lIns="0" tIns="0" rIns="0" bIns="0" rtlCol="0" anchor="t"/>
          <a:lstStyle/>
          <a:p>
            <a:pPr algn="ctr" indent="0" marL="0">
              <a:buNone/>
            </a:pPr>
            <a:r>
              <a:rPr lang="en-US" sz="1200" b="1" dirty="0">
                <a:solidFill>
                  <a:schemeClr val="accent1"/>
                </a:solidFill>
              </a:rPr>
              <a:t>drives the pin</a:t>
            </a:r>
            <a:endParaRPr lang="en-US" sz="1200" dirty="0"/>
          </a:p>
        </p:txBody>
      </p:sp>
      <p:sp>
        <p:nvSpPr>
          <p:cNvPr id="18" name="ext_a1"/>
          <p:cNvSpPr/>
          <p:nvPr/>
        </p:nvSpPr>
        <p:spPr>
          <a:xfrm>
            <a:off x="1874520" y="2743200"/>
            <a:ext cx="731520" cy="0"/>
          </a:xfrm>
          <a:prstGeom prst="line">
            <a:avLst/>
          </a:prstGeom>
          <a:noFill/>
          <a:ln w="38100">
            <a:solidFill>
              <a:schemeClr val="accent5"/>
            </a:solidFill>
            <a:prstDash val="solid"/>
            <a:tailEnd type="triangle"/>
          </a:ln>
        </p:spPr>
      </p:sp>
      <p:sp>
        <p:nvSpPr>
          <p:cNvPr id="19" name="ext_a2"/>
          <p:cNvSpPr/>
          <p:nvPr/>
        </p:nvSpPr>
        <p:spPr>
          <a:xfrm>
            <a:off x="3474720" y="2743200"/>
            <a:ext cx="1051560" cy="0"/>
          </a:xfrm>
          <a:prstGeom prst="line">
            <a:avLst/>
          </a:prstGeom>
          <a:noFill/>
          <a:ln w="38100">
            <a:solidFill>
              <a:schemeClr val="accent5"/>
            </a:solidFill>
            <a:prstDash val="solid"/>
            <a:tailEnd type="triangle"/>
          </a:ln>
        </p:spPr>
      </p:sp>
      <p:sp>
        <p:nvSpPr>
          <p:cNvPr id="20" name="ext_b2"/>
          <p:cNvSpPr/>
          <p:nvPr/>
        </p:nvSpPr>
        <p:spPr>
          <a:xfrm flipH="1">
            <a:off x="3474720" y="3749040"/>
            <a:ext cx="1051560" cy="0"/>
          </a:xfrm>
          <a:prstGeom prst="line">
            <a:avLst/>
          </a:prstGeom>
          <a:noFill/>
          <a:ln w="38100">
            <a:solidFill>
              <a:schemeClr val="accent3"/>
            </a:solidFill>
            <a:prstDash val="solid"/>
            <a:tailEnd type="triangle"/>
          </a:ln>
        </p:spPr>
      </p:sp>
      <p:sp>
        <p:nvSpPr>
          <p:cNvPr id="21" name="ext_b1"/>
          <p:cNvSpPr/>
          <p:nvPr/>
        </p:nvSpPr>
        <p:spPr>
          <a:xfrm flipH="1">
            <a:off x="1874520" y="3749040"/>
            <a:ext cx="731520" cy="0"/>
          </a:xfrm>
          <a:prstGeom prst="line">
            <a:avLst/>
          </a:prstGeom>
          <a:noFill/>
          <a:ln w="38100">
            <a:solidFill>
              <a:schemeClr val="accent1"/>
            </a:solidFill>
            <a:prstDash val="solid"/>
            <a:tailEnd type="triangle"/>
          </a:ln>
        </p:spPr>
      </p:sp>
      <p:sp>
        <p:nvSpPr>
          <p:cNvPr id="22" name="ext_jbg"/>
          <p:cNvSpPr/>
          <p:nvPr/>
        </p:nvSpPr>
        <p:spPr>
          <a:xfrm>
            <a:off x="777240" y="4434840"/>
            <a:ext cx="5029200" cy="384048"/>
          </a:xfrm>
          <a:prstGeom prst="roundRect">
            <a:avLst>
              <a:gd name="adj" fmla="val 19048"/>
            </a:avLst>
          </a:prstGeom>
          <a:solidFill>
            <a:schemeClr val="bg1"/>
          </a:solidFill>
          <a:ln w="12700">
            <a:solidFill>
              <a:srgbClr val="D5DCDD"/>
            </a:solidFill>
            <a:prstDash val="solid"/>
          </a:ln>
        </p:spPr>
      </p:sp>
      <p:sp>
        <p:nvSpPr>
          <p:cNvPr id="23" name="ext_j"/>
          <p:cNvSpPr txBox="1"/>
          <p:nvPr/>
        </p:nvSpPr>
        <p:spPr>
          <a:xfrm>
            <a:off x="914400" y="4434840"/>
            <a:ext cx="4754880" cy="384048"/>
          </a:xfrm>
          <a:prstGeom prst="rect">
            <a:avLst/>
          </a:prstGeom>
          <a:noFill/>
          <a:ln/>
        </p:spPr>
        <p:txBody>
          <a:bodyPr wrap="square" lIns="0" tIns="0" rIns="0" bIns="0" rtlCol="0" anchor="ctr"/>
          <a:lstStyle/>
          <a:p>
            <a:pPr indent="0" marL="0">
              <a:buNone/>
            </a:pPr>
            <a:r>
              <a:rPr lang="en-US" sz="1300" b="1" dirty="0">
                <a:solidFill>
                  <a:schemeClr val="accent2"/>
                </a:solidFill>
              </a:rPr>
              <a:t>JTAG  </a:t>
            </a:r>
            <a:pPr indent="0" marL="0">
              <a:buNone/>
            </a:pPr>
            <a:r>
              <a:rPr lang="en-US" sz="1300" dirty="0">
                <a:solidFill>
                  <a:schemeClr val="tx2"/>
                </a:solidFill>
              </a:rPr>
              <a:t>shifted-in values drive the pins; recorded inputs shift out</a:t>
            </a:r>
            <a:endParaRPr lang="en-US" sz="1300" dirty="0"/>
          </a:p>
        </p:txBody>
      </p:sp>
      <p:sp>
        <p:nvSpPr>
          <p:cNvPr id="24" name="ext_w"/>
          <p:cNvSpPr txBox="1"/>
          <p:nvPr/>
        </p:nvSpPr>
        <p:spPr>
          <a:xfrm>
            <a:off x="777240" y="4937760"/>
            <a:ext cx="5029200" cy="777240"/>
          </a:xfrm>
          <a:prstGeom prst="rect">
            <a:avLst/>
          </a:prstGeom>
          <a:noFill/>
          <a:ln/>
        </p:spPr>
        <p:txBody>
          <a:bodyPr wrap="square" lIns="0" tIns="0" rIns="0" bIns="0" rtlCol="0" anchor="t"/>
          <a:lstStyle/>
          <a:p>
            <a:pPr indent="0" marL="0">
              <a:buNone/>
            </a:pPr>
            <a:r>
              <a:rPr lang="en-US" sz="1400" dirty="0">
                <a:solidFill>
                  <a:schemeClr val="tx1"/>
                </a:solidFill>
              </a:rPr>
              <a:t>The cells drive every output pin; the core's output stops at its cell. Input cells record what the board drives, and the core still sees its inputs.</a:t>
            </a:r>
            <a:endParaRPr lang="en-US" sz="1400" dirty="0"/>
          </a:p>
        </p:txBody>
      </p:sp>
      <p:sp>
        <p:nvSpPr>
          <p:cNvPr id="25" name="ext_u"/>
          <p:cNvSpPr txBox="1"/>
          <p:nvPr/>
        </p:nvSpPr>
        <p:spPr>
          <a:xfrm>
            <a:off x="777240" y="5715000"/>
            <a:ext cx="5029200" cy="548640"/>
          </a:xfrm>
          <a:prstGeom prst="rect">
            <a:avLst/>
          </a:prstGeom>
          <a:noFill/>
          <a:ln/>
        </p:spPr>
        <p:txBody>
          <a:bodyPr wrap="square" lIns="0" tIns="0" rIns="0" bIns="0" rtlCol="0" anchor="t"/>
          <a:lstStyle/>
          <a:p>
            <a:pPr indent="0" marL="0">
              <a:buNone/>
            </a:pPr>
            <a:r>
              <a:rPr lang="en-US" sz="1400" b="1" dirty="0">
                <a:solidFill>
                  <a:schemeClr val="accent1"/>
                </a:solidFill>
              </a:rPr>
              <a:t>Use it for: </a:t>
            </a:r>
            <a:pPr indent="0" marL="0">
              <a:buNone/>
            </a:pPr>
            <a:r>
              <a:rPr lang="en-US" sz="1400" i="1" dirty="0">
                <a:solidFill>
                  <a:schemeClr val="tx2"/>
                </a:solidFill>
              </a:rPr>
              <a:t>board test: walk a 1 across the outputs and read it back to find shorts, opens or a wrong pin map.</a:t>
            </a:r>
            <a:endParaRPr lang="en-US" sz="1400" dirty="0"/>
          </a:p>
        </p:txBody>
      </p:sp>
      <p:sp>
        <p:nvSpPr>
          <p:cNvPr id="26" name="int_bg"/>
          <p:cNvSpPr/>
          <p:nvPr/>
        </p:nvSpPr>
        <p:spPr>
          <a:xfrm>
            <a:off x="6172200" y="1234440"/>
            <a:ext cx="5486400" cy="5120640"/>
          </a:xfrm>
          <a:prstGeom prst="roundRect">
            <a:avLst>
              <a:gd name="adj" fmla="val 1429"/>
            </a:avLst>
          </a:prstGeom>
          <a:solidFill>
            <a:schemeClr val="bg2"/>
          </a:solidFill>
          <a:ln/>
        </p:spPr>
      </p:sp>
      <p:sp>
        <p:nvSpPr>
          <p:cNvPr id="27" name="int_h"/>
          <p:cNvSpPr txBox="1"/>
          <p:nvPr/>
        </p:nvSpPr>
        <p:spPr>
          <a:xfrm>
            <a:off x="6400800" y="1399032"/>
            <a:ext cx="5029200" cy="384048"/>
          </a:xfrm>
          <a:prstGeom prst="rect">
            <a:avLst/>
          </a:prstGeom>
          <a:noFill/>
          <a:ln/>
        </p:spPr>
        <p:txBody>
          <a:bodyPr wrap="square" lIns="0" tIns="0" rIns="0" bIns="0" rtlCol="0" anchor="t"/>
          <a:lstStyle/>
          <a:p>
            <a:pPr indent="0" marL="0">
              <a:buNone/>
            </a:pPr>
            <a:r>
              <a:rPr lang="en-US" sz="2000" b="1" dirty="0">
                <a:solidFill>
                  <a:schemeClr val="tx2"/>
                </a:solidFill>
              </a:rPr>
              <a:t>INTEST</a:t>
            </a:r>
            <a:endParaRPr lang="en-US" sz="2000" dirty="0"/>
          </a:p>
        </p:txBody>
      </p:sp>
      <p:sp>
        <p:nvSpPr>
          <p:cNvPr id="28" name="int_tag"/>
          <p:cNvSpPr txBox="1"/>
          <p:nvPr/>
        </p:nvSpPr>
        <p:spPr>
          <a:xfrm>
            <a:off x="6400800" y="1801368"/>
            <a:ext cx="5029200" cy="292608"/>
          </a:xfrm>
          <a:prstGeom prst="rect">
            <a:avLst/>
          </a:prstGeom>
          <a:noFill/>
          <a:ln/>
        </p:spPr>
        <p:txBody>
          <a:bodyPr wrap="square" lIns="0" tIns="0" rIns="0" bIns="0" rtlCol="0" anchor="t"/>
          <a:lstStyle/>
          <a:p>
            <a:pPr indent="0" marL="0">
              <a:buNone/>
            </a:pPr>
            <a:r>
              <a:rPr lang="en-US" sz="1400" i="1" dirty="0">
                <a:solidFill>
                  <a:schemeClr val="accent5"/>
                </a:solidFill>
              </a:rPr>
              <a:t>Take over the core's inputs to test the core</a:t>
            </a:r>
            <a:endParaRPr lang="en-US" sz="1400" dirty="0"/>
          </a:p>
        </p:txBody>
      </p:sp>
      <p:sp>
        <p:nvSpPr>
          <p:cNvPr id="29" name="int_pin0"/>
          <p:cNvSpPr/>
          <p:nvPr/>
        </p:nvSpPr>
        <p:spPr>
          <a:xfrm>
            <a:off x="6446520" y="2468880"/>
            <a:ext cx="1051560" cy="548640"/>
          </a:xfrm>
          <a:prstGeom prst="roundRect">
            <a:avLst>
              <a:gd name="adj" fmla="val 13333"/>
            </a:avLst>
          </a:prstGeom>
          <a:solidFill>
            <a:srgbClr val="F1DDE9"/>
          </a:solidFill>
          <a:ln/>
        </p:spPr>
      </p:sp>
      <p:sp>
        <p:nvSpPr>
          <p:cNvPr id="30" name="int_pint0"/>
          <p:cNvSpPr txBox="1"/>
          <p:nvPr/>
        </p:nvSpPr>
        <p:spPr>
          <a:xfrm>
            <a:off x="6446520" y="246888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Input pin</a:t>
            </a:r>
            <a:endParaRPr lang="en-US" sz="1300" dirty="0"/>
          </a:p>
        </p:txBody>
      </p:sp>
      <p:sp>
        <p:nvSpPr>
          <p:cNvPr id="31" name="int_pin1"/>
          <p:cNvSpPr/>
          <p:nvPr/>
        </p:nvSpPr>
        <p:spPr>
          <a:xfrm>
            <a:off x="6446520" y="3474720"/>
            <a:ext cx="1051560" cy="548640"/>
          </a:xfrm>
          <a:prstGeom prst="roundRect">
            <a:avLst>
              <a:gd name="adj" fmla="val 13333"/>
            </a:avLst>
          </a:prstGeom>
          <a:solidFill>
            <a:srgbClr val="F1DDE9"/>
          </a:solidFill>
          <a:ln/>
        </p:spPr>
      </p:sp>
      <p:sp>
        <p:nvSpPr>
          <p:cNvPr id="32" name="int_pint1"/>
          <p:cNvSpPr txBox="1"/>
          <p:nvPr/>
        </p:nvSpPr>
        <p:spPr>
          <a:xfrm>
            <a:off x="6446520" y="3474720"/>
            <a:ext cx="1051560" cy="548640"/>
          </a:xfrm>
          <a:prstGeom prst="rect">
            <a:avLst/>
          </a:prstGeom>
          <a:noFill/>
          <a:ln/>
        </p:spPr>
        <p:txBody>
          <a:bodyPr wrap="square" lIns="0" tIns="0" rIns="0" bIns="0" rtlCol="0" anchor="ctr"/>
          <a:lstStyle/>
          <a:p>
            <a:pPr algn="ctr" indent="0" marL="0">
              <a:buNone/>
            </a:pPr>
            <a:r>
              <a:rPr lang="en-US" sz="1300" b="1" dirty="0">
                <a:solidFill>
                  <a:schemeClr val="accent2"/>
                </a:solidFill>
              </a:rPr>
              <a:t>Output pin</a:t>
            </a:r>
            <a:endParaRPr lang="en-US" sz="1300" dirty="0"/>
          </a:p>
        </p:txBody>
      </p:sp>
      <p:sp>
        <p:nvSpPr>
          <p:cNvPr id="33" name="int_core"/>
          <p:cNvSpPr/>
          <p:nvPr/>
        </p:nvSpPr>
        <p:spPr>
          <a:xfrm>
            <a:off x="10149840" y="2468880"/>
            <a:ext cx="1234440" cy="1554480"/>
          </a:xfrm>
          <a:prstGeom prst="roundRect">
            <a:avLst>
              <a:gd name="adj" fmla="val 5926"/>
            </a:avLst>
          </a:prstGeom>
          <a:solidFill>
            <a:schemeClr val="tx2"/>
          </a:solidFill>
          <a:ln/>
        </p:spPr>
      </p:sp>
      <p:sp>
        <p:nvSpPr>
          <p:cNvPr id="34" name="int_coret"/>
          <p:cNvSpPr txBox="1"/>
          <p:nvPr/>
        </p:nvSpPr>
        <p:spPr>
          <a:xfrm>
            <a:off x="10149840" y="2468880"/>
            <a:ext cx="1234440" cy="1554480"/>
          </a:xfrm>
          <a:prstGeom prst="rect">
            <a:avLst/>
          </a:prstGeom>
          <a:noFill/>
          <a:ln/>
        </p:spPr>
        <p:txBody>
          <a:bodyPr wrap="square" lIns="0" tIns="0" rIns="0" bIns="0" rtlCol="0" anchor="ctr"/>
          <a:lstStyle/>
          <a:p>
            <a:pPr algn="ctr" indent="0" marL="0">
              <a:buNone/>
            </a:pPr>
            <a:r>
              <a:rPr lang="en-US" sz="1600" b="1" dirty="0">
                <a:solidFill>
                  <a:schemeClr val="bg1"/>
                </a:solidFill>
              </a:rPr>
              <a:t>Core</a:t>
            </a:r>
            <a:endParaRPr lang="en-US" sz="1600" dirty="0"/>
          </a:p>
        </p:txBody>
      </p:sp>
      <p:sp>
        <p:nvSpPr>
          <p:cNvPr id="35" name="int_cell0"/>
          <p:cNvSpPr/>
          <p:nvPr/>
        </p:nvSpPr>
        <p:spPr>
          <a:xfrm>
            <a:off x="8229600" y="2468880"/>
            <a:ext cx="868680" cy="548640"/>
          </a:xfrm>
          <a:prstGeom prst="roundRect">
            <a:avLst>
              <a:gd name="adj" fmla="val 13333"/>
            </a:avLst>
          </a:prstGeom>
          <a:solidFill>
            <a:schemeClr val="accent6"/>
          </a:solidFill>
          <a:ln w="25400">
            <a:solidFill>
              <a:schemeClr val="accent1"/>
            </a:solidFill>
            <a:prstDash val="solid"/>
          </a:ln>
        </p:spPr>
      </p:sp>
      <p:sp>
        <p:nvSpPr>
          <p:cNvPr id="36" name="int_cellt0"/>
          <p:cNvSpPr txBox="1"/>
          <p:nvPr/>
        </p:nvSpPr>
        <p:spPr>
          <a:xfrm>
            <a:off x="8229600" y="246888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37" name="int_cl0"/>
          <p:cNvSpPr txBox="1"/>
          <p:nvPr/>
        </p:nvSpPr>
        <p:spPr>
          <a:xfrm>
            <a:off x="7680960" y="2103120"/>
            <a:ext cx="1965960" cy="274320"/>
          </a:xfrm>
          <a:prstGeom prst="rect">
            <a:avLst/>
          </a:prstGeom>
          <a:noFill/>
          <a:ln/>
        </p:spPr>
        <p:txBody>
          <a:bodyPr wrap="square" lIns="0" tIns="0" rIns="0" bIns="0" rtlCol="0" anchor="t"/>
          <a:lstStyle/>
          <a:p>
            <a:pPr algn="ctr" indent="0" marL="0">
              <a:buNone/>
            </a:pPr>
            <a:r>
              <a:rPr lang="en-US" sz="1200" b="1" dirty="0">
                <a:solidFill>
                  <a:schemeClr val="accent1"/>
                </a:solidFill>
              </a:rPr>
              <a:t>drives the core</a:t>
            </a:r>
            <a:endParaRPr lang="en-US" sz="1200" dirty="0"/>
          </a:p>
        </p:txBody>
      </p:sp>
      <p:sp>
        <p:nvSpPr>
          <p:cNvPr id="38" name="int_cell1"/>
          <p:cNvSpPr/>
          <p:nvPr/>
        </p:nvSpPr>
        <p:spPr>
          <a:xfrm>
            <a:off x="8229600" y="3474720"/>
            <a:ext cx="868680" cy="548640"/>
          </a:xfrm>
          <a:prstGeom prst="roundRect">
            <a:avLst>
              <a:gd name="adj" fmla="val 13333"/>
            </a:avLst>
          </a:prstGeom>
          <a:solidFill>
            <a:schemeClr val="bg1"/>
          </a:solidFill>
          <a:ln w="25400">
            <a:solidFill>
              <a:schemeClr val="accent3"/>
            </a:solidFill>
            <a:prstDash val="solid"/>
          </a:ln>
        </p:spPr>
      </p:sp>
      <p:sp>
        <p:nvSpPr>
          <p:cNvPr id="39" name="int_cellt1"/>
          <p:cNvSpPr txBox="1"/>
          <p:nvPr/>
        </p:nvSpPr>
        <p:spPr>
          <a:xfrm>
            <a:off x="8229600" y="3474720"/>
            <a:ext cx="868680" cy="548640"/>
          </a:xfrm>
          <a:prstGeom prst="rect">
            <a:avLst/>
          </a:prstGeom>
          <a:noFill/>
          <a:ln/>
        </p:spPr>
        <p:txBody>
          <a:bodyPr wrap="square" lIns="0" tIns="0" rIns="0" bIns="0" rtlCol="0" anchor="ctr"/>
          <a:lstStyle/>
          <a:p>
            <a:pPr algn="ctr" indent="0" marL="0">
              <a:buNone/>
            </a:pPr>
            <a:r>
              <a:rPr lang="en-US" sz="1300" b="1" dirty="0">
                <a:solidFill>
                  <a:schemeClr val="tx2"/>
                </a:solidFill>
              </a:rPr>
              <a:t>cell</a:t>
            </a:r>
            <a:endParaRPr lang="en-US" sz="1300" dirty="0"/>
          </a:p>
        </p:txBody>
      </p:sp>
      <p:sp>
        <p:nvSpPr>
          <p:cNvPr id="40" name="int_cl1"/>
          <p:cNvSpPr txBox="1"/>
          <p:nvPr/>
        </p:nvSpPr>
        <p:spPr>
          <a:xfrm>
            <a:off x="7680960" y="4123944"/>
            <a:ext cx="1965960" cy="274320"/>
          </a:xfrm>
          <a:prstGeom prst="rect">
            <a:avLst/>
          </a:prstGeom>
          <a:noFill/>
          <a:ln/>
        </p:spPr>
        <p:txBody>
          <a:bodyPr wrap="square" lIns="0" tIns="0" rIns="0" bIns="0" rtlCol="0" anchor="t"/>
          <a:lstStyle/>
          <a:p>
            <a:pPr algn="ctr" indent="0" marL="0">
              <a:buNone/>
            </a:pPr>
            <a:r>
              <a:rPr lang="en-US" sz="1200" b="1" dirty="0">
                <a:solidFill>
                  <a:schemeClr val="accent3"/>
                </a:solidFill>
              </a:rPr>
              <a:t>records the core output</a:t>
            </a:r>
            <a:endParaRPr lang="en-US" sz="1200" dirty="0"/>
          </a:p>
        </p:txBody>
      </p:sp>
      <p:sp>
        <p:nvSpPr>
          <p:cNvPr id="41" name="int_a1"/>
          <p:cNvSpPr/>
          <p:nvPr/>
        </p:nvSpPr>
        <p:spPr>
          <a:xfrm>
            <a:off x="7498080" y="2743200"/>
            <a:ext cx="731520" cy="0"/>
          </a:xfrm>
          <a:prstGeom prst="line">
            <a:avLst/>
          </a:prstGeom>
          <a:noFill/>
          <a:ln w="25400">
            <a:solidFill>
              <a:srgbClr val="D5DCDD"/>
            </a:solidFill>
            <a:prstDash val="dash"/>
          </a:ln>
        </p:spPr>
      </p:sp>
      <p:sp>
        <p:nvSpPr>
          <p:cNvPr id="42" name="int_a1x"/>
          <p:cNvSpPr txBox="1"/>
          <p:nvPr/>
        </p:nvSpPr>
        <p:spPr>
          <a:xfrm>
            <a:off x="7726680" y="2560320"/>
            <a:ext cx="274320" cy="365760"/>
          </a:xfrm>
          <a:prstGeom prst="rect">
            <a:avLst/>
          </a:prstGeom>
          <a:noFill/>
          <a:ln/>
        </p:spPr>
        <p:txBody>
          <a:bodyPr wrap="square" lIns="0" tIns="0" rIns="0" bIns="0" rtlCol="0" anchor="ctr"/>
          <a:lstStyle/>
          <a:p>
            <a:pPr algn="ctr" indent="0" marL="0">
              <a:buNone/>
            </a:pPr>
            <a:r>
              <a:rPr lang="en-US" sz="2000" b="1" dirty="0">
                <a:solidFill>
                  <a:srgbClr val="C62828"/>
                </a:solidFill>
              </a:rPr>
              <a:t>✕</a:t>
            </a:r>
            <a:endParaRPr lang="en-US" sz="2000" dirty="0"/>
          </a:p>
        </p:txBody>
      </p:sp>
      <p:sp>
        <p:nvSpPr>
          <p:cNvPr id="43" name="int_a2"/>
          <p:cNvSpPr/>
          <p:nvPr/>
        </p:nvSpPr>
        <p:spPr>
          <a:xfrm>
            <a:off x="9098280" y="2743200"/>
            <a:ext cx="1051560" cy="0"/>
          </a:xfrm>
          <a:prstGeom prst="line">
            <a:avLst/>
          </a:prstGeom>
          <a:noFill/>
          <a:ln w="38100">
            <a:solidFill>
              <a:schemeClr val="accent1"/>
            </a:solidFill>
            <a:prstDash val="solid"/>
            <a:tailEnd type="triangle"/>
          </a:ln>
        </p:spPr>
      </p:sp>
      <p:sp>
        <p:nvSpPr>
          <p:cNvPr id="44" name="int_b2"/>
          <p:cNvSpPr/>
          <p:nvPr/>
        </p:nvSpPr>
        <p:spPr>
          <a:xfrm flipH="1">
            <a:off x="9098280" y="3749040"/>
            <a:ext cx="1051560" cy="0"/>
          </a:xfrm>
          <a:prstGeom prst="line">
            <a:avLst/>
          </a:prstGeom>
          <a:noFill/>
          <a:ln w="38100">
            <a:solidFill>
              <a:schemeClr val="accent5"/>
            </a:solidFill>
            <a:prstDash val="solid"/>
            <a:tailEnd type="triangle"/>
          </a:ln>
        </p:spPr>
      </p:sp>
      <p:sp>
        <p:nvSpPr>
          <p:cNvPr id="45" name="int_b1"/>
          <p:cNvSpPr/>
          <p:nvPr/>
        </p:nvSpPr>
        <p:spPr>
          <a:xfrm flipH="1">
            <a:off x="7498080" y="3749040"/>
            <a:ext cx="731520" cy="0"/>
          </a:xfrm>
          <a:prstGeom prst="line">
            <a:avLst/>
          </a:prstGeom>
          <a:noFill/>
          <a:ln w="38100">
            <a:solidFill>
              <a:schemeClr val="accent5"/>
            </a:solidFill>
            <a:prstDash val="solid"/>
            <a:tailEnd type="triangle"/>
          </a:ln>
        </p:spPr>
      </p:sp>
      <p:sp>
        <p:nvSpPr>
          <p:cNvPr id="46" name="int_jbg"/>
          <p:cNvSpPr/>
          <p:nvPr/>
        </p:nvSpPr>
        <p:spPr>
          <a:xfrm>
            <a:off x="6400800" y="4434840"/>
            <a:ext cx="5029200" cy="384048"/>
          </a:xfrm>
          <a:prstGeom prst="roundRect">
            <a:avLst>
              <a:gd name="adj" fmla="val 19048"/>
            </a:avLst>
          </a:prstGeom>
          <a:solidFill>
            <a:schemeClr val="bg1"/>
          </a:solidFill>
          <a:ln w="12700">
            <a:solidFill>
              <a:srgbClr val="D5DCDD"/>
            </a:solidFill>
            <a:prstDash val="solid"/>
          </a:ln>
        </p:spPr>
      </p:sp>
      <p:sp>
        <p:nvSpPr>
          <p:cNvPr id="47" name="int_j"/>
          <p:cNvSpPr txBox="1"/>
          <p:nvPr/>
        </p:nvSpPr>
        <p:spPr>
          <a:xfrm>
            <a:off x="6537960" y="4434840"/>
            <a:ext cx="4754880" cy="384048"/>
          </a:xfrm>
          <a:prstGeom prst="rect">
            <a:avLst/>
          </a:prstGeom>
          <a:noFill/>
          <a:ln/>
        </p:spPr>
        <p:txBody>
          <a:bodyPr wrap="square" lIns="0" tIns="0" rIns="0" bIns="0" rtlCol="0" anchor="ctr"/>
          <a:lstStyle/>
          <a:p>
            <a:pPr indent="0" marL="0">
              <a:buNone/>
            </a:pPr>
            <a:r>
              <a:rPr lang="en-US" sz="1300" b="1" dirty="0">
                <a:solidFill>
                  <a:schemeClr val="accent2"/>
                </a:solidFill>
              </a:rPr>
              <a:t>JTAG  </a:t>
            </a:r>
            <a:pPr indent="0" marL="0">
              <a:buNone/>
            </a:pPr>
            <a:r>
              <a:rPr lang="en-US" sz="1300" dirty="0">
                <a:solidFill>
                  <a:schemeClr val="tx2"/>
                </a:solidFill>
              </a:rPr>
              <a:t>shifted-in values drive the core; its answers shift out</a:t>
            </a:r>
            <a:endParaRPr lang="en-US" sz="1300" dirty="0"/>
          </a:p>
        </p:txBody>
      </p:sp>
      <p:sp>
        <p:nvSpPr>
          <p:cNvPr id="48" name="int_w"/>
          <p:cNvSpPr txBox="1"/>
          <p:nvPr/>
        </p:nvSpPr>
        <p:spPr>
          <a:xfrm>
            <a:off x="6400800" y="4937760"/>
            <a:ext cx="5029200" cy="777240"/>
          </a:xfrm>
          <a:prstGeom prst="rect">
            <a:avLst/>
          </a:prstGeom>
          <a:noFill/>
          <a:ln/>
        </p:spPr>
        <p:txBody>
          <a:bodyPr wrap="square" lIns="0" tIns="0" rIns="0" bIns="0" rtlCol="0" anchor="t"/>
          <a:lstStyle/>
          <a:p>
            <a:pPr indent="0" marL="0">
              <a:buNone/>
            </a:pPr>
            <a:r>
              <a:rPr lang="en-US" sz="1400" dirty="0">
                <a:solidFill>
                  <a:schemeClr val="tx1"/>
                </a:solidFill>
              </a:rPr>
              <a:t>The cells drive the core's inputs; the real input pins are ignored. Output cells record the core's answer, and the core keeps driving its pins.</a:t>
            </a:r>
            <a:endParaRPr lang="en-US" sz="1400" dirty="0"/>
          </a:p>
        </p:txBody>
      </p:sp>
      <p:sp>
        <p:nvSpPr>
          <p:cNvPr id="49" name="int_u"/>
          <p:cNvSpPr txBox="1"/>
          <p:nvPr/>
        </p:nvSpPr>
        <p:spPr>
          <a:xfrm>
            <a:off x="6400800" y="5715000"/>
            <a:ext cx="5029200" cy="548640"/>
          </a:xfrm>
          <a:prstGeom prst="rect">
            <a:avLst/>
          </a:prstGeom>
          <a:noFill/>
          <a:ln/>
        </p:spPr>
        <p:txBody>
          <a:bodyPr wrap="square" lIns="0" tIns="0" rIns="0" bIns="0" rtlCol="0" anchor="t"/>
          <a:lstStyle/>
          <a:p>
            <a:pPr indent="0" marL="0">
              <a:buNone/>
            </a:pPr>
            <a:r>
              <a:rPr lang="en-US" sz="1400" b="1" dirty="0">
                <a:solidFill>
                  <a:schemeClr val="accent1"/>
                </a:solidFill>
              </a:rPr>
              <a:t>Use it for: </a:t>
            </a:r>
            <a:pPr indent="0" marL="0">
              <a:buNone/>
            </a:pPr>
            <a:r>
              <a:rPr lang="en-US" sz="1400" i="1" dirty="0">
                <a:solidFill>
                  <a:schemeClr val="tx2"/>
                </a:solidFill>
              </a:rPr>
              <a:t>testing the core with known inputs, whatever the board around it does.</a:t>
            </a:r>
            <a:endParaRPr lang="en-US" sz="1400" dirty="0"/>
          </a:p>
        </p:txBody>
      </p:sp>
      <p:sp>
        <p:nvSpPr>
          <p:cNvPr id="50" name="ins_key2"/>
          <p:cNvSpPr txBox="1"/>
          <p:nvPr/>
        </p:nvSpPr>
        <p:spPr>
          <a:xfrm>
            <a:off x="548640" y="6428232"/>
            <a:ext cx="9144000" cy="274320"/>
          </a:xfrm>
          <a:prstGeom prst="rect">
            <a:avLst/>
          </a:prstGeom>
          <a:noFill/>
          <a:ln/>
        </p:spPr>
        <p:txBody>
          <a:bodyPr wrap="square" lIns="0" tIns="0" rIns="0" bIns="0" rtlCol="0" anchor="t"/>
          <a:lstStyle/>
          <a:p>
            <a:pPr indent="0" marL="0">
              <a:buNone/>
            </a:pPr>
            <a:r>
              <a:rPr lang="en-US" sz="1100" b="1" dirty="0">
                <a:solidFill>
                  <a:schemeClr val="accent1"/>
                </a:solidFill>
              </a:rPr>
              <a:t>teal</a:t>
            </a:r>
            <a:pPr indent="0" marL="0">
              <a:buNone/>
            </a:pPr>
            <a:r>
              <a:rPr lang="en-US" sz="1100" dirty="0">
                <a:solidFill>
                  <a:schemeClr val="accent5"/>
                </a:solidFill>
              </a:rPr>
              <a:t> = the cell drives    </a:t>
            </a:r>
            <a:pPr indent="0" marL="0">
              <a:buNone/>
            </a:pPr>
            <a:r>
              <a:rPr lang="en-US" sz="1100" b="1" dirty="0">
                <a:solidFill>
                  <a:schemeClr val="accent3"/>
                </a:solidFill>
              </a:rPr>
              <a:t>amber</a:t>
            </a:r>
            <a:pPr indent="0" marL="0">
              <a:buNone/>
            </a:pPr>
            <a:r>
              <a:rPr lang="en-US" sz="1100" dirty="0">
                <a:solidFill>
                  <a:schemeClr val="accent5"/>
                </a:solidFill>
              </a:rPr>
              <a:t> = the cell records it    </a:t>
            </a:r>
            <a:pPr indent="0" marL="0">
              <a:buNone/>
            </a:pPr>
            <a:r>
              <a:rPr lang="en-US" sz="1100" b="1" dirty="0">
                <a:solidFill>
                  <a:schemeClr val="accent5"/>
                </a:solidFill>
              </a:rPr>
              <a:t>grey</a:t>
            </a:r>
            <a:pPr indent="0" marL="0">
              <a:buNone/>
            </a:pPr>
            <a:r>
              <a:rPr lang="en-US" sz="1100" dirty="0">
                <a:solidFill>
                  <a:schemeClr val="accent5"/>
                </a:solidFill>
              </a:rPr>
              <a:t> = normal path    </a:t>
            </a:r>
            <a:pPr indent="0" marL="0">
              <a:buNone/>
            </a:pPr>
            <a:r>
              <a:rPr lang="en-US" sz="1100" b="1" dirty="0">
                <a:solidFill>
                  <a:srgbClr val="C62828"/>
                </a:solidFill>
              </a:rPr>
              <a:t>✕</a:t>
            </a:r>
            <a:pPr indent="0" marL="0">
              <a:buNone/>
            </a:pPr>
            <a:r>
              <a:rPr lang="en-US" sz="1100" dirty="0">
                <a:solidFill>
                  <a:schemeClr val="accent5"/>
                </a:solidFill>
              </a:rPr>
              <a:t> = cut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childTnLst>
                          </p:cTn>
                        </p:par>
                        <p:par>
                          <p:cTn id="44" fill="hold">
                            <p:stCondLst>
                              <p:cond delay="450"/>
                            </p:stCondLst>
                            <p:childTnLst>
                              <p:par>
                                <p:cTn id="45" presetID="22" presetClass="entr" presetSubtype="8"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450"/>
                                        <p:tgtEl>
                                          <p:spTgt spid="18"/>
                                        </p:tgtEl>
                                      </p:cBhvr>
                                    </p:animEffect>
                                  </p:childTnLst>
                                </p:cTn>
                              </p:par>
                            </p:childTnLst>
                          </p:cTn>
                        </p:par>
                        <p:par>
                          <p:cTn id="48" fill="hold">
                            <p:stCondLst>
                              <p:cond delay="450"/>
                            </p:stCondLst>
                            <p:childTnLst>
                              <p:par>
                                <p:cTn id="49" presetID="22" presetClass="entr" presetSubtype="2"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right)">
                                      <p:cBhvr>
                                        <p:cTn id="51" dur="450"/>
                                        <p:tgtEl>
                                          <p:spTgt spid="20"/>
                                        </p:tgtEl>
                                      </p:cBhvr>
                                    </p:animEffect>
                                  </p:childTnLst>
                                </p:cTn>
                              </p:par>
                            </p:childTnLst>
                          </p:cTn>
                        </p:par>
                        <p:par>
                          <p:cTn id="52" fill="hold">
                            <p:stCondLst>
                              <p:cond delay="900"/>
                            </p:stCondLst>
                            <p:childTnLst>
                              <p:par>
                                <p:cTn id="53" presetID="22" presetClass="entr" presetSubtype="8"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450"/>
                                        <p:tgtEl>
                                          <p:spTgt spid="19"/>
                                        </p:tgtEl>
                                      </p:cBhvr>
                                    </p:animEffect>
                                  </p:childTnLst>
                                </p:cTn>
                              </p:par>
                            </p:childTnLst>
                          </p:cTn>
                        </p:par>
                        <p:par>
                          <p:cTn id="56" fill="hold">
                            <p:stCondLst>
                              <p:cond delay="900"/>
                            </p:stCondLst>
                            <p:childTnLst>
                              <p:par>
                                <p:cTn id="57" presetID="22" presetClass="entr" presetSubtype="2"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right)">
                                      <p:cBhvr>
                                        <p:cTn id="59" dur="450"/>
                                        <p:tgtEl>
                                          <p:spTgt spid="21"/>
                                        </p:tgtEl>
                                      </p:cBhvr>
                                    </p:animEffect>
                                  </p:childTnLst>
                                </p:cTn>
                              </p:par>
                            </p:childTnLst>
                          </p:cTn>
                        </p:par>
                        <p:par>
                          <p:cTn id="60" fill="hold">
                            <p:stCondLst>
                              <p:cond delay="1450"/>
                            </p:stCondLst>
                            <p:childTnLst>
                              <p:par>
                                <p:cTn id="61" presetID="53" presetClass="entr" presetSubtype="16"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p:cTn id="63" dur="350" fill="hold"/>
                                        <p:tgtEl>
                                          <p:spTgt spid="14"/>
                                        </p:tgtEl>
                                        <p:attrNameLst>
                                          <p:attrName>ppt_w</p:attrName>
                                        </p:attrNameLst>
                                      </p:cBhvr>
                                      <p:tavLst>
                                        <p:tav tm="0">
                                          <p:val>
                                            <p:strVal val="0"/>
                                          </p:val>
                                        </p:tav>
                                        <p:tav tm="100000">
                                          <p:val>
                                            <p:strVal val="#ppt_w"/>
                                          </p:val>
                                        </p:tav>
                                      </p:tavLst>
                                    </p:anim>
                                    <p:anim calcmode="lin" valueType="num">
                                      <p:cBhvr>
                                        <p:cTn id="64" dur="350" fill="hold"/>
                                        <p:tgtEl>
                                          <p:spTgt spid="14"/>
                                        </p:tgtEl>
                                        <p:attrNameLst>
                                          <p:attrName>ppt_h</p:attrName>
                                        </p:attrNameLst>
                                      </p:cBhvr>
                                      <p:tavLst>
                                        <p:tav tm="0">
                                          <p:val>
                                            <p:strVal val="0"/>
                                          </p:val>
                                        </p:tav>
                                        <p:tav tm="100000">
                                          <p:val>
                                            <p:strVal val="#ppt_h"/>
                                          </p:val>
                                        </p:tav>
                                      </p:tavLst>
                                    </p:anim>
                                    <p:animEffect transition="in" filter="fade">
                                      <p:cBhvr>
                                        <p:cTn id="65" dur="350"/>
                                        <p:tgtEl>
                                          <p:spTgt spid="1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p:cTn id="68" dur="350" fill="hold"/>
                                        <p:tgtEl>
                                          <p:spTgt spid="17"/>
                                        </p:tgtEl>
                                        <p:attrNameLst>
                                          <p:attrName>ppt_w</p:attrName>
                                        </p:attrNameLst>
                                      </p:cBhvr>
                                      <p:tavLst>
                                        <p:tav tm="0">
                                          <p:val>
                                            <p:strVal val="0"/>
                                          </p:val>
                                        </p:tav>
                                        <p:tav tm="100000">
                                          <p:val>
                                            <p:strVal val="#ppt_w"/>
                                          </p:val>
                                        </p:tav>
                                      </p:tavLst>
                                    </p:anim>
                                    <p:anim calcmode="lin" valueType="num">
                                      <p:cBhvr>
                                        <p:cTn id="69" dur="350" fill="hold"/>
                                        <p:tgtEl>
                                          <p:spTgt spid="17"/>
                                        </p:tgtEl>
                                        <p:attrNameLst>
                                          <p:attrName>ppt_h</p:attrName>
                                        </p:attrNameLst>
                                      </p:cBhvr>
                                      <p:tavLst>
                                        <p:tav tm="0">
                                          <p:val>
                                            <p:strVal val="0"/>
                                          </p:val>
                                        </p:tav>
                                        <p:tav tm="100000">
                                          <p:val>
                                            <p:strVal val="#ppt_h"/>
                                          </p:val>
                                        </p:tav>
                                      </p:tavLst>
                                    </p:anim>
                                    <p:animEffect transition="in" filter="fade">
                                      <p:cBhvr>
                                        <p:cTn id="70" dur="350"/>
                                        <p:tgtEl>
                                          <p:spTgt spid="17"/>
                                        </p:tgtEl>
                                      </p:cBhvr>
                                    </p:animEffect>
                                  </p:childTnLst>
                                </p:cTn>
                              </p:par>
                            </p:childTnLst>
                          </p:cTn>
                        </p:par>
                        <p:par>
                          <p:cTn id="71" fill="hold">
                            <p:stCondLst>
                              <p:cond delay="1900"/>
                            </p:stCondLst>
                            <p:childTnLst>
                              <p:par>
                                <p:cTn id="72" presetID="22" presetClass="entr" presetSubtype="8"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left)">
                                      <p:cBhvr>
                                        <p:cTn id="74" dur="500"/>
                                        <p:tgtEl>
                                          <p:spTgt spid="22"/>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left)">
                                      <p:cBhvr>
                                        <p:cTn id="77" dur="500"/>
                                        <p:tgtEl>
                                          <p:spTgt spid="23"/>
                                        </p:tgtEl>
                                      </p:cBhvr>
                                    </p:animEffect>
                                  </p:childTnLst>
                                </p:cTn>
                              </p:par>
                            </p:childTnLst>
                          </p:cTn>
                        </p:par>
                        <p:par>
                          <p:cTn id="78" fill="hold">
                            <p:stCondLst>
                              <p:cond delay="2450"/>
                            </p:stCondLst>
                            <p:childTnLst>
                              <p:par>
                                <p:cTn id="79" presetID="10" presetClass="entr" presetSubtype="0" fill="hold" grpId="0" nodeType="after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400"/>
                                        <p:tgtEl>
                                          <p:spTgt spid="2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00"/>
                                        <p:tgtEl>
                                          <p:spTgt spid="2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400"/>
                                        <p:tgtEl>
                                          <p:spTgt spid="2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400"/>
                                        <p:tgtEl>
                                          <p:spTgt spid="2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400"/>
                                        <p:tgtEl>
                                          <p:spTgt spid="3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400"/>
                                        <p:tgtEl>
                                          <p:spTgt spid="3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400"/>
                                        <p:tgtEl>
                                          <p:spTgt spid="3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fade">
                                      <p:cBhvr>
                                        <p:cTn id="110" dur="400"/>
                                        <p:tgtEl>
                                          <p:spTgt spid="3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400"/>
                                        <p:tgtEl>
                                          <p:spTgt spid="3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fade">
                                      <p:cBhvr>
                                        <p:cTn id="116" dur="400"/>
                                        <p:tgtEl>
                                          <p:spTgt spid="3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400"/>
                                        <p:tgtEl>
                                          <p:spTgt spid="3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400"/>
                                        <p:tgtEl>
                                          <p:spTgt spid="3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5" dur="400"/>
                                        <p:tgtEl>
                                          <p:spTgt spid="39"/>
                                        </p:tgtEl>
                                      </p:cBhvr>
                                    </p:animEffect>
                                  </p:childTnLst>
                                </p:cTn>
                              </p:par>
                            </p:childTnLst>
                          </p:cTn>
                        </p:par>
                        <p:par>
                          <p:cTn id="126" fill="hold">
                            <p:stCondLst>
                              <p:cond delay="450"/>
                            </p:stCondLst>
                            <p:childTnLst>
                              <p:par>
                                <p:cTn id="127" presetID="10" presetClass="entr" presetSubtype="0" fill="hold" grpId="0" nodeType="after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300"/>
                                        <p:tgtEl>
                                          <p:spTgt spid="41"/>
                                        </p:tgtEl>
                                      </p:cBhvr>
                                    </p:animEffect>
                                  </p:childTnLst>
                                </p:cTn>
                              </p:par>
                            </p:childTnLst>
                          </p:cTn>
                        </p:par>
                        <p:par>
                          <p:cTn id="130" fill="hold">
                            <p:stCondLst>
                              <p:cond delay="450"/>
                            </p:stCondLst>
                            <p:childTnLst>
                              <p:par>
                                <p:cTn id="131" presetID="22" presetClass="entr" presetSubtype="2" fill="hold" grpId="0" nodeType="after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wipe(right)">
                                      <p:cBhvr>
                                        <p:cTn id="133" dur="450"/>
                                        <p:tgtEl>
                                          <p:spTgt spid="44"/>
                                        </p:tgtEl>
                                      </p:cBhvr>
                                    </p:animEffect>
                                  </p:childTnLst>
                                </p:cTn>
                              </p:par>
                            </p:childTnLst>
                          </p:cTn>
                        </p:par>
                        <p:par>
                          <p:cTn id="134" fill="hold">
                            <p:stCondLst>
                              <p:cond delay="750"/>
                            </p:stCondLst>
                            <p:childTnLst>
                              <p:par>
                                <p:cTn id="135" presetID="53" presetClass="entr" presetSubtype="16" fill="hold" grpId="0" nodeType="afterEffect">
                                  <p:stCondLst>
                                    <p:cond delay="0"/>
                                  </p:stCondLst>
                                  <p:childTnLst>
                                    <p:set>
                                      <p:cBhvr>
                                        <p:cTn id="136" dur="1" fill="hold">
                                          <p:stCondLst>
                                            <p:cond delay="0"/>
                                          </p:stCondLst>
                                        </p:cTn>
                                        <p:tgtEl>
                                          <p:spTgt spid="42"/>
                                        </p:tgtEl>
                                        <p:attrNameLst>
                                          <p:attrName>style.visibility</p:attrName>
                                        </p:attrNameLst>
                                      </p:cBhvr>
                                      <p:to>
                                        <p:strVal val="visible"/>
                                      </p:to>
                                    </p:set>
                                    <p:anim calcmode="lin" valueType="num">
                                      <p:cBhvr>
                                        <p:cTn id="137" dur="300" fill="hold"/>
                                        <p:tgtEl>
                                          <p:spTgt spid="42"/>
                                        </p:tgtEl>
                                        <p:attrNameLst>
                                          <p:attrName>ppt_w</p:attrName>
                                        </p:attrNameLst>
                                      </p:cBhvr>
                                      <p:tavLst>
                                        <p:tav tm="0">
                                          <p:val>
                                            <p:strVal val="0"/>
                                          </p:val>
                                        </p:tav>
                                        <p:tav tm="100000">
                                          <p:val>
                                            <p:strVal val="#ppt_w"/>
                                          </p:val>
                                        </p:tav>
                                      </p:tavLst>
                                    </p:anim>
                                    <p:anim calcmode="lin" valueType="num">
                                      <p:cBhvr>
                                        <p:cTn id="138" dur="300" fill="hold"/>
                                        <p:tgtEl>
                                          <p:spTgt spid="42"/>
                                        </p:tgtEl>
                                        <p:attrNameLst>
                                          <p:attrName>ppt_h</p:attrName>
                                        </p:attrNameLst>
                                      </p:cBhvr>
                                      <p:tavLst>
                                        <p:tav tm="0">
                                          <p:val>
                                            <p:strVal val="0"/>
                                          </p:val>
                                        </p:tav>
                                        <p:tav tm="100000">
                                          <p:val>
                                            <p:strVal val="#ppt_h"/>
                                          </p:val>
                                        </p:tav>
                                      </p:tavLst>
                                    </p:anim>
                                    <p:animEffect transition="in" filter="fade">
                                      <p:cBhvr>
                                        <p:cTn id="139" dur="300"/>
                                        <p:tgtEl>
                                          <p:spTgt spid="42"/>
                                        </p:tgtEl>
                                      </p:cBhvr>
                                    </p:animEffect>
                                  </p:childTnLst>
                                </p:cTn>
                              </p:par>
                            </p:childTnLst>
                          </p:cTn>
                        </p:par>
                        <p:par>
                          <p:cTn id="140" fill="hold">
                            <p:stCondLst>
                              <p:cond delay="900"/>
                            </p:stCondLst>
                            <p:childTnLst>
                              <p:par>
                                <p:cTn id="141" presetID="22" presetClass="entr" presetSubtype="2" fill="hold" grpId="0" nodeType="afterEffect">
                                  <p:stCondLst>
                                    <p:cond delay="0"/>
                                  </p:stCondLst>
                                  <p:childTnLst>
                                    <p:set>
                                      <p:cBhvr>
                                        <p:cTn id="142" dur="1" fill="hold">
                                          <p:stCondLst>
                                            <p:cond delay="0"/>
                                          </p:stCondLst>
                                        </p:cTn>
                                        <p:tgtEl>
                                          <p:spTgt spid="45"/>
                                        </p:tgtEl>
                                        <p:attrNameLst>
                                          <p:attrName>style.visibility</p:attrName>
                                        </p:attrNameLst>
                                      </p:cBhvr>
                                      <p:to>
                                        <p:strVal val="visible"/>
                                      </p:to>
                                    </p:set>
                                    <p:animEffect transition="in" filter="wipe(right)">
                                      <p:cBhvr>
                                        <p:cTn id="143" dur="450"/>
                                        <p:tgtEl>
                                          <p:spTgt spid="45"/>
                                        </p:tgtEl>
                                      </p:cBhvr>
                                    </p:animEffect>
                                  </p:childTnLst>
                                </p:cTn>
                              </p:par>
                            </p:childTnLst>
                          </p:cTn>
                        </p:par>
                        <p:par>
                          <p:cTn id="144" fill="hold">
                            <p:stCondLst>
                              <p:cond delay="1050"/>
                            </p:stCondLst>
                            <p:childTnLst>
                              <p:par>
                                <p:cTn id="145" presetID="22" presetClass="entr" presetSubtype="8" fill="hold" grpId="0" nodeType="afterEffect">
                                  <p:stCondLst>
                                    <p:cond delay="0"/>
                                  </p:stCondLst>
                                  <p:childTnLst>
                                    <p:set>
                                      <p:cBhvr>
                                        <p:cTn id="146" dur="1" fill="hold">
                                          <p:stCondLst>
                                            <p:cond delay="0"/>
                                          </p:stCondLst>
                                        </p:cTn>
                                        <p:tgtEl>
                                          <p:spTgt spid="43"/>
                                        </p:tgtEl>
                                        <p:attrNameLst>
                                          <p:attrName>style.visibility</p:attrName>
                                        </p:attrNameLst>
                                      </p:cBhvr>
                                      <p:to>
                                        <p:strVal val="visible"/>
                                      </p:to>
                                    </p:set>
                                    <p:animEffect transition="in" filter="wipe(left)">
                                      <p:cBhvr>
                                        <p:cTn id="147" dur="450"/>
                                        <p:tgtEl>
                                          <p:spTgt spid="43"/>
                                        </p:tgtEl>
                                      </p:cBhvr>
                                    </p:animEffect>
                                  </p:childTnLst>
                                </p:cTn>
                              </p:par>
                            </p:childTnLst>
                          </p:cTn>
                        </p:par>
                        <p:par>
                          <p:cTn id="148" fill="hold">
                            <p:stCondLst>
                              <p:cond delay="1600"/>
                            </p:stCondLst>
                            <p:childTnLst>
                              <p:par>
                                <p:cTn id="149" presetID="53" presetClass="entr" presetSubtype="16" fill="hold" grpId="0" nodeType="afterEffect">
                                  <p:stCondLst>
                                    <p:cond delay="0"/>
                                  </p:stCondLst>
                                  <p:childTnLst>
                                    <p:set>
                                      <p:cBhvr>
                                        <p:cTn id="150" dur="1" fill="hold">
                                          <p:stCondLst>
                                            <p:cond delay="0"/>
                                          </p:stCondLst>
                                        </p:cTn>
                                        <p:tgtEl>
                                          <p:spTgt spid="37"/>
                                        </p:tgtEl>
                                        <p:attrNameLst>
                                          <p:attrName>style.visibility</p:attrName>
                                        </p:attrNameLst>
                                      </p:cBhvr>
                                      <p:to>
                                        <p:strVal val="visible"/>
                                      </p:to>
                                    </p:set>
                                    <p:anim calcmode="lin" valueType="num">
                                      <p:cBhvr>
                                        <p:cTn id="151" dur="350" fill="hold"/>
                                        <p:tgtEl>
                                          <p:spTgt spid="37"/>
                                        </p:tgtEl>
                                        <p:attrNameLst>
                                          <p:attrName>ppt_w</p:attrName>
                                        </p:attrNameLst>
                                      </p:cBhvr>
                                      <p:tavLst>
                                        <p:tav tm="0">
                                          <p:val>
                                            <p:strVal val="0"/>
                                          </p:val>
                                        </p:tav>
                                        <p:tav tm="100000">
                                          <p:val>
                                            <p:strVal val="#ppt_w"/>
                                          </p:val>
                                        </p:tav>
                                      </p:tavLst>
                                    </p:anim>
                                    <p:anim calcmode="lin" valueType="num">
                                      <p:cBhvr>
                                        <p:cTn id="152" dur="350" fill="hold"/>
                                        <p:tgtEl>
                                          <p:spTgt spid="37"/>
                                        </p:tgtEl>
                                        <p:attrNameLst>
                                          <p:attrName>ppt_h</p:attrName>
                                        </p:attrNameLst>
                                      </p:cBhvr>
                                      <p:tavLst>
                                        <p:tav tm="0">
                                          <p:val>
                                            <p:strVal val="0"/>
                                          </p:val>
                                        </p:tav>
                                        <p:tav tm="100000">
                                          <p:val>
                                            <p:strVal val="#ppt_h"/>
                                          </p:val>
                                        </p:tav>
                                      </p:tavLst>
                                    </p:anim>
                                    <p:animEffect transition="in" filter="fade">
                                      <p:cBhvr>
                                        <p:cTn id="153" dur="350"/>
                                        <p:tgtEl>
                                          <p:spTgt spid="37"/>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40"/>
                                        </p:tgtEl>
                                        <p:attrNameLst>
                                          <p:attrName>style.visibility</p:attrName>
                                        </p:attrNameLst>
                                      </p:cBhvr>
                                      <p:to>
                                        <p:strVal val="visible"/>
                                      </p:to>
                                    </p:set>
                                    <p:anim calcmode="lin" valueType="num">
                                      <p:cBhvr>
                                        <p:cTn id="156" dur="350" fill="hold"/>
                                        <p:tgtEl>
                                          <p:spTgt spid="40"/>
                                        </p:tgtEl>
                                        <p:attrNameLst>
                                          <p:attrName>ppt_w</p:attrName>
                                        </p:attrNameLst>
                                      </p:cBhvr>
                                      <p:tavLst>
                                        <p:tav tm="0">
                                          <p:val>
                                            <p:strVal val="0"/>
                                          </p:val>
                                        </p:tav>
                                        <p:tav tm="100000">
                                          <p:val>
                                            <p:strVal val="#ppt_w"/>
                                          </p:val>
                                        </p:tav>
                                      </p:tavLst>
                                    </p:anim>
                                    <p:anim calcmode="lin" valueType="num">
                                      <p:cBhvr>
                                        <p:cTn id="157" dur="350" fill="hold"/>
                                        <p:tgtEl>
                                          <p:spTgt spid="40"/>
                                        </p:tgtEl>
                                        <p:attrNameLst>
                                          <p:attrName>ppt_h</p:attrName>
                                        </p:attrNameLst>
                                      </p:cBhvr>
                                      <p:tavLst>
                                        <p:tav tm="0">
                                          <p:val>
                                            <p:strVal val="0"/>
                                          </p:val>
                                        </p:tav>
                                        <p:tav tm="100000">
                                          <p:val>
                                            <p:strVal val="#ppt_h"/>
                                          </p:val>
                                        </p:tav>
                                      </p:tavLst>
                                    </p:anim>
                                    <p:animEffect transition="in" filter="fade">
                                      <p:cBhvr>
                                        <p:cTn id="158" dur="350"/>
                                        <p:tgtEl>
                                          <p:spTgt spid="40"/>
                                        </p:tgtEl>
                                      </p:cBhvr>
                                    </p:animEffect>
                                  </p:childTnLst>
                                </p:cTn>
                              </p:par>
                            </p:childTnLst>
                          </p:cTn>
                        </p:par>
                        <p:par>
                          <p:cTn id="159" fill="hold">
                            <p:stCondLst>
                              <p:cond delay="2050"/>
                            </p:stCondLst>
                            <p:childTnLst>
                              <p:par>
                                <p:cTn id="160" presetID="22" presetClass="entr" presetSubtype="8" fill="hold" grpId="0" nodeType="afterEffect">
                                  <p:stCondLst>
                                    <p:cond delay="0"/>
                                  </p:stCondLst>
                                  <p:childTnLst>
                                    <p:set>
                                      <p:cBhvr>
                                        <p:cTn id="161" dur="1" fill="hold">
                                          <p:stCondLst>
                                            <p:cond delay="0"/>
                                          </p:stCondLst>
                                        </p:cTn>
                                        <p:tgtEl>
                                          <p:spTgt spid="46"/>
                                        </p:tgtEl>
                                        <p:attrNameLst>
                                          <p:attrName>style.visibility</p:attrName>
                                        </p:attrNameLst>
                                      </p:cBhvr>
                                      <p:to>
                                        <p:strVal val="visible"/>
                                      </p:to>
                                    </p:set>
                                    <p:animEffect transition="in" filter="wipe(left)">
                                      <p:cBhvr>
                                        <p:cTn id="162" dur="500"/>
                                        <p:tgtEl>
                                          <p:spTgt spid="46"/>
                                        </p:tgtEl>
                                      </p:cBhvr>
                                    </p:animEffect>
                                  </p:childTnLst>
                                </p:cTn>
                              </p:par>
                              <p:par>
                                <p:cTn id="163" presetID="22" presetClass="entr" presetSubtype="8" fill="hold" grpId="0" nodeType="withEffect">
                                  <p:stCondLst>
                                    <p:cond delay="0"/>
                                  </p:stCondLst>
                                  <p:childTnLst>
                                    <p:set>
                                      <p:cBhvr>
                                        <p:cTn id="164" dur="1" fill="hold">
                                          <p:stCondLst>
                                            <p:cond delay="0"/>
                                          </p:stCondLst>
                                        </p:cTn>
                                        <p:tgtEl>
                                          <p:spTgt spid="47"/>
                                        </p:tgtEl>
                                        <p:attrNameLst>
                                          <p:attrName>style.visibility</p:attrName>
                                        </p:attrNameLst>
                                      </p:cBhvr>
                                      <p:to>
                                        <p:strVal val="visible"/>
                                      </p:to>
                                    </p:set>
                                    <p:animEffect transition="in" filter="wipe(left)">
                                      <p:cBhvr>
                                        <p:cTn id="165" dur="500"/>
                                        <p:tgtEl>
                                          <p:spTgt spid="47"/>
                                        </p:tgtEl>
                                      </p:cBhvr>
                                    </p:animEffect>
                                  </p:childTnLst>
                                </p:cTn>
                              </p:par>
                            </p:childTnLst>
                          </p:cTn>
                        </p:par>
                        <p:par>
                          <p:cTn id="166" fill="hold">
                            <p:stCondLst>
                              <p:cond delay="2600"/>
                            </p:stCondLst>
                            <p:childTnLst>
                              <p:par>
                                <p:cTn id="167" presetID="10" presetClass="entr" presetSubtype="0" fill="hold" grpId="0" nodeType="afterEffect">
                                  <p:stCondLst>
                                    <p:cond delay="0"/>
                                  </p:stCondLst>
                                  <p:childTnLst>
                                    <p:set>
                                      <p:cBhvr>
                                        <p:cTn id="168" dur="1" fill="hold">
                                          <p:stCondLst>
                                            <p:cond delay="0"/>
                                          </p:stCondLst>
                                        </p:cTn>
                                        <p:tgtEl>
                                          <p:spTgt spid="48"/>
                                        </p:tgtEl>
                                        <p:attrNameLst>
                                          <p:attrName>style.visibility</p:attrName>
                                        </p:attrNameLst>
                                      </p:cBhvr>
                                      <p:to>
                                        <p:strVal val="visible"/>
                                      </p:to>
                                    </p:set>
                                    <p:animEffect transition="in" filter="fade">
                                      <p:cBhvr>
                                        <p:cTn id="169" dur="500"/>
                                        <p:tgtEl>
                                          <p:spTgt spid="48"/>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49"/>
                                        </p:tgtEl>
                                        <p:attrNameLst>
                                          <p:attrName>style.visibility</p:attrName>
                                        </p:attrNameLst>
                                      </p:cBhvr>
                                      <p:to>
                                        <p:strVal val="visible"/>
                                      </p:to>
                                    </p:set>
                                    <p:animEffect transition="in" filter="fade">
                                      <p:cBhvr>
                                        <p:cTn id="17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5" grpId="0"/>
      <p:bldP spid="16" grpId="0"/>
      <p:bldP spid="18" grpId="0"/>
      <p:bldP spid="19" grpId="0"/>
      <p:bldP spid="20" grpId="0"/>
      <p:bldP spid="21" grpId="0"/>
      <p:bldP spid="14" grpId="0"/>
      <p:bldP spid="17"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8" grpId="0"/>
      <p:bldP spid="39" grpId="0"/>
      <p:bldP spid="41" grpId="0"/>
      <p:bldP spid="42" grpId="0"/>
      <p:bldP spid="43" grpId="0"/>
      <p:bldP spid="44" grpId="0"/>
      <p:bldP spid="45" grpId="0"/>
      <p:bldP spid="37" grpId="0"/>
      <p:bldP spid="40" grpId="0"/>
      <p:bldP spid="46" grpId="0"/>
      <p:bldP spid="47" grpId="0"/>
      <p:bldP spid="48"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How it helps: four examples</a:t>
            </a:r>
            <a:endParaRPr lang="en-US" sz="3400" dirty="0"/>
          </a:p>
        </p:txBody>
      </p:sp>
      <p:sp>
        <p:nvSpPr>
          <p:cNvPr id="3" name="ex0_bg"/>
          <p:cNvSpPr/>
          <p:nvPr/>
        </p:nvSpPr>
        <p:spPr>
          <a:xfrm>
            <a:off x="548640" y="1371600"/>
            <a:ext cx="5440680" cy="2286000"/>
          </a:xfrm>
          <a:prstGeom prst="roundRect">
            <a:avLst>
              <a:gd name="adj" fmla="val 3200"/>
            </a:avLst>
          </a:prstGeom>
          <a:solidFill>
            <a:schemeClr val="bg2"/>
          </a:solidFill>
          <a:ln/>
        </p:spPr>
      </p:sp>
      <p:sp>
        <p:nvSpPr>
          <p:cNvPr id="4" name="ex0_c"/>
          <p:cNvSpPr/>
          <p:nvPr/>
        </p:nvSpPr>
        <p:spPr>
          <a:xfrm>
            <a:off x="777240" y="1600200"/>
            <a:ext cx="457200" cy="457200"/>
          </a:xfrm>
          <a:prstGeom prst="ellipse">
            <a:avLst/>
          </a:prstGeom>
          <a:solidFill>
            <a:schemeClr val="accent2"/>
          </a:solidFill>
          <a:ln/>
        </p:spPr>
      </p:sp>
      <p:sp>
        <p:nvSpPr>
          <p:cNvPr id="5" name="ex0_n"/>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ex0_h"/>
          <p:cNvSpPr txBox="1"/>
          <p:nvPr/>
        </p:nvSpPr>
        <p:spPr>
          <a:xfrm>
            <a:off x="1417320" y="1600200"/>
            <a:ext cx="2743200" cy="457200"/>
          </a:xfrm>
          <a:prstGeom prst="rect">
            <a:avLst/>
          </a:prstGeom>
          <a:noFill/>
          <a:ln/>
        </p:spPr>
        <p:txBody>
          <a:bodyPr wrap="square" lIns="0" tIns="0" rIns="0" bIns="0" rtlCol="0" anchor="ctr"/>
          <a:lstStyle/>
          <a:p>
            <a:pPr indent="0" marL="0">
              <a:buNone/>
            </a:pPr>
            <a:r>
              <a:rPr lang="en-US" sz="1800" b="1" dirty="0">
                <a:solidFill>
                  <a:schemeClr val="tx2"/>
                </a:solidFill>
              </a:rPr>
              <a:t>UART prints nothing</a:t>
            </a:r>
            <a:endParaRPr lang="en-US" sz="1800" dirty="0"/>
          </a:p>
        </p:txBody>
      </p:sp>
      <p:sp>
        <p:nvSpPr>
          <p:cNvPr id="7" name="ex0_tag"/>
          <p:cNvSpPr/>
          <p:nvPr/>
        </p:nvSpPr>
        <p:spPr>
          <a:xfrm>
            <a:off x="4297680" y="1645920"/>
            <a:ext cx="1463040" cy="365760"/>
          </a:xfrm>
          <a:prstGeom prst="roundRect">
            <a:avLst>
              <a:gd name="adj" fmla="val 20000"/>
            </a:avLst>
          </a:prstGeom>
          <a:solidFill>
            <a:schemeClr val="accent1"/>
          </a:solidFill>
          <a:ln/>
        </p:spPr>
      </p:sp>
      <p:sp>
        <p:nvSpPr>
          <p:cNvPr id="8" name="ex0_tt"/>
          <p:cNvSpPr txBox="1"/>
          <p:nvPr/>
        </p:nvSpPr>
        <p:spPr>
          <a:xfrm>
            <a:off x="4297680" y="1645920"/>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SAMPLE</a:t>
            </a:r>
            <a:endParaRPr lang="en-US" sz="1200" dirty="0"/>
          </a:p>
        </p:txBody>
      </p:sp>
      <p:sp>
        <p:nvSpPr>
          <p:cNvPr id="9" name="ex0_b"/>
          <p:cNvSpPr txBox="1"/>
          <p:nvPr/>
        </p:nvSpPr>
        <p:spPr>
          <a:xfrm>
            <a:off x="1417320" y="2194560"/>
            <a:ext cx="4343400" cy="1371600"/>
          </a:xfrm>
          <a:prstGeom prst="rect">
            <a:avLst/>
          </a:prstGeom>
          <a:noFill/>
          <a:ln/>
        </p:spPr>
        <p:txBody>
          <a:bodyPr wrap="square" lIns="0" tIns="0" rIns="0" bIns="0" rtlCol="0" anchor="t"/>
          <a:lstStyle/>
          <a:p>
            <a:pPr indent="0" marL="0">
              <a:buNone/>
            </a:pPr>
            <a:r>
              <a:rPr lang="en-US" sz="1400" dirty="0">
                <a:solidFill>
                  <a:schemeClr val="tx1"/>
                </a:solidFill>
              </a:rPr>
              <a:t>Sample uart_tx while the firmware runs. If the cell toggles, the core works and the fault is on the board. If it is stuck, look at the core. EXTEST can then toggle the pin directly for the scope.</a:t>
            </a:r>
            <a:endParaRPr lang="en-US" sz="1400" dirty="0"/>
          </a:p>
        </p:txBody>
      </p:sp>
      <p:sp>
        <p:nvSpPr>
          <p:cNvPr id="10" name="ex1_bg"/>
          <p:cNvSpPr/>
          <p:nvPr/>
        </p:nvSpPr>
        <p:spPr>
          <a:xfrm>
            <a:off x="6172200" y="1371600"/>
            <a:ext cx="5440680" cy="2286000"/>
          </a:xfrm>
          <a:prstGeom prst="roundRect">
            <a:avLst>
              <a:gd name="adj" fmla="val 3200"/>
            </a:avLst>
          </a:prstGeom>
          <a:solidFill>
            <a:schemeClr val="bg2"/>
          </a:solidFill>
          <a:ln/>
        </p:spPr>
      </p:sp>
      <p:sp>
        <p:nvSpPr>
          <p:cNvPr id="11" name="ex1_c"/>
          <p:cNvSpPr/>
          <p:nvPr/>
        </p:nvSpPr>
        <p:spPr>
          <a:xfrm>
            <a:off x="6400800" y="1600200"/>
            <a:ext cx="457200" cy="457200"/>
          </a:xfrm>
          <a:prstGeom prst="ellipse">
            <a:avLst/>
          </a:prstGeom>
          <a:solidFill>
            <a:schemeClr val="accent2"/>
          </a:solidFill>
          <a:ln/>
        </p:spPr>
      </p:sp>
      <p:sp>
        <p:nvSpPr>
          <p:cNvPr id="12" name="ex1_n"/>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ex1_h"/>
          <p:cNvSpPr txBox="1"/>
          <p:nvPr/>
        </p:nvSpPr>
        <p:spPr>
          <a:xfrm>
            <a:off x="7040880" y="1600200"/>
            <a:ext cx="2743200" cy="457200"/>
          </a:xfrm>
          <a:prstGeom prst="rect">
            <a:avLst/>
          </a:prstGeom>
          <a:noFill/>
          <a:ln/>
        </p:spPr>
        <p:txBody>
          <a:bodyPr wrap="square" lIns="0" tIns="0" rIns="0" bIns="0" rtlCol="0" anchor="ctr"/>
          <a:lstStyle/>
          <a:p>
            <a:pPr indent="0" marL="0">
              <a:buNone/>
            </a:pPr>
            <a:r>
              <a:rPr lang="en-US" sz="1800" b="1" dirty="0">
                <a:solidFill>
                  <a:schemeClr val="tx2"/>
                </a:solidFill>
              </a:rPr>
              <a:t>GPIO short on the board</a:t>
            </a:r>
            <a:endParaRPr lang="en-US" sz="1800" dirty="0"/>
          </a:p>
        </p:txBody>
      </p:sp>
      <p:sp>
        <p:nvSpPr>
          <p:cNvPr id="14" name="ex1_tag"/>
          <p:cNvSpPr/>
          <p:nvPr/>
        </p:nvSpPr>
        <p:spPr>
          <a:xfrm>
            <a:off x="9921240" y="1645920"/>
            <a:ext cx="1463040" cy="365760"/>
          </a:xfrm>
          <a:prstGeom prst="roundRect">
            <a:avLst>
              <a:gd name="adj" fmla="val 20000"/>
            </a:avLst>
          </a:prstGeom>
          <a:solidFill>
            <a:schemeClr val="accent1"/>
          </a:solidFill>
          <a:ln/>
        </p:spPr>
      </p:sp>
      <p:sp>
        <p:nvSpPr>
          <p:cNvPr id="15" name="ex1_tt"/>
          <p:cNvSpPr txBox="1"/>
          <p:nvPr/>
        </p:nvSpPr>
        <p:spPr>
          <a:xfrm>
            <a:off x="9921240" y="1645920"/>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EXTEST</a:t>
            </a:r>
            <a:endParaRPr lang="en-US" sz="1200" dirty="0"/>
          </a:p>
        </p:txBody>
      </p:sp>
      <p:sp>
        <p:nvSpPr>
          <p:cNvPr id="16" name="ex1_b"/>
          <p:cNvSpPr txBox="1"/>
          <p:nvPr/>
        </p:nvSpPr>
        <p:spPr>
          <a:xfrm>
            <a:off x="7040880" y="2194560"/>
            <a:ext cx="4343400" cy="1371600"/>
          </a:xfrm>
          <a:prstGeom prst="rect">
            <a:avLst/>
          </a:prstGeom>
          <a:noFill/>
          <a:ln/>
        </p:spPr>
        <p:txBody>
          <a:bodyPr wrap="square" lIns="0" tIns="0" rIns="0" bIns="0" rtlCol="0" anchor="t"/>
          <a:lstStyle/>
          <a:p>
            <a:pPr indent="0" marL="0">
              <a:buNone/>
            </a:pPr>
            <a:r>
              <a:rPr lang="en-US" sz="1400" dirty="0">
                <a:solidFill>
                  <a:schemeClr val="tx1"/>
                </a:solidFill>
              </a:rPr>
              <a:t>Walk a single 1 across the GPIO outputs and read the pins back through the input cells. A short shows the 1 on two pins; an open never shows it at all.</a:t>
            </a:r>
            <a:endParaRPr lang="en-US" sz="1400" dirty="0"/>
          </a:p>
        </p:txBody>
      </p:sp>
      <p:sp>
        <p:nvSpPr>
          <p:cNvPr id="17" name="ex2_bg"/>
          <p:cNvSpPr/>
          <p:nvPr/>
        </p:nvSpPr>
        <p:spPr>
          <a:xfrm>
            <a:off x="548640" y="3886200"/>
            <a:ext cx="5440680" cy="2286000"/>
          </a:xfrm>
          <a:prstGeom prst="roundRect">
            <a:avLst>
              <a:gd name="adj" fmla="val 3200"/>
            </a:avLst>
          </a:prstGeom>
          <a:solidFill>
            <a:schemeClr val="bg2"/>
          </a:solidFill>
          <a:ln/>
        </p:spPr>
      </p:sp>
      <p:sp>
        <p:nvSpPr>
          <p:cNvPr id="18" name="ex2_c"/>
          <p:cNvSpPr/>
          <p:nvPr/>
        </p:nvSpPr>
        <p:spPr>
          <a:xfrm>
            <a:off x="777240" y="4114800"/>
            <a:ext cx="457200" cy="457200"/>
          </a:xfrm>
          <a:prstGeom prst="ellipse">
            <a:avLst/>
          </a:prstGeom>
          <a:solidFill>
            <a:schemeClr val="accent2"/>
          </a:solidFill>
          <a:ln/>
        </p:spPr>
      </p:sp>
      <p:sp>
        <p:nvSpPr>
          <p:cNvPr id="19" name="ex2_n"/>
          <p:cNvSpPr txBox="1"/>
          <p:nvPr/>
        </p:nvSpPr>
        <p:spPr>
          <a:xfrm>
            <a:off x="77724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ex2_h"/>
          <p:cNvSpPr txBox="1"/>
          <p:nvPr/>
        </p:nvSpPr>
        <p:spPr>
          <a:xfrm>
            <a:off x="1417320" y="4114800"/>
            <a:ext cx="2743200" cy="457200"/>
          </a:xfrm>
          <a:prstGeom prst="rect">
            <a:avLst/>
          </a:prstGeom>
          <a:noFill/>
          <a:ln/>
        </p:spPr>
        <p:txBody>
          <a:bodyPr wrap="square" lIns="0" tIns="0" rIns="0" bIns="0" rtlCol="0" anchor="ctr"/>
          <a:lstStyle/>
          <a:p>
            <a:pPr indent="0" marL="0">
              <a:buNone/>
            </a:pPr>
            <a:r>
              <a:rPr lang="en-US" sz="1800" b="1" dirty="0">
                <a:solidFill>
                  <a:schemeClr val="tx2"/>
                </a:solidFill>
              </a:rPr>
              <a:t>Core needs known inputs</a:t>
            </a:r>
            <a:endParaRPr lang="en-US" sz="1800" dirty="0"/>
          </a:p>
        </p:txBody>
      </p:sp>
      <p:sp>
        <p:nvSpPr>
          <p:cNvPr id="21" name="ex2_tag"/>
          <p:cNvSpPr/>
          <p:nvPr/>
        </p:nvSpPr>
        <p:spPr>
          <a:xfrm>
            <a:off x="4297680" y="4160520"/>
            <a:ext cx="1463040" cy="365760"/>
          </a:xfrm>
          <a:prstGeom prst="roundRect">
            <a:avLst>
              <a:gd name="adj" fmla="val 20000"/>
            </a:avLst>
          </a:prstGeom>
          <a:solidFill>
            <a:schemeClr val="accent1"/>
          </a:solidFill>
          <a:ln/>
        </p:spPr>
      </p:sp>
      <p:sp>
        <p:nvSpPr>
          <p:cNvPr id="22" name="ex2_tt"/>
          <p:cNvSpPr txBox="1"/>
          <p:nvPr/>
        </p:nvSpPr>
        <p:spPr>
          <a:xfrm>
            <a:off x="4297680" y="4160520"/>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PRELOAD+INTEST</a:t>
            </a:r>
            <a:endParaRPr lang="en-US" sz="1200" dirty="0"/>
          </a:p>
        </p:txBody>
      </p:sp>
      <p:sp>
        <p:nvSpPr>
          <p:cNvPr id="23" name="ex2_b"/>
          <p:cNvSpPr txBox="1"/>
          <p:nvPr/>
        </p:nvSpPr>
        <p:spPr>
          <a:xfrm>
            <a:off x="1417320" y="4709160"/>
            <a:ext cx="4343400" cy="1371600"/>
          </a:xfrm>
          <a:prstGeom prst="rect">
            <a:avLst/>
          </a:prstGeom>
          <a:noFill/>
          <a:ln/>
        </p:spPr>
        <p:txBody>
          <a:bodyPr wrap="square" lIns="0" tIns="0" rIns="0" bIns="0" rtlCol="0" anchor="t"/>
          <a:lstStyle/>
          <a:p>
            <a:pPr indent="0" marL="0">
              <a:buNone/>
            </a:pPr>
            <a:r>
              <a:rPr lang="en-US" sz="1400" dirty="0">
                <a:solidFill>
                  <a:schemeClr val="tx1"/>
                </a:solidFill>
              </a:rPr>
              <a:t>Like Thomy's scan fix, but at the chip boundary: force testmode or the GPIO inputs to known values from JTAG, whatever the board drives.</a:t>
            </a:r>
            <a:endParaRPr lang="en-US" sz="1400" dirty="0"/>
          </a:p>
        </p:txBody>
      </p:sp>
      <p:sp>
        <p:nvSpPr>
          <p:cNvPr id="24" name="ex3_bg"/>
          <p:cNvSpPr/>
          <p:nvPr/>
        </p:nvSpPr>
        <p:spPr>
          <a:xfrm>
            <a:off x="6172200" y="3886200"/>
            <a:ext cx="5440680" cy="2286000"/>
          </a:xfrm>
          <a:prstGeom prst="roundRect">
            <a:avLst>
              <a:gd name="adj" fmla="val 3200"/>
            </a:avLst>
          </a:prstGeom>
          <a:solidFill>
            <a:schemeClr val="bg2"/>
          </a:solidFill>
          <a:ln/>
        </p:spPr>
      </p:sp>
      <p:sp>
        <p:nvSpPr>
          <p:cNvPr id="25" name="ex3_c"/>
          <p:cNvSpPr/>
          <p:nvPr/>
        </p:nvSpPr>
        <p:spPr>
          <a:xfrm>
            <a:off x="6400800" y="4114800"/>
            <a:ext cx="457200" cy="457200"/>
          </a:xfrm>
          <a:prstGeom prst="ellipse">
            <a:avLst/>
          </a:prstGeom>
          <a:solidFill>
            <a:schemeClr val="accent2"/>
          </a:solidFill>
          <a:ln/>
        </p:spPr>
      </p:sp>
      <p:sp>
        <p:nvSpPr>
          <p:cNvPr id="26" name="ex3_n"/>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ex3_h"/>
          <p:cNvSpPr txBox="1"/>
          <p:nvPr/>
        </p:nvSpPr>
        <p:spPr>
          <a:xfrm>
            <a:off x="7040880" y="4114800"/>
            <a:ext cx="2743200" cy="457200"/>
          </a:xfrm>
          <a:prstGeom prst="rect">
            <a:avLst/>
          </a:prstGeom>
          <a:noFill/>
          <a:ln/>
        </p:spPr>
        <p:txBody>
          <a:bodyPr wrap="square" lIns="0" tIns="0" rIns="0" bIns="0" rtlCol="0" anchor="ctr"/>
          <a:lstStyle/>
          <a:p>
            <a:pPr indent="0" marL="0">
              <a:buNone/>
            </a:pPr>
            <a:r>
              <a:rPr lang="en-US" sz="1800" b="1" dirty="0">
                <a:solidFill>
                  <a:schemeClr val="tx2"/>
                </a:solidFill>
              </a:rPr>
              <a:t>Is the core alive?</a:t>
            </a:r>
            <a:endParaRPr lang="en-US" sz="1800" dirty="0"/>
          </a:p>
        </p:txBody>
      </p:sp>
      <p:sp>
        <p:nvSpPr>
          <p:cNvPr id="28" name="ex3_tag"/>
          <p:cNvSpPr/>
          <p:nvPr/>
        </p:nvSpPr>
        <p:spPr>
          <a:xfrm>
            <a:off x="9921240" y="4160520"/>
            <a:ext cx="1463040" cy="365760"/>
          </a:xfrm>
          <a:prstGeom prst="roundRect">
            <a:avLst>
              <a:gd name="adj" fmla="val 20000"/>
            </a:avLst>
          </a:prstGeom>
          <a:solidFill>
            <a:schemeClr val="accent1"/>
          </a:solidFill>
          <a:ln/>
        </p:spPr>
      </p:sp>
      <p:sp>
        <p:nvSpPr>
          <p:cNvPr id="29" name="ex3_tt"/>
          <p:cNvSpPr txBox="1"/>
          <p:nvPr/>
        </p:nvSpPr>
        <p:spPr>
          <a:xfrm>
            <a:off x="9921240" y="4160520"/>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INTEST</a:t>
            </a:r>
            <a:endParaRPr lang="en-US" sz="1200" dirty="0"/>
          </a:p>
        </p:txBody>
      </p:sp>
      <p:sp>
        <p:nvSpPr>
          <p:cNvPr id="30" name="ex3_b"/>
          <p:cNvSpPr txBox="1"/>
          <p:nvPr/>
        </p:nvSpPr>
        <p:spPr>
          <a:xfrm>
            <a:off x="7040880" y="4709160"/>
            <a:ext cx="4343400" cy="1371600"/>
          </a:xfrm>
          <a:prstGeom prst="rect">
            <a:avLst/>
          </a:prstGeom>
          <a:noFill/>
          <a:ln/>
        </p:spPr>
        <p:txBody>
          <a:bodyPr wrap="square" lIns="0" tIns="0" rIns="0" bIns="0" rtlCol="0" anchor="t"/>
          <a:lstStyle/>
          <a:p>
            <a:pPr indent="0" marL="0">
              <a:buNone/>
            </a:pPr>
            <a:r>
              <a:rPr lang="en-US" sz="1400" dirty="0">
                <a:solidFill>
                  <a:schemeClr val="tx1"/>
                </a:solidFill>
              </a:rPr>
              <a:t>Our test: the core echoes gpio[23:16] onto gpio[15:8]. Under INTEST the echo returns the BSR pattern, not the pin values, so the core works with nothing on the pins.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strVal val="0"/>
                                          </p:val>
                                        </p:tav>
                                        <p:tav tm="100000">
                                          <p:val>
                                            <p:strVal val="#ppt_w"/>
                                          </p:val>
                                        </p:tav>
                                      </p:tavLst>
                                    </p:anim>
                                    <p:anim calcmode="lin" valueType="num">
                                      <p:cBhvr>
                                        <p:cTn id="8" dur="350" fill="hold"/>
                                        <p:tgtEl>
                                          <p:spTgt spid="3"/>
                                        </p:tgtEl>
                                        <p:attrNameLst>
                                          <p:attrName>ppt_h</p:attrName>
                                        </p:attrNameLst>
                                      </p:cBhvr>
                                      <p:tavLst>
                                        <p:tav tm="0">
                                          <p:val>
                                            <p:strVal val="0"/>
                                          </p:val>
                                        </p:tav>
                                        <p:tav tm="100000">
                                          <p:val>
                                            <p:strVal val="#ppt_h"/>
                                          </p:val>
                                        </p:tav>
                                      </p:tavLst>
                                    </p:anim>
                                    <p:animEffect transition="in" filter="fade">
                                      <p:cBhvr>
                                        <p:cTn id="9" dur="3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350" fill="hold"/>
                                        <p:tgtEl>
                                          <p:spTgt spid="4"/>
                                        </p:tgtEl>
                                        <p:attrNameLst>
                                          <p:attrName>ppt_w</p:attrName>
                                        </p:attrNameLst>
                                      </p:cBhvr>
                                      <p:tavLst>
                                        <p:tav tm="0">
                                          <p:val>
                                            <p:strVal val="0"/>
                                          </p:val>
                                        </p:tav>
                                        <p:tav tm="100000">
                                          <p:val>
                                            <p:strVal val="#ppt_w"/>
                                          </p:val>
                                        </p:tav>
                                      </p:tavLst>
                                    </p:anim>
                                    <p:anim calcmode="lin" valueType="num">
                                      <p:cBhvr>
                                        <p:cTn id="13" dur="350" fill="hold"/>
                                        <p:tgtEl>
                                          <p:spTgt spid="4"/>
                                        </p:tgtEl>
                                        <p:attrNameLst>
                                          <p:attrName>ppt_h</p:attrName>
                                        </p:attrNameLst>
                                      </p:cBhvr>
                                      <p:tavLst>
                                        <p:tav tm="0">
                                          <p:val>
                                            <p:strVal val="0"/>
                                          </p:val>
                                        </p:tav>
                                        <p:tav tm="100000">
                                          <p:val>
                                            <p:strVal val="#ppt_h"/>
                                          </p:val>
                                        </p:tav>
                                      </p:tavLst>
                                    </p:anim>
                                    <p:animEffect transition="in" filter="fade">
                                      <p:cBhvr>
                                        <p:cTn id="14" dur="35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350" fill="hold"/>
                                        <p:tgtEl>
                                          <p:spTgt spid="5"/>
                                        </p:tgtEl>
                                        <p:attrNameLst>
                                          <p:attrName>ppt_w</p:attrName>
                                        </p:attrNameLst>
                                      </p:cBhvr>
                                      <p:tavLst>
                                        <p:tav tm="0">
                                          <p:val>
                                            <p:strVal val="0"/>
                                          </p:val>
                                        </p:tav>
                                        <p:tav tm="100000">
                                          <p:val>
                                            <p:strVal val="#ppt_w"/>
                                          </p:val>
                                        </p:tav>
                                      </p:tavLst>
                                    </p:anim>
                                    <p:anim calcmode="lin" valueType="num">
                                      <p:cBhvr>
                                        <p:cTn id="18" dur="350" fill="hold"/>
                                        <p:tgtEl>
                                          <p:spTgt spid="5"/>
                                        </p:tgtEl>
                                        <p:attrNameLst>
                                          <p:attrName>ppt_h</p:attrName>
                                        </p:attrNameLst>
                                      </p:cBhvr>
                                      <p:tavLst>
                                        <p:tav tm="0">
                                          <p:val>
                                            <p:strVal val="0"/>
                                          </p:val>
                                        </p:tav>
                                        <p:tav tm="100000">
                                          <p:val>
                                            <p:strVal val="#ppt_h"/>
                                          </p:val>
                                        </p:tav>
                                      </p:tavLst>
                                    </p:anim>
                                    <p:animEffect transition="in" filter="fade">
                                      <p:cBhvr>
                                        <p:cTn id="19" dur="35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350" fill="hold"/>
                                        <p:tgtEl>
                                          <p:spTgt spid="7"/>
                                        </p:tgtEl>
                                        <p:attrNameLst>
                                          <p:attrName>ppt_w</p:attrName>
                                        </p:attrNameLst>
                                      </p:cBhvr>
                                      <p:tavLst>
                                        <p:tav tm="0">
                                          <p:val>
                                            <p:strVal val="0"/>
                                          </p:val>
                                        </p:tav>
                                        <p:tav tm="100000">
                                          <p:val>
                                            <p:strVal val="#ppt_w"/>
                                          </p:val>
                                        </p:tav>
                                      </p:tavLst>
                                    </p:anim>
                                    <p:anim calcmode="lin" valueType="num">
                                      <p:cBhvr>
                                        <p:cTn id="23" dur="350" fill="hold"/>
                                        <p:tgtEl>
                                          <p:spTgt spid="7"/>
                                        </p:tgtEl>
                                        <p:attrNameLst>
                                          <p:attrName>ppt_h</p:attrName>
                                        </p:attrNameLst>
                                      </p:cBhvr>
                                      <p:tavLst>
                                        <p:tav tm="0">
                                          <p:val>
                                            <p:strVal val="0"/>
                                          </p:val>
                                        </p:tav>
                                        <p:tav tm="100000">
                                          <p:val>
                                            <p:strVal val="#ppt_h"/>
                                          </p:val>
                                        </p:tav>
                                      </p:tavLst>
                                    </p:anim>
                                    <p:animEffect transition="in" filter="fade">
                                      <p:cBhvr>
                                        <p:cTn id="24" dur="350"/>
                                        <p:tgtEl>
                                          <p:spTgt spid="7"/>
                                        </p:tgtEl>
                                      </p:cBhvr>
                                    </p:animEffect>
                                  </p:childTnLst>
                                </p:cTn>
                              </p:par>
                            </p:childTnLst>
                          </p:cTn>
                        </p:par>
                        <p:par>
                          <p:cTn id="25" fill="hold">
                            <p:stCondLst>
                              <p:cond delay="200"/>
                            </p:stCondLst>
                            <p:childTnLst>
                              <p:par>
                                <p:cTn id="26" presetID="10"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350" fill="hold"/>
                                        <p:tgtEl>
                                          <p:spTgt spid="10"/>
                                        </p:tgtEl>
                                        <p:attrNameLst>
                                          <p:attrName>ppt_w</p:attrName>
                                        </p:attrNameLst>
                                      </p:cBhvr>
                                      <p:tavLst>
                                        <p:tav tm="0">
                                          <p:val>
                                            <p:strVal val="0"/>
                                          </p:val>
                                        </p:tav>
                                        <p:tav tm="100000">
                                          <p:val>
                                            <p:strVal val="#ppt_w"/>
                                          </p:val>
                                        </p:tav>
                                      </p:tavLst>
                                    </p:anim>
                                    <p:anim calcmode="lin" valueType="num">
                                      <p:cBhvr>
                                        <p:cTn id="40" dur="350" fill="hold"/>
                                        <p:tgtEl>
                                          <p:spTgt spid="10"/>
                                        </p:tgtEl>
                                        <p:attrNameLst>
                                          <p:attrName>ppt_h</p:attrName>
                                        </p:attrNameLst>
                                      </p:cBhvr>
                                      <p:tavLst>
                                        <p:tav tm="0">
                                          <p:val>
                                            <p:strVal val="0"/>
                                          </p:val>
                                        </p:tav>
                                        <p:tav tm="100000">
                                          <p:val>
                                            <p:strVal val="#ppt_h"/>
                                          </p:val>
                                        </p:tav>
                                      </p:tavLst>
                                    </p:anim>
                                    <p:animEffect transition="in" filter="fade">
                                      <p:cBhvr>
                                        <p:cTn id="41" dur="35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350" fill="hold"/>
                                        <p:tgtEl>
                                          <p:spTgt spid="11"/>
                                        </p:tgtEl>
                                        <p:attrNameLst>
                                          <p:attrName>ppt_w</p:attrName>
                                        </p:attrNameLst>
                                      </p:cBhvr>
                                      <p:tavLst>
                                        <p:tav tm="0">
                                          <p:val>
                                            <p:strVal val="0"/>
                                          </p:val>
                                        </p:tav>
                                        <p:tav tm="100000">
                                          <p:val>
                                            <p:strVal val="#ppt_w"/>
                                          </p:val>
                                        </p:tav>
                                      </p:tavLst>
                                    </p:anim>
                                    <p:anim calcmode="lin" valueType="num">
                                      <p:cBhvr>
                                        <p:cTn id="45" dur="350" fill="hold"/>
                                        <p:tgtEl>
                                          <p:spTgt spid="11"/>
                                        </p:tgtEl>
                                        <p:attrNameLst>
                                          <p:attrName>ppt_h</p:attrName>
                                        </p:attrNameLst>
                                      </p:cBhvr>
                                      <p:tavLst>
                                        <p:tav tm="0">
                                          <p:val>
                                            <p:strVal val="0"/>
                                          </p:val>
                                        </p:tav>
                                        <p:tav tm="100000">
                                          <p:val>
                                            <p:strVal val="#ppt_h"/>
                                          </p:val>
                                        </p:tav>
                                      </p:tavLst>
                                    </p:anim>
                                    <p:animEffect transition="in" filter="fade">
                                      <p:cBhvr>
                                        <p:cTn id="46" dur="350"/>
                                        <p:tgtEl>
                                          <p:spTgt spid="1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350" fill="hold"/>
                                        <p:tgtEl>
                                          <p:spTgt spid="12"/>
                                        </p:tgtEl>
                                        <p:attrNameLst>
                                          <p:attrName>ppt_w</p:attrName>
                                        </p:attrNameLst>
                                      </p:cBhvr>
                                      <p:tavLst>
                                        <p:tav tm="0">
                                          <p:val>
                                            <p:strVal val="0"/>
                                          </p:val>
                                        </p:tav>
                                        <p:tav tm="100000">
                                          <p:val>
                                            <p:strVal val="#ppt_w"/>
                                          </p:val>
                                        </p:tav>
                                      </p:tavLst>
                                    </p:anim>
                                    <p:anim calcmode="lin" valueType="num">
                                      <p:cBhvr>
                                        <p:cTn id="50" dur="350" fill="hold"/>
                                        <p:tgtEl>
                                          <p:spTgt spid="12"/>
                                        </p:tgtEl>
                                        <p:attrNameLst>
                                          <p:attrName>ppt_h</p:attrName>
                                        </p:attrNameLst>
                                      </p:cBhvr>
                                      <p:tavLst>
                                        <p:tav tm="0">
                                          <p:val>
                                            <p:strVal val="0"/>
                                          </p:val>
                                        </p:tav>
                                        <p:tav tm="100000">
                                          <p:val>
                                            <p:strVal val="#ppt_h"/>
                                          </p:val>
                                        </p:tav>
                                      </p:tavLst>
                                    </p:anim>
                                    <p:animEffect transition="in" filter="fade">
                                      <p:cBhvr>
                                        <p:cTn id="51" dur="350"/>
                                        <p:tgtEl>
                                          <p:spTgt spid="12"/>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350" fill="hold"/>
                                        <p:tgtEl>
                                          <p:spTgt spid="14"/>
                                        </p:tgtEl>
                                        <p:attrNameLst>
                                          <p:attrName>ppt_w</p:attrName>
                                        </p:attrNameLst>
                                      </p:cBhvr>
                                      <p:tavLst>
                                        <p:tav tm="0">
                                          <p:val>
                                            <p:strVal val="0"/>
                                          </p:val>
                                        </p:tav>
                                        <p:tav tm="100000">
                                          <p:val>
                                            <p:strVal val="#ppt_w"/>
                                          </p:val>
                                        </p:tav>
                                      </p:tavLst>
                                    </p:anim>
                                    <p:anim calcmode="lin" valueType="num">
                                      <p:cBhvr>
                                        <p:cTn id="55" dur="350" fill="hold"/>
                                        <p:tgtEl>
                                          <p:spTgt spid="14"/>
                                        </p:tgtEl>
                                        <p:attrNameLst>
                                          <p:attrName>ppt_h</p:attrName>
                                        </p:attrNameLst>
                                      </p:cBhvr>
                                      <p:tavLst>
                                        <p:tav tm="0">
                                          <p:val>
                                            <p:strVal val="0"/>
                                          </p:val>
                                        </p:tav>
                                        <p:tav tm="100000">
                                          <p:val>
                                            <p:strVal val="#ppt_h"/>
                                          </p:val>
                                        </p:tav>
                                      </p:tavLst>
                                    </p:anim>
                                    <p:animEffect transition="in" filter="fade">
                                      <p:cBhvr>
                                        <p:cTn id="56" dur="350"/>
                                        <p:tgtEl>
                                          <p:spTgt spid="14"/>
                                        </p:tgtEl>
                                      </p:cBhvr>
                                    </p:animEffect>
                                  </p:childTnLst>
                                </p:cTn>
                              </p:par>
                            </p:childTnLst>
                          </p:cTn>
                        </p:par>
                        <p:par>
                          <p:cTn id="57" fill="hold">
                            <p:stCondLst>
                              <p:cond delay="200"/>
                            </p:stCondLst>
                            <p:childTnLst>
                              <p:par>
                                <p:cTn id="58" presetID="10" presetClass="entr" presetSubtype="0"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400"/>
                                        <p:tgtEl>
                                          <p:spTgt spid="1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00"/>
                                        <p:tgtEl>
                                          <p:spTgt spid="1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p:cTn id="71" dur="350" fill="hold"/>
                                        <p:tgtEl>
                                          <p:spTgt spid="17"/>
                                        </p:tgtEl>
                                        <p:attrNameLst>
                                          <p:attrName>ppt_w</p:attrName>
                                        </p:attrNameLst>
                                      </p:cBhvr>
                                      <p:tavLst>
                                        <p:tav tm="0">
                                          <p:val>
                                            <p:strVal val="0"/>
                                          </p:val>
                                        </p:tav>
                                        <p:tav tm="100000">
                                          <p:val>
                                            <p:strVal val="#ppt_w"/>
                                          </p:val>
                                        </p:tav>
                                      </p:tavLst>
                                    </p:anim>
                                    <p:anim calcmode="lin" valueType="num">
                                      <p:cBhvr>
                                        <p:cTn id="72" dur="350" fill="hold"/>
                                        <p:tgtEl>
                                          <p:spTgt spid="17"/>
                                        </p:tgtEl>
                                        <p:attrNameLst>
                                          <p:attrName>ppt_h</p:attrName>
                                        </p:attrNameLst>
                                      </p:cBhvr>
                                      <p:tavLst>
                                        <p:tav tm="0">
                                          <p:val>
                                            <p:strVal val="0"/>
                                          </p:val>
                                        </p:tav>
                                        <p:tav tm="100000">
                                          <p:val>
                                            <p:strVal val="#ppt_h"/>
                                          </p:val>
                                        </p:tav>
                                      </p:tavLst>
                                    </p:anim>
                                    <p:animEffect transition="in" filter="fade">
                                      <p:cBhvr>
                                        <p:cTn id="73" dur="350"/>
                                        <p:tgtEl>
                                          <p:spTgt spid="17"/>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p:cTn id="76" dur="350" fill="hold"/>
                                        <p:tgtEl>
                                          <p:spTgt spid="18"/>
                                        </p:tgtEl>
                                        <p:attrNameLst>
                                          <p:attrName>ppt_w</p:attrName>
                                        </p:attrNameLst>
                                      </p:cBhvr>
                                      <p:tavLst>
                                        <p:tav tm="0">
                                          <p:val>
                                            <p:strVal val="0"/>
                                          </p:val>
                                        </p:tav>
                                        <p:tav tm="100000">
                                          <p:val>
                                            <p:strVal val="#ppt_w"/>
                                          </p:val>
                                        </p:tav>
                                      </p:tavLst>
                                    </p:anim>
                                    <p:anim calcmode="lin" valueType="num">
                                      <p:cBhvr>
                                        <p:cTn id="77" dur="350" fill="hold"/>
                                        <p:tgtEl>
                                          <p:spTgt spid="18"/>
                                        </p:tgtEl>
                                        <p:attrNameLst>
                                          <p:attrName>ppt_h</p:attrName>
                                        </p:attrNameLst>
                                      </p:cBhvr>
                                      <p:tavLst>
                                        <p:tav tm="0">
                                          <p:val>
                                            <p:strVal val="0"/>
                                          </p:val>
                                        </p:tav>
                                        <p:tav tm="100000">
                                          <p:val>
                                            <p:strVal val="#ppt_h"/>
                                          </p:val>
                                        </p:tav>
                                      </p:tavLst>
                                    </p:anim>
                                    <p:animEffect transition="in" filter="fade">
                                      <p:cBhvr>
                                        <p:cTn id="78" dur="350"/>
                                        <p:tgtEl>
                                          <p:spTgt spid="18"/>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p:cTn id="81" dur="350" fill="hold"/>
                                        <p:tgtEl>
                                          <p:spTgt spid="19"/>
                                        </p:tgtEl>
                                        <p:attrNameLst>
                                          <p:attrName>ppt_w</p:attrName>
                                        </p:attrNameLst>
                                      </p:cBhvr>
                                      <p:tavLst>
                                        <p:tav tm="0">
                                          <p:val>
                                            <p:strVal val="0"/>
                                          </p:val>
                                        </p:tav>
                                        <p:tav tm="100000">
                                          <p:val>
                                            <p:strVal val="#ppt_w"/>
                                          </p:val>
                                        </p:tav>
                                      </p:tavLst>
                                    </p:anim>
                                    <p:anim calcmode="lin" valueType="num">
                                      <p:cBhvr>
                                        <p:cTn id="82" dur="350" fill="hold"/>
                                        <p:tgtEl>
                                          <p:spTgt spid="19"/>
                                        </p:tgtEl>
                                        <p:attrNameLst>
                                          <p:attrName>ppt_h</p:attrName>
                                        </p:attrNameLst>
                                      </p:cBhvr>
                                      <p:tavLst>
                                        <p:tav tm="0">
                                          <p:val>
                                            <p:strVal val="0"/>
                                          </p:val>
                                        </p:tav>
                                        <p:tav tm="100000">
                                          <p:val>
                                            <p:strVal val="#ppt_h"/>
                                          </p:val>
                                        </p:tav>
                                      </p:tavLst>
                                    </p:anim>
                                    <p:animEffect transition="in" filter="fade">
                                      <p:cBhvr>
                                        <p:cTn id="83" dur="350"/>
                                        <p:tgtEl>
                                          <p:spTgt spid="19"/>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 calcmode="lin" valueType="num">
                                      <p:cBhvr>
                                        <p:cTn id="86" dur="350" fill="hold"/>
                                        <p:tgtEl>
                                          <p:spTgt spid="21"/>
                                        </p:tgtEl>
                                        <p:attrNameLst>
                                          <p:attrName>ppt_w</p:attrName>
                                        </p:attrNameLst>
                                      </p:cBhvr>
                                      <p:tavLst>
                                        <p:tav tm="0">
                                          <p:val>
                                            <p:strVal val="0"/>
                                          </p:val>
                                        </p:tav>
                                        <p:tav tm="100000">
                                          <p:val>
                                            <p:strVal val="#ppt_w"/>
                                          </p:val>
                                        </p:tav>
                                      </p:tavLst>
                                    </p:anim>
                                    <p:anim calcmode="lin" valueType="num">
                                      <p:cBhvr>
                                        <p:cTn id="87" dur="350" fill="hold"/>
                                        <p:tgtEl>
                                          <p:spTgt spid="21"/>
                                        </p:tgtEl>
                                        <p:attrNameLst>
                                          <p:attrName>ppt_h</p:attrName>
                                        </p:attrNameLst>
                                      </p:cBhvr>
                                      <p:tavLst>
                                        <p:tav tm="0">
                                          <p:val>
                                            <p:strVal val="0"/>
                                          </p:val>
                                        </p:tav>
                                        <p:tav tm="100000">
                                          <p:val>
                                            <p:strVal val="#ppt_h"/>
                                          </p:val>
                                        </p:tav>
                                      </p:tavLst>
                                    </p:anim>
                                    <p:animEffect transition="in" filter="fade">
                                      <p:cBhvr>
                                        <p:cTn id="88" dur="350"/>
                                        <p:tgtEl>
                                          <p:spTgt spid="21"/>
                                        </p:tgtEl>
                                      </p:cBhvr>
                                    </p:animEffect>
                                  </p:childTnLst>
                                </p:cTn>
                              </p:par>
                            </p:childTnLst>
                          </p:cTn>
                        </p:par>
                        <p:par>
                          <p:cTn id="89" fill="hold">
                            <p:stCondLst>
                              <p:cond delay="200"/>
                            </p:stCondLst>
                            <p:childTnLst>
                              <p:par>
                                <p:cTn id="90" presetID="10" presetClass="entr" presetSubtype="0" fill="hold" grpId="0" nodeType="after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400"/>
                                        <p:tgtEl>
                                          <p:spTgt spid="2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400"/>
                                        <p:tgtEl>
                                          <p:spTgt spid="2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400"/>
                                        <p:tgtEl>
                                          <p:spTgt spid="23"/>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p:cTn id="103" dur="350" fill="hold"/>
                                        <p:tgtEl>
                                          <p:spTgt spid="24"/>
                                        </p:tgtEl>
                                        <p:attrNameLst>
                                          <p:attrName>ppt_w</p:attrName>
                                        </p:attrNameLst>
                                      </p:cBhvr>
                                      <p:tavLst>
                                        <p:tav tm="0">
                                          <p:val>
                                            <p:strVal val="0"/>
                                          </p:val>
                                        </p:tav>
                                        <p:tav tm="100000">
                                          <p:val>
                                            <p:strVal val="#ppt_w"/>
                                          </p:val>
                                        </p:tav>
                                      </p:tavLst>
                                    </p:anim>
                                    <p:anim calcmode="lin" valueType="num">
                                      <p:cBhvr>
                                        <p:cTn id="104" dur="350" fill="hold"/>
                                        <p:tgtEl>
                                          <p:spTgt spid="24"/>
                                        </p:tgtEl>
                                        <p:attrNameLst>
                                          <p:attrName>ppt_h</p:attrName>
                                        </p:attrNameLst>
                                      </p:cBhvr>
                                      <p:tavLst>
                                        <p:tav tm="0">
                                          <p:val>
                                            <p:strVal val="0"/>
                                          </p:val>
                                        </p:tav>
                                        <p:tav tm="100000">
                                          <p:val>
                                            <p:strVal val="#ppt_h"/>
                                          </p:val>
                                        </p:tav>
                                      </p:tavLst>
                                    </p:anim>
                                    <p:animEffect transition="in" filter="fade">
                                      <p:cBhvr>
                                        <p:cTn id="105" dur="350"/>
                                        <p:tgtEl>
                                          <p:spTgt spid="24"/>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 calcmode="lin" valueType="num">
                                      <p:cBhvr>
                                        <p:cTn id="108" dur="350" fill="hold"/>
                                        <p:tgtEl>
                                          <p:spTgt spid="25"/>
                                        </p:tgtEl>
                                        <p:attrNameLst>
                                          <p:attrName>ppt_w</p:attrName>
                                        </p:attrNameLst>
                                      </p:cBhvr>
                                      <p:tavLst>
                                        <p:tav tm="0">
                                          <p:val>
                                            <p:strVal val="0"/>
                                          </p:val>
                                        </p:tav>
                                        <p:tav tm="100000">
                                          <p:val>
                                            <p:strVal val="#ppt_w"/>
                                          </p:val>
                                        </p:tav>
                                      </p:tavLst>
                                    </p:anim>
                                    <p:anim calcmode="lin" valueType="num">
                                      <p:cBhvr>
                                        <p:cTn id="109" dur="350" fill="hold"/>
                                        <p:tgtEl>
                                          <p:spTgt spid="25"/>
                                        </p:tgtEl>
                                        <p:attrNameLst>
                                          <p:attrName>ppt_h</p:attrName>
                                        </p:attrNameLst>
                                      </p:cBhvr>
                                      <p:tavLst>
                                        <p:tav tm="0">
                                          <p:val>
                                            <p:strVal val="0"/>
                                          </p:val>
                                        </p:tav>
                                        <p:tav tm="100000">
                                          <p:val>
                                            <p:strVal val="#ppt_h"/>
                                          </p:val>
                                        </p:tav>
                                      </p:tavLst>
                                    </p:anim>
                                    <p:animEffect transition="in" filter="fade">
                                      <p:cBhvr>
                                        <p:cTn id="110" dur="350"/>
                                        <p:tgtEl>
                                          <p:spTgt spid="25"/>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 calcmode="lin" valueType="num">
                                      <p:cBhvr>
                                        <p:cTn id="113" dur="350" fill="hold"/>
                                        <p:tgtEl>
                                          <p:spTgt spid="26"/>
                                        </p:tgtEl>
                                        <p:attrNameLst>
                                          <p:attrName>ppt_w</p:attrName>
                                        </p:attrNameLst>
                                      </p:cBhvr>
                                      <p:tavLst>
                                        <p:tav tm="0">
                                          <p:val>
                                            <p:strVal val="0"/>
                                          </p:val>
                                        </p:tav>
                                        <p:tav tm="100000">
                                          <p:val>
                                            <p:strVal val="#ppt_w"/>
                                          </p:val>
                                        </p:tav>
                                      </p:tavLst>
                                    </p:anim>
                                    <p:anim calcmode="lin" valueType="num">
                                      <p:cBhvr>
                                        <p:cTn id="114" dur="350" fill="hold"/>
                                        <p:tgtEl>
                                          <p:spTgt spid="26"/>
                                        </p:tgtEl>
                                        <p:attrNameLst>
                                          <p:attrName>ppt_h</p:attrName>
                                        </p:attrNameLst>
                                      </p:cBhvr>
                                      <p:tavLst>
                                        <p:tav tm="0">
                                          <p:val>
                                            <p:strVal val="0"/>
                                          </p:val>
                                        </p:tav>
                                        <p:tav tm="100000">
                                          <p:val>
                                            <p:strVal val="#ppt_h"/>
                                          </p:val>
                                        </p:tav>
                                      </p:tavLst>
                                    </p:anim>
                                    <p:animEffect transition="in" filter="fade">
                                      <p:cBhvr>
                                        <p:cTn id="115" dur="350"/>
                                        <p:tgtEl>
                                          <p:spTgt spid="26"/>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8"/>
                                        </p:tgtEl>
                                        <p:attrNameLst>
                                          <p:attrName>style.visibility</p:attrName>
                                        </p:attrNameLst>
                                      </p:cBhvr>
                                      <p:to>
                                        <p:strVal val="visible"/>
                                      </p:to>
                                    </p:set>
                                    <p:anim calcmode="lin" valueType="num">
                                      <p:cBhvr>
                                        <p:cTn id="118" dur="350" fill="hold"/>
                                        <p:tgtEl>
                                          <p:spTgt spid="28"/>
                                        </p:tgtEl>
                                        <p:attrNameLst>
                                          <p:attrName>ppt_w</p:attrName>
                                        </p:attrNameLst>
                                      </p:cBhvr>
                                      <p:tavLst>
                                        <p:tav tm="0">
                                          <p:val>
                                            <p:strVal val="0"/>
                                          </p:val>
                                        </p:tav>
                                        <p:tav tm="100000">
                                          <p:val>
                                            <p:strVal val="#ppt_w"/>
                                          </p:val>
                                        </p:tav>
                                      </p:tavLst>
                                    </p:anim>
                                    <p:anim calcmode="lin" valueType="num">
                                      <p:cBhvr>
                                        <p:cTn id="119" dur="350" fill="hold"/>
                                        <p:tgtEl>
                                          <p:spTgt spid="28"/>
                                        </p:tgtEl>
                                        <p:attrNameLst>
                                          <p:attrName>ppt_h</p:attrName>
                                        </p:attrNameLst>
                                      </p:cBhvr>
                                      <p:tavLst>
                                        <p:tav tm="0">
                                          <p:val>
                                            <p:strVal val="0"/>
                                          </p:val>
                                        </p:tav>
                                        <p:tav tm="100000">
                                          <p:val>
                                            <p:strVal val="#ppt_h"/>
                                          </p:val>
                                        </p:tav>
                                      </p:tavLst>
                                    </p:anim>
                                    <p:animEffect transition="in" filter="fade">
                                      <p:cBhvr>
                                        <p:cTn id="120" dur="350"/>
                                        <p:tgtEl>
                                          <p:spTgt spid="28"/>
                                        </p:tgtEl>
                                      </p:cBhvr>
                                    </p:animEffect>
                                  </p:childTnLst>
                                </p:cTn>
                              </p:par>
                            </p:childTnLst>
                          </p:cTn>
                        </p:par>
                        <p:par>
                          <p:cTn id="121" fill="hold">
                            <p:stCondLst>
                              <p:cond delay="200"/>
                            </p:stCondLst>
                            <p:childTnLst>
                              <p:par>
                                <p:cTn id="122" presetID="10" presetClass="entr" presetSubtype="0" fill="hold" grpId="0" nodeType="after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400"/>
                                        <p:tgtEl>
                                          <p:spTgt spid="2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400"/>
                                        <p:tgtEl>
                                          <p:spTgt spid="2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6" grpId="0"/>
      <p:bldP spid="8" grpId="0"/>
      <p:bldP spid="9" grpId="0"/>
      <p:bldP spid="10" grpId="0"/>
      <p:bldP spid="11" grpId="0"/>
      <p:bldP spid="12" grpId="0"/>
      <p:bldP spid="14" grpId="0"/>
      <p:bldP spid="13" grpId="0"/>
      <p:bldP spid="15" grpId="0"/>
      <p:bldP spid="16" grpId="0"/>
      <p:bldP spid="17" grpId="0"/>
      <p:bldP spid="18" grpId="0"/>
      <p:bldP spid="19" grpId="0"/>
      <p:bldP spid="21" grpId="0"/>
      <p:bldP spid="20" grpId="0"/>
      <p:bldP spid="22" grpId="0"/>
      <p:bldP spid="23" grpId="0"/>
      <p:bldP spid="24" grpId="0"/>
      <p:bldP spid="25" grpId="0"/>
      <p:bldP spid="26" grpId="0"/>
      <p:bldP spid="28" grpId="0"/>
      <p:bldP spid="27" grpId="0"/>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Verification at the pins</a:t>
            </a:r>
            <a:endParaRPr lang="en-US" sz="3400" dirty="0"/>
          </a:p>
        </p:txBody>
      </p:sp>
      <p:sp>
        <p:nvSpPr>
          <p:cNvPr id="3" name="ver_sub"/>
          <p:cNvSpPr txBox="1"/>
          <p:nvPr/>
        </p:nvSpPr>
        <p:spPr>
          <a:xfrm>
            <a:off x="548640" y="1143000"/>
            <a:ext cx="10972800" cy="320040"/>
          </a:xfrm>
          <a:prstGeom prst="rect">
            <a:avLst/>
          </a:prstGeom>
          <a:noFill/>
          <a:ln/>
        </p:spPr>
        <p:txBody>
          <a:bodyPr wrap="square" lIns="0" tIns="0" rIns="0" bIns="0" rtlCol="0" anchor="t"/>
          <a:lstStyle/>
          <a:p>
            <a:pPr indent="0" marL="0">
              <a:buNone/>
            </a:pPr>
            <a:r>
              <a:rPr lang="en-US" sz="1400" i="1" dirty="0">
                <a:solidFill>
                  <a:schemeClr val="accent5"/>
                </a:solidFill>
              </a:rPr>
              <a:t>tb_croc_chip +bscan_test: the testbench drives only the chip pins and JTAG, like a tester</a:t>
            </a:r>
            <a:endParaRPr lang="en-US" sz="1400" dirty="0"/>
          </a:p>
        </p:txBody>
      </p:sp>
      <p:sp>
        <p:nvSpPr>
          <p:cNvPr id="4" name="ver0_bg"/>
          <p:cNvSpPr/>
          <p:nvPr/>
        </p:nvSpPr>
        <p:spPr>
          <a:xfrm>
            <a:off x="548640" y="1645920"/>
            <a:ext cx="5852160" cy="4206240"/>
          </a:xfrm>
          <a:prstGeom prst="roundRect">
            <a:avLst>
              <a:gd name="adj" fmla="val 1739"/>
            </a:avLst>
          </a:prstGeom>
          <a:solidFill>
            <a:schemeClr val="bg2"/>
          </a:solidFill>
          <a:ln/>
        </p:spPr>
      </p:sp>
      <p:sp>
        <p:nvSpPr>
          <p:cNvPr id="5" name="ver0_h"/>
          <p:cNvSpPr txBox="1"/>
          <p:nvPr/>
        </p:nvSpPr>
        <p:spPr>
          <a:xfrm>
            <a:off x="777240" y="1783080"/>
            <a:ext cx="5394960" cy="365760"/>
          </a:xfrm>
          <a:prstGeom prst="rect">
            <a:avLst/>
          </a:prstGeom>
          <a:noFill/>
          <a:ln/>
        </p:spPr>
        <p:txBody>
          <a:bodyPr wrap="square" lIns="0" tIns="0" rIns="0" bIns="0" rtlCol="0" anchor="t"/>
          <a:lstStyle/>
          <a:p>
            <a:pPr indent="0" marL="0">
              <a:buNone/>
            </a:pPr>
            <a:r>
              <a:rPr lang="en-US" sz="1800" b="1" dirty="0">
                <a:solidFill>
                  <a:schemeClr val="tx2"/>
                </a:solidFill>
              </a:rPr>
              <a:t>Part A: pins only, core idle</a:t>
            </a:r>
            <a:endParaRPr lang="en-US" sz="1800" dirty="0"/>
          </a:p>
        </p:txBody>
      </p:sp>
      <p:sp>
        <p:nvSpPr>
          <p:cNvPr id="6" name="ver0_l"/>
          <p:cNvSpPr txBox="1"/>
          <p:nvPr/>
        </p:nvSpPr>
        <p:spPr>
          <a:xfrm>
            <a:off x="777240" y="2286000"/>
            <a:ext cx="539496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Chain length per instruction: BYPASS 5 bits, SAMPLE / EXTEST / INTEST 44</a:t>
            </a:r>
            <a:endParaRPr lang="en-US" sz="1600" dirty="0"/>
          </a:p>
          <a:p>
            <a:pPr marL="342900" indent="-342900">
              <a:spcAft>
                <a:spcPts val="600"/>
              </a:spcAft>
              <a:buSzPct val="100000"/>
              <a:buChar char="•"/>
            </a:pPr>
            <a:r>
              <a:rPr lang="en-US" sz="1600" dirty="0">
                <a:solidFill>
                  <a:schemeClr val="tx1"/>
                </a:solidFill>
              </a:rPr>
              <a:t>Unused opcodes select BYPASS</a:t>
            </a:r>
            <a:endParaRPr lang="en-US" sz="1600" dirty="0"/>
          </a:p>
          <a:p>
            <a:pPr marL="342900" indent="-342900">
              <a:spcAft>
                <a:spcPts val="600"/>
              </a:spcAft>
              <a:buSzPct val="100000"/>
              <a:buChar char="•"/>
            </a:pPr>
            <a:r>
              <a:rPr lang="en-US" sz="1600" dirty="0">
                <a:solidFill>
                  <a:schemeClr val="tx1"/>
                </a:solidFill>
              </a:rPr>
              <a:t>SAMPLE: walking 1/0 on all 32 GPIO pins is captured</a:t>
            </a:r>
            <a:endParaRPr lang="en-US" sz="1600" dirty="0"/>
          </a:p>
          <a:p>
            <a:pPr marL="342900" indent="-342900">
              <a:spcAft>
                <a:spcPts val="600"/>
              </a:spcAft>
              <a:buSzPct val="100000"/>
              <a:buChar char="•"/>
            </a:pPr>
            <a:r>
              <a:rPr lang="en-US" sz="1600" dirty="0">
                <a:solidFill>
                  <a:schemeClr val="tx1"/>
                </a:solidFill>
              </a:rPr>
              <a:t>SAMPLE: shifting all 1s leaves the outputs alone</a:t>
            </a:r>
            <a:endParaRPr lang="en-US" sz="1600" dirty="0"/>
          </a:p>
          <a:p>
            <a:pPr marL="342900" indent="-342900">
              <a:spcAft>
                <a:spcPts val="600"/>
              </a:spcAft>
              <a:buSzPct val="100000"/>
              <a:buChar char="•"/>
            </a:pPr>
            <a:r>
              <a:rPr lang="en-US" sz="1600" dirty="0">
                <a:solidFill>
                  <a:schemeClr val="tx1"/>
                </a:solidFill>
              </a:rPr>
              <a:t>EXTEST: walking 1/0 on uart_tx, status, unused0–3</a:t>
            </a:r>
            <a:endParaRPr lang="en-US" sz="1600" dirty="0"/>
          </a:p>
          <a:p>
            <a:pPr marL="342900" indent="-342900">
              <a:spcAft>
                <a:spcPts val="600"/>
              </a:spcAft>
              <a:buSzPct val="100000"/>
              <a:buChar char="•"/>
            </a:pPr>
            <a:r>
              <a:rPr lang="en-US" sz="1600" dirty="0">
                <a:solidFill>
                  <a:schemeClr val="tx1"/>
                </a:solidFill>
              </a:rPr>
              <a:t>EXTEST: input pads are not driven, still captured</a:t>
            </a:r>
            <a:endParaRPr lang="en-US" sz="1600" dirty="0"/>
          </a:p>
          <a:p>
            <a:pPr marL="342900" indent="-342900">
              <a:spcAft>
                <a:spcPts val="600"/>
              </a:spcAft>
              <a:buSzPct val="100000"/>
              <a:buChar char="•"/>
            </a:pPr>
            <a:r>
              <a:rPr lang="en-US" sz="1600" dirty="0">
                <a:solidFill>
                  <a:schemeClr val="tx1"/>
                </a:solidFill>
              </a:rPr>
              <a:t>TMS reset, TRST and BYPASS give the pins back to the core</a:t>
            </a:r>
            <a:endParaRPr lang="en-US" sz="1600" dirty="0"/>
          </a:p>
        </p:txBody>
      </p:sp>
      <p:sp>
        <p:nvSpPr>
          <p:cNvPr id="7" name="ver1_bg"/>
          <p:cNvSpPr/>
          <p:nvPr/>
        </p:nvSpPr>
        <p:spPr>
          <a:xfrm>
            <a:off x="6583680" y="1645920"/>
            <a:ext cx="5029200" cy="4206240"/>
          </a:xfrm>
          <a:prstGeom prst="roundRect">
            <a:avLst>
              <a:gd name="adj" fmla="val 1739"/>
            </a:avLst>
          </a:prstGeom>
          <a:solidFill>
            <a:schemeClr val="bg2"/>
          </a:solidFill>
          <a:ln/>
        </p:spPr>
      </p:sp>
      <p:sp>
        <p:nvSpPr>
          <p:cNvPr id="8" name="ver1_h"/>
          <p:cNvSpPr txBox="1"/>
          <p:nvPr/>
        </p:nvSpPr>
        <p:spPr>
          <a:xfrm>
            <a:off x="6812280" y="1783080"/>
            <a:ext cx="4572000" cy="365760"/>
          </a:xfrm>
          <a:prstGeom prst="rect">
            <a:avLst/>
          </a:prstGeom>
          <a:noFill/>
          <a:ln/>
        </p:spPr>
        <p:txBody>
          <a:bodyPr wrap="square" lIns="0" tIns="0" rIns="0" bIns="0" rtlCol="0" anchor="t"/>
          <a:lstStyle/>
          <a:p>
            <a:pPr indent="0" marL="0">
              <a:buNone/>
            </a:pPr>
            <a:r>
              <a:rPr lang="en-US" sz="1800" b="1" dirty="0">
                <a:solidFill>
                  <a:schemeClr val="tx2"/>
                </a:solidFill>
              </a:rPr>
              <a:t>Part B: core running test_bscan.c</a:t>
            </a:r>
            <a:endParaRPr lang="en-US" sz="1800" dirty="0"/>
          </a:p>
        </p:txBody>
      </p:sp>
      <p:sp>
        <p:nvSpPr>
          <p:cNvPr id="9" name="ver1_l"/>
          <p:cNvSpPr txBox="1"/>
          <p:nvPr/>
        </p:nvSpPr>
        <p:spPr>
          <a:xfrm>
            <a:off x="6812280" y="2286000"/>
            <a:ext cx="457200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SAMPLE sees the core's outputs on gpio[15:8]</a:t>
            </a:r>
            <a:endParaRPr lang="en-US" sz="1600" dirty="0"/>
          </a:p>
          <a:p>
            <a:pPr marL="342900" indent="-342900">
              <a:spcAft>
                <a:spcPts val="600"/>
              </a:spcAft>
              <a:buSzPct val="100000"/>
              <a:buChar char="•"/>
            </a:pPr>
            <a:r>
              <a:rPr lang="en-US" sz="1600" dirty="0">
                <a:solidFill>
                  <a:schemeClr val="tx1"/>
                </a:solidFill>
              </a:rPr>
              <a:t>EXTEST: the BSR overrides the core on gpio[15:8]</a:t>
            </a:r>
            <a:endParaRPr lang="en-US" sz="1600" dirty="0"/>
          </a:p>
          <a:p>
            <a:pPr marL="342900" indent="-342900">
              <a:spcAft>
                <a:spcPts val="600"/>
              </a:spcAft>
              <a:buSzPct val="100000"/>
              <a:buChar char="•"/>
            </a:pPr>
            <a:r>
              <a:rPr lang="en-US" sz="1600" dirty="0">
                <a:solidFill>
                  <a:schemeClr val="tx1"/>
                </a:solidFill>
              </a:rPr>
              <a:t>INTEST: the core reads the BSR, not the pins (echo shows the BSR pattern)</a:t>
            </a:r>
            <a:endParaRPr lang="en-US" sz="1600" dirty="0"/>
          </a:p>
          <a:p>
            <a:pPr marL="342900" indent="-342900">
              <a:spcAft>
                <a:spcPts val="600"/>
              </a:spcAft>
              <a:buSzPct val="100000"/>
              <a:buChar char="•"/>
            </a:pPr>
            <a:r>
              <a:rPr lang="en-US" sz="1600" dirty="0">
                <a:solidFill>
                  <a:schemeClr val="tx1"/>
                </a:solidFill>
              </a:rPr>
              <a:t>BYPASS: the core drives and reads the pins again</a:t>
            </a:r>
            <a:endParaRPr lang="en-US" sz="1600" dirty="0"/>
          </a:p>
        </p:txBody>
      </p:sp>
      <p:sp>
        <p:nvSpPr>
          <p:cNvPr id="10" name="ver_res"/>
          <p:cNvSpPr/>
          <p:nvPr/>
        </p:nvSpPr>
        <p:spPr>
          <a:xfrm>
            <a:off x="548640" y="5989320"/>
            <a:ext cx="11064240" cy="548640"/>
          </a:xfrm>
          <a:prstGeom prst="roundRect">
            <a:avLst>
              <a:gd name="adj" fmla="val 13333"/>
            </a:avLst>
          </a:prstGeom>
          <a:solidFill>
            <a:schemeClr val="tx2"/>
          </a:solidFill>
          <a:ln/>
        </p:spPr>
      </p:sp>
      <p:sp>
        <p:nvSpPr>
          <p:cNvPr id="11" name="ver_res_t"/>
          <p:cNvSpPr txBox="1"/>
          <p:nvPr/>
        </p:nvSpPr>
        <p:spPr>
          <a:xfrm>
            <a:off x="777240" y="5989320"/>
            <a:ext cx="10607040" cy="548640"/>
          </a:xfrm>
          <a:prstGeom prst="rect">
            <a:avLst/>
          </a:prstGeom>
          <a:noFill/>
          <a:ln/>
        </p:spPr>
        <p:txBody>
          <a:bodyPr wrap="square" lIns="0" tIns="0" rIns="0" bIns="0" rtlCol="0" anchor="ctr"/>
          <a:lstStyle/>
          <a:p>
            <a:pPr indent="0" marL="0">
              <a:buNone/>
            </a:pPr>
            <a:r>
              <a:rPr lang="en-US" sz="1600" b="1" dirty="0">
                <a:solidFill>
                  <a:schemeClr val="accent6"/>
                </a:solidFill>
              </a:rPr>
              <a:t>Result: </a:t>
            </a:r>
            <a:pPr indent="0" marL="0">
              <a:buNone/>
            </a:pPr>
            <a:r>
              <a:rPr lang="en-US" sz="1600" b="1" dirty="0">
                <a:solidFill>
                  <a:schemeClr val="accent6"/>
                </a:solidFill>
              </a:rPr>
              <a:t>all 34 checks pass</a:t>
            </a:r>
            <a:pPr indent="0" marL="0">
              <a:buNone/>
            </a:pPr>
            <a:r>
              <a:rPr lang="en-US" sz="1600" dirty="0">
                <a:solidFill>
                  <a:schemeClr val="bg1"/>
                </a:solidFill>
              </a:rPr>
              <a:t>   ·   RTL simulation, QuestaSim</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350" fill="hold"/>
                                        <p:tgtEl>
                                          <p:spTgt spid="4"/>
                                        </p:tgtEl>
                                        <p:attrNameLst>
                                          <p:attrName>ppt_w</p:attrName>
                                        </p:attrNameLst>
                                      </p:cBhvr>
                                      <p:tavLst>
                                        <p:tav tm="0">
                                          <p:val>
                                            <p:strVal val="0"/>
                                          </p:val>
                                        </p:tav>
                                        <p:tav tm="100000">
                                          <p:val>
                                            <p:strVal val="#ppt_w"/>
                                          </p:val>
                                        </p:tav>
                                      </p:tavLst>
                                    </p:anim>
                                    <p:anim calcmode="lin" valueType="num">
                                      <p:cBhvr>
                                        <p:cTn id="8" dur="350" fill="hold"/>
                                        <p:tgtEl>
                                          <p:spTgt spid="4"/>
                                        </p:tgtEl>
                                        <p:attrNameLst>
                                          <p:attrName>ppt_h</p:attrName>
                                        </p:attrNameLst>
                                      </p:cBhvr>
                                      <p:tavLst>
                                        <p:tav tm="0">
                                          <p:val>
                                            <p:strVal val="0"/>
                                          </p:val>
                                        </p:tav>
                                        <p:tav tm="100000">
                                          <p:val>
                                            <p:strVal val="#ppt_h"/>
                                          </p:val>
                                        </p:tav>
                                      </p:tavLst>
                                    </p:anim>
                                    <p:animEffect transition="in" filter="fade">
                                      <p:cBhvr>
                                        <p:cTn id="9" dur="350"/>
                                        <p:tgtEl>
                                          <p:spTgt spid="4"/>
                                        </p:tgtEl>
                                      </p:cBhvr>
                                    </p:animEffect>
                                  </p:childTnLst>
                                </p:cTn>
                              </p:par>
                            </p:childTnLst>
                          </p:cTn>
                        </p:par>
                        <p:par>
                          <p:cTn id="10" fill="hold">
                            <p:stCondLst>
                              <p:cond delay="2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350" fill="hold"/>
                                        <p:tgtEl>
                                          <p:spTgt spid="7"/>
                                        </p:tgtEl>
                                        <p:attrNameLst>
                                          <p:attrName>ppt_w</p:attrName>
                                        </p:attrNameLst>
                                      </p:cBhvr>
                                      <p:tavLst>
                                        <p:tav tm="0">
                                          <p:val>
                                            <p:strVal val="0"/>
                                          </p:val>
                                        </p:tav>
                                        <p:tav tm="100000">
                                          <p:val>
                                            <p:strVal val="#ppt_w"/>
                                          </p:val>
                                        </p:tav>
                                      </p:tavLst>
                                    </p:anim>
                                    <p:anim calcmode="lin" valueType="num">
                                      <p:cBhvr>
                                        <p:cTn id="22" dur="350" fill="hold"/>
                                        <p:tgtEl>
                                          <p:spTgt spid="7"/>
                                        </p:tgtEl>
                                        <p:attrNameLst>
                                          <p:attrName>ppt_h</p:attrName>
                                        </p:attrNameLst>
                                      </p:cBhvr>
                                      <p:tavLst>
                                        <p:tav tm="0">
                                          <p:val>
                                            <p:strVal val="0"/>
                                          </p:val>
                                        </p:tav>
                                        <p:tav tm="100000">
                                          <p:val>
                                            <p:strVal val="#ppt_h"/>
                                          </p:val>
                                        </p:tav>
                                      </p:tavLst>
                                    </p:anim>
                                    <p:animEffect transition="in" filter="fade">
                                      <p:cBhvr>
                                        <p:cTn id="23" dur="350"/>
                                        <p:tgtEl>
                                          <p:spTgt spid="7"/>
                                        </p:tgtEl>
                                      </p:cBhvr>
                                    </p:animEffect>
                                  </p:childTnLst>
                                </p:cTn>
                              </p:par>
                            </p:childTnLst>
                          </p:cTn>
                        </p:par>
                        <p:par>
                          <p:cTn id="24" fill="hold">
                            <p:stCondLst>
                              <p:cond delay="2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Takeaways</a:t>
            </a:r>
            <a:endParaRPr lang="en-US" sz="4400" dirty="0"/>
          </a:p>
        </p:txBody>
      </p:sp>
      <p:sp>
        <p:nvSpPr>
          <p:cNvPr id="3"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algn="l" indent="0" marL="0">
              <a:buNone/>
            </a:pPr>
            <a:r>
              <a:rPr lang="en-US" sz="2000" dirty="0">
                <a:solidFill>
                  <a:schemeClr val="accent6"/>
                </a:solidFill>
              </a:rPr>
              <a:t>40 cells and one TAP buy control over the whole chip boundary</a:t>
            </a:r>
            <a:endParaRPr lang="en-US" sz="2000" dirty="0"/>
          </a:p>
        </p:txBody>
      </p:sp>
      <p:sp>
        <p:nvSpPr>
          <p:cNvPr id="4" name="tk0_h"/>
          <p:cNvSpPr txBox="1"/>
          <p:nvPr/>
        </p:nvSpPr>
        <p:spPr>
          <a:xfrm>
            <a:off x="731520" y="4572000"/>
            <a:ext cx="338328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Chip or board?</a:t>
            </a:r>
            <a:endParaRPr lang="en-US" sz="2200" dirty="0"/>
          </a:p>
        </p:txBody>
      </p:sp>
      <p:sp>
        <p:nvSpPr>
          <p:cNvPr id="5" name="tk0_b"/>
          <p:cNvSpPr txBox="1"/>
          <p:nvPr/>
        </p:nvSpPr>
        <p:spPr>
          <a:xfrm>
            <a:off x="731520" y="5074920"/>
            <a:ext cx="3291840" cy="731520"/>
          </a:xfrm>
          <a:prstGeom prst="rect">
            <a:avLst/>
          </a:prstGeom>
          <a:noFill/>
          <a:ln/>
        </p:spPr>
        <p:txBody>
          <a:bodyPr wrap="square" lIns="0" tIns="0" rIns="0" bIns="0" rtlCol="0" anchor="t"/>
          <a:lstStyle/>
          <a:p>
            <a:pPr indent="0" marL="0">
              <a:buNone/>
            </a:pPr>
            <a:r>
              <a:rPr lang="en-US" sz="1600" dirty="0">
                <a:solidFill>
                  <a:schemeClr val="bg1"/>
                </a:solidFill>
              </a:rPr>
              <a:t>SAMPLE and EXTEST answer it without firmware</a:t>
            </a:r>
            <a:endParaRPr lang="en-US" sz="1600" dirty="0"/>
          </a:p>
        </p:txBody>
      </p:sp>
      <p:sp>
        <p:nvSpPr>
          <p:cNvPr id="6" name="tk1_h"/>
          <p:cNvSpPr txBox="1"/>
          <p:nvPr/>
        </p:nvSpPr>
        <p:spPr>
          <a:xfrm>
            <a:off x="4389120" y="4572000"/>
            <a:ext cx="338328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Every pin</a:t>
            </a:r>
            <a:endParaRPr lang="en-US" sz="2200" dirty="0"/>
          </a:p>
        </p:txBody>
      </p:sp>
      <p:sp>
        <p:nvSpPr>
          <p:cNvPr id="7" name="tk1_b"/>
          <p:cNvSpPr txBox="1"/>
          <p:nvPr/>
        </p:nvSpPr>
        <p:spPr>
          <a:xfrm>
            <a:off x="4389120" y="5074920"/>
            <a:ext cx="3291840" cy="731520"/>
          </a:xfrm>
          <a:prstGeom prst="rect">
            <a:avLst/>
          </a:prstGeom>
          <a:noFill/>
          <a:ln/>
        </p:spPr>
        <p:txBody>
          <a:bodyPr wrap="square" lIns="0" tIns="0" rIns="0" bIns="0" rtlCol="0" anchor="t"/>
          <a:lstStyle/>
          <a:p>
            <a:pPr indent="0" marL="0">
              <a:buNone/>
            </a:pPr>
            <a:r>
              <a:rPr lang="en-US" sz="1600" dirty="0">
                <a:solidFill>
                  <a:schemeClr val="bg1"/>
                </a:solidFill>
              </a:rPr>
              <a:t>readable and drivable from 5 JTAG pins</a:t>
            </a:r>
            <a:endParaRPr lang="en-US" sz="1600" dirty="0"/>
          </a:p>
        </p:txBody>
      </p:sp>
      <p:sp>
        <p:nvSpPr>
          <p:cNvPr id="8" name="tk2_h"/>
          <p:cNvSpPr txBox="1"/>
          <p:nvPr/>
        </p:nvSpPr>
        <p:spPr>
          <a:xfrm>
            <a:off x="8046720" y="4572000"/>
            <a:ext cx="338328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Core in isolation</a:t>
            </a:r>
            <a:endParaRPr lang="en-US" sz="2200" dirty="0"/>
          </a:p>
        </p:txBody>
      </p:sp>
      <p:sp>
        <p:nvSpPr>
          <p:cNvPr id="9" name="tk2_b"/>
          <p:cNvSpPr txBox="1"/>
          <p:nvPr/>
        </p:nvSpPr>
        <p:spPr>
          <a:xfrm>
            <a:off x="8046720" y="5074920"/>
            <a:ext cx="3291840" cy="731520"/>
          </a:xfrm>
          <a:prstGeom prst="rect">
            <a:avLst/>
          </a:prstGeom>
          <a:noFill/>
          <a:ln/>
        </p:spPr>
        <p:txBody>
          <a:bodyPr wrap="square" lIns="0" tIns="0" rIns="0" bIns="0" rtlCol="0" anchor="t"/>
          <a:lstStyle/>
          <a:p>
            <a:pPr indent="0" marL="0">
              <a:buNone/>
            </a:pPr>
            <a:r>
              <a:rPr lang="en-US" sz="1600" dirty="0">
                <a:solidFill>
                  <a:schemeClr val="bg1"/>
                </a:solidFill>
              </a:rPr>
              <a:t>INTEST tests it with nothing on the pins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theme/theme1.xml><?xml version="1.0" encoding="utf-8"?>
<a:theme xmlns:a="http://schemas.openxmlformats.org/drawingml/2006/main" name="Croc DFT">
  <a:themeElements>
    <a:clrScheme name="Croc DFT">
      <a:dk1>
        <a:srgbClr val="1B2B2E"/>
      </a:dk1>
      <a:lt1>
        <a:srgbClr val="FFFFFF"/>
      </a:lt1>
      <a:dk2>
        <a:srgbClr val="12343B"/>
      </a:dk2>
      <a:lt2>
        <a:srgbClr val="E0F2F1"/>
      </a:lt2>
      <a:accent1>
        <a:srgbClr val="00897B"/>
      </a:accent1>
      <a:accent2>
        <a:srgbClr val="93005F"/>
      </a:accent2>
      <a:accent3>
        <a:srgbClr val="E39B2D"/>
      </a:accent3>
      <a:accent4>
        <a:srgbClr val="1565B0"/>
      </a:accent4>
      <a:accent5>
        <a:srgbClr val="6B7B7E"/>
      </a:accent5>
      <a:accent6>
        <a:srgbClr val="B2DFDB"/>
      </a:accent6>
      <a:hlink>
        <a:srgbClr val="00897B"/>
      </a:hlink>
      <a:folHlink>
        <a:srgbClr val="93005F"/>
      </a:folHlink>
    </a:clrScheme>
    <a:fontScheme name="Croc D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Boundary scan on Croc</dc:title>
  <dc:subject>PptxGenJS Presentation</dc:subject>
  <dc:creator>PptxGenJS</dc:creator>
  <cp:lastModifiedBy>PptxGenJS</cp:lastModifiedBy>
  <cp:revision>1</cp:revision>
  <dcterms:created xsi:type="dcterms:W3CDTF">2026-11-01T21:57:44Z</dcterms:created>
  <dcterms:modified xsi:type="dcterms:W3CDTF">2026-11-01T21:57:44Z</dcterms:modified>
</cp:coreProperties>
</file>