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Clicks 1-3: the three levels. Unit: a testbench around one block (tb_vad_sram_dbg, tb_march_bist_top with a behavioural SRAM fault model). SoC: C programs on the CVE2 core in tb_croc_soc (test_mbist, test_vad_mbist, test_vad_irq, the original Croc tests). Chip: tb_croc_chip, only the pads; JTAG drives boundary scan (+bscan_test) and crossbar isolation / sub access (+obi_jtag_test). Click 4: the principles. Negative controls: the VAD testbench was run against the RTL without the new interrupt bits and failed at those checks; test_vad_irq with one wrong expectation reports FAIL with that check's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1: the DFT features. Boundary scan: tb_croc_chip +bscan_test, 34 checks (chain lengths for BYPASS / SAMPLE / EXTEST / INTEST, walking patterns, INTEST with the core echoing inputs, release). March BIST: test_mbist and test_vad_mbist pass on tb_croc_soc and tb_croc_chip; the unit test tb_march_bist_top injects stuck-at, transition and read-disturb faults (result to be filled in). Crossbar isolation: tb_croc_chip +obi_jtag_test, 18 checks; with subordinate access 25 checks including the kept JTAG map. Click 2: VAD. tb_vad_sram_dbg, 1095 checks including the interrupt trigger and read-back; test_vad_irq on the SoC checks the VAD status bit, the CPU pending bit and the handler. Click 3: ATPG ablation on the DEMO netlist, 28.3 % vs 17.0 % pins-only fault coverage. Regressions: helloworld, print_config, clint, compute, gpio, obi_timer, soc_ctrl, uart, interrupts on the SoC and helloworld on the chip; test_idma not re-run. Simulators: Questa on 31 Oct; Verilator 5.020 on 1 Nov for the VAD testbench, test_vad_irq and test_interrupts.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85750" y="100012"/>
            <a:ext cx="8572500" cy="35718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12343B"/>
                </a:solidFill>
                <a:latin typeface="Calibri"/>
              </a:rPr>
              <a:t>How the additions were verified</a:t>
            </a:r>
          </a:p>
        </p:txBody>
      </p:sp>
      <p:sp>
        <p:nvSpPr>
          <p:cNvPr id="3" name="Subtitle"/>
          <p:cNvSpPr/>
          <p:nvPr/>
        </p:nvSpPr>
        <p:spPr>
          <a:xfrm>
            <a:off x="285750" y="471487"/>
            <a:ext cx="8572500" cy="24288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0">
                <a:solidFill>
                  <a:srgbClr val="9E9E9E"/>
                </a:solidFill>
                <a:latin typeface="Calibri"/>
              </a:rPr>
              <a:t>Every feature is checked on its own, then with software on the CPU, then from the chip pins like a tester.</a:t>
            </a:r>
          </a:p>
        </p:txBody>
      </p:sp>
      <p:sp>
        <p:nvSpPr>
          <p:cNvPr id="4" name="Level 1"/>
          <p:cNvSpPr/>
          <p:nvPr/>
        </p:nvSpPr>
        <p:spPr>
          <a:xfrm>
            <a:off x="285750" y="885825"/>
            <a:ext cx="2571750" cy="17859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00897B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5" name="Level 1 num"/>
          <p:cNvSpPr/>
          <p:nvPr/>
        </p:nvSpPr>
        <p:spPr>
          <a:xfrm>
            <a:off x="414337" y="1014412"/>
            <a:ext cx="314325" cy="314325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37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Level 1 head"/>
          <p:cNvSpPr/>
          <p:nvPr/>
        </p:nvSpPr>
        <p:spPr>
          <a:xfrm>
            <a:off x="828675" y="1014412"/>
            <a:ext cx="1928812" cy="31432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62" b="1">
                <a:solidFill>
                  <a:srgbClr val="12343B"/>
                </a:solidFill>
                <a:latin typeface="Calibri"/>
              </a:rPr>
              <a:t>Unit</a:t>
            </a:r>
          </a:p>
        </p:txBody>
      </p:sp>
      <p:sp>
        <p:nvSpPr>
          <p:cNvPr id="7" name="Level 1 how"/>
          <p:cNvSpPr/>
          <p:nvPr/>
        </p:nvSpPr>
        <p:spPr>
          <a:xfrm>
            <a:off x="414337" y="1428750"/>
            <a:ext cx="2314575" cy="428625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One block with simple models around it</a:t>
            </a:r>
          </a:p>
        </p:txBody>
      </p:sp>
      <p:sp>
        <p:nvSpPr>
          <p:cNvPr id="8" name="Level 1 ex"/>
          <p:cNvSpPr/>
          <p:nvPr/>
        </p:nvSpPr>
        <p:spPr>
          <a:xfrm>
            <a:off x="414337" y="1957387"/>
            <a:ext cx="2314575" cy="64293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843" b="1">
                <a:solidFill>
                  <a:srgbClr val="00897B"/>
                </a:solidFill>
                <a:latin typeface="Calibri"/>
              </a:rPr>
              <a:t>Used for</a:t>
            </a:r>
          </a:p>
          <a:p>
            <a:pPr algn="l"/>
            <a:r>
              <a:rPr sz="956" b="0">
                <a:solidFill>
                  <a:srgbClr val="9E9E9E"/>
                </a:solidFill>
                <a:latin typeface="Calibri"/>
              </a:rPr>
              <a:t>VAD registers, March BIST with injected memory faults</a:t>
            </a:r>
          </a:p>
        </p:txBody>
      </p:sp>
      <p:sp>
        <p:nvSpPr>
          <p:cNvPr id="9" name="Level 2"/>
          <p:cNvSpPr/>
          <p:nvPr/>
        </p:nvSpPr>
        <p:spPr>
          <a:xfrm>
            <a:off x="3286125" y="885825"/>
            <a:ext cx="2571750" cy="17859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1E5A8C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0" name="Level 2 num"/>
          <p:cNvSpPr/>
          <p:nvPr/>
        </p:nvSpPr>
        <p:spPr>
          <a:xfrm>
            <a:off x="3414712" y="1014412"/>
            <a:ext cx="314325" cy="314325"/>
          </a:xfrm>
          <a:prstGeom prst="ellipse">
            <a:avLst/>
          </a:prstGeom>
          <a:solidFill>
            <a:srgbClr val="1E5A8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37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Level 2 head"/>
          <p:cNvSpPr/>
          <p:nvPr/>
        </p:nvSpPr>
        <p:spPr>
          <a:xfrm>
            <a:off x="3829050" y="1014412"/>
            <a:ext cx="1928812" cy="31432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62" b="1">
                <a:solidFill>
                  <a:srgbClr val="12343B"/>
                </a:solidFill>
                <a:latin typeface="Calibri"/>
              </a:rPr>
              <a:t>SoC</a:t>
            </a:r>
          </a:p>
        </p:txBody>
      </p:sp>
      <p:sp>
        <p:nvSpPr>
          <p:cNvPr id="12" name="Level 2 how"/>
          <p:cNvSpPr/>
          <p:nvPr/>
        </p:nvSpPr>
        <p:spPr>
          <a:xfrm>
            <a:off x="3414712" y="1428750"/>
            <a:ext cx="2314575" cy="428625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Real C programs running on the CPU</a:t>
            </a:r>
          </a:p>
        </p:txBody>
      </p:sp>
      <p:sp>
        <p:nvSpPr>
          <p:cNvPr id="13" name="Level 2 ex"/>
          <p:cNvSpPr/>
          <p:nvPr/>
        </p:nvSpPr>
        <p:spPr>
          <a:xfrm>
            <a:off x="3414712" y="1957387"/>
            <a:ext cx="2314575" cy="64293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843" b="1">
                <a:solidFill>
                  <a:srgbClr val="1E5A8C"/>
                </a:solidFill>
                <a:latin typeface="Calibri"/>
              </a:rPr>
              <a:t>Used for</a:t>
            </a:r>
          </a:p>
          <a:p>
            <a:pPr algn="l"/>
            <a:r>
              <a:rPr sz="956" b="0">
                <a:solidFill>
                  <a:srgbClr val="9E9E9E"/>
                </a:solidFill>
                <a:latin typeface="Calibri"/>
              </a:rPr>
              <a:t>Memory BIST, VAD interrupt, original Croc tests</a:t>
            </a:r>
          </a:p>
        </p:txBody>
      </p:sp>
      <p:cxnSp>
        <p:nvCxnSpPr>
          <p:cNvPr id="14" name="Arrow 1"/>
          <p:cNvCxnSpPr/>
          <p:nvPr/>
        </p:nvCxnSpPr>
        <p:spPr>
          <a:xfrm>
            <a:off x="2900362" y="1778793"/>
            <a:ext cx="342900" cy="0"/>
          </a:xfrm>
          <a:prstGeom prst="line">
            <a:avLst/>
          </a:prstGeom>
          <a:ln w="38100">
            <a:solidFill>
              <a:srgbClr val="12343B"/>
            </a:solidFill>
            <a:tailEnd type="triangle" w="med" len="med"/>
          </a:ln>
        </p:spPr>
      </p:cxnSp>
      <p:sp>
        <p:nvSpPr>
          <p:cNvPr id="15" name="Level 3"/>
          <p:cNvSpPr/>
          <p:nvPr/>
        </p:nvSpPr>
        <p:spPr>
          <a:xfrm>
            <a:off x="6286500" y="885825"/>
            <a:ext cx="2571750" cy="17859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93005F"/>
            </a:solidFill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6" name="Level 3 num"/>
          <p:cNvSpPr/>
          <p:nvPr/>
        </p:nvSpPr>
        <p:spPr>
          <a:xfrm>
            <a:off x="6415087" y="1014412"/>
            <a:ext cx="314325" cy="314325"/>
          </a:xfrm>
          <a:prstGeom prst="ellipse">
            <a:avLst/>
          </a:prstGeom>
          <a:solidFill>
            <a:srgbClr val="9300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37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Level 3 head"/>
          <p:cNvSpPr/>
          <p:nvPr/>
        </p:nvSpPr>
        <p:spPr>
          <a:xfrm>
            <a:off x="6829425" y="1014412"/>
            <a:ext cx="1928812" cy="31432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62" b="1">
                <a:solidFill>
                  <a:srgbClr val="12343B"/>
                </a:solidFill>
                <a:latin typeface="Calibri"/>
              </a:rPr>
              <a:t>Chip pins</a:t>
            </a:r>
          </a:p>
        </p:txBody>
      </p:sp>
      <p:sp>
        <p:nvSpPr>
          <p:cNvPr id="18" name="Level 3 how"/>
          <p:cNvSpPr/>
          <p:nvPr/>
        </p:nvSpPr>
        <p:spPr>
          <a:xfrm>
            <a:off x="6415087" y="1428750"/>
            <a:ext cx="2314575" cy="428625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125" b="0">
                <a:solidFill>
                  <a:srgbClr val="12343B"/>
                </a:solidFill>
                <a:latin typeface="Calibri"/>
              </a:rPr>
              <a:t>Only the pins and JTAG, as on a tester</a:t>
            </a:r>
          </a:p>
        </p:txBody>
      </p:sp>
      <p:sp>
        <p:nvSpPr>
          <p:cNvPr id="19" name="Level 3 ex"/>
          <p:cNvSpPr/>
          <p:nvPr/>
        </p:nvSpPr>
        <p:spPr>
          <a:xfrm>
            <a:off x="6415087" y="1957387"/>
            <a:ext cx="2314575" cy="64293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843" b="1">
                <a:solidFill>
                  <a:srgbClr val="93005F"/>
                </a:solidFill>
                <a:latin typeface="Calibri"/>
              </a:rPr>
              <a:t>Used for</a:t>
            </a:r>
          </a:p>
          <a:p>
            <a:pPr algn="l"/>
            <a:r>
              <a:rPr sz="956" b="0">
                <a:solidFill>
                  <a:srgbClr val="9E9E9E"/>
                </a:solidFill>
                <a:latin typeface="Calibri"/>
              </a:rPr>
              <a:t>Boundary scan, crossbar isolation, sub access</a:t>
            </a:r>
          </a:p>
        </p:txBody>
      </p:sp>
      <p:cxnSp>
        <p:nvCxnSpPr>
          <p:cNvPr id="20" name="Arrow 2"/>
          <p:cNvCxnSpPr/>
          <p:nvPr/>
        </p:nvCxnSpPr>
        <p:spPr>
          <a:xfrm>
            <a:off x="5900737" y="1778793"/>
            <a:ext cx="342900" cy="0"/>
          </a:xfrm>
          <a:prstGeom prst="line">
            <a:avLst/>
          </a:prstGeom>
          <a:ln w="38100">
            <a:solidFill>
              <a:srgbClr val="12343B"/>
            </a:solidFill>
            <a:tailEnd type="triangle" w="med" len="med"/>
          </a:ln>
        </p:spPr>
      </p:cxnSp>
      <p:sp>
        <p:nvSpPr>
          <p:cNvPr id="21" name="Principle 0"/>
          <p:cNvSpPr/>
          <p:nvPr/>
        </p:nvSpPr>
        <p:spPr>
          <a:xfrm>
            <a:off x="285750" y="3000375"/>
            <a:ext cx="2714625" cy="1285875"/>
          </a:xfrm>
          <a:prstGeom prst="roundRect">
            <a:avLst>
              <a:gd name="adj" fmla="val 5555"/>
            </a:avLst>
          </a:prstGeom>
          <a:solidFill>
            <a:srgbClr val="E0F2F1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2" name="Principle 0 head"/>
          <p:cNvSpPr/>
          <p:nvPr/>
        </p:nvSpPr>
        <p:spPr>
          <a:xfrm>
            <a:off x="428625" y="3128962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37" b="1">
                <a:solidFill>
                  <a:srgbClr val="00897B"/>
                </a:solidFill>
                <a:latin typeface="Calibri"/>
              </a:rPr>
              <a:t>Self-checking</a:t>
            </a:r>
          </a:p>
        </p:txBody>
      </p:sp>
      <p:sp>
        <p:nvSpPr>
          <p:cNvPr id="23" name="Principle 0 text"/>
          <p:cNvSpPr/>
          <p:nvPr/>
        </p:nvSpPr>
        <p:spPr>
          <a:xfrm>
            <a:off x="428625" y="3443287"/>
            <a:ext cx="2428875" cy="74295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068" b="0">
                <a:solidFill>
                  <a:srgbClr val="12343B"/>
                </a:solidFill>
                <a:latin typeface="Calibri"/>
              </a:rPr>
              <a:t>Every check prints pass or fail, and each run ends with a count. Nothing is judged by eye.</a:t>
            </a:r>
          </a:p>
        </p:txBody>
      </p:sp>
      <p:sp>
        <p:nvSpPr>
          <p:cNvPr id="24" name="Principle 1"/>
          <p:cNvSpPr/>
          <p:nvPr/>
        </p:nvSpPr>
        <p:spPr>
          <a:xfrm>
            <a:off x="3214687" y="3000375"/>
            <a:ext cx="2714625" cy="1285875"/>
          </a:xfrm>
          <a:prstGeom prst="roundRect">
            <a:avLst>
              <a:gd name="adj" fmla="val 5555"/>
            </a:avLst>
          </a:prstGeom>
          <a:solidFill>
            <a:srgbClr val="E0F2F1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5" name="Principle 1 head"/>
          <p:cNvSpPr/>
          <p:nvPr/>
        </p:nvSpPr>
        <p:spPr>
          <a:xfrm>
            <a:off x="3357562" y="3128962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37" b="1">
                <a:solidFill>
                  <a:srgbClr val="00897B"/>
                </a:solidFill>
                <a:latin typeface="Calibri"/>
              </a:rPr>
              <a:t>Used as in silicon</a:t>
            </a:r>
          </a:p>
        </p:txBody>
      </p:sp>
      <p:sp>
        <p:nvSpPr>
          <p:cNvPr id="26" name="Principle 1 text"/>
          <p:cNvSpPr/>
          <p:nvPr/>
        </p:nvSpPr>
        <p:spPr>
          <a:xfrm>
            <a:off x="3357562" y="3443287"/>
            <a:ext cx="2428875" cy="74295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068" b="0">
                <a:solidFill>
                  <a:srgbClr val="12343B"/>
                </a:solidFill>
                <a:latin typeface="Calibri"/>
              </a:rPr>
              <a:t>Each feature is driven the way it will be used: by software over the bus, by a tester over JTAG, or both.</a:t>
            </a:r>
          </a:p>
        </p:txBody>
      </p:sp>
      <p:sp>
        <p:nvSpPr>
          <p:cNvPr id="27" name="Principle 2"/>
          <p:cNvSpPr/>
          <p:nvPr/>
        </p:nvSpPr>
        <p:spPr>
          <a:xfrm>
            <a:off x="6143625" y="3000375"/>
            <a:ext cx="2714625" cy="1285875"/>
          </a:xfrm>
          <a:prstGeom prst="roundRect">
            <a:avLst>
              <a:gd name="adj" fmla="val 5555"/>
            </a:avLst>
          </a:prstGeom>
          <a:solidFill>
            <a:srgbClr val="E0F2F1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8" name="Principle 2 head"/>
          <p:cNvSpPr/>
          <p:nvPr/>
        </p:nvSpPr>
        <p:spPr>
          <a:xfrm>
            <a:off x="6286500" y="3128962"/>
            <a:ext cx="2428875" cy="257175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37" b="1">
                <a:solidFill>
                  <a:srgbClr val="00897B"/>
                </a:solidFill>
                <a:latin typeface="Calibri"/>
              </a:rPr>
              <a:t>Negative controls</a:t>
            </a:r>
          </a:p>
        </p:txBody>
      </p:sp>
      <p:sp>
        <p:nvSpPr>
          <p:cNvPr id="29" name="Principle 2 text"/>
          <p:cNvSpPr/>
          <p:nvPr/>
        </p:nvSpPr>
        <p:spPr>
          <a:xfrm>
            <a:off x="6286500" y="3443287"/>
            <a:ext cx="2428875" cy="74295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1068" b="0">
                <a:solidFill>
                  <a:srgbClr val="12343B"/>
                </a:solidFill>
                <a:latin typeface="Calibri"/>
              </a:rPr>
              <a:t>Deliberately broken hardware or wrong expectations must make the test fail, and they 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85750" y="100012"/>
            <a:ext cx="8572500" cy="35718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12343B"/>
                </a:solidFill>
                <a:latin typeface="Calibri"/>
              </a:rPr>
              <a:t>Verification per feature</a:t>
            </a:r>
          </a:p>
        </p:txBody>
      </p:sp>
      <p:sp>
        <p:nvSpPr>
          <p:cNvPr id="3" name="Subtitle"/>
          <p:cNvSpPr/>
          <p:nvPr/>
        </p:nvSpPr>
        <p:spPr>
          <a:xfrm>
            <a:off x="285750" y="471487"/>
            <a:ext cx="8572500" cy="24288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0">
                <a:solidFill>
                  <a:srgbClr val="9E9E9E"/>
                </a:solidFill>
                <a:latin typeface="Calibri"/>
              </a:rPr>
              <a:t>Self-checking runs in RTL simulation. Counts are checks passed / checks run.</a:t>
            </a:r>
          </a:p>
        </p:txBody>
      </p:sp>
      <p:sp>
        <p:nvSpPr>
          <p:cNvPr id="4" name="Head Feature"/>
          <p:cNvSpPr/>
          <p:nvPr/>
        </p:nvSpPr>
        <p:spPr>
          <a:xfrm>
            <a:off x="285750" y="771525"/>
            <a:ext cx="1643062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1">
                <a:solidFill>
                  <a:srgbClr val="9E9E9E"/>
                </a:solidFill>
                <a:latin typeface="Calibri"/>
              </a:rPr>
              <a:t>Feature</a:t>
            </a:r>
          </a:p>
        </p:txBody>
      </p:sp>
      <p:sp>
        <p:nvSpPr>
          <p:cNvPr id="5" name="Head Tested at"/>
          <p:cNvSpPr/>
          <p:nvPr/>
        </p:nvSpPr>
        <p:spPr>
          <a:xfrm>
            <a:off x="2000250" y="771525"/>
            <a:ext cx="1214437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1">
                <a:solidFill>
                  <a:srgbClr val="9E9E9E"/>
                </a:solidFill>
                <a:latin typeface="Calibri"/>
              </a:rPr>
              <a:t>Tested at</a:t>
            </a:r>
          </a:p>
        </p:txBody>
      </p:sp>
      <p:sp>
        <p:nvSpPr>
          <p:cNvPr id="6" name="Head What the test shows"/>
          <p:cNvSpPr/>
          <p:nvPr/>
        </p:nvSpPr>
        <p:spPr>
          <a:xfrm>
            <a:off x="3286125" y="771525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1">
                <a:solidFill>
                  <a:srgbClr val="9E9E9E"/>
                </a:solidFill>
                <a:latin typeface="Calibri"/>
              </a:rPr>
              <a:t>What the test shows</a:t>
            </a:r>
          </a:p>
        </p:txBody>
      </p:sp>
      <p:sp>
        <p:nvSpPr>
          <p:cNvPr id="7" name="Head Result"/>
          <p:cNvSpPr/>
          <p:nvPr/>
        </p:nvSpPr>
        <p:spPr>
          <a:xfrm>
            <a:off x="7786687" y="771525"/>
            <a:ext cx="1071562" cy="228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1">
                <a:solidFill>
                  <a:srgbClr val="9E9E9E"/>
                </a:solidFill>
                <a:latin typeface="Calibri"/>
              </a:rPr>
              <a:t>Result</a:t>
            </a:r>
          </a:p>
        </p:txBody>
      </p:sp>
      <p:cxnSp>
        <p:nvCxnSpPr>
          <p:cNvPr id="8" name="Head rule"/>
          <p:cNvCxnSpPr/>
          <p:nvPr/>
        </p:nvCxnSpPr>
        <p:spPr>
          <a:xfrm>
            <a:off x="285750" y="1014412"/>
            <a:ext cx="8572500" cy="0"/>
          </a:xfrm>
          <a:prstGeom prst="line">
            <a:avLst/>
          </a:prstGeom>
          <a:ln w="12700">
            <a:solidFill>
              <a:srgbClr val="9E9E9E"/>
            </a:solidFill>
          </a:ln>
        </p:spPr>
      </p:cxnSp>
      <p:sp>
        <p:nvSpPr>
          <p:cNvPr id="9" name="Row 0 bg"/>
          <p:cNvSpPr/>
          <p:nvPr/>
        </p:nvSpPr>
        <p:spPr>
          <a:xfrm>
            <a:off x="285750" y="1064418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0" name="Row 0 feat"/>
          <p:cNvSpPr/>
          <p:nvPr/>
        </p:nvSpPr>
        <p:spPr>
          <a:xfrm>
            <a:off x="371475" y="1042987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Boundary scan</a:t>
            </a:r>
          </a:p>
        </p:txBody>
      </p:sp>
      <p:sp>
        <p:nvSpPr>
          <p:cNvPr id="11" name="Row 0 lvl"/>
          <p:cNvSpPr/>
          <p:nvPr/>
        </p:nvSpPr>
        <p:spPr>
          <a:xfrm>
            <a:off x="2000250" y="1042987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Chip pins</a:t>
            </a:r>
          </a:p>
        </p:txBody>
      </p:sp>
      <p:sp>
        <p:nvSpPr>
          <p:cNvPr id="12" name="Row 0 shows"/>
          <p:cNvSpPr/>
          <p:nvPr/>
        </p:nvSpPr>
        <p:spPr>
          <a:xfrm>
            <a:off x="3286125" y="1042987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Reads and drives every pin, feeds the core from the scan cells, then hands the pins back</a:t>
            </a:r>
          </a:p>
        </p:txBody>
      </p:sp>
      <p:sp>
        <p:nvSpPr>
          <p:cNvPr id="13" name="Row 0 res"/>
          <p:cNvSpPr/>
          <p:nvPr/>
        </p:nvSpPr>
        <p:spPr>
          <a:xfrm>
            <a:off x="7786687" y="1128712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34 / 34</a:t>
            </a:r>
          </a:p>
        </p:txBody>
      </p:sp>
      <p:sp>
        <p:nvSpPr>
          <p:cNvPr id="14" name="Row 1 bg"/>
          <p:cNvSpPr/>
          <p:nvPr/>
        </p:nvSpPr>
        <p:spPr>
          <a:xfrm>
            <a:off x="285750" y="1450181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15" name="Row 1 feat"/>
          <p:cNvSpPr/>
          <p:nvPr/>
        </p:nvSpPr>
        <p:spPr>
          <a:xfrm>
            <a:off x="371475" y="1428750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March BIST</a:t>
            </a:r>
          </a:p>
        </p:txBody>
      </p:sp>
      <p:sp>
        <p:nvSpPr>
          <p:cNvPr id="16" name="Row 1 lvl"/>
          <p:cNvSpPr/>
          <p:nvPr/>
        </p:nvSpPr>
        <p:spPr>
          <a:xfrm>
            <a:off x="2000250" y="1428750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Unit, SoC, chip</a:t>
            </a:r>
          </a:p>
        </p:txBody>
      </p:sp>
      <p:sp>
        <p:nvSpPr>
          <p:cNvPr id="17" name="Row 1 shows"/>
          <p:cNvSpPr/>
          <p:nvPr/>
        </p:nvSpPr>
        <p:spPr>
          <a:xfrm>
            <a:off x="3286125" y="1428750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All memories pass from software and JTAG; unit test runs with injected memory faults</a:t>
            </a:r>
          </a:p>
        </p:txBody>
      </p:sp>
      <p:sp>
        <p:nvSpPr>
          <p:cNvPr id="18" name="Row 1 res"/>
          <p:cNvSpPr/>
          <p:nvPr/>
        </p:nvSpPr>
        <p:spPr>
          <a:xfrm>
            <a:off x="7786687" y="1514475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SoC + chip pass</a:t>
            </a:r>
          </a:p>
        </p:txBody>
      </p:sp>
      <p:sp>
        <p:nvSpPr>
          <p:cNvPr id="19" name="Row 2 bg"/>
          <p:cNvSpPr/>
          <p:nvPr/>
        </p:nvSpPr>
        <p:spPr>
          <a:xfrm>
            <a:off x="285750" y="1835943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0" name="Row 2 feat"/>
          <p:cNvSpPr/>
          <p:nvPr/>
        </p:nvSpPr>
        <p:spPr>
          <a:xfrm>
            <a:off x="371475" y="1814512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Crossbar isolation</a:t>
            </a:r>
          </a:p>
        </p:txBody>
      </p:sp>
      <p:sp>
        <p:nvSpPr>
          <p:cNvPr id="21" name="Row 2 lvl"/>
          <p:cNvSpPr/>
          <p:nvPr/>
        </p:nvSpPr>
        <p:spPr>
          <a:xfrm>
            <a:off x="2000250" y="1814512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Chip pins</a:t>
            </a:r>
          </a:p>
        </p:txBody>
      </p:sp>
      <p:sp>
        <p:nvSpPr>
          <p:cNvPr id="22" name="Row 2 shows"/>
          <p:cNvSpPr/>
          <p:nvPr/>
        </p:nvSpPr>
        <p:spPr>
          <a:xfrm>
            <a:off x="3286125" y="1814512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Each route and the error path, a remapped address map, nothing leaks while isolated</a:t>
            </a:r>
          </a:p>
        </p:txBody>
      </p:sp>
      <p:sp>
        <p:nvSpPr>
          <p:cNvPr id="23" name="Row 2 res"/>
          <p:cNvSpPr/>
          <p:nvPr/>
        </p:nvSpPr>
        <p:spPr>
          <a:xfrm>
            <a:off x="7786687" y="1900237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18 / 18</a:t>
            </a:r>
          </a:p>
        </p:txBody>
      </p:sp>
      <p:sp>
        <p:nvSpPr>
          <p:cNvPr id="24" name="Row 3 bg"/>
          <p:cNvSpPr/>
          <p:nvPr/>
        </p:nvSpPr>
        <p:spPr>
          <a:xfrm>
            <a:off x="285750" y="2221706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25" name="Row 3 feat"/>
          <p:cNvSpPr/>
          <p:nvPr/>
        </p:nvSpPr>
        <p:spPr>
          <a:xfrm>
            <a:off x="371475" y="2200275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Subordinate access</a:t>
            </a:r>
          </a:p>
        </p:txBody>
      </p:sp>
      <p:sp>
        <p:nvSpPr>
          <p:cNvPr id="26" name="Row 3 lvl"/>
          <p:cNvSpPr/>
          <p:nvPr/>
        </p:nvSpPr>
        <p:spPr>
          <a:xfrm>
            <a:off x="2000250" y="2200275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Chip pins</a:t>
            </a:r>
          </a:p>
        </p:txBody>
      </p:sp>
      <p:sp>
        <p:nvSpPr>
          <p:cNvPr id="27" name="Row 3 shows"/>
          <p:cNvSpPr/>
          <p:nvPr/>
        </p:nvSpPr>
        <p:spPr>
          <a:xfrm>
            <a:off x="3286125" y="2200275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JTAG writes and reads a real memory; each transfer arrives exactly once; errors come back</a:t>
            </a:r>
          </a:p>
        </p:txBody>
      </p:sp>
      <p:sp>
        <p:nvSpPr>
          <p:cNvPr id="28" name="Row 3 res"/>
          <p:cNvSpPr/>
          <p:nvPr/>
        </p:nvSpPr>
        <p:spPr>
          <a:xfrm>
            <a:off x="7786687" y="2286000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25 / 25</a:t>
            </a:r>
          </a:p>
        </p:txBody>
      </p:sp>
      <p:sp>
        <p:nvSpPr>
          <p:cNvPr id="29" name="Row 4 bg"/>
          <p:cNvSpPr/>
          <p:nvPr/>
        </p:nvSpPr>
        <p:spPr>
          <a:xfrm>
            <a:off x="285750" y="2607468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30" name="Row 4 feat"/>
          <p:cNvSpPr/>
          <p:nvPr/>
        </p:nvSpPr>
        <p:spPr>
          <a:xfrm>
            <a:off x="371475" y="2586037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VAD observability</a:t>
            </a:r>
          </a:p>
        </p:txBody>
      </p:sp>
      <p:sp>
        <p:nvSpPr>
          <p:cNvPr id="31" name="Row 4 lvl"/>
          <p:cNvSpPr/>
          <p:nvPr/>
        </p:nvSpPr>
        <p:spPr>
          <a:xfrm>
            <a:off x="2000250" y="2586037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Unit</a:t>
            </a:r>
          </a:p>
        </p:txBody>
      </p:sp>
      <p:sp>
        <p:nvSpPr>
          <p:cNvPr id="32" name="Row 4 shows"/>
          <p:cNvSpPr/>
          <p:nvPr/>
        </p:nvSpPr>
        <p:spPr>
          <a:xfrm>
            <a:off x="3286125" y="2586037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Frame memory access; energy and zero crossings match a model; decision on chosen values</a:t>
            </a:r>
          </a:p>
        </p:txBody>
      </p:sp>
      <p:sp>
        <p:nvSpPr>
          <p:cNvPr id="33" name="Row 4 res"/>
          <p:cNvSpPr/>
          <p:nvPr/>
        </p:nvSpPr>
        <p:spPr>
          <a:xfrm>
            <a:off x="7786687" y="2671762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1,095 / 1,095</a:t>
            </a:r>
          </a:p>
        </p:txBody>
      </p:sp>
      <p:sp>
        <p:nvSpPr>
          <p:cNvPr id="34" name="Row 5 bg"/>
          <p:cNvSpPr/>
          <p:nvPr/>
        </p:nvSpPr>
        <p:spPr>
          <a:xfrm>
            <a:off x="285750" y="2993231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35" name="Row 5 feat"/>
          <p:cNvSpPr/>
          <p:nvPr/>
        </p:nvSpPr>
        <p:spPr>
          <a:xfrm>
            <a:off x="371475" y="2971800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VAD interrupt</a:t>
            </a:r>
          </a:p>
        </p:txBody>
      </p:sp>
      <p:sp>
        <p:nvSpPr>
          <p:cNvPr id="36" name="Row 5 lvl"/>
          <p:cNvSpPr/>
          <p:nvPr/>
        </p:nvSpPr>
        <p:spPr>
          <a:xfrm>
            <a:off x="2000250" y="2971800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Unit, SoC</a:t>
            </a:r>
          </a:p>
        </p:txBody>
      </p:sp>
      <p:sp>
        <p:nvSpPr>
          <p:cNvPr id="37" name="Row 5 shows"/>
          <p:cNvSpPr/>
          <p:nvPr/>
        </p:nvSpPr>
        <p:spPr>
          <a:xfrm>
            <a:off x="3286125" y="2971800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Fired on demand, seen in the VAD and the CPU, taken once, cleared by software</a:t>
            </a:r>
          </a:p>
        </p:txBody>
      </p:sp>
      <p:sp>
        <p:nvSpPr>
          <p:cNvPr id="38" name="Row 5 res"/>
          <p:cNvSpPr/>
          <p:nvPr/>
        </p:nvSpPr>
        <p:spPr>
          <a:xfrm>
            <a:off x="7786687" y="3057525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9" name="Row 6 bg"/>
          <p:cNvSpPr/>
          <p:nvPr/>
        </p:nvSpPr>
        <p:spPr>
          <a:xfrm>
            <a:off x="285750" y="3378993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0" name="Row 6 feat"/>
          <p:cNvSpPr/>
          <p:nvPr/>
        </p:nvSpPr>
        <p:spPr>
          <a:xfrm>
            <a:off x="371475" y="3357562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Testability</a:t>
            </a:r>
          </a:p>
        </p:txBody>
      </p:sp>
      <p:sp>
        <p:nvSpPr>
          <p:cNvPr id="41" name="Row 6 lvl"/>
          <p:cNvSpPr/>
          <p:nvPr/>
        </p:nvSpPr>
        <p:spPr>
          <a:xfrm>
            <a:off x="2000250" y="3357562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ATPG</a:t>
            </a:r>
          </a:p>
        </p:txBody>
      </p:sp>
      <p:sp>
        <p:nvSpPr>
          <p:cNvPr id="42" name="Row 6 shows"/>
          <p:cNvSpPr/>
          <p:nvPr/>
        </p:nvSpPr>
        <p:spPr>
          <a:xfrm>
            <a:off x="3286125" y="3357562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Same netlist, registers reachable vs. cut off: pin-level fault coverage 17 % → 28 %</a:t>
            </a:r>
          </a:p>
        </p:txBody>
      </p:sp>
      <p:sp>
        <p:nvSpPr>
          <p:cNvPr id="43" name="Row 6 res"/>
          <p:cNvSpPr/>
          <p:nvPr/>
        </p:nvSpPr>
        <p:spPr>
          <a:xfrm>
            <a:off x="7786687" y="3443287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+11 points</a:t>
            </a:r>
          </a:p>
        </p:txBody>
      </p:sp>
      <p:sp>
        <p:nvSpPr>
          <p:cNvPr id="44" name="Row 7 bg"/>
          <p:cNvSpPr/>
          <p:nvPr/>
        </p:nvSpPr>
        <p:spPr>
          <a:xfrm>
            <a:off x="285750" y="3764756"/>
            <a:ext cx="8572500" cy="3429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28575" rIns="28575" tIns="28575" bIns="28575"/>
          <a:lstStyle/>
          <a:p>
            <a:pPr algn="ctr"/>
          </a:p>
        </p:txBody>
      </p:sp>
      <p:sp>
        <p:nvSpPr>
          <p:cNvPr id="45" name="Row 7 feat"/>
          <p:cNvSpPr/>
          <p:nvPr/>
        </p:nvSpPr>
        <p:spPr>
          <a:xfrm>
            <a:off x="371475" y="3743325"/>
            <a:ext cx="15716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012" b="1">
                <a:solidFill>
                  <a:srgbClr val="12343B"/>
                </a:solidFill>
                <a:latin typeface="Calibri"/>
              </a:rPr>
              <a:t>No regressions</a:t>
            </a:r>
          </a:p>
        </p:txBody>
      </p:sp>
      <p:sp>
        <p:nvSpPr>
          <p:cNvPr id="46" name="Row 7 lvl"/>
          <p:cNvSpPr/>
          <p:nvPr/>
        </p:nvSpPr>
        <p:spPr>
          <a:xfrm>
            <a:off x="2000250" y="3743325"/>
            <a:ext cx="1214437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9E9E9E"/>
                </a:solidFill>
                <a:latin typeface="Calibri"/>
              </a:rPr>
              <a:t>SoC, chip</a:t>
            </a:r>
          </a:p>
        </p:txBody>
      </p:sp>
      <p:sp>
        <p:nvSpPr>
          <p:cNvPr id="47" name="Row 7 shows"/>
          <p:cNvSpPr/>
          <p:nvPr/>
        </p:nvSpPr>
        <p:spPr>
          <a:xfrm>
            <a:off x="3286125" y="3743325"/>
            <a:ext cx="4429125" cy="3857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900" b="0">
                <a:solidFill>
                  <a:srgbClr val="12343B"/>
                </a:solidFill>
                <a:latin typeface="Calibri"/>
              </a:rPr>
              <a:t>The original Croc tests still pass with every addition in place</a:t>
            </a:r>
          </a:p>
        </p:txBody>
      </p:sp>
      <p:sp>
        <p:nvSpPr>
          <p:cNvPr id="48" name="Row 7 res"/>
          <p:cNvSpPr/>
          <p:nvPr/>
        </p:nvSpPr>
        <p:spPr>
          <a:xfrm>
            <a:off x="7786687" y="3829050"/>
            <a:ext cx="1000125" cy="214312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43" b="1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  <p:sp>
        <p:nvSpPr>
          <p:cNvPr id="49" name="Limits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12343B"/>
          </a:solidFill>
          <a:ln>
            <a:noFill/>
          </a:ln>
        </p:spPr>
        <p:txBody>
          <a:bodyPr rtlCol="0" anchor="ctr" wrap="square" lIns="285750" rIns="285750" tIns="285750" bIns="285750"/>
          <a:lstStyle/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RTL simulation only: no gate-level or tester runs yet. The boundary-scan and isolation runs are older than the</a:t>
            </a:r>
          </a:p>
          <a:p>
            <a:pPr algn="l"/>
            <a:r>
              <a:rPr sz="1237" b="0">
                <a:solidFill>
                  <a:srgbClr val="FFFFFF"/>
                </a:solidFill>
                <a:latin typeface="Calibri"/>
              </a:rPr>
              <a:t>last RTL edits and need a rerun; the BIST fault-injection unit results are still to be added.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