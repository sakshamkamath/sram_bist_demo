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original VAD. Software writes enable and the two thresholds and only gets the wake-up bit back, so a wrong decision cannot be traced to the microphone data, the energy / ZCR computation or the thresholds. Click 1: frame memory access. Software takes the frame SRAMs (audio is dropped meanwhile), writes or reads samples with auto-increment and kicks the core on a chosen bank: a known stimulus in, the stored audio out. Click 2: the core keeps the energy and zero-crossing count of the last frame in registers; software can read them, or write values and run only the comparator (EVAL), which sets the speech flag like a real frame. Click 3: the core's speech output is a one-cycle pulse per frame; the sticky flag holds it until software writes 1 to clear it. Status also shows which ping-pong bank the microphone fills and which the core reads, the next sample slot of the writer (does audio arrive, how full is the frame) and a read-pending bit for SRAM debug reads. Interrupt: before, the line was the raw one-cycle decision pulse, which software could not mask, acknowledge or catch while busy. Now it is the sticky flag AND an enable bit (held until cleared), software can fire it on demand with the IRQ_TRIG command (no audio, works outside debug mode) and read the line back in the status register, so the whole path flag, enable, line, CPU can be tested. Click 4, first line: TetraMAX pins-only ATPG on the same DEMO netlist with the same limits, once as built and once with OBI address bit 6 tied to 0 so these registers are unreachable: 28.3 % vs 17.0 % fault coverage, DSP core 23.5 % vs 5.0 %. Of the 2858 faults only detected with the registers, 1433 were not observed and 792 not controlled without them. Second line: measured in gate-level simulation on the synthesized netlists: an OBI write of a threshold takes 2 cycles; the same through the scan chain needs one full recirculating pass (299 flops in NORMAL, 560 in DEMO) with the clock in test mode, and the SRAM contents are not reachable by scan.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p:nvPr/>
        </p:nvSpPr>
        <p:spPr>
          <a:xfrm>
            <a:off x="285750" y="100012"/>
            <a:ext cx="8572500" cy="357187"/>
          </a:xfrm>
          <a:prstGeom prst="rect">
            <a:avLst/>
          </a:prstGeom>
          <a:noFill/>
          <a:ln>
            <a:noFill/>
          </a:ln>
        </p:spPr>
        <p:txBody>
          <a:bodyPr rtlCol="0" anchor="ctr" wrap="square" lIns="0" rIns="0" tIns="0" bIns="0"/>
          <a:lstStyle/>
          <a:p>
            <a:pPr algn="l"/>
            <a:r>
              <a:rPr sz="1800" b="1">
                <a:solidFill>
                  <a:srgbClr val="12343B"/>
                </a:solidFill>
                <a:latin typeface="Calibri"/>
              </a:rPr>
              <a:t>VAD: debug, observability and controllability registers</a:t>
            </a:r>
          </a:p>
        </p:txBody>
      </p:sp>
      <p:sp>
        <p:nvSpPr>
          <p:cNvPr id="3" name="Subtitle"/>
          <p:cNvSpPr/>
          <p:nvPr/>
        </p:nvSpPr>
        <p:spPr>
          <a:xfrm>
            <a:off x="285750" y="471487"/>
            <a:ext cx="8572500" cy="242887"/>
          </a:xfrm>
          <a:prstGeom prst="rect">
            <a:avLst/>
          </a:prstGeom>
          <a:noFill/>
          <a:ln>
            <a:noFill/>
          </a:ln>
        </p:spPr>
        <p:txBody>
          <a:bodyPr rtlCol="0" anchor="ctr" wrap="square" lIns="0" rIns="0" tIns="0" bIns="0"/>
          <a:lstStyle/>
          <a:p>
            <a:pPr algn="l"/>
            <a:r>
              <a:rPr sz="1012" b="0">
                <a:solidFill>
                  <a:srgbClr val="9E9E9E"/>
                </a:solidFill>
                <a:latin typeface="Calibri"/>
              </a:rPr>
              <a:t>Before: software could only switch the VAD on, set the thresholds and get yes / no back. Now it can see inside every step and drive it.</a:t>
            </a:r>
          </a:p>
        </p:txBody>
      </p:sp>
      <p:sp>
        <p:nvSpPr>
          <p:cNvPr id="4" name="Block Mic"/>
          <p:cNvSpPr/>
          <p:nvPr/>
        </p:nvSpPr>
        <p:spPr>
          <a:xfrm>
            <a:off x="285750" y="928687"/>
            <a:ext cx="857250" cy="685800"/>
          </a:xfrm>
          <a:prstGeom prst="roundRect">
            <a:avLst>
              <a:gd name="adj" fmla="val 10416"/>
            </a:avLst>
          </a:prstGeom>
          <a:solidFill>
            <a:srgbClr val="F5F5F5"/>
          </a:solidFill>
          <a:ln w="19050">
            <a:solidFill>
              <a:srgbClr val="12343B"/>
            </a:solidFill>
          </a:ln>
        </p:spPr>
        <p:txBody>
          <a:bodyPr rtlCol="0" anchor="ctr" wrap="square" lIns="28575" rIns="28575" tIns="28575" bIns="28575"/>
          <a:lstStyle/>
          <a:p>
            <a:pPr algn="ctr"/>
            <a:r>
              <a:rPr sz="1068" b="1">
                <a:solidFill>
                  <a:srgbClr val="12343B"/>
                </a:solidFill>
                <a:latin typeface="Calibri"/>
              </a:rPr>
              <a:t>Microphone</a:t>
            </a:r>
          </a:p>
          <a:p>
            <a:pPr algn="ctr"/>
            <a:r>
              <a:rPr sz="787" b="0">
                <a:solidFill>
                  <a:srgbClr val="9E9E9E"/>
                </a:solidFill>
                <a:latin typeface="Calibri"/>
              </a:rPr>
              <a:t>(I2S)</a:t>
            </a:r>
          </a:p>
        </p:txBody>
      </p:sp>
      <p:sp>
        <p:nvSpPr>
          <p:cNvPr id="5" name="Block FB"/>
          <p:cNvSpPr/>
          <p:nvPr/>
        </p:nvSpPr>
        <p:spPr>
          <a:xfrm>
            <a:off x="1357312" y="928687"/>
            <a:ext cx="2071687" cy="685800"/>
          </a:xfrm>
          <a:prstGeom prst="roundRect">
            <a:avLst>
              <a:gd name="adj" fmla="val 10416"/>
            </a:avLst>
          </a:prstGeom>
          <a:solidFill>
            <a:srgbClr val="F5F5F5"/>
          </a:solidFill>
          <a:ln w="19050">
            <a:solidFill>
              <a:srgbClr val="12343B"/>
            </a:solidFill>
          </a:ln>
        </p:spPr>
        <p:txBody>
          <a:bodyPr rtlCol="0" anchor="ctr" wrap="square" lIns="28575" rIns="28575" tIns="28575" bIns="28575"/>
          <a:lstStyle/>
          <a:p>
            <a:pPr algn="ctr"/>
            <a:r>
              <a:rPr sz="1068" b="1">
                <a:solidFill>
                  <a:srgbClr val="12343B"/>
                </a:solidFill>
                <a:latin typeface="Calibri"/>
              </a:rPr>
              <a:t>Frame buffer</a:t>
            </a:r>
          </a:p>
          <a:p>
            <a:pPr algn="ctr"/>
            <a:r>
              <a:rPr sz="787" b="0">
                <a:solidFill>
                  <a:srgbClr val="9E9E9E"/>
                </a:solidFill>
                <a:latin typeface="Calibri"/>
              </a:rPr>
              <a:t>2 SRAM banks, ping-pong</a:t>
            </a:r>
          </a:p>
        </p:txBody>
      </p:sp>
      <p:sp>
        <p:nvSpPr>
          <p:cNvPr id="6" name="Block DSP"/>
          <p:cNvSpPr/>
          <p:nvPr/>
        </p:nvSpPr>
        <p:spPr>
          <a:xfrm>
            <a:off x="3643312" y="928687"/>
            <a:ext cx="1643062" cy="685800"/>
          </a:xfrm>
          <a:prstGeom prst="roundRect">
            <a:avLst>
              <a:gd name="adj" fmla="val 10416"/>
            </a:avLst>
          </a:prstGeom>
          <a:solidFill>
            <a:srgbClr val="F5F5F5"/>
          </a:solidFill>
          <a:ln w="19050">
            <a:solidFill>
              <a:srgbClr val="12343B"/>
            </a:solidFill>
          </a:ln>
        </p:spPr>
        <p:txBody>
          <a:bodyPr rtlCol="0" anchor="ctr" wrap="square" lIns="28575" rIns="28575" tIns="28575" bIns="28575"/>
          <a:lstStyle/>
          <a:p>
            <a:pPr algn="ctr"/>
            <a:r>
              <a:rPr sz="1068" b="1">
                <a:solidFill>
                  <a:srgbClr val="12343B"/>
                </a:solidFill>
                <a:latin typeface="Calibri"/>
              </a:rPr>
              <a:t>DSP core</a:t>
            </a:r>
          </a:p>
          <a:p>
            <a:pPr algn="ctr"/>
            <a:r>
              <a:rPr sz="787" b="0">
                <a:solidFill>
                  <a:srgbClr val="9E9E9E"/>
                </a:solidFill>
                <a:latin typeface="Calibri"/>
              </a:rPr>
              <a:t>energy + zero crossings</a:t>
            </a:r>
          </a:p>
        </p:txBody>
      </p:sp>
      <p:sp>
        <p:nvSpPr>
          <p:cNvPr id="7" name="Block DEC"/>
          <p:cNvSpPr/>
          <p:nvPr/>
        </p:nvSpPr>
        <p:spPr>
          <a:xfrm>
            <a:off x="5500687" y="928687"/>
            <a:ext cx="1357312" cy="685800"/>
          </a:xfrm>
          <a:prstGeom prst="roundRect">
            <a:avLst>
              <a:gd name="adj" fmla="val 10416"/>
            </a:avLst>
          </a:prstGeom>
          <a:solidFill>
            <a:srgbClr val="F5F5F5"/>
          </a:solidFill>
          <a:ln w="19050">
            <a:solidFill>
              <a:srgbClr val="12343B"/>
            </a:solidFill>
          </a:ln>
        </p:spPr>
        <p:txBody>
          <a:bodyPr rtlCol="0" anchor="ctr" wrap="square" lIns="28575" rIns="28575" tIns="28575" bIns="28575"/>
          <a:lstStyle/>
          <a:p>
            <a:pPr algn="ctr"/>
            <a:r>
              <a:rPr sz="1068" b="1">
                <a:solidFill>
                  <a:srgbClr val="12343B"/>
                </a:solidFill>
                <a:latin typeface="Calibri"/>
              </a:rPr>
              <a:t>Decision</a:t>
            </a:r>
          </a:p>
          <a:p>
            <a:pPr algn="ctr"/>
            <a:r>
              <a:rPr sz="787" b="0">
                <a:solidFill>
                  <a:srgbClr val="9E9E9E"/>
                </a:solidFill>
                <a:latin typeface="Calibri"/>
              </a:rPr>
              <a:t>vs thresholds</a:t>
            </a:r>
          </a:p>
        </p:txBody>
      </p:sp>
      <p:sp>
        <p:nvSpPr>
          <p:cNvPr id="8" name="Block WK"/>
          <p:cNvSpPr/>
          <p:nvPr/>
        </p:nvSpPr>
        <p:spPr>
          <a:xfrm>
            <a:off x="7072312" y="928687"/>
            <a:ext cx="1785937" cy="685800"/>
          </a:xfrm>
          <a:prstGeom prst="roundRect">
            <a:avLst>
              <a:gd name="adj" fmla="val 10416"/>
            </a:avLst>
          </a:prstGeom>
          <a:solidFill>
            <a:srgbClr val="F5F5F5"/>
          </a:solidFill>
          <a:ln w="19050">
            <a:solidFill>
              <a:srgbClr val="12343B"/>
            </a:solidFill>
          </a:ln>
        </p:spPr>
        <p:txBody>
          <a:bodyPr rtlCol="0" anchor="ctr" wrap="square" lIns="28575" rIns="28575" tIns="28575" bIns="28575"/>
          <a:lstStyle/>
          <a:p>
            <a:pPr algn="ctr"/>
            <a:r>
              <a:rPr sz="1068" b="1">
                <a:solidFill>
                  <a:srgbClr val="12343B"/>
                </a:solidFill>
                <a:latin typeface="Calibri"/>
              </a:rPr>
              <a:t>Wake-up</a:t>
            </a:r>
          </a:p>
          <a:p>
            <a:pPr algn="ctr"/>
            <a:r>
              <a:rPr sz="787" b="0">
                <a:solidFill>
                  <a:srgbClr val="9E9E9E"/>
                </a:solidFill>
                <a:latin typeface="Calibri"/>
              </a:rPr>
              <a:t>speech / no speech</a:t>
            </a:r>
          </a:p>
        </p:txBody>
      </p:sp>
      <p:cxnSp>
        <p:nvCxnSpPr>
          <p:cNvPr id="9" name="Flow Mic-FB"/>
          <p:cNvCxnSpPr/>
          <p:nvPr/>
        </p:nvCxnSpPr>
        <p:spPr>
          <a:xfrm>
            <a:off x="1143000" y="1271587"/>
            <a:ext cx="214312" cy="0"/>
          </a:xfrm>
          <a:prstGeom prst="line">
            <a:avLst/>
          </a:prstGeom>
          <a:ln w="31750">
            <a:solidFill>
              <a:srgbClr val="12343B"/>
            </a:solidFill>
            <a:tailEnd type="triangle" w="med" len="med"/>
          </a:ln>
        </p:spPr>
      </p:cxnSp>
      <p:cxnSp>
        <p:nvCxnSpPr>
          <p:cNvPr id="10" name="Flow FB-DSP"/>
          <p:cNvCxnSpPr/>
          <p:nvPr/>
        </p:nvCxnSpPr>
        <p:spPr>
          <a:xfrm>
            <a:off x="3429000" y="1271587"/>
            <a:ext cx="214312" cy="0"/>
          </a:xfrm>
          <a:prstGeom prst="line">
            <a:avLst/>
          </a:prstGeom>
          <a:ln w="31750">
            <a:solidFill>
              <a:srgbClr val="12343B"/>
            </a:solidFill>
            <a:tailEnd type="triangle" w="med" len="med"/>
          </a:ln>
        </p:spPr>
      </p:cxnSp>
      <p:cxnSp>
        <p:nvCxnSpPr>
          <p:cNvPr id="11" name="Flow DSP-DEC"/>
          <p:cNvCxnSpPr/>
          <p:nvPr/>
        </p:nvCxnSpPr>
        <p:spPr>
          <a:xfrm>
            <a:off x="5286375" y="1271587"/>
            <a:ext cx="214312" cy="0"/>
          </a:xfrm>
          <a:prstGeom prst="line">
            <a:avLst/>
          </a:prstGeom>
          <a:ln w="31750">
            <a:solidFill>
              <a:srgbClr val="12343B"/>
            </a:solidFill>
            <a:tailEnd type="triangle" w="med" len="med"/>
          </a:ln>
        </p:spPr>
      </p:cxnSp>
      <p:cxnSp>
        <p:nvCxnSpPr>
          <p:cNvPr id="12" name="Flow DEC-WK"/>
          <p:cNvCxnSpPr/>
          <p:nvPr/>
        </p:nvCxnSpPr>
        <p:spPr>
          <a:xfrm>
            <a:off x="6858000" y="1271587"/>
            <a:ext cx="214312" cy="0"/>
          </a:xfrm>
          <a:prstGeom prst="line">
            <a:avLst/>
          </a:prstGeom>
          <a:ln w="31750">
            <a:solidFill>
              <a:srgbClr val="12343B"/>
            </a:solidFill>
            <a:tailEnd type="triangle" w="med" len="med"/>
          </a:ln>
        </p:spPr>
      </p:cxnSp>
      <p:sp>
        <p:nvSpPr>
          <p:cNvPr id="13" name="Bus"/>
          <p:cNvSpPr/>
          <p:nvPr/>
        </p:nvSpPr>
        <p:spPr>
          <a:xfrm>
            <a:off x="285750" y="3771900"/>
            <a:ext cx="8572500" cy="342900"/>
          </a:xfrm>
          <a:prstGeom prst="roundRect">
            <a:avLst>
              <a:gd name="adj" fmla="val 15000"/>
            </a:avLst>
          </a:prstGeom>
          <a:solidFill>
            <a:srgbClr val="12343B"/>
          </a:solidFill>
          <a:ln>
            <a:noFill/>
          </a:ln>
        </p:spPr>
        <p:txBody>
          <a:bodyPr rtlCol="0" anchor="ctr" wrap="square" lIns="28575" rIns="28575" tIns="28575" bIns="28575"/>
          <a:lstStyle/>
          <a:p>
            <a:pPr algn="ctr"/>
            <a:r>
              <a:rPr sz="1068" b="1">
                <a:solidFill>
                  <a:srgbClr val="FFFFFF"/>
                </a:solidFill>
                <a:latin typeface="Calibri"/>
              </a:rPr>
              <a:t>Software over the bus (register interface)</a:t>
            </a:r>
          </a:p>
        </p:txBody>
      </p:sp>
      <p:cxnSp>
        <p:nvCxnSpPr>
          <p:cNvPr id="14" name="Normal thresholds"/>
          <p:cNvCxnSpPr/>
          <p:nvPr/>
        </p:nvCxnSpPr>
        <p:spPr>
          <a:xfrm flipV="1">
            <a:off x="6572250" y="1614487"/>
            <a:ext cx="0" cy="2157413"/>
          </a:xfrm>
          <a:prstGeom prst="line">
            <a:avLst/>
          </a:prstGeom>
          <a:ln w="31750">
            <a:solidFill>
              <a:srgbClr val="9E9E9E"/>
            </a:solidFill>
            <a:tailEnd type="triangle" w="med" len="med"/>
          </a:ln>
        </p:spPr>
      </p:cxnSp>
      <p:sp>
        <p:nvSpPr>
          <p:cNvPr id="15" name="Normal thr label"/>
          <p:cNvSpPr/>
          <p:nvPr/>
        </p:nvSpPr>
        <p:spPr>
          <a:xfrm>
            <a:off x="6615112" y="2357437"/>
            <a:ext cx="442912" cy="428625"/>
          </a:xfrm>
          <a:prstGeom prst="rect">
            <a:avLst/>
          </a:prstGeom>
          <a:noFill/>
          <a:ln>
            <a:noFill/>
          </a:ln>
        </p:spPr>
        <p:txBody>
          <a:bodyPr rtlCol="0" anchor="ctr" wrap="square" lIns="0" rIns="0" tIns="0" bIns="0"/>
          <a:lstStyle/>
          <a:p>
            <a:pPr algn="l"/>
            <a:r>
              <a:rPr sz="731" b="0">
                <a:solidFill>
                  <a:srgbClr val="9E9E9E"/>
                </a:solidFill>
                <a:latin typeface="Calibri"/>
              </a:rPr>
              <a:t>enable,</a:t>
            </a:r>
          </a:p>
          <a:p>
            <a:pPr algn="l"/>
            <a:r>
              <a:rPr sz="731" b="0">
                <a:solidFill>
                  <a:srgbClr val="9E9E9E"/>
                </a:solidFill>
                <a:latin typeface="Calibri"/>
              </a:rPr>
              <a:t>thresholds</a:t>
            </a:r>
          </a:p>
        </p:txBody>
      </p:sp>
      <p:sp>
        <p:nvSpPr>
          <p:cNvPr id="16" name="Normal note"/>
          <p:cNvSpPr/>
          <p:nvPr/>
        </p:nvSpPr>
        <p:spPr>
          <a:xfrm>
            <a:off x="7072312" y="1671637"/>
            <a:ext cx="1285875" cy="314325"/>
          </a:xfrm>
          <a:prstGeom prst="rect">
            <a:avLst/>
          </a:prstGeom>
          <a:noFill/>
          <a:ln>
            <a:noFill/>
          </a:ln>
        </p:spPr>
        <p:txBody>
          <a:bodyPr rtlCol="0" anchor="t" wrap="square" lIns="0" rIns="0" tIns="0" bIns="0"/>
          <a:lstStyle/>
          <a:p>
            <a:pPr algn="l"/>
            <a:r>
              <a:rPr sz="731" b="0">
                <a:solidFill>
                  <a:srgbClr val="9E9E9E"/>
                </a:solidFill>
                <a:latin typeface="Calibri"/>
              </a:rPr>
              <a:t>Before: only this yes / no</a:t>
            </a:r>
          </a:p>
          <a:p>
            <a:pPr algn="l"/>
            <a:r>
              <a:rPr sz="731" b="0">
                <a:solidFill>
                  <a:srgbClr val="9E9E9E"/>
                </a:solidFill>
                <a:latin typeface="Calibri"/>
              </a:rPr>
              <a:t>came out of the VAD</a:t>
            </a:r>
          </a:p>
        </p:txBody>
      </p:sp>
      <p:sp>
        <p:nvSpPr>
          <p:cNvPr id="17" name="Card 1"/>
          <p:cNvSpPr/>
          <p:nvPr/>
        </p:nvSpPr>
        <p:spPr>
          <a:xfrm>
            <a:off x="1214437" y="2000250"/>
            <a:ext cx="2286000" cy="1414462"/>
          </a:xfrm>
          <a:prstGeom prst="roundRect">
            <a:avLst>
              <a:gd name="adj" fmla="val 5050"/>
            </a:avLst>
          </a:prstGeom>
          <a:solidFill>
            <a:srgbClr val="FFFFFF"/>
          </a:solidFill>
          <a:ln w="31750">
            <a:solidFill>
              <a:srgbClr val="00897B"/>
            </a:solidFill>
          </a:ln>
        </p:spPr>
        <p:txBody>
          <a:bodyPr rtlCol="0" anchor="ctr" wrap="square" lIns="28575" rIns="28575" tIns="28575" bIns="28575"/>
          <a:lstStyle/>
          <a:p>
            <a:pPr algn="ctr"/>
          </a:p>
        </p:txBody>
      </p:sp>
      <p:sp>
        <p:nvSpPr>
          <p:cNvPr id="18" name="Card 1 head"/>
          <p:cNvSpPr/>
          <p:nvPr/>
        </p:nvSpPr>
        <p:spPr>
          <a:xfrm>
            <a:off x="1214437" y="2000250"/>
            <a:ext cx="2286000" cy="257175"/>
          </a:xfrm>
          <a:prstGeom prst="roundRect">
            <a:avLst>
              <a:gd name="adj" fmla="val 15000"/>
            </a:avLst>
          </a:prstGeom>
          <a:solidFill>
            <a:srgbClr val="00897B"/>
          </a:solidFill>
          <a:ln>
            <a:noFill/>
          </a:ln>
        </p:spPr>
        <p:txBody>
          <a:bodyPr rtlCol="0" anchor="ctr" wrap="square" lIns="0" rIns="0" tIns="0" bIns="0"/>
          <a:lstStyle/>
          <a:p>
            <a:pPr algn="ctr"/>
            <a:r>
              <a:rPr sz="956" b="1">
                <a:solidFill>
                  <a:srgbClr val="FFFFFF"/>
                </a:solidFill>
                <a:latin typeface="Calibri"/>
              </a:rPr>
              <a:t>Frame memory access</a:t>
            </a:r>
          </a:p>
        </p:txBody>
      </p:sp>
      <p:sp>
        <p:nvSpPr>
          <p:cNvPr id="19" name="Card 1 body"/>
          <p:cNvSpPr/>
          <p:nvPr/>
        </p:nvSpPr>
        <p:spPr>
          <a:xfrm>
            <a:off x="1300162" y="2314575"/>
            <a:ext cx="2114550" cy="857250"/>
          </a:xfrm>
          <a:prstGeom prst="rect">
            <a:avLst/>
          </a:prstGeom>
          <a:noFill/>
          <a:ln>
            <a:noFill/>
          </a:ln>
        </p:spPr>
        <p:txBody>
          <a:bodyPr rtlCol="0" anchor="t" wrap="square" lIns="0" rIns="0" tIns="0" bIns="0"/>
          <a:lstStyle/>
          <a:p>
            <a:pPr algn="l">
              <a:spcAft>
                <a:spcPts val="300"/>
              </a:spcAft>
            </a:pPr>
            <a:r>
              <a:rPr sz="787" b="1">
                <a:solidFill>
                  <a:srgbClr val="00897B"/>
                </a:solidFill>
                <a:latin typeface="Calibri"/>
              </a:rPr>
              <a:t>Control: </a:t>
            </a:r>
            <a:r>
              <a:rPr sz="787" b="0">
                <a:solidFill>
                  <a:srgbClr val="12343B"/>
                </a:solidFill>
                <a:latin typeface="Calibri"/>
              </a:rPr>
              <a:t>pause the microphone, write your own audio frame and run the core on it.</a:t>
            </a:r>
          </a:p>
          <a:p>
            <a:pPr algn="l">
              <a:spcAft>
                <a:spcPts val="300"/>
              </a:spcAft>
            </a:pPr>
            <a:r>
              <a:rPr sz="787" b="1">
                <a:solidFill>
                  <a:srgbClr val="00897B"/>
                </a:solidFill>
                <a:latin typeface="Calibri"/>
              </a:rPr>
              <a:t>Observe: </a:t>
            </a:r>
            <a:r>
              <a:rPr sz="787" b="0">
                <a:solidFill>
                  <a:srgbClr val="12343B"/>
                </a:solidFill>
                <a:latin typeface="Calibri"/>
              </a:rPr>
              <a:t>read back the audio that was really stored.</a:t>
            </a:r>
          </a:p>
        </p:txBody>
      </p:sp>
      <p:sp>
        <p:nvSpPr>
          <p:cNvPr id="20" name="Card 1 tag Controllability"/>
          <p:cNvSpPr/>
          <p:nvPr/>
        </p:nvSpPr>
        <p:spPr>
          <a:xfrm>
            <a:off x="1300162" y="3200400"/>
            <a:ext cx="974407" cy="157162"/>
          </a:xfrm>
          <a:prstGeom prst="roundRect">
            <a:avLst>
              <a:gd name="adj" fmla="val 15000"/>
            </a:avLst>
          </a:prstGeom>
          <a:solidFill>
            <a:srgbClr val="93005F"/>
          </a:solidFill>
          <a:ln>
            <a:noFill/>
          </a:ln>
        </p:spPr>
        <p:txBody>
          <a:bodyPr rtlCol="0" anchor="ctr" wrap="square" lIns="0" rIns="0" tIns="0" bIns="0"/>
          <a:lstStyle/>
          <a:p>
            <a:pPr algn="ctr"/>
            <a:r>
              <a:rPr sz="675" b="1">
                <a:solidFill>
                  <a:srgbClr val="FFFFFF"/>
                </a:solidFill>
                <a:latin typeface="Calibri"/>
              </a:rPr>
              <a:t>Controllability</a:t>
            </a:r>
          </a:p>
        </p:txBody>
      </p:sp>
      <p:sp>
        <p:nvSpPr>
          <p:cNvPr id="21" name="Card 1 tag Observability"/>
          <p:cNvSpPr/>
          <p:nvPr/>
        </p:nvSpPr>
        <p:spPr>
          <a:xfrm>
            <a:off x="2317432" y="3200400"/>
            <a:ext cx="857821" cy="157162"/>
          </a:xfrm>
          <a:prstGeom prst="roundRect">
            <a:avLst>
              <a:gd name="adj" fmla="val 15000"/>
            </a:avLst>
          </a:prstGeom>
          <a:solidFill>
            <a:srgbClr val="1E5A8C"/>
          </a:solidFill>
          <a:ln>
            <a:noFill/>
          </a:ln>
        </p:spPr>
        <p:txBody>
          <a:bodyPr rtlCol="0" anchor="ctr" wrap="square" lIns="0" rIns="0" tIns="0" bIns="0"/>
          <a:lstStyle/>
          <a:p>
            <a:pPr algn="ctr"/>
            <a:r>
              <a:rPr sz="675" b="1">
                <a:solidFill>
                  <a:srgbClr val="FFFFFF"/>
                </a:solidFill>
                <a:latin typeface="Calibri"/>
              </a:rPr>
              <a:t>Observability</a:t>
            </a:r>
          </a:p>
        </p:txBody>
      </p:sp>
      <p:cxnSp>
        <p:nvCxnSpPr>
          <p:cNvPr id="22" name="Link FB"/>
          <p:cNvCxnSpPr/>
          <p:nvPr/>
        </p:nvCxnSpPr>
        <p:spPr>
          <a:xfrm>
            <a:off x="2393156" y="1614487"/>
            <a:ext cx="0" cy="385763"/>
          </a:xfrm>
          <a:prstGeom prst="line">
            <a:avLst/>
          </a:prstGeom>
          <a:ln w="38100">
            <a:solidFill>
              <a:srgbClr val="00897B"/>
            </a:solidFill>
            <a:tailEnd type="triangle" w="med" len="med"/>
            <a:headEnd type="triangle" w="med" len="med"/>
          </a:ln>
        </p:spPr>
      </p:cxnSp>
      <p:cxnSp>
        <p:nvCxnSpPr>
          <p:cNvPr id="23" name="Link FB bus"/>
          <p:cNvCxnSpPr/>
          <p:nvPr/>
        </p:nvCxnSpPr>
        <p:spPr>
          <a:xfrm>
            <a:off x="2393156" y="3414712"/>
            <a:ext cx="0" cy="357188"/>
          </a:xfrm>
          <a:prstGeom prst="line">
            <a:avLst/>
          </a:prstGeom>
          <a:ln w="38100">
            <a:solidFill>
              <a:srgbClr val="00897B"/>
            </a:solidFill>
            <a:tailEnd type="triangle" w="med" len="med"/>
            <a:headEnd type="triangle" w="med" len="med"/>
          </a:ln>
        </p:spPr>
      </p:cxnSp>
      <p:sp>
        <p:nvSpPr>
          <p:cNvPr id="24" name="Card 2"/>
          <p:cNvSpPr/>
          <p:nvPr/>
        </p:nvSpPr>
        <p:spPr>
          <a:xfrm>
            <a:off x="3643312" y="2000250"/>
            <a:ext cx="2786062" cy="1414462"/>
          </a:xfrm>
          <a:prstGeom prst="roundRect">
            <a:avLst>
              <a:gd name="adj" fmla="val 5050"/>
            </a:avLst>
          </a:prstGeom>
          <a:solidFill>
            <a:srgbClr val="FFFFFF"/>
          </a:solidFill>
          <a:ln w="31750">
            <a:solidFill>
              <a:srgbClr val="93005F"/>
            </a:solidFill>
          </a:ln>
        </p:spPr>
        <p:txBody>
          <a:bodyPr rtlCol="0" anchor="ctr" wrap="square" lIns="28575" rIns="28575" tIns="28575" bIns="28575"/>
          <a:lstStyle/>
          <a:p>
            <a:pPr algn="ctr"/>
          </a:p>
        </p:txBody>
      </p:sp>
      <p:sp>
        <p:nvSpPr>
          <p:cNvPr id="25" name="Card 2 head"/>
          <p:cNvSpPr/>
          <p:nvPr/>
        </p:nvSpPr>
        <p:spPr>
          <a:xfrm>
            <a:off x="3643312" y="2000250"/>
            <a:ext cx="2786062" cy="257175"/>
          </a:xfrm>
          <a:prstGeom prst="roundRect">
            <a:avLst>
              <a:gd name="adj" fmla="val 15000"/>
            </a:avLst>
          </a:prstGeom>
          <a:solidFill>
            <a:srgbClr val="93005F"/>
          </a:solidFill>
          <a:ln>
            <a:noFill/>
          </a:ln>
        </p:spPr>
        <p:txBody>
          <a:bodyPr rtlCol="0" anchor="ctr" wrap="square" lIns="0" rIns="0" tIns="0" bIns="0"/>
          <a:lstStyle/>
          <a:p>
            <a:pPr algn="ctr"/>
            <a:r>
              <a:rPr sz="956" b="1">
                <a:solidFill>
                  <a:srgbClr val="FFFFFF"/>
                </a:solidFill>
                <a:latin typeface="Calibri"/>
              </a:rPr>
              <a:t>Last frame result + evaluate</a:t>
            </a:r>
          </a:p>
        </p:txBody>
      </p:sp>
      <p:sp>
        <p:nvSpPr>
          <p:cNvPr id="26" name="Card 2 body"/>
          <p:cNvSpPr/>
          <p:nvPr/>
        </p:nvSpPr>
        <p:spPr>
          <a:xfrm>
            <a:off x="3729037" y="2314575"/>
            <a:ext cx="2614612" cy="857250"/>
          </a:xfrm>
          <a:prstGeom prst="rect">
            <a:avLst/>
          </a:prstGeom>
          <a:noFill/>
          <a:ln>
            <a:noFill/>
          </a:ln>
        </p:spPr>
        <p:txBody>
          <a:bodyPr rtlCol="0" anchor="t" wrap="square" lIns="0" rIns="0" tIns="0" bIns="0"/>
          <a:lstStyle/>
          <a:p>
            <a:pPr algn="l">
              <a:spcAft>
                <a:spcPts val="300"/>
              </a:spcAft>
            </a:pPr>
            <a:r>
              <a:rPr sz="787" b="1">
                <a:solidFill>
                  <a:srgbClr val="93005F"/>
                </a:solidFill>
                <a:latin typeface="Calibri"/>
              </a:rPr>
              <a:t>Observe: </a:t>
            </a:r>
            <a:r>
              <a:rPr sz="787" b="0">
                <a:solidFill>
                  <a:srgbClr val="12343B"/>
                </a:solidFill>
                <a:latin typeface="Calibri"/>
              </a:rPr>
              <a:t>see the energy and zero-crossing values the core computed, not just yes / no.</a:t>
            </a:r>
          </a:p>
          <a:p>
            <a:pPr algn="l">
              <a:spcAft>
                <a:spcPts val="300"/>
              </a:spcAft>
            </a:pPr>
            <a:r>
              <a:rPr sz="787" b="1">
                <a:solidFill>
                  <a:srgbClr val="93005F"/>
                </a:solidFill>
                <a:latin typeface="Calibri"/>
              </a:rPr>
              <a:t>Control: </a:t>
            </a:r>
            <a:r>
              <a:rPr sz="787" b="0">
                <a:solidFill>
                  <a:srgbClr val="12343B"/>
                </a:solidFill>
                <a:latin typeface="Calibri"/>
              </a:rPr>
              <a:t>write your own values and run only the decision, to test the thresholds without audio.</a:t>
            </a:r>
          </a:p>
        </p:txBody>
      </p:sp>
      <p:sp>
        <p:nvSpPr>
          <p:cNvPr id="27" name="Card 2 tag Observability"/>
          <p:cNvSpPr/>
          <p:nvPr/>
        </p:nvSpPr>
        <p:spPr>
          <a:xfrm>
            <a:off x="3729037" y="3200400"/>
            <a:ext cx="857821" cy="157162"/>
          </a:xfrm>
          <a:prstGeom prst="roundRect">
            <a:avLst>
              <a:gd name="adj" fmla="val 15000"/>
            </a:avLst>
          </a:prstGeom>
          <a:solidFill>
            <a:srgbClr val="1E5A8C"/>
          </a:solidFill>
          <a:ln>
            <a:noFill/>
          </a:ln>
        </p:spPr>
        <p:txBody>
          <a:bodyPr rtlCol="0" anchor="ctr" wrap="square" lIns="0" rIns="0" tIns="0" bIns="0"/>
          <a:lstStyle/>
          <a:p>
            <a:pPr algn="ctr"/>
            <a:r>
              <a:rPr sz="675" b="1">
                <a:solidFill>
                  <a:srgbClr val="FFFFFF"/>
                </a:solidFill>
                <a:latin typeface="Calibri"/>
              </a:rPr>
              <a:t>Observability</a:t>
            </a:r>
          </a:p>
        </p:txBody>
      </p:sp>
      <p:sp>
        <p:nvSpPr>
          <p:cNvPr id="28" name="Card 2 tag Controllability"/>
          <p:cNvSpPr/>
          <p:nvPr/>
        </p:nvSpPr>
        <p:spPr>
          <a:xfrm>
            <a:off x="4629721" y="3200400"/>
            <a:ext cx="974407" cy="157162"/>
          </a:xfrm>
          <a:prstGeom prst="roundRect">
            <a:avLst>
              <a:gd name="adj" fmla="val 15000"/>
            </a:avLst>
          </a:prstGeom>
          <a:solidFill>
            <a:srgbClr val="93005F"/>
          </a:solidFill>
          <a:ln>
            <a:noFill/>
          </a:ln>
        </p:spPr>
        <p:txBody>
          <a:bodyPr rtlCol="0" anchor="ctr" wrap="square" lIns="0" rIns="0" tIns="0" bIns="0"/>
          <a:lstStyle/>
          <a:p>
            <a:pPr algn="ctr"/>
            <a:r>
              <a:rPr sz="675" b="1">
                <a:solidFill>
                  <a:srgbClr val="FFFFFF"/>
                </a:solidFill>
                <a:latin typeface="Calibri"/>
              </a:rPr>
              <a:t>Controllability</a:t>
            </a:r>
          </a:p>
        </p:txBody>
      </p:sp>
      <p:cxnSp>
        <p:nvCxnSpPr>
          <p:cNvPr id="29" name="Link DSP"/>
          <p:cNvCxnSpPr/>
          <p:nvPr/>
        </p:nvCxnSpPr>
        <p:spPr>
          <a:xfrm>
            <a:off x="4464843" y="1614487"/>
            <a:ext cx="0" cy="385763"/>
          </a:xfrm>
          <a:prstGeom prst="line">
            <a:avLst/>
          </a:prstGeom>
          <a:ln w="38100">
            <a:solidFill>
              <a:srgbClr val="93005F"/>
            </a:solidFill>
            <a:tailEnd type="triangle" w="med" len="med"/>
          </a:ln>
        </p:spPr>
      </p:cxnSp>
      <p:cxnSp>
        <p:nvCxnSpPr>
          <p:cNvPr id="30" name="Link DEC"/>
          <p:cNvCxnSpPr/>
          <p:nvPr/>
        </p:nvCxnSpPr>
        <p:spPr>
          <a:xfrm flipV="1">
            <a:off x="5857875" y="1614487"/>
            <a:ext cx="0" cy="385763"/>
          </a:xfrm>
          <a:prstGeom prst="line">
            <a:avLst/>
          </a:prstGeom>
          <a:ln w="38100">
            <a:solidFill>
              <a:srgbClr val="93005F"/>
            </a:solidFill>
            <a:tailEnd type="triangle" w="med" len="med"/>
          </a:ln>
        </p:spPr>
      </p:cxnSp>
      <p:cxnSp>
        <p:nvCxnSpPr>
          <p:cNvPr id="31" name="Link res bus"/>
          <p:cNvCxnSpPr/>
          <p:nvPr/>
        </p:nvCxnSpPr>
        <p:spPr>
          <a:xfrm>
            <a:off x="5036343" y="3414712"/>
            <a:ext cx="0" cy="357188"/>
          </a:xfrm>
          <a:prstGeom prst="line">
            <a:avLst/>
          </a:prstGeom>
          <a:ln w="38100">
            <a:solidFill>
              <a:srgbClr val="93005F"/>
            </a:solidFill>
            <a:tailEnd type="triangle" w="med" len="med"/>
            <a:headEnd type="triangle" w="med" len="med"/>
          </a:ln>
        </p:spPr>
      </p:cxnSp>
      <p:sp>
        <p:nvSpPr>
          <p:cNvPr id="32" name="Card 3"/>
          <p:cNvSpPr/>
          <p:nvPr/>
        </p:nvSpPr>
        <p:spPr>
          <a:xfrm>
            <a:off x="7058025" y="2000250"/>
            <a:ext cx="1800225" cy="1414462"/>
          </a:xfrm>
          <a:prstGeom prst="roundRect">
            <a:avLst>
              <a:gd name="adj" fmla="val 5050"/>
            </a:avLst>
          </a:prstGeom>
          <a:solidFill>
            <a:srgbClr val="FFFFFF"/>
          </a:solidFill>
          <a:ln w="31750">
            <a:solidFill>
              <a:srgbClr val="E39B2D"/>
            </a:solidFill>
          </a:ln>
        </p:spPr>
        <p:txBody>
          <a:bodyPr rtlCol="0" anchor="ctr" wrap="square" lIns="28575" rIns="28575" tIns="28575" bIns="28575"/>
          <a:lstStyle/>
          <a:p>
            <a:pPr algn="ctr"/>
          </a:p>
        </p:txBody>
      </p:sp>
      <p:sp>
        <p:nvSpPr>
          <p:cNvPr id="33" name="Card 3 head"/>
          <p:cNvSpPr/>
          <p:nvPr/>
        </p:nvSpPr>
        <p:spPr>
          <a:xfrm>
            <a:off x="7058025" y="2000250"/>
            <a:ext cx="1800225" cy="257175"/>
          </a:xfrm>
          <a:prstGeom prst="roundRect">
            <a:avLst>
              <a:gd name="adj" fmla="val 15000"/>
            </a:avLst>
          </a:prstGeom>
          <a:solidFill>
            <a:srgbClr val="E39B2D"/>
          </a:solidFill>
          <a:ln>
            <a:noFill/>
          </a:ln>
        </p:spPr>
        <p:txBody>
          <a:bodyPr rtlCol="0" anchor="ctr" wrap="square" lIns="0" rIns="0" tIns="0" bIns="0"/>
          <a:lstStyle/>
          <a:p>
            <a:pPr algn="ctr"/>
            <a:r>
              <a:rPr sz="956" b="1">
                <a:solidFill>
                  <a:srgbClr val="FFFFFF"/>
                </a:solidFill>
                <a:latin typeface="Calibri"/>
              </a:rPr>
              <a:t>Status + interrupt</a:t>
            </a:r>
          </a:p>
        </p:txBody>
      </p:sp>
      <p:sp>
        <p:nvSpPr>
          <p:cNvPr id="34" name="Card 3 body"/>
          <p:cNvSpPr/>
          <p:nvPr/>
        </p:nvSpPr>
        <p:spPr>
          <a:xfrm>
            <a:off x="7143750" y="2314575"/>
            <a:ext cx="1628775" cy="857250"/>
          </a:xfrm>
          <a:prstGeom prst="rect">
            <a:avLst/>
          </a:prstGeom>
          <a:noFill/>
          <a:ln>
            <a:noFill/>
          </a:ln>
        </p:spPr>
        <p:txBody>
          <a:bodyPr rtlCol="0" anchor="t" wrap="square" lIns="0" rIns="0" tIns="0" bIns="0"/>
          <a:lstStyle/>
          <a:p>
            <a:pPr algn="l">
              <a:spcAft>
                <a:spcPts val="300"/>
              </a:spcAft>
            </a:pPr>
            <a:r>
              <a:rPr sz="787" b="1">
                <a:solidFill>
                  <a:srgbClr val="E39B2D"/>
                </a:solidFill>
                <a:latin typeface="Calibri"/>
              </a:rPr>
              <a:t>Speech flag: </a:t>
            </a:r>
            <a:r>
              <a:rPr sz="787" b="0">
                <a:solidFill>
                  <a:srgbClr val="12343B"/>
                </a:solidFill>
                <a:latin typeface="Calibri"/>
              </a:rPr>
              <a:t>held until software clears it, so no detection is missed.</a:t>
            </a:r>
          </a:p>
          <a:p>
            <a:pPr algn="l">
              <a:spcAft>
                <a:spcPts val="300"/>
              </a:spcAft>
            </a:pPr>
            <a:r>
              <a:rPr sz="787" b="1">
                <a:solidFill>
                  <a:srgbClr val="E39B2D"/>
                </a:solidFill>
                <a:latin typeface="Calibri"/>
              </a:rPr>
              <a:t>Buffer: </a:t>
            </a:r>
            <a:r>
              <a:rPr sz="787" b="0">
                <a:solidFill>
                  <a:srgbClr val="12343B"/>
                </a:solidFill>
                <a:latin typeface="Calibri"/>
              </a:rPr>
              <a:t>which bank fills, which is processed, how full the frame is.</a:t>
            </a:r>
          </a:p>
          <a:p>
            <a:pPr algn="l">
              <a:spcAft>
                <a:spcPts val="300"/>
              </a:spcAft>
            </a:pPr>
            <a:r>
              <a:rPr sz="787" b="1">
                <a:solidFill>
                  <a:srgbClr val="E39B2D"/>
                </a:solidFill>
                <a:latin typeface="Calibri"/>
              </a:rPr>
              <a:t>Interrupt: </a:t>
            </a:r>
            <a:r>
              <a:rPr sz="787" b="0">
                <a:solidFill>
                  <a:srgbClr val="12343B"/>
                </a:solidFill>
                <a:latin typeface="Calibri"/>
              </a:rPr>
              <a:t>software switches it on, fires it on demand to test it, and clears it.</a:t>
            </a:r>
          </a:p>
        </p:txBody>
      </p:sp>
      <p:sp>
        <p:nvSpPr>
          <p:cNvPr id="35" name="Card 3 tag Observability"/>
          <p:cNvSpPr/>
          <p:nvPr/>
        </p:nvSpPr>
        <p:spPr>
          <a:xfrm>
            <a:off x="7143750" y="3200400"/>
            <a:ext cx="731520" cy="157162"/>
          </a:xfrm>
          <a:prstGeom prst="roundRect">
            <a:avLst>
              <a:gd name="adj" fmla="val 15000"/>
            </a:avLst>
          </a:prstGeom>
          <a:solidFill>
            <a:srgbClr val="1E5A8C"/>
          </a:solidFill>
          <a:ln>
            <a:noFill/>
          </a:ln>
        </p:spPr>
        <p:txBody>
          <a:bodyPr rtlCol="0" anchor="ctr" wrap="square" lIns="0" rIns="0" tIns="0" bIns="0"/>
          <a:lstStyle/>
          <a:p>
            <a:pPr algn="ctr"/>
            <a:r>
              <a:rPr sz="562" b="1">
                <a:solidFill>
                  <a:srgbClr val="FFFFFF"/>
                </a:solidFill>
                <a:latin typeface="Calibri"/>
              </a:rPr>
              <a:t>Observability</a:t>
            </a:r>
          </a:p>
        </p:txBody>
      </p:sp>
      <p:sp>
        <p:nvSpPr>
          <p:cNvPr id="36" name="Card 3 tag Controllability"/>
          <p:cNvSpPr/>
          <p:nvPr/>
        </p:nvSpPr>
        <p:spPr>
          <a:xfrm>
            <a:off x="7918132" y="3200400"/>
            <a:ext cx="828675" cy="157162"/>
          </a:xfrm>
          <a:prstGeom prst="roundRect">
            <a:avLst>
              <a:gd name="adj" fmla="val 15000"/>
            </a:avLst>
          </a:prstGeom>
          <a:solidFill>
            <a:srgbClr val="93005F"/>
          </a:solidFill>
          <a:ln>
            <a:noFill/>
          </a:ln>
        </p:spPr>
        <p:txBody>
          <a:bodyPr rtlCol="0" anchor="ctr" wrap="square" lIns="0" rIns="0" tIns="0" bIns="0"/>
          <a:lstStyle/>
          <a:p>
            <a:pPr algn="ctr"/>
            <a:r>
              <a:rPr sz="562" b="1">
                <a:solidFill>
                  <a:srgbClr val="FFFFFF"/>
                </a:solidFill>
                <a:latin typeface="Calibri"/>
              </a:rPr>
              <a:t>Controllability</a:t>
            </a:r>
          </a:p>
        </p:txBody>
      </p:sp>
      <p:cxnSp>
        <p:nvCxnSpPr>
          <p:cNvPr id="37" name="Link WK"/>
          <p:cNvCxnSpPr/>
          <p:nvPr/>
        </p:nvCxnSpPr>
        <p:spPr>
          <a:xfrm>
            <a:off x="8572500" y="1614487"/>
            <a:ext cx="0" cy="385763"/>
          </a:xfrm>
          <a:prstGeom prst="line">
            <a:avLst/>
          </a:prstGeom>
          <a:ln w="38100">
            <a:solidFill>
              <a:srgbClr val="E39B2D"/>
            </a:solidFill>
            <a:tailEnd type="triangle" w="med" len="med"/>
          </a:ln>
        </p:spPr>
      </p:cxnSp>
      <p:cxnSp>
        <p:nvCxnSpPr>
          <p:cNvPr id="38" name="Link st bus"/>
          <p:cNvCxnSpPr/>
          <p:nvPr/>
        </p:nvCxnSpPr>
        <p:spPr>
          <a:xfrm>
            <a:off x="7965281" y="3414712"/>
            <a:ext cx="0" cy="357188"/>
          </a:xfrm>
          <a:prstGeom prst="line">
            <a:avLst/>
          </a:prstGeom>
          <a:ln w="38100">
            <a:solidFill>
              <a:srgbClr val="E39B2D"/>
            </a:solidFill>
            <a:tailEnd type="triangle" w="med" len="med"/>
            <a:headEnd type="triangle" w="med" len="med"/>
          </a:ln>
        </p:spPr>
      </p:cxnSp>
      <p:sp>
        <p:nvSpPr>
          <p:cNvPr id="39" name="Result"/>
          <p:cNvSpPr/>
          <p:nvPr/>
        </p:nvSpPr>
        <p:spPr>
          <a:xfrm>
            <a:off x="0" y="4486275"/>
            <a:ext cx="9144000" cy="657225"/>
          </a:xfrm>
          <a:prstGeom prst="rect">
            <a:avLst/>
          </a:prstGeom>
          <a:solidFill>
            <a:srgbClr val="12343B"/>
          </a:solidFill>
          <a:ln>
            <a:noFill/>
          </a:ln>
        </p:spPr>
        <p:txBody>
          <a:bodyPr rtlCol="0" anchor="ctr" wrap="square" lIns="285750" rIns="285750" tIns="285750" bIns="285750"/>
          <a:lstStyle/>
          <a:p>
            <a:pPr algn="l"/>
            <a:r>
              <a:rPr sz="1237" b="0">
                <a:solidFill>
                  <a:srgbClr val="FFFFFF"/>
                </a:solidFill>
                <a:latin typeface="Calibri"/>
              </a:rPr>
              <a:t>Same chip, only these registers cut off vs. reachable: test coverage from the pins 17 % → 28 %, DSP core 5 % → 24 %.</a:t>
            </a:r>
          </a:p>
          <a:p>
            <a:pPr algn="l"/>
            <a:r>
              <a:rPr sz="1237" b="0">
                <a:solidFill>
                  <a:srgbClr val="FFFFFF"/>
                </a:solidFill>
                <a:latin typeface="Calibri"/>
              </a:rPr>
              <a:t>One bus access (2 cycles) while the chip runs, instead of stopping it and shifting every flip-flop (~300 shifts).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25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25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25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25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25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250"/>
                                        <p:tgtEl>
                                          <p:spTgt spid="2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250"/>
                                        <p:tgtEl>
                                          <p:spTgt spid="2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250"/>
                                        <p:tgtEl>
                                          <p:spTgt spid="2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250"/>
                                        <p:tgtEl>
                                          <p:spTgt spid="2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25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25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25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250"/>
                                        <p:tgtEl>
                                          <p:spTgt spid="3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25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250"/>
                                        <p:tgtEl>
                                          <p:spTgt spid="3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250"/>
                                        <p:tgtEl>
                                          <p:spTgt spid="3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250"/>
                                        <p:tgtEl>
                                          <p:spTgt spid="3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250"/>
                                        <p:tgtEl>
                                          <p:spTgt spid="3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250"/>
                                        <p:tgtEl>
                                          <p:spTgt spid="3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fade">
                                      <p:cBhvr>
                                        <p:cTn id="71" dur="250"/>
                                        <p:tgtEl>
                                          <p:spTgt spid="3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250"/>
                                        <p:tgtEl>
                                          <p:spTgt spid="38"/>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2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