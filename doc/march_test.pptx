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clicks. Sweeps play by themselves after a click; the run pauses at the fault so you can explain it. March MSS: {⇕(w0); ⇑(r0,r0,w1,w1); ⇑(r1,r1,w0,w0); ⇓(r0,r0,w1,w1); ⇓(r1,r1,w0,w0); ⇕(r0)} = 18N. Word 5 is stuck at 0: the w1 writes are lost, so the r1 reads in M2 and M4 fail. Each failing address is logged once per element in the 4-deep error FIFO and fail_o goes high. Software or JTAG then reads STATUS and pops the FIFO through the ERRADDR registers in SoC Regs. Use Back (left arrow) to step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clicks: one table row per click (the matching operations light up in the element bar), then the caveats. Algorithm credit: G. Harutyunyan, V. A. Vardanian, Y. Zorian, 'Minimal March Tests for Unlinked Static Faults in Random Access Memories', IEEE VTS 2005. In our RTL the fault model (RM_IHPSG13_1P_core_behavioral_bm_bist_fault_model.v) supports SAF, TF, RDF, IRF, DRDF, WDF and coupling masks; Croc's --mbist-fault run enables SAF0/SAF1 and tb_march_bist_top enables SAF1, TF 0-&gt;1 and RDF.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85750" y="100012"/>
            <a:ext cx="7143750" cy="3571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12343B"/>
                </a:solidFill>
                <a:latin typeface="Calibri"/>
              </a:rPr>
              <a:t>March MSS (18N) MBIST on an 8-word SRAM</a:t>
            </a:r>
          </a:p>
        </p:txBody>
      </p:sp>
      <p:sp>
        <p:nvSpPr>
          <p:cNvPr id="3" name="Elem M0"/>
          <p:cNvSpPr/>
          <p:nvPr/>
        </p:nvSpPr>
        <p:spPr>
          <a:xfrm>
            <a:off x="285750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" name="Elem M0 name"/>
          <p:cNvSpPr/>
          <p:nvPr/>
        </p:nvSpPr>
        <p:spPr>
          <a:xfrm>
            <a:off x="342900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M0  ⇕</a:t>
            </a:r>
          </a:p>
        </p:txBody>
      </p:sp>
      <p:sp>
        <p:nvSpPr>
          <p:cNvPr id="5" name="Elem M0 op0"/>
          <p:cNvSpPr/>
          <p:nvPr/>
        </p:nvSpPr>
        <p:spPr>
          <a:xfrm>
            <a:off x="8215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6" name="Elem M1"/>
          <p:cNvSpPr/>
          <p:nvPr/>
        </p:nvSpPr>
        <p:spPr>
          <a:xfrm>
            <a:off x="1728787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" name="Elem M1 name"/>
          <p:cNvSpPr/>
          <p:nvPr/>
        </p:nvSpPr>
        <p:spPr>
          <a:xfrm>
            <a:off x="1785937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M1  ⇑</a:t>
            </a:r>
          </a:p>
        </p:txBody>
      </p:sp>
      <p:sp>
        <p:nvSpPr>
          <p:cNvPr id="8" name="Elem M1 op0"/>
          <p:cNvSpPr/>
          <p:nvPr/>
        </p:nvSpPr>
        <p:spPr>
          <a:xfrm>
            <a:off x="179308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9" name="Elem M1 op1"/>
          <p:cNvSpPr/>
          <p:nvPr/>
        </p:nvSpPr>
        <p:spPr>
          <a:xfrm>
            <a:off x="210740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10" name="Elem M1 op2"/>
          <p:cNvSpPr/>
          <p:nvPr/>
        </p:nvSpPr>
        <p:spPr>
          <a:xfrm>
            <a:off x="24217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11" name="Elem M1 op3"/>
          <p:cNvSpPr/>
          <p:nvPr/>
        </p:nvSpPr>
        <p:spPr>
          <a:xfrm>
            <a:off x="273605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12" name="Elem M2"/>
          <p:cNvSpPr/>
          <p:nvPr/>
        </p:nvSpPr>
        <p:spPr>
          <a:xfrm>
            <a:off x="3171825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" name="Elem M2 name"/>
          <p:cNvSpPr/>
          <p:nvPr/>
        </p:nvSpPr>
        <p:spPr>
          <a:xfrm>
            <a:off x="3228975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M2  ⇑</a:t>
            </a:r>
          </a:p>
        </p:txBody>
      </p:sp>
      <p:sp>
        <p:nvSpPr>
          <p:cNvPr id="14" name="Elem M2 op0"/>
          <p:cNvSpPr/>
          <p:nvPr/>
        </p:nvSpPr>
        <p:spPr>
          <a:xfrm>
            <a:off x="32361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15" name="Elem M2 op1"/>
          <p:cNvSpPr/>
          <p:nvPr/>
        </p:nvSpPr>
        <p:spPr>
          <a:xfrm>
            <a:off x="355044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16" name="Elem M2 op2"/>
          <p:cNvSpPr/>
          <p:nvPr/>
        </p:nvSpPr>
        <p:spPr>
          <a:xfrm>
            <a:off x="386476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17" name="Elem M2 op3"/>
          <p:cNvSpPr/>
          <p:nvPr/>
        </p:nvSpPr>
        <p:spPr>
          <a:xfrm>
            <a:off x="417909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18" name="Elem M3"/>
          <p:cNvSpPr/>
          <p:nvPr/>
        </p:nvSpPr>
        <p:spPr>
          <a:xfrm>
            <a:off x="4614862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9" name="Elem M3 name"/>
          <p:cNvSpPr/>
          <p:nvPr/>
        </p:nvSpPr>
        <p:spPr>
          <a:xfrm>
            <a:off x="4672012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M3  ⇓</a:t>
            </a:r>
          </a:p>
        </p:txBody>
      </p:sp>
      <p:sp>
        <p:nvSpPr>
          <p:cNvPr id="20" name="Elem M3 op0"/>
          <p:cNvSpPr/>
          <p:nvPr/>
        </p:nvSpPr>
        <p:spPr>
          <a:xfrm>
            <a:off x="467915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21" name="Elem M3 op1"/>
          <p:cNvSpPr/>
          <p:nvPr/>
        </p:nvSpPr>
        <p:spPr>
          <a:xfrm>
            <a:off x="499348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22" name="Elem M3 op2"/>
          <p:cNvSpPr/>
          <p:nvPr/>
        </p:nvSpPr>
        <p:spPr>
          <a:xfrm>
            <a:off x="530780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23" name="Elem M3 op3"/>
          <p:cNvSpPr/>
          <p:nvPr/>
        </p:nvSpPr>
        <p:spPr>
          <a:xfrm>
            <a:off x="56221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24" name="Elem M4"/>
          <p:cNvSpPr/>
          <p:nvPr/>
        </p:nvSpPr>
        <p:spPr>
          <a:xfrm>
            <a:off x="6057900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5" name="Elem M4 name"/>
          <p:cNvSpPr/>
          <p:nvPr/>
        </p:nvSpPr>
        <p:spPr>
          <a:xfrm>
            <a:off x="6115050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M4  ⇓</a:t>
            </a:r>
          </a:p>
        </p:txBody>
      </p:sp>
      <p:sp>
        <p:nvSpPr>
          <p:cNvPr id="26" name="Elem M4 op0"/>
          <p:cNvSpPr/>
          <p:nvPr/>
        </p:nvSpPr>
        <p:spPr>
          <a:xfrm>
            <a:off x="612219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27" name="Elem M4 op1"/>
          <p:cNvSpPr/>
          <p:nvPr/>
        </p:nvSpPr>
        <p:spPr>
          <a:xfrm>
            <a:off x="64365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28" name="Elem M4 op2"/>
          <p:cNvSpPr/>
          <p:nvPr/>
        </p:nvSpPr>
        <p:spPr>
          <a:xfrm>
            <a:off x="675084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29" name="Elem M4 op3"/>
          <p:cNvSpPr/>
          <p:nvPr/>
        </p:nvSpPr>
        <p:spPr>
          <a:xfrm>
            <a:off x="706516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30" name="Elem M5"/>
          <p:cNvSpPr/>
          <p:nvPr/>
        </p:nvSpPr>
        <p:spPr>
          <a:xfrm>
            <a:off x="7500937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31" name="Elem M5 name"/>
          <p:cNvSpPr/>
          <p:nvPr/>
        </p:nvSpPr>
        <p:spPr>
          <a:xfrm>
            <a:off x="7558087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M5  ⇕</a:t>
            </a:r>
          </a:p>
        </p:txBody>
      </p:sp>
      <p:sp>
        <p:nvSpPr>
          <p:cNvPr id="32" name="Elem M5 op0"/>
          <p:cNvSpPr/>
          <p:nvPr/>
        </p:nvSpPr>
        <p:spPr>
          <a:xfrm>
            <a:off x="80367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33" name="SRAM label"/>
          <p:cNvSpPr/>
          <p:nvPr/>
        </p:nvSpPr>
        <p:spPr>
          <a:xfrm>
            <a:off x="1071562" y="1257300"/>
            <a:ext cx="2143125" cy="214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0">
                <a:solidFill>
                  <a:srgbClr val="12343B"/>
                </a:solidFill>
                <a:latin typeface="Calibri"/>
              </a:rPr>
              <a:t>SRAM (word = 8 bits)</a:t>
            </a:r>
          </a:p>
        </p:txBody>
      </p:sp>
      <p:sp>
        <p:nvSpPr>
          <p:cNvPr id="34" name="Addr 0"/>
          <p:cNvSpPr/>
          <p:nvPr/>
        </p:nvSpPr>
        <p:spPr>
          <a:xfrm>
            <a:off x="285750" y="15144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0</a:t>
            </a:r>
          </a:p>
        </p:txBody>
      </p:sp>
      <p:sp>
        <p:nvSpPr>
          <p:cNvPr id="35" name="Word 0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10010010</a:t>
            </a:r>
          </a:p>
        </p:txBody>
      </p:sp>
      <p:sp>
        <p:nvSpPr>
          <p:cNvPr id="36" name="Addr 1"/>
          <p:cNvSpPr/>
          <p:nvPr/>
        </p:nvSpPr>
        <p:spPr>
          <a:xfrm>
            <a:off x="285750" y="18573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1</a:t>
            </a:r>
          </a:p>
        </p:txBody>
      </p:sp>
      <p:sp>
        <p:nvSpPr>
          <p:cNvPr id="37" name="Word 1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00100100</a:t>
            </a:r>
          </a:p>
        </p:txBody>
      </p:sp>
      <p:sp>
        <p:nvSpPr>
          <p:cNvPr id="38" name="Addr 2"/>
          <p:cNvSpPr/>
          <p:nvPr/>
        </p:nvSpPr>
        <p:spPr>
          <a:xfrm>
            <a:off x="285750" y="22002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2</a:t>
            </a:r>
          </a:p>
        </p:txBody>
      </p:sp>
      <p:sp>
        <p:nvSpPr>
          <p:cNvPr id="39" name="Word 2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01001001</a:t>
            </a:r>
          </a:p>
        </p:txBody>
      </p:sp>
      <p:sp>
        <p:nvSpPr>
          <p:cNvPr id="40" name="Addr 3"/>
          <p:cNvSpPr/>
          <p:nvPr/>
        </p:nvSpPr>
        <p:spPr>
          <a:xfrm>
            <a:off x="285750" y="25431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3</a:t>
            </a:r>
          </a:p>
        </p:txBody>
      </p:sp>
      <p:sp>
        <p:nvSpPr>
          <p:cNvPr id="41" name="Word 3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10010010</a:t>
            </a:r>
          </a:p>
        </p:txBody>
      </p:sp>
      <p:sp>
        <p:nvSpPr>
          <p:cNvPr id="42" name="Addr 4"/>
          <p:cNvSpPr/>
          <p:nvPr/>
        </p:nvSpPr>
        <p:spPr>
          <a:xfrm>
            <a:off x="285750" y="28860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4</a:t>
            </a:r>
          </a:p>
        </p:txBody>
      </p:sp>
      <p:sp>
        <p:nvSpPr>
          <p:cNvPr id="43" name="Word 4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00100100</a:t>
            </a:r>
          </a:p>
        </p:txBody>
      </p:sp>
      <p:sp>
        <p:nvSpPr>
          <p:cNvPr id="44" name="Addr 5"/>
          <p:cNvSpPr/>
          <p:nvPr/>
        </p:nvSpPr>
        <p:spPr>
          <a:xfrm>
            <a:off x="285750" y="32289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5</a:t>
            </a:r>
          </a:p>
        </p:txBody>
      </p:sp>
      <p:sp>
        <p:nvSpPr>
          <p:cNvPr id="45" name="Word 5"/>
          <p:cNvSpPr/>
          <p:nvPr/>
        </p:nvSpPr>
        <p:spPr>
          <a:xfrm>
            <a:off x="1071562" y="3257550"/>
            <a:ext cx="1714500" cy="285750"/>
          </a:xfrm>
          <a:prstGeom prst="rect">
            <a:avLst/>
          </a:prstGeom>
          <a:solidFill>
            <a:srgbClr val="F5F5F5"/>
          </a:solidFill>
          <a:ln w="31750">
            <a:solidFill>
              <a:srgbClr val="C62828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46" name="Addr 6"/>
          <p:cNvSpPr/>
          <p:nvPr/>
        </p:nvSpPr>
        <p:spPr>
          <a:xfrm>
            <a:off x="285750" y="35718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6</a:t>
            </a:r>
          </a:p>
        </p:txBody>
      </p:sp>
      <p:sp>
        <p:nvSpPr>
          <p:cNvPr id="47" name="Word 6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10010010</a:t>
            </a:r>
          </a:p>
        </p:txBody>
      </p:sp>
      <p:sp>
        <p:nvSpPr>
          <p:cNvPr id="48" name="Addr 7"/>
          <p:cNvSpPr/>
          <p:nvPr/>
        </p:nvSpPr>
        <p:spPr>
          <a:xfrm>
            <a:off x="285750" y="3914775"/>
            <a:ext cx="714375" cy="3429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012" b="0">
                <a:solidFill>
                  <a:srgbClr val="12343B"/>
                </a:solidFill>
                <a:latin typeface="Calibri"/>
              </a:rPr>
              <a:t>addr 7</a:t>
            </a:r>
          </a:p>
        </p:txBody>
      </p:sp>
      <p:sp>
        <p:nvSpPr>
          <p:cNvPr id="49" name="Word 7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00100100</a:t>
            </a:r>
          </a:p>
        </p:txBody>
      </p:sp>
      <p:sp>
        <p:nvSpPr>
          <p:cNvPr id="50" name="SAF0 badge"/>
          <p:cNvSpPr/>
          <p:nvPr/>
        </p:nvSpPr>
        <p:spPr>
          <a:xfrm>
            <a:off x="28575" y="3300412"/>
            <a:ext cx="400050" cy="200025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SAF0</a:t>
            </a:r>
          </a:p>
        </p:txBody>
      </p:sp>
      <p:sp>
        <p:nvSpPr>
          <p:cNvPr id="51" name="Panel intro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Before the run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Word 5 has a stuck-at-0 fault: writing 1 has no effect.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The controller runs on TCK and is started from SoC Regs (MBIST START) or JTAG.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Each read compares the whole word with all-0 or all-1.</a:t>
            </a:r>
          </a:p>
        </p:txBody>
      </p:sp>
      <p:sp>
        <p:nvSpPr>
          <p:cNvPr id="52" name="FIFO label"/>
          <p:cNvSpPr/>
          <p:nvPr/>
        </p:nvSpPr>
        <p:spPr>
          <a:xfrm>
            <a:off x="6929437" y="1257300"/>
            <a:ext cx="2000250" cy="214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0">
                <a:solidFill>
                  <a:srgbClr val="12343B"/>
                </a:solidFill>
                <a:latin typeface="Calibri"/>
              </a:rPr>
              <a:t>Error-address FIFO (4 deep)</a:t>
            </a:r>
          </a:p>
        </p:txBody>
      </p:sp>
      <p:sp>
        <p:nvSpPr>
          <p:cNvPr id="53" name="FIFO slot 0"/>
          <p:cNvSpPr/>
          <p:nvPr/>
        </p:nvSpPr>
        <p:spPr>
          <a:xfrm>
            <a:off x="6929437" y="1514475"/>
            <a:ext cx="1785937" cy="314325"/>
          </a:xfrm>
          <a:prstGeom prst="rect">
            <a:avLst/>
          </a:prstGeom>
          <a:solidFill>
            <a:srgbClr val="FAFAFA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4" name="FIFO slot 1"/>
          <p:cNvSpPr/>
          <p:nvPr/>
        </p:nvSpPr>
        <p:spPr>
          <a:xfrm>
            <a:off x="6929437" y="1885950"/>
            <a:ext cx="1785937" cy="314325"/>
          </a:xfrm>
          <a:prstGeom prst="rect">
            <a:avLst/>
          </a:prstGeom>
          <a:solidFill>
            <a:srgbClr val="FAFAFA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5" name="FIFO slot 2"/>
          <p:cNvSpPr/>
          <p:nvPr/>
        </p:nvSpPr>
        <p:spPr>
          <a:xfrm>
            <a:off x="6929437" y="2257425"/>
            <a:ext cx="1785937" cy="314325"/>
          </a:xfrm>
          <a:prstGeom prst="rect">
            <a:avLst/>
          </a:prstGeom>
          <a:solidFill>
            <a:srgbClr val="FAFAFA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6" name="FIFO slot 3"/>
          <p:cNvSpPr/>
          <p:nvPr/>
        </p:nvSpPr>
        <p:spPr>
          <a:xfrm>
            <a:off x="6929437" y="2628900"/>
            <a:ext cx="1785937" cy="314325"/>
          </a:xfrm>
          <a:prstGeom prst="rect">
            <a:avLst/>
          </a:prstGeom>
          <a:solidFill>
            <a:srgbClr val="FAFAFA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7" name="Flag busy 0"/>
          <p:cNvSpPr/>
          <p:nvPr/>
        </p:nvSpPr>
        <p:spPr>
          <a:xfrm>
            <a:off x="6929437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19050">
            <a:solidFill>
              <a:srgbClr val="00897B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00897B"/>
                </a:solidFill>
                <a:latin typeface="Calibri"/>
              </a:rPr>
              <a:t>busy</a:t>
            </a:r>
          </a:p>
          <a:p>
            <a:pPr algn="ctr"/>
            <a:r>
              <a:rPr sz="1068" b="1">
                <a:solidFill>
                  <a:srgbClr val="00897B"/>
                </a:solidFill>
                <a:latin typeface="Consolas"/>
              </a:rPr>
              <a:t>0</a:t>
            </a:r>
          </a:p>
        </p:txBody>
      </p:sp>
      <p:sp>
        <p:nvSpPr>
          <p:cNvPr id="58" name="Flag done_o 0"/>
          <p:cNvSpPr/>
          <p:nvPr/>
        </p:nvSpPr>
        <p:spPr>
          <a:xfrm>
            <a:off x="7543800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19050">
            <a:solidFill>
              <a:srgbClr val="00897B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00897B"/>
                </a:solidFill>
                <a:latin typeface="Calibri"/>
              </a:rPr>
              <a:t>done_o</a:t>
            </a:r>
          </a:p>
          <a:p>
            <a:pPr algn="ctr"/>
            <a:r>
              <a:rPr sz="1068" b="1">
                <a:solidFill>
                  <a:srgbClr val="00897B"/>
                </a:solidFill>
                <a:latin typeface="Consolas"/>
              </a:rPr>
              <a:t>0</a:t>
            </a:r>
          </a:p>
        </p:txBody>
      </p:sp>
      <p:sp>
        <p:nvSpPr>
          <p:cNvPr id="59" name="Flag fail_o 0"/>
          <p:cNvSpPr/>
          <p:nvPr/>
        </p:nvSpPr>
        <p:spPr>
          <a:xfrm>
            <a:off x="8158162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19050">
            <a:solidFill>
              <a:srgbClr val="C62828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C62828"/>
                </a:solidFill>
                <a:latin typeface="Calibri"/>
              </a:rPr>
              <a:t>fail_o</a:t>
            </a:r>
          </a:p>
          <a:p>
            <a:pPr algn="ctr"/>
            <a:r>
              <a:rPr sz="1068" b="1">
                <a:solidFill>
                  <a:srgbClr val="C62828"/>
                </a:solidFill>
                <a:latin typeface="Consolas"/>
              </a:rPr>
              <a:t>0</a:t>
            </a:r>
          </a:p>
        </p:txBody>
      </p:sp>
      <p:sp>
        <p:nvSpPr>
          <p:cNvPr id="60" name="Caption intro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8-word SRAM, 6 March elements, 18 operations per word (144 in total).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Click to start the test.</a:t>
            </a:r>
          </a:p>
        </p:txBody>
      </p:sp>
      <p:sp>
        <p:nvSpPr>
          <p:cNvPr id="61" name="M0 highlight"/>
          <p:cNvSpPr/>
          <p:nvPr/>
        </p:nvSpPr>
        <p:spPr>
          <a:xfrm>
            <a:off x="271462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2" name="Panel M0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M0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⇕(w0)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Write 0 to every word to initialise.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63" name="Caption M0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M0 ⇕(w0): initialise the whole SRAM to 0.</a:t>
            </a:r>
          </a:p>
        </p:txBody>
      </p:sp>
      <p:sp>
        <p:nvSpPr>
          <p:cNvPr id="64" name="Flag busy 1"/>
          <p:cNvSpPr/>
          <p:nvPr/>
        </p:nvSpPr>
        <p:spPr>
          <a:xfrm>
            <a:off x="6929437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00897B"/>
          </a:solidFill>
          <a:ln w="19050">
            <a:solidFill>
              <a:srgbClr val="00897B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FFFFFF"/>
                </a:solidFill>
                <a:latin typeface="Calibri"/>
              </a:rPr>
              <a:t>busy</a:t>
            </a:r>
          </a:p>
          <a:p>
            <a:pPr algn="ctr"/>
            <a:r>
              <a:rPr sz="1068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65" name="M0 word 0 := 00000000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66" name="M0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7" name="M0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68" name="M0 word 1 := 00000000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69" name="M0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0" name="M0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71" name="M0 word 2 := 00000000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72" name="M0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3" name="M0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74" name="M0 word 3 := 00000000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75" name="M0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6" name="M0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77" name="M0 word 4 := 00000000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78" name="M0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9" name="M0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80" name="M0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81" name="M0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82" name="M0 word 6 := 00000000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83" name="M0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84" name="M0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85" name="M0 word 7 := 00000000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86" name="M0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87" name="M0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88" name="M0 result"/>
          <p:cNvSpPr/>
          <p:nvPr/>
        </p:nvSpPr>
        <p:spPr>
          <a:xfrm>
            <a:off x="1328737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9" name="M1 highlight"/>
          <p:cNvSpPr/>
          <p:nvPr/>
        </p:nvSpPr>
        <p:spPr>
          <a:xfrm>
            <a:off x="1714500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90" name="Panel M1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M1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⇑(r0,r0,w1,w1)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Going up: read 0 twice, then write 1 twice.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91" name="Caption M1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M1 ⇑(r0,r0,w1,w1): double reads catch read-destructive faults,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double writes catch write-disturb faults.</a:t>
            </a:r>
          </a:p>
        </p:txBody>
      </p:sp>
      <p:sp>
        <p:nvSpPr>
          <p:cNvPr id="92" name="M1 word 0 := 11111111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93" name="M1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94" name="M1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95" name="M1 word 1 := 11111111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96" name="M1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97" name="M1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98" name="M1 word 2 := 11111111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99" name="M1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0" name="M1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01" name="M1 word 3 := 11111111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02" name="M1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3" name="M1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04" name="M1 word 4 := 11111111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05" name="M1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6" name="M1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07" name="M1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8" name="M1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C62828"/>
                </a:solidFill>
                <a:latin typeface="Consolas"/>
              </a:rPr>
              <a:t>r0 r0 ✓  w1 w1 lost</a:t>
            </a:r>
          </a:p>
        </p:txBody>
      </p:sp>
      <p:sp>
        <p:nvSpPr>
          <p:cNvPr id="109" name="Panel M1 lost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C62828"/>
                </a:solidFill>
                <a:latin typeface="Calibri"/>
              </a:rPr>
              <a:t>Write lost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addr 5   op w1</a:t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onsolas"/>
              </a:rPr>
              <a:t>write 11111111</a:t>
            </a:r>
          </a:p>
          <a:p>
            <a:pPr algn="l"/>
            <a:r>
              <a:rPr sz="1125" b="0">
                <a:solidFill>
                  <a:srgbClr val="C62828"/>
                </a:solidFill>
                <a:latin typeface="Consolas"/>
              </a:rPr>
              <a:t>stored 00000000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Nothing flags it yet: only a later read can catch it.</a:t>
            </a:r>
          </a:p>
        </p:txBody>
      </p:sp>
      <p:sp>
        <p:nvSpPr>
          <p:cNvPr id="110" name="Caption M1 lost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Word 5 is stuck at 0, so the write of 1 is silently lost.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The reads of 0 before it still pass.</a:t>
            </a:r>
          </a:p>
        </p:txBody>
      </p:sp>
      <p:sp>
        <p:nvSpPr>
          <p:cNvPr id="111" name="Panel M1 again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M1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⇑(r0,r0,w1,w1)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Going up: read 0 twice, then write 1 twice.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112" name="Caption M1 again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M1 ⇑(r0,r0,w1,w1): double reads catch read-destructive faults,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double writes catch write-disturb faults.</a:t>
            </a:r>
          </a:p>
        </p:txBody>
      </p:sp>
      <p:sp>
        <p:nvSpPr>
          <p:cNvPr id="113" name="M1 word 6 := 11111111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14" name="M1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15" name="M1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16" name="M1 word 7 := 11111111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17" name="M1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18" name="M1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19" name="M1 result"/>
          <p:cNvSpPr/>
          <p:nvPr/>
        </p:nvSpPr>
        <p:spPr>
          <a:xfrm>
            <a:off x="2771775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20" name="M2 highlight"/>
          <p:cNvSpPr/>
          <p:nvPr/>
        </p:nvSpPr>
        <p:spPr>
          <a:xfrm>
            <a:off x="3157537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21" name="Panel M2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M2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⇑(r1,r1,w0,w0)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Going up: read 1 twice, then write 0 twice.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122" name="Caption M2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M2 ⇑(r1,r1,w0,w0): every word should now read all 1s.</a:t>
            </a:r>
          </a:p>
        </p:txBody>
      </p:sp>
      <p:sp>
        <p:nvSpPr>
          <p:cNvPr id="123" name="M2 word 0 := 00000000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24" name="M2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25" name="M2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26" name="M2 word 1 := 00000000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27" name="M2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28" name="M2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29" name="M2 word 2 := 00000000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30" name="M2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1" name="M2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32" name="M2 word 3 := 00000000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33" name="M2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4" name="M2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35" name="M2 word 4 := 00000000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36" name="M2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7" name="M2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38" name="M2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9" name="M2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C62828"/>
                </a:solidFill>
                <a:latin typeface="Consolas"/>
              </a:rPr>
              <a:t>r1 r1 ✗  w0 w0</a:t>
            </a:r>
          </a:p>
        </p:txBody>
      </p:sp>
      <p:sp>
        <p:nvSpPr>
          <p:cNvPr id="140" name="Panel M2 mismatch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C62828"/>
                </a:solidFill>
                <a:latin typeface="Calibri"/>
              </a:rPr>
              <a:t>MISMATCH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addr 5   op r1</a:t>
            </a:r>
          </a:p>
          <a:p>
            <a:pPr algn="l"/>
            <a:r>
              <a:rPr sz="1125" b="0">
                <a:solidFill>
                  <a:srgbClr val="C62828"/>
                </a:solidFill>
                <a:latin typeface="Consolas"/>
              </a:rPr>
              <a:t>read     00000000</a:t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onsolas"/>
              </a:rPr>
              <a:t>expected 11111111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The fault is detected in M2.</a:t>
            </a:r>
          </a:p>
        </p:txBody>
      </p:sp>
      <p:sp>
        <p:nvSpPr>
          <p:cNvPr id="141" name="Caption M2 mismatch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Read of word 5 returns 0 where 1 is expected: fault detected.</a:t>
            </a:r>
          </a:p>
        </p:txBody>
      </p:sp>
      <p:sp>
        <p:nvSpPr>
          <p:cNvPr id="142" name="FIFO entry 0"/>
          <p:cNvSpPr/>
          <p:nvPr/>
        </p:nvSpPr>
        <p:spPr>
          <a:xfrm>
            <a:off x="6929437" y="1514475"/>
            <a:ext cx="1785937" cy="314325"/>
          </a:xfrm>
          <a:prstGeom prst="rect">
            <a:avLst/>
          </a:prstGeom>
          <a:solidFill>
            <a:srgbClr val="FDE4EC"/>
          </a:solidFill>
          <a:ln w="19050">
            <a:solidFill>
              <a:srgbClr val="93005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68" b="1">
                <a:solidFill>
                  <a:srgbClr val="93005F"/>
                </a:solidFill>
                <a:latin typeface="Consolas"/>
              </a:rPr>
              <a:t>addr 5  (M2)</a:t>
            </a:r>
          </a:p>
        </p:txBody>
      </p:sp>
      <p:sp>
        <p:nvSpPr>
          <p:cNvPr id="143" name="Flag fail_o 1"/>
          <p:cNvSpPr/>
          <p:nvPr/>
        </p:nvSpPr>
        <p:spPr>
          <a:xfrm>
            <a:off x="8158162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 w="19050">
            <a:solidFill>
              <a:srgbClr val="C62828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FFFFFF"/>
                </a:solidFill>
                <a:latin typeface="Calibri"/>
              </a:rPr>
              <a:t>fail_o</a:t>
            </a:r>
          </a:p>
          <a:p>
            <a:pPr algn="ctr"/>
            <a:r>
              <a:rPr sz="1068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44" name="Caption M2 push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Address 5 is pushed into the error FIFO and fail_o goes high. The second r1 fails too,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but each address is logged only once per element (read_logged).</a:t>
            </a:r>
          </a:p>
        </p:txBody>
      </p:sp>
      <p:sp>
        <p:nvSpPr>
          <p:cNvPr id="145" name="Panel M2 again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M2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⇑(r1,r1,w0,w0)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Going up: read 1 twice, then write 0 twice.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146" name="Caption M2 again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M2 ⇑(r1,r1,w0,w0): every word should now read all 1s.</a:t>
            </a:r>
          </a:p>
        </p:txBody>
      </p:sp>
      <p:sp>
        <p:nvSpPr>
          <p:cNvPr id="147" name="M2 word 6 := 00000000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48" name="M2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49" name="M2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50" name="M2 word 7 := 00000000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51" name="M2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52" name="M2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53" name="M2 result"/>
          <p:cNvSpPr/>
          <p:nvPr/>
        </p:nvSpPr>
        <p:spPr>
          <a:xfrm>
            <a:off x="4214812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154" name="M3 highlight"/>
          <p:cNvSpPr/>
          <p:nvPr/>
        </p:nvSpPr>
        <p:spPr>
          <a:xfrm>
            <a:off x="4600575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55" name="Panel M3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M3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⇓(r0,r0,w1,w1)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Same as M1, going down.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7 → 0</a:t>
            </a:r>
          </a:p>
        </p:txBody>
      </p:sp>
      <p:sp>
        <p:nvSpPr>
          <p:cNvPr id="156" name="Caption M3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M3 ⇓(r0,r0,w1,w1): repeating the test going down catches coupling faults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between neighbouring cells.</a:t>
            </a:r>
          </a:p>
        </p:txBody>
      </p:sp>
      <p:sp>
        <p:nvSpPr>
          <p:cNvPr id="157" name="M3 word 7 := 11111111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58" name="M3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59" name="M3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60" name="M3 word 6 := 11111111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61" name="M3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62" name="M3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63" name="M3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64" name="M3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C62828"/>
                </a:solidFill>
                <a:latin typeface="Consolas"/>
              </a:rPr>
              <a:t>r0 r0 ✓  w1 w1 lost</a:t>
            </a:r>
          </a:p>
        </p:txBody>
      </p:sp>
      <p:sp>
        <p:nvSpPr>
          <p:cNvPr id="165" name="M3 word 4 := 11111111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66" name="M3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67" name="M3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68" name="M3 word 3 := 11111111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69" name="M3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70" name="M3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71" name="M3 word 2 := 11111111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72" name="M3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73" name="M3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74" name="M3 word 1 := 11111111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75" name="M3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76" name="M3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77" name="M3 word 0 := 11111111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B2DFDB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11111111</a:t>
            </a:r>
          </a:p>
        </p:txBody>
      </p:sp>
      <p:sp>
        <p:nvSpPr>
          <p:cNvPr id="178" name="M3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79" name="M3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r0 ✓  w1 w1</a:t>
            </a:r>
          </a:p>
        </p:txBody>
      </p:sp>
      <p:sp>
        <p:nvSpPr>
          <p:cNvPr id="180" name="M3 result"/>
          <p:cNvSpPr/>
          <p:nvPr/>
        </p:nvSpPr>
        <p:spPr>
          <a:xfrm>
            <a:off x="5657850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81" name="M4 highlight"/>
          <p:cNvSpPr/>
          <p:nvPr/>
        </p:nvSpPr>
        <p:spPr>
          <a:xfrm>
            <a:off x="6043612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82" name="Panel M4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M4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⇓(r1,r1,w0,w0)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Same as M2, going down.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7 → 0</a:t>
            </a:r>
          </a:p>
        </p:txBody>
      </p:sp>
      <p:sp>
        <p:nvSpPr>
          <p:cNvPr id="183" name="Caption M4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M4 ⇓(r1,r1,w0,w0): second check for all 1s, going down.</a:t>
            </a:r>
          </a:p>
        </p:txBody>
      </p:sp>
      <p:sp>
        <p:nvSpPr>
          <p:cNvPr id="184" name="M4 word 7 := 00000000"/>
          <p:cNvSpPr/>
          <p:nvPr/>
        </p:nvSpPr>
        <p:spPr>
          <a:xfrm>
            <a:off x="1071562" y="39433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85" name="M4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86" name="M4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87" name="M4 word 6 := 00000000"/>
          <p:cNvSpPr/>
          <p:nvPr/>
        </p:nvSpPr>
        <p:spPr>
          <a:xfrm>
            <a:off x="1071562" y="36004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88" name="M4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89" name="M4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190" name="M4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91" name="M4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C62828"/>
                </a:solidFill>
                <a:latin typeface="Consolas"/>
              </a:rPr>
              <a:t>r1 r1 ✗  w0 w0</a:t>
            </a:r>
          </a:p>
        </p:txBody>
      </p:sp>
      <p:sp>
        <p:nvSpPr>
          <p:cNvPr id="192" name="Panel M4 mismatch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C62828"/>
                </a:solidFill>
                <a:latin typeface="Calibri"/>
              </a:rPr>
              <a:t>MISMATCH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addr 5   op r1</a:t>
            </a:r>
          </a:p>
          <a:p>
            <a:pPr algn="l"/>
            <a:r>
              <a:rPr sz="1125" b="0">
                <a:solidFill>
                  <a:srgbClr val="C62828"/>
                </a:solidFill>
                <a:latin typeface="Consolas"/>
              </a:rPr>
              <a:t>read     00000000</a:t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onsolas"/>
              </a:rPr>
              <a:t>expected 11111111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Detected again, now going down.</a:t>
            </a:r>
          </a:p>
        </p:txBody>
      </p:sp>
      <p:sp>
        <p:nvSpPr>
          <p:cNvPr id="193" name="FIFO entry 1"/>
          <p:cNvSpPr/>
          <p:nvPr/>
        </p:nvSpPr>
        <p:spPr>
          <a:xfrm>
            <a:off x="6929437" y="1885950"/>
            <a:ext cx="1785937" cy="314325"/>
          </a:xfrm>
          <a:prstGeom prst="rect">
            <a:avLst/>
          </a:prstGeom>
          <a:solidFill>
            <a:srgbClr val="FDE4EC"/>
          </a:solidFill>
          <a:ln w="19050">
            <a:solidFill>
              <a:srgbClr val="93005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68" b="1">
                <a:solidFill>
                  <a:srgbClr val="93005F"/>
                </a:solidFill>
                <a:latin typeface="Consolas"/>
              </a:rPr>
              <a:t>addr 5  (M4)</a:t>
            </a:r>
          </a:p>
        </p:txBody>
      </p:sp>
      <p:sp>
        <p:nvSpPr>
          <p:cNvPr id="194" name="Caption M4 mismatch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Same fault, found again in M4: address 5 gets a second FIFO entry.</a:t>
            </a:r>
          </a:p>
        </p:txBody>
      </p:sp>
      <p:sp>
        <p:nvSpPr>
          <p:cNvPr id="195" name="Panel M4 again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M4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⇓(r1,r1,w0,w0)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Same as M2, going down.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7 → 0</a:t>
            </a:r>
          </a:p>
        </p:txBody>
      </p:sp>
      <p:sp>
        <p:nvSpPr>
          <p:cNvPr id="196" name="Caption M4 again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M4 ⇓(r1,r1,w0,w0): second check for all 1s, going down.</a:t>
            </a:r>
          </a:p>
        </p:txBody>
      </p:sp>
      <p:sp>
        <p:nvSpPr>
          <p:cNvPr id="197" name="M4 word 4 := 00000000"/>
          <p:cNvSpPr/>
          <p:nvPr/>
        </p:nvSpPr>
        <p:spPr>
          <a:xfrm>
            <a:off x="1071562" y="29146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198" name="M4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99" name="M4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200" name="M4 word 3 := 00000000"/>
          <p:cNvSpPr/>
          <p:nvPr/>
        </p:nvSpPr>
        <p:spPr>
          <a:xfrm>
            <a:off x="1071562" y="25717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201" name="M4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02" name="M4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203" name="M4 word 2 := 00000000"/>
          <p:cNvSpPr/>
          <p:nvPr/>
        </p:nvSpPr>
        <p:spPr>
          <a:xfrm>
            <a:off x="1071562" y="22288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204" name="M4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05" name="M4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206" name="M4 word 1 := 00000000"/>
          <p:cNvSpPr/>
          <p:nvPr/>
        </p:nvSpPr>
        <p:spPr>
          <a:xfrm>
            <a:off x="1071562" y="18859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207" name="M4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08" name="M4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209" name="M4 word 0 := 00000000"/>
          <p:cNvSpPr/>
          <p:nvPr/>
        </p:nvSpPr>
        <p:spPr>
          <a:xfrm>
            <a:off x="1071562" y="1543050"/>
            <a:ext cx="1714500" cy="28575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50" b="0">
                <a:solidFill>
                  <a:srgbClr val="12343B"/>
                </a:solidFill>
                <a:latin typeface="Consolas"/>
              </a:rPr>
              <a:t>00000000</a:t>
            </a:r>
          </a:p>
        </p:txBody>
      </p:sp>
      <p:sp>
        <p:nvSpPr>
          <p:cNvPr id="210" name="M4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11" name="M4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r1 r1 ✓  w0 w0</a:t>
            </a:r>
          </a:p>
        </p:txBody>
      </p:sp>
      <p:sp>
        <p:nvSpPr>
          <p:cNvPr id="212" name="M4 result"/>
          <p:cNvSpPr/>
          <p:nvPr/>
        </p:nvSpPr>
        <p:spPr>
          <a:xfrm>
            <a:off x="7100887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213" name="M5 highlight"/>
          <p:cNvSpPr/>
          <p:nvPr/>
        </p:nvSpPr>
        <p:spPr>
          <a:xfrm>
            <a:off x="7486650" y="542925"/>
            <a:ext cx="1385887" cy="685800"/>
          </a:xfrm>
          <a:prstGeom prst="roundRect">
            <a:avLst>
              <a:gd name="adj" fmla="val 10416"/>
            </a:avLst>
          </a:prstGeom>
          <a:noFill/>
          <a:ln w="5080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14" name="Panel M5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Element M5</a:t>
            </a:r>
          </a:p>
          <a:p>
            <a:pPr algn="l"/>
            <a:r>
              <a:rPr sz="1125" b="1">
                <a:solidFill>
                  <a:srgbClr val="12343B"/>
                </a:solidFill>
                <a:latin typeface="Consolas"/>
              </a:rPr>
              <a:t>⇕(r0)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Final read: every word must hold 0.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addresses 0 → 7</a:t>
            </a:r>
          </a:p>
        </p:txBody>
      </p:sp>
      <p:sp>
        <p:nvSpPr>
          <p:cNvPr id="215" name="Caption M5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M5 ⇕(r0): final read, every word must hold 0.</a:t>
            </a:r>
          </a:p>
        </p:txBody>
      </p:sp>
      <p:sp>
        <p:nvSpPr>
          <p:cNvPr id="216" name="M5 ptr 0"/>
          <p:cNvSpPr/>
          <p:nvPr/>
        </p:nvSpPr>
        <p:spPr>
          <a:xfrm>
            <a:off x="1042987" y="15216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17" name="M5 tag 0"/>
          <p:cNvSpPr/>
          <p:nvPr/>
        </p:nvSpPr>
        <p:spPr>
          <a:xfrm>
            <a:off x="2871787" y="15716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18" name="M5 ptr 1"/>
          <p:cNvSpPr/>
          <p:nvPr/>
        </p:nvSpPr>
        <p:spPr>
          <a:xfrm>
            <a:off x="1042987" y="18645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19" name="M5 tag 1"/>
          <p:cNvSpPr/>
          <p:nvPr/>
        </p:nvSpPr>
        <p:spPr>
          <a:xfrm>
            <a:off x="2871787" y="19145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20" name="M5 ptr 2"/>
          <p:cNvSpPr/>
          <p:nvPr/>
        </p:nvSpPr>
        <p:spPr>
          <a:xfrm>
            <a:off x="1042987" y="22074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1" name="M5 tag 2"/>
          <p:cNvSpPr/>
          <p:nvPr/>
        </p:nvSpPr>
        <p:spPr>
          <a:xfrm>
            <a:off x="2871787" y="22574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22" name="M5 ptr 3"/>
          <p:cNvSpPr/>
          <p:nvPr/>
        </p:nvSpPr>
        <p:spPr>
          <a:xfrm>
            <a:off x="1042987" y="25503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3" name="M5 tag 3"/>
          <p:cNvSpPr/>
          <p:nvPr/>
        </p:nvSpPr>
        <p:spPr>
          <a:xfrm>
            <a:off x="2871787" y="26003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24" name="M5 ptr 4"/>
          <p:cNvSpPr/>
          <p:nvPr/>
        </p:nvSpPr>
        <p:spPr>
          <a:xfrm>
            <a:off x="1042987" y="28932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5" name="M5 tag 4"/>
          <p:cNvSpPr/>
          <p:nvPr/>
        </p:nvSpPr>
        <p:spPr>
          <a:xfrm>
            <a:off x="2871787" y="29432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26" name="M5 ptr 5"/>
          <p:cNvSpPr/>
          <p:nvPr/>
        </p:nvSpPr>
        <p:spPr>
          <a:xfrm>
            <a:off x="1042987" y="32361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7" name="M5 tag 5"/>
          <p:cNvSpPr/>
          <p:nvPr/>
        </p:nvSpPr>
        <p:spPr>
          <a:xfrm>
            <a:off x="2871787" y="32861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28" name="M5 ptr 6"/>
          <p:cNvSpPr/>
          <p:nvPr/>
        </p:nvSpPr>
        <p:spPr>
          <a:xfrm>
            <a:off x="1042987" y="35790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9" name="M5 tag 6"/>
          <p:cNvSpPr/>
          <p:nvPr/>
        </p:nvSpPr>
        <p:spPr>
          <a:xfrm>
            <a:off x="2871787" y="36290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30" name="M5 ptr 7"/>
          <p:cNvSpPr/>
          <p:nvPr/>
        </p:nvSpPr>
        <p:spPr>
          <a:xfrm>
            <a:off x="1042987" y="3921918"/>
            <a:ext cx="1771650" cy="328612"/>
          </a:xfrm>
          <a:prstGeom prst="rect">
            <a:avLst/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31" name="M5 tag 7"/>
          <p:cNvSpPr/>
          <p:nvPr/>
        </p:nvSpPr>
        <p:spPr>
          <a:xfrm>
            <a:off x="2871787" y="3971925"/>
            <a:ext cx="1685925" cy="228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9B2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2343B"/>
                </a:solidFill>
                <a:latin typeface="Consolas"/>
              </a:rPr>
              <a:t>r0 ✓</a:t>
            </a:r>
          </a:p>
        </p:txBody>
      </p:sp>
      <p:sp>
        <p:nvSpPr>
          <p:cNvPr id="232" name="M5 result"/>
          <p:cNvSpPr/>
          <p:nvPr/>
        </p:nvSpPr>
        <p:spPr>
          <a:xfrm>
            <a:off x="8543925" y="58578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33" name="Flag busy 0"/>
          <p:cNvSpPr/>
          <p:nvPr/>
        </p:nvSpPr>
        <p:spPr>
          <a:xfrm>
            <a:off x="6929437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19050">
            <a:solidFill>
              <a:srgbClr val="00897B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00897B"/>
                </a:solidFill>
                <a:latin typeface="Calibri"/>
              </a:rPr>
              <a:t>busy</a:t>
            </a:r>
          </a:p>
          <a:p>
            <a:pPr algn="ctr"/>
            <a:r>
              <a:rPr sz="1068" b="1">
                <a:solidFill>
                  <a:srgbClr val="00897B"/>
                </a:solidFill>
                <a:latin typeface="Consolas"/>
              </a:rPr>
              <a:t>0</a:t>
            </a:r>
          </a:p>
        </p:txBody>
      </p:sp>
      <p:sp>
        <p:nvSpPr>
          <p:cNvPr id="234" name="Flag done_o 1"/>
          <p:cNvSpPr/>
          <p:nvPr/>
        </p:nvSpPr>
        <p:spPr>
          <a:xfrm>
            <a:off x="7543800" y="3143250"/>
            <a:ext cx="557212" cy="400050"/>
          </a:xfrm>
          <a:prstGeom prst="roundRect">
            <a:avLst>
              <a:gd name="adj" fmla="val 15000"/>
            </a:avLst>
          </a:prstGeom>
          <a:solidFill>
            <a:srgbClr val="00897B"/>
          </a:solidFill>
          <a:ln w="19050">
            <a:solidFill>
              <a:srgbClr val="00897B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56" b="0">
                <a:solidFill>
                  <a:srgbClr val="FFFFFF"/>
                </a:solidFill>
                <a:latin typeface="Calibri"/>
              </a:rPr>
              <a:t>done_o</a:t>
            </a:r>
          </a:p>
          <a:p>
            <a:pPr algn="ctr"/>
            <a:r>
              <a:rPr sz="1068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35" name="Panel summary"/>
          <p:cNvSpPr/>
          <p:nvPr/>
        </p:nvSpPr>
        <p:spPr>
          <a:xfrm>
            <a:off x="4672012" y="1471612"/>
            <a:ext cx="2071687" cy="25717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t" wrap="square" lIns="114300" rIns="114300" tIns="114300" bIns="114300"/>
          <a:lstStyle/>
          <a:p>
            <a:pPr algn="l"/>
            <a:r>
              <a:rPr sz="1350" b="1">
                <a:solidFill>
                  <a:srgbClr val="00897B"/>
                </a:solidFill>
                <a:latin typeface="Calibri"/>
              </a:rPr>
              <a:t>Run complete</a:t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144 operations = 18N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93005F"/>
                </a:solidFill>
                <a:latin typeface="Calibri"/>
              </a:rPr>
              <a:t>FIFO holds addr 5 twice (M2 and M4).</a:t>
            </a:r>
          </a:p>
          <a:p>
            <a:pPr algn="l"/>
            <a:r>
              <a:rPr sz="562" b="0">
                <a:solidFill>
                  <a:srgbClr val="12343B"/>
                </a:solidFill>
                <a:latin typeface="Calibri"/>
              </a:rPr>
              <a:t/>
            </a:r>
          </a:p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A fault-free SRAM ends with an empty FIFO and fail_o = 0.</a:t>
            </a:r>
          </a:p>
        </p:txBody>
      </p:sp>
      <p:sp>
        <p:nvSpPr>
          <p:cNvPr id="236" name="Caption summary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Software (or JTAG) reads STATUS, then pops the FIFO through the ERRADDR registers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in SoC Regs to get the failing addresses. A full FIFO stops the run (ERR_ABORT).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2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7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40"/>
                            </p:stCondLst>
                            <p:childTnLst>
                              <p:par>
                                <p:cTn id="4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9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860"/>
                            </p:stCondLst>
                            <p:childTnLst>
                              <p:par>
                                <p:cTn id="6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1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80"/>
                            </p:stCondLst>
                            <p:childTnLst>
                              <p:par>
                                <p:cTn id="8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43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700"/>
                            </p:stCondLst>
                            <p:childTnLst>
                              <p:par>
                                <p:cTn id="9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20"/>
                            </p:stCondLst>
                            <p:childTnLst>
                              <p:par>
                                <p:cTn id="1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27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40"/>
                            </p:stCondLst>
                            <p:childTnLst>
                              <p:par>
                                <p:cTn id="12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69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960"/>
                            </p:stCondLst>
                            <p:childTnLst>
                              <p:par>
                                <p:cTn id="1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6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75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20"/>
                            </p:stCondLst>
                            <p:childTnLst>
                              <p:par>
                                <p:cTn id="1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17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440"/>
                            </p:stCondLst>
                            <p:childTnLst>
                              <p:par>
                                <p:cTn id="19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59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860"/>
                            </p:stCondLst>
                            <p:childTnLst>
                              <p:par>
                                <p:cTn id="2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10"/>
                            </p:stCondLst>
                            <p:childTnLst>
                              <p:par>
                                <p:cTn id="2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28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43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700"/>
                            </p:stCondLst>
                            <p:childTnLst>
                              <p:par>
                                <p:cTn id="24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300"/>
                            </p:stCondLst>
                            <p:childTnLst>
                              <p:par>
                                <p:cTn id="27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50"/>
                            </p:stCondLst>
                            <p:childTnLst>
                              <p:par>
                                <p:cTn id="2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2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720"/>
                            </p:stCondLst>
                            <p:childTnLst>
                              <p:par>
                                <p:cTn id="29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870"/>
                            </p:stCondLst>
                            <p:childTnLst>
                              <p:par>
                                <p:cTn id="3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2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140"/>
                            </p:stCondLst>
                            <p:childTnLst>
                              <p:par>
                                <p:cTn id="3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2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2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600"/>
                            </p:stCondLst>
                            <p:childTnLst>
                              <p:par>
                                <p:cTn id="3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750"/>
                            </p:stCondLst>
                            <p:childTnLst>
                              <p:par>
                                <p:cTn id="3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020"/>
                            </p:stCondLst>
                            <p:childTnLst>
                              <p:par>
                                <p:cTn id="3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2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2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1170"/>
                            </p:stCondLst>
                            <p:childTnLst>
                              <p:par>
                                <p:cTn id="3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2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440"/>
                            </p:stCondLst>
                            <p:childTnLst>
                              <p:par>
                                <p:cTn id="36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2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590"/>
                            </p:stCondLst>
                            <p:childTnLst>
                              <p:par>
                                <p:cTn id="3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2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1860"/>
                            </p:stCondLst>
                            <p:childTnLst>
                              <p:par>
                                <p:cTn id="3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2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2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2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2010"/>
                            </p:stCondLst>
                            <p:childTnLst>
                              <p:par>
                                <p:cTn id="3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2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280"/>
                            </p:stCondLst>
                            <p:childTnLst>
                              <p:par>
                                <p:cTn id="39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2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430"/>
                            </p:stCondLst>
                            <p:childTnLst>
                              <p:par>
                                <p:cTn id="4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2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700"/>
                            </p:stCondLst>
                            <p:childTnLst>
                              <p:par>
                                <p:cTn id="4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2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2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2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2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2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2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2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2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2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300"/>
                            </p:stCondLst>
                            <p:childTnLst>
                              <p:par>
                                <p:cTn id="45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2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2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2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450"/>
                            </p:stCondLst>
                            <p:childTnLst>
                              <p:par>
                                <p:cTn id="4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2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720"/>
                            </p:stCondLst>
                            <p:childTnLst>
                              <p:par>
                                <p:cTn id="47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1" dur="2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2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2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fill="hold">
                            <p:stCondLst>
                              <p:cond delay="870"/>
                            </p:stCondLst>
                            <p:childTnLst>
                              <p:par>
                                <p:cTn id="4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2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1140"/>
                            </p:stCondLst>
                            <p:childTnLst>
                              <p:par>
                                <p:cTn id="48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8" dur="2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2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2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2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2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2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600"/>
                            </p:stCondLst>
                            <p:childTnLst>
                              <p:par>
                                <p:cTn id="5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2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6" dur="2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750"/>
                            </p:stCondLst>
                            <p:childTnLst>
                              <p:par>
                                <p:cTn id="5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2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1020"/>
                            </p:stCondLst>
                            <p:childTnLst>
                              <p:par>
                                <p:cTn id="5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2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2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1170"/>
                            </p:stCondLst>
                            <p:childTnLst>
                              <p:par>
                                <p:cTn id="5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2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1440"/>
                            </p:stCondLst>
                            <p:childTnLst>
                              <p:par>
                                <p:cTn id="5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0" dur="2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3" dur="2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2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2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1860"/>
                            </p:stCondLst>
                            <p:childTnLst>
                              <p:par>
                                <p:cTn id="5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2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6" dur="2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2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2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2010"/>
                            </p:stCondLst>
                            <p:childTnLst>
                              <p:par>
                                <p:cTn id="5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2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2280"/>
                            </p:stCondLst>
                            <p:childTnLst>
                              <p:par>
                                <p:cTn id="5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0" dur="2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3" dur="2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2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2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2430"/>
                            </p:stCondLst>
                            <p:childTnLst>
                              <p:par>
                                <p:cTn id="5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2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5" fill="hold">
                            <p:stCondLst>
                              <p:cond delay="2700"/>
                            </p:stCondLst>
                            <p:childTnLst>
                              <p:par>
                                <p:cTn id="5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0" dur="2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2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2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2850"/>
                            </p:stCondLst>
                            <p:childTnLst>
                              <p:par>
                                <p:cTn id="5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2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2" fill="hold">
                            <p:stCondLst>
                              <p:cond delay="3120"/>
                            </p:stCondLst>
                            <p:childTnLst>
                              <p:par>
                                <p:cTn id="6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4" dur="2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7" dur="2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1" dur="2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4" dur="2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fill="hold">
                            <p:stCondLst>
                              <p:cond delay="3270"/>
                            </p:stCondLst>
                            <p:childTnLst>
                              <p:par>
                                <p:cTn id="6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8" dur="2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3540"/>
                            </p:stCondLst>
                            <p:childTnLst>
                              <p:par>
                                <p:cTn id="6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2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2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2" fill="hold">
                            <p:stCondLst>
                              <p:cond delay="3690"/>
                            </p:stCondLst>
                            <p:childTnLst>
                              <p:par>
                                <p:cTn id="6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2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6" fill="hold">
                            <p:stCondLst>
                              <p:cond delay="3960"/>
                            </p:stCondLst>
                            <p:childTnLst>
                              <p:par>
                                <p:cTn id="6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8" dur="2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2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2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6" fill="hold">
                      <p:stCondLst>
                        <p:cond delay="indefinite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3" dur="2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6" dur="2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9" dur="2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600"/>
                            </p:stCondLst>
                            <p:childTnLst>
                              <p:par>
                                <p:cTn id="6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2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6" dur="2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fill="hold">
                            <p:stCondLst>
                              <p:cond delay="750"/>
                            </p:stCondLst>
                            <p:childTnLst>
                              <p:par>
                                <p:cTn id="6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2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1" fill="hold">
                            <p:stCondLst>
                              <p:cond delay="1020"/>
                            </p:stCondLst>
                            <p:childTnLst>
                              <p:par>
                                <p:cTn id="67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6" dur="2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0" dur="2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3" dur="2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1170"/>
                            </p:stCondLst>
                            <p:childTnLst>
                              <p:par>
                                <p:cTn id="6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2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8" fill="hold">
                            <p:stCondLst>
                              <p:cond delay="1440"/>
                            </p:stCondLst>
                            <p:childTnLst>
                              <p:par>
                                <p:cTn id="68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0" dur="2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3" dur="2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2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2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2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2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2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6" dur="2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2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>
                            <p:stCondLst>
                              <p:cond delay="300"/>
                            </p:stCondLst>
                            <p:childTnLst>
                              <p:par>
                                <p:cTn id="7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2" dur="2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2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2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2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450"/>
                            </p:stCondLst>
                            <p:childTnLst>
                              <p:par>
                                <p:cTn id="7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2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7" fill="hold">
                            <p:stCondLst>
                              <p:cond delay="720"/>
                            </p:stCondLst>
                            <p:childTnLst>
                              <p:par>
                                <p:cTn id="7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9" dur="2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2" dur="2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6" dur="2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9" dur="2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0" fill="hold">
                            <p:stCondLst>
                              <p:cond delay="870"/>
                            </p:stCondLst>
                            <p:childTnLst>
                              <p:par>
                                <p:cTn id="7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2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1140"/>
                            </p:stCondLst>
                            <p:childTnLst>
                              <p:par>
                                <p:cTn id="75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2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2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7" fill="hold">
                            <p:stCondLst>
                              <p:cond delay="1290"/>
                            </p:stCondLst>
                            <p:childTnLst>
                              <p:par>
                                <p:cTn id="7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0" dur="2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1" fill="hold">
                            <p:stCondLst>
                              <p:cond delay="1560"/>
                            </p:stCondLst>
                            <p:childTnLst>
                              <p:par>
                                <p:cTn id="77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2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6" dur="2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0" dur="2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2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4" fill="hold">
                            <p:stCondLst>
                              <p:cond delay="1710"/>
                            </p:stCondLst>
                            <p:childTnLst>
                              <p:par>
                                <p:cTn id="7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2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1980"/>
                            </p:stCondLst>
                            <p:childTnLst>
                              <p:par>
                                <p:cTn id="78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0" dur="2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7" dur="2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0" dur="2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2130"/>
                            </p:stCondLst>
                            <p:childTnLst>
                              <p:par>
                                <p:cTn id="8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4" dur="2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fill="hold">
                            <p:stCondLst>
                              <p:cond delay="2400"/>
                            </p:stCondLst>
                            <p:childTnLst>
                              <p:par>
                                <p:cTn id="80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7" dur="2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0" dur="2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2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8" dur="2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2" dur="2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2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8" dur="2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600"/>
                            </p:stCondLst>
                            <p:childTnLst>
                              <p:par>
                                <p:cTn id="8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2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2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6" fill="hold">
                            <p:stCondLst>
                              <p:cond delay="1020"/>
                            </p:stCondLst>
                            <p:childTnLst>
                              <p:par>
                                <p:cTn id="8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8" dur="2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1" dur="2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5" dur="2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8" dur="2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1440"/>
                            </p:stCondLst>
                            <p:childTnLst>
                              <p:par>
                                <p:cTn id="8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2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4" dur="2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8" dur="2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2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2" fill="hold">
                            <p:stCondLst>
                              <p:cond delay="1860"/>
                            </p:stCondLst>
                            <p:childTnLst>
                              <p:par>
                                <p:cTn id="86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2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2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5" fill="hold">
                            <p:stCondLst>
                              <p:cond delay="2280"/>
                            </p:stCondLst>
                            <p:childTnLst>
                              <p:par>
                                <p:cTn id="87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7" dur="2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0" dur="2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4" dur="2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7" dur="2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8" fill="hold">
                            <p:stCondLst>
                              <p:cond delay="2700"/>
                            </p:stCondLst>
                            <p:childTnLst>
                              <p:par>
                                <p:cTn id="88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0" dur="2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2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2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0" dur="2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1" fill="hold">
                            <p:stCondLst>
                              <p:cond delay="3120"/>
                            </p:stCondLst>
                            <p:childTnLst>
                              <p:par>
                                <p:cTn id="90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3" dur="2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6" dur="2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2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2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3540"/>
                            </p:stCondLst>
                            <p:childTnLst>
                              <p:par>
                                <p:cTn id="9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9" dur="2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3" dur="2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6" dur="2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7" fill="hold">
                            <p:stCondLst>
                              <p:cond delay="3960"/>
                            </p:stCondLst>
                            <p:childTnLst>
                              <p:par>
                                <p:cTn id="9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2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2" dur="2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6" dur="2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0" dur="2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2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7" dur="2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0" dur="2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3" dur="2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5" grpId="0" animBg="1"/>
      <p:bldP spid="66" grpId="1" animBg="1"/>
      <p:bldP spid="67" grpId="1" animBg="1"/>
      <p:bldP spid="69" grpId="0" animBg="1"/>
      <p:bldP spid="70" grpId="0" animBg="1"/>
      <p:bldP spid="68" grpId="0" animBg="1"/>
      <p:bldP spid="69" grpId="1" animBg="1"/>
      <p:bldP spid="70" grpId="1" animBg="1"/>
      <p:bldP spid="72" grpId="0" animBg="1"/>
      <p:bldP spid="73" grpId="0" animBg="1"/>
      <p:bldP spid="71" grpId="0" animBg="1"/>
      <p:bldP spid="72" grpId="1" animBg="1"/>
      <p:bldP spid="73" grpId="1" animBg="1"/>
      <p:bldP spid="75" grpId="0" animBg="1"/>
      <p:bldP spid="76" grpId="0" animBg="1"/>
      <p:bldP spid="74" grpId="0" animBg="1"/>
      <p:bldP spid="75" grpId="1" animBg="1"/>
      <p:bldP spid="76" grpId="1" animBg="1"/>
      <p:bldP spid="78" grpId="0" animBg="1"/>
      <p:bldP spid="79" grpId="0" animBg="1"/>
      <p:bldP spid="77" grpId="0" animBg="1"/>
      <p:bldP spid="78" grpId="1" animBg="1"/>
      <p:bldP spid="79" grpId="1" animBg="1"/>
      <p:bldP spid="80" grpId="0" animBg="1"/>
      <p:bldP spid="81" grpId="0" animBg="1"/>
      <p:bldP spid="80" grpId="1" animBg="1"/>
      <p:bldP spid="81" grpId="1" animBg="1"/>
      <p:bldP spid="83" grpId="0" animBg="1"/>
      <p:bldP spid="84" grpId="0" animBg="1"/>
      <p:bldP spid="82" grpId="0" animBg="1"/>
      <p:bldP spid="83" grpId="1" animBg="1"/>
      <p:bldP spid="84" grpId="1" animBg="1"/>
      <p:bldP spid="86" grpId="0" animBg="1"/>
      <p:bldP spid="87" grpId="0" animBg="1"/>
      <p:bldP spid="85" grpId="0" animBg="1"/>
      <p:bldP spid="86" grpId="1" animBg="1"/>
      <p:bldP spid="87" grpId="1" animBg="1"/>
      <p:bldP spid="88" grpId="0" animBg="1"/>
      <p:bldP spid="61" grpId="1" animBg="1"/>
      <p:bldP spid="89" grpId="0" animBg="1"/>
      <p:bldP spid="90" grpId="0" animBg="1"/>
      <p:bldP spid="91" grpId="0" animBg="1"/>
      <p:bldP spid="93" grpId="0" animBg="1"/>
      <p:bldP spid="94" grpId="0" animBg="1"/>
      <p:bldP spid="92" grpId="0" animBg="1"/>
      <p:bldP spid="93" grpId="1" animBg="1"/>
      <p:bldP spid="94" grpId="1" animBg="1"/>
      <p:bldP spid="96" grpId="0" animBg="1"/>
      <p:bldP spid="97" grpId="0" animBg="1"/>
      <p:bldP spid="95" grpId="0" animBg="1"/>
      <p:bldP spid="96" grpId="1" animBg="1"/>
      <p:bldP spid="97" grpId="1" animBg="1"/>
      <p:bldP spid="99" grpId="0" animBg="1"/>
      <p:bldP spid="100" grpId="0" animBg="1"/>
      <p:bldP spid="98" grpId="0" animBg="1"/>
      <p:bldP spid="99" grpId="1" animBg="1"/>
      <p:bldP spid="100" grpId="1" animBg="1"/>
      <p:bldP spid="102" grpId="0" animBg="1"/>
      <p:bldP spid="103" grpId="0" animBg="1"/>
      <p:bldP spid="101" grpId="0" animBg="1"/>
      <p:bldP spid="102" grpId="1" animBg="1"/>
      <p:bldP spid="103" grpId="1" animBg="1"/>
      <p:bldP spid="105" grpId="0" animBg="1"/>
      <p:bldP spid="106" grpId="0" animBg="1"/>
      <p:bldP spid="104" grpId="0" animBg="1"/>
      <p:bldP spid="105" grpId="1" animBg="1"/>
      <p:bldP spid="106" grpId="1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07" grpId="1" animBg="1"/>
      <p:bldP spid="108" grpId="1" animBg="1"/>
      <p:bldP spid="114" grpId="0" animBg="1"/>
      <p:bldP spid="115" grpId="0" animBg="1"/>
      <p:bldP spid="113" grpId="0" animBg="1"/>
      <p:bldP spid="114" grpId="1" animBg="1"/>
      <p:bldP spid="115" grpId="1" animBg="1"/>
      <p:bldP spid="117" grpId="0" animBg="1"/>
      <p:bldP spid="118" grpId="0" animBg="1"/>
      <p:bldP spid="116" grpId="0" animBg="1"/>
      <p:bldP spid="117" grpId="1" animBg="1"/>
      <p:bldP spid="118" grpId="1" animBg="1"/>
      <p:bldP spid="119" grpId="0" animBg="1"/>
      <p:bldP spid="89" grpId="1" animBg="1"/>
      <p:bldP spid="120" grpId="0" animBg="1"/>
      <p:bldP spid="121" grpId="0" animBg="1"/>
      <p:bldP spid="122" grpId="0" animBg="1"/>
      <p:bldP spid="124" grpId="0" animBg="1"/>
      <p:bldP spid="125" grpId="0" animBg="1"/>
      <p:bldP spid="123" grpId="0" animBg="1"/>
      <p:bldP spid="124" grpId="1" animBg="1"/>
      <p:bldP spid="125" grpId="1" animBg="1"/>
      <p:bldP spid="127" grpId="0" animBg="1"/>
      <p:bldP spid="128" grpId="0" animBg="1"/>
      <p:bldP spid="126" grpId="0" animBg="1"/>
      <p:bldP spid="127" grpId="1" animBg="1"/>
      <p:bldP spid="128" grpId="1" animBg="1"/>
      <p:bldP spid="130" grpId="0" animBg="1"/>
      <p:bldP spid="131" grpId="0" animBg="1"/>
      <p:bldP spid="129" grpId="0" animBg="1"/>
      <p:bldP spid="130" grpId="1" animBg="1"/>
      <p:bldP spid="131" grpId="1" animBg="1"/>
      <p:bldP spid="133" grpId="0" animBg="1"/>
      <p:bldP spid="134" grpId="0" animBg="1"/>
      <p:bldP spid="132" grpId="0" animBg="1"/>
      <p:bldP spid="133" grpId="1" animBg="1"/>
      <p:bldP spid="134" grpId="1" animBg="1"/>
      <p:bldP spid="136" grpId="0" animBg="1"/>
      <p:bldP spid="137" grpId="0" animBg="1"/>
      <p:bldP spid="135" grpId="0" animBg="1"/>
      <p:bldP spid="136" grpId="1" animBg="1"/>
      <p:bldP spid="137" grpId="1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38" grpId="1" animBg="1"/>
      <p:bldP spid="139" grpId="1" animBg="1"/>
      <p:bldP spid="148" grpId="0" animBg="1"/>
      <p:bldP spid="149" grpId="0" animBg="1"/>
      <p:bldP spid="147" grpId="0" animBg="1"/>
      <p:bldP spid="148" grpId="1" animBg="1"/>
      <p:bldP spid="149" grpId="1" animBg="1"/>
      <p:bldP spid="151" grpId="0" animBg="1"/>
      <p:bldP spid="152" grpId="0" animBg="1"/>
      <p:bldP spid="150" grpId="0" animBg="1"/>
      <p:bldP spid="151" grpId="1" animBg="1"/>
      <p:bldP spid="152" grpId="1" animBg="1"/>
      <p:bldP spid="153" grpId="0" animBg="1"/>
      <p:bldP spid="120" grpId="1" animBg="1"/>
      <p:bldP spid="154" grpId="0" animBg="1"/>
      <p:bldP spid="155" grpId="0" animBg="1"/>
      <p:bldP spid="156" grpId="0" animBg="1"/>
      <p:bldP spid="158" grpId="0" animBg="1"/>
      <p:bldP spid="159" grpId="0" animBg="1"/>
      <p:bldP spid="157" grpId="0" animBg="1"/>
      <p:bldP spid="158" grpId="1" animBg="1"/>
      <p:bldP spid="159" grpId="1" animBg="1"/>
      <p:bldP spid="161" grpId="0" animBg="1"/>
      <p:bldP spid="162" grpId="0" animBg="1"/>
      <p:bldP spid="160" grpId="0" animBg="1"/>
      <p:bldP spid="161" grpId="1" animBg="1"/>
      <p:bldP spid="162" grpId="1" animBg="1"/>
      <p:bldP spid="163" grpId="0" animBg="1"/>
      <p:bldP spid="164" grpId="0" animBg="1"/>
      <p:bldP spid="163" grpId="1" animBg="1"/>
      <p:bldP spid="164" grpId="1" animBg="1"/>
      <p:bldP spid="166" grpId="0" animBg="1"/>
      <p:bldP spid="167" grpId="0" animBg="1"/>
      <p:bldP spid="165" grpId="0" animBg="1"/>
      <p:bldP spid="166" grpId="1" animBg="1"/>
      <p:bldP spid="167" grpId="1" animBg="1"/>
      <p:bldP spid="169" grpId="0" animBg="1"/>
      <p:bldP spid="170" grpId="0" animBg="1"/>
      <p:bldP spid="168" grpId="0" animBg="1"/>
      <p:bldP spid="169" grpId="1" animBg="1"/>
      <p:bldP spid="170" grpId="1" animBg="1"/>
      <p:bldP spid="172" grpId="0" animBg="1"/>
      <p:bldP spid="173" grpId="0" animBg="1"/>
      <p:bldP spid="171" grpId="0" animBg="1"/>
      <p:bldP spid="172" grpId="1" animBg="1"/>
      <p:bldP spid="173" grpId="1" animBg="1"/>
      <p:bldP spid="175" grpId="0" animBg="1"/>
      <p:bldP spid="176" grpId="0" animBg="1"/>
      <p:bldP spid="174" grpId="0" animBg="1"/>
      <p:bldP spid="175" grpId="1" animBg="1"/>
      <p:bldP spid="176" grpId="1" animBg="1"/>
      <p:bldP spid="178" grpId="0" animBg="1"/>
      <p:bldP spid="179" grpId="0" animBg="1"/>
      <p:bldP spid="177" grpId="0" animBg="1"/>
      <p:bldP spid="178" grpId="1" animBg="1"/>
      <p:bldP spid="179" grpId="1" animBg="1"/>
      <p:bldP spid="180" grpId="0" animBg="1"/>
      <p:bldP spid="154" grpId="1" animBg="1"/>
      <p:bldP spid="181" grpId="0" animBg="1"/>
      <p:bldP spid="182" grpId="0" animBg="1"/>
      <p:bldP spid="183" grpId="0" animBg="1"/>
      <p:bldP spid="185" grpId="0" animBg="1"/>
      <p:bldP spid="186" grpId="0" animBg="1"/>
      <p:bldP spid="184" grpId="0" animBg="1"/>
      <p:bldP spid="185" grpId="1" animBg="1"/>
      <p:bldP spid="186" grpId="1" animBg="1"/>
      <p:bldP spid="188" grpId="0" animBg="1"/>
      <p:bldP spid="189" grpId="0" animBg="1"/>
      <p:bldP spid="187" grpId="0" animBg="1"/>
      <p:bldP spid="188" grpId="1" animBg="1"/>
      <p:bldP spid="189" grpId="1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0" grpId="1" animBg="1"/>
      <p:bldP spid="191" grpId="1" animBg="1"/>
      <p:bldP spid="198" grpId="0" animBg="1"/>
      <p:bldP spid="199" grpId="0" animBg="1"/>
      <p:bldP spid="197" grpId="0" animBg="1"/>
      <p:bldP spid="198" grpId="1" animBg="1"/>
      <p:bldP spid="199" grpId="1" animBg="1"/>
      <p:bldP spid="201" grpId="0" animBg="1"/>
      <p:bldP spid="202" grpId="0" animBg="1"/>
      <p:bldP spid="200" grpId="0" animBg="1"/>
      <p:bldP spid="201" grpId="1" animBg="1"/>
      <p:bldP spid="202" grpId="1" animBg="1"/>
      <p:bldP spid="204" grpId="0" animBg="1"/>
      <p:bldP spid="205" grpId="0" animBg="1"/>
      <p:bldP spid="203" grpId="0" animBg="1"/>
      <p:bldP spid="204" grpId="1" animBg="1"/>
      <p:bldP spid="205" grpId="1" animBg="1"/>
      <p:bldP spid="207" grpId="0" animBg="1"/>
      <p:bldP spid="208" grpId="0" animBg="1"/>
      <p:bldP spid="206" grpId="0" animBg="1"/>
      <p:bldP spid="207" grpId="1" animBg="1"/>
      <p:bldP spid="208" grpId="1" animBg="1"/>
      <p:bldP spid="210" grpId="0" animBg="1"/>
      <p:bldP spid="211" grpId="0" animBg="1"/>
      <p:bldP spid="209" grpId="0" animBg="1"/>
      <p:bldP spid="210" grpId="1" animBg="1"/>
      <p:bldP spid="211" grpId="1" animBg="1"/>
      <p:bldP spid="212" grpId="0" animBg="1"/>
      <p:bldP spid="181" grpId="1" animBg="1"/>
      <p:bldP spid="213" grpId="0" animBg="1"/>
      <p:bldP spid="214" grpId="0" animBg="1"/>
      <p:bldP spid="215" grpId="0" animBg="1"/>
      <p:bldP spid="216" grpId="0" animBg="1"/>
      <p:bldP spid="217" grpId="0" animBg="1"/>
      <p:bldP spid="216" grpId="1" animBg="1"/>
      <p:bldP spid="217" grpId="1" animBg="1"/>
      <p:bldP spid="218" grpId="0" animBg="1"/>
      <p:bldP spid="219" grpId="0" animBg="1"/>
      <p:bldP spid="218" grpId="1" animBg="1"/>
      <p:bldP spid="219" grpId="1" animBg="1"/>
      <p:bldP spid="220" grpId="0" animBg="1"/>
      <p:bldP spid="221" grpId="0" animBg="1"/>
      <p:bldP spid="220" grpId="1" animBg="1"/>
      <p:bldP spid="221" grpId="1" animBg="1"/>
      <p:bldP spid="222" grpId="0" animBg="1"/>
      <p:bldP spid="223" grpId="0" animBg="1"/>
      <p:bldP spid="222" grpId="1" animBg="1"/>
      <p:bldP spid="223" grpId="1" animBg="1"/>
      <p:bldP spid="224" grpId="0" animBg="1"/>
      <p:bldP spid="225" grpId="0" animBg="1"/>
      <p:bldP spid="224" grpId="1" animBg="1"/>
      <p:bldP spid="225" grpId="1" animBg="1"/>
      <p:bldP spid="226" grpId="0" animBg="1"/>
      <p:bldP spid="227" grpId="0" animBg="1"/>
      <p:bldP spid="226" grpId="1" animBg="1"/>
      <p:bldP spid="227" grpId="1" animBg="1"/>
      <p:bldP spid="228" grpId="0" animBg="1"/>
      <p:bldP spid="229" grpId="0" animBg="1"/>
      <p:bldP spid="228" grpId="1" animBg="1"/>
      <p:bldP spid="229" grpId="1" animBg="1"/>
      <p:bldP spid="230" grpId="0" animBg="1"/>
      <p:bldP spid="231" grpId="0" animBg="1"/>
      <p:bldP spid="230" grpId="1" animBg="1"/>
      <p:bldP spid="231" grpId="1" animBg="1"/>
      <p:bldP spid="232" grpId="0" animBg="1"/>
      <p:bldP spid="213" grpId="1" animBg="1"/>
      <p:bldP spid="233" grpId="0" animBg="1"/>
      <p:bldP spid="234" grpId="0" animBg="1"/>
      <p:bldP spid="235" grpId="0" animBg="1"/>
      <p:bldP spid="236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85750" y="100012"/>
            <a:ext cx="8572500" cy="3571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12343B"/>
                </a:solidFill>
                <a:latin typeface="Calibri"/>
              </a:rPr>
              <a:t>What each part of March MSS catches</a:t>
            </a:r>
          </a:p>
        </p:txBody>
      </p:sp>
      <p:sp>
        <p:nvSpPr>
          <p:cNvPr id="3" name="Elem M0"/>
          <p:cNvSpPr/>
          <p:nvPr/>
        </p:nvSpPr>
        <p:spPr>
          <a:xfrm>
            <a:off x="285750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" name="Elem M0 name"/>
          <p:cNvSpPr/>
          <p:nvPr/>
        </p:nvSpPr>
        <p:spPr>
          <a:xfrm>
            <a:off x="342900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M0  ⇕</a:t>
            </a:r>
          </a:p>
        </p:txBody>
      </p:sp>
      <p:sp>
        <p:nvSpPr>
          <p:cNvPr id="5" name="Elem M0 op0"/>
          <p:cNvSpPr/>
          <p:nvPr/>
        </p:nvSpPr>
        <p:spPr>
          <a:xfrm>
            <a:off x="8215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6" name="Elem M1"/>
          <p:cNvSpPr/>
          <p:nvPr/>
        </p:nvSpPr>
        <p:spPr>
          <a:xfrm>
            <a:off x="1728787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" name="Elem M1 name"/>
          <p:cNvSpPr/>
          <p:nvPr/>
        </p:nvSpPr>
        <p:spPr>
          <a:xfrm>
            <a:off x="1785937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M1  ⇑</a:t>
            </a:r>
          </a:p>
        </p:txBody>
      </p:sp>
      <p:sp>
        <p:nvSpPr>
          <p:cNvPr id="8" name="Elem M1 op0"/>
          <p:cNvSpPr/>
          <p:nvPr/>
        </p:nvSpPr>
        <p:spPr>
          <a:xfrm>
            <a:off x="179308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9" name="Elem M1 op1"/>
          <p:cNvSpPr/>
          <p:nvPr/>
        </p:nvSpPr>
        <p:spPr>
          <a:xfrm>
            <a:off x="210740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10" name="Elem M1 op2"/>
          <p:cNvSpPr/>
          <p:nvPr/>
        </p:nvSpPr>
        <p:spPr>
          <a:xfrm>
            <a:off x="24217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11" name="Elem M1 op3"/>
          <p:cNvSpPr/>
          <p:nvPr/>
        </p:nvSpPr>
        <p:spPr>
          <a:xfrm>
            <a:off x="273605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12" name="Elem M2"/>
          <p:cNvSpPr/>
          <p:nvPr/>
        </p:nvSpPr>
        <p:spPr>
          <a:xfrm>
            <a:off x="3171825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3" name="Elem M2 name"/>
          <p:cNvSpPr/>
          <p:nvPr/>
        </p:nvSpPr>
        <p:spPr>
          <a:xfrm>
            <a:off x="3228975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M2  ⇑</a:t>
            </a:r>
          </a:p>
        </p:txBody>
      </p:sp>
      <p:sp>
        <p:nvSpPr>
          <p:cNvPr id="14" name="Elem M2 op0"/>
          <p:cNvSpPr/>
          <p:nvPr/>
        </p:nvSpPr>
        <p:spPr>
          <a:xfrm>
            <a:off x="32361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15" name="Elem M2 op1"/>
          <p:cNvSpPr/>
          <p:nvPr/>
        </p:nvSpPr>
        <p:spPr>
          <a:xfrm>
            <a:off x="355044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16" name="Elem M2 op2"/>
          <p:cNvSpPr/>
          <p:nvPr/>
        </p:nvSpPr>
        <p:spPr>
          <a:xfrm>
            <a:off x="386476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17" name="Elem M2 op3"/>
          <p:cNvSpPr/>
          <p:nvPr/>
        </p:nvSpPr>
        <p:spPr>
          <a:xfrm>
            <a:off x="417909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18" name="Elem M3"/>
          <p:cNvSpPr/>
          <p:nvPr/>
        </p:nvSpPr>
        <p:spPr>
          <a:xfrm>
            <a:off x="4614862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9" name="Elem M3 name"/>
          <p:cNvSpPr/>
          <p:nvPr/>
        </p:nvSpPr>
        <p:spPr>
          <a:xfrm>
            <a:off x="4672012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M3  ⇓</a:t>
            </a:r>
          </a:p>
        </p:txBody>
      </p:sp>
      <p:sp>
        <p:nvSpPr>
          <p:cNvPr id="20" name="Elem M3 op0"/>
          <p:cNvSpPr/>
          <p:nvPr/>
        </p:nvSpPr>
        <p:spPr>
          <a:xfrm>
            <a:off x="467915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21" name="Elem M3 op1"/>
          <p:cNvSpPr/>
          <p:nvPr/>
        </p:nvSpPr>
        <p:spPr>
          <a:xfrm>
            <a:off x="499348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22" name="Elem M3 op2"/>
          <p:cNvSpPr/>
          <p:nvPr/>
        </p:nvSpPr>
        <p:spPr>
          <a:xfrm>
            <a:off x="5307806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23" name="Elem M3 op3"/>
          <p:cNvSpPr/>
          <p:nvPr/>
        </p:nvSpPr>
        <p:spPr>
          <a:xfrm>
            <a:off x="5622131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w1</a:t>
            </a:r>
          </a:p>
        </p:txBody>
      </p:sp>
      <p:sp>
        <p:nvSpPr>
          <p:cNvPr id="24" name="Elem M4"/>
          <p:cNvSpPr/>
          <p:nvPr/>
        </p:nvSpPr>
        <p:spPr>
          <a:xfrm>
            <a:off x="6057900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5" name="Elem M4 name"/>
          <p:cNvSpPr/>
          <p:nvPr/>
        </p:nvSpPr>
        <p:spPr>
          <a:xfrm>
            <a:off x="6115050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M4  ⇓</a:t>
            </a:r>
          </a:p>
        </p:txBody>
      </p:sp>
      <p:sp>
        <p:nvSpPr>
          <p:cNvPr id="26" name="Elem M4 op0"/>
          <p:cNvSpPr/>
          <p:nvPr/>
        </p:nvSpPr>
        <p:spPr>
          <a:xfrm>
            <a:off x="612219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27" name="Elem M4 op1"/>
          <p:cNvSpPr/>
          <p:nvPr/>
        </p:nvSpPr>
        <p:spPr>
          <a:xfrm>
            <a:off x="64365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r1</a:t>
            </a:r>
          </a:p>
        </p:txBody>
      </p:sp>
      <p:sp>
        <p:nvSpPr>
          <p:cNvPr id="28" name="Elem M4 op2"/>
          <p:cNvSpPr/>
          <p:nvPr/>
        </p:nvSpPr>
        <p:spPr>
          <a:xfrm>
            <a:off x="6750843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29" name="Elem M4 op3"/>
          <p:cNvSpPr/>
          <p:nvPr/>
        </p:nvSpPr>
        <p:spPr>
          <a:xfrm>
            <a:off x="706516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w0</a:t>
            </a:r>
          </a:p>
        </p:txBody>
      </p:sp>
      <p:sp>
        <p:nvSpPr>
          <p:cNvPr id="30" name="Elem M5"/>
          <p:cNvSpPr/>
          <p:nvPr/>
        </p:nvSpPr>
        <p:spPr>
          <a:xfrm>
            <a:off x="7500937" y="557212"/>
            <a:ext cx="1357312" cy="65722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9050">
            <a:solidFill>
              <a:srgbClr val="9E9E9E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31" name="Elem M5 name"/>
          <p:cNvSpPr/>
          <p:nvPr/>
        </p:nvSpPr>
        <p:spPr>
          <a:xfrm>
            <a:off x="7558087" y="585787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4287" rIns="14287" tIns="14287" bIns="14287"/>
          <a:lstStyle/>
          <a:p>
            <a:pPr algn="l"/>
            <a:r>
              <a:rPr sz="1237" b="1">
                <a:solidFill>
                  <a:srgbClr val="12343B"/>
                </a:solidFill>
                <a:latin typeface="Calibri"/>
              </a:rPr>
              <a:t>M5  ⇕</a:t>
            </a:r>
          </a:p>
        </p:txBody>
      </p:sp>
      <p:sp>
        <p:nvSpPr>
          <p:cNvPr id="32" name="Elem M5 op0"/>
          <p:cNvSpPr/>
          <p:nvPr/>
        </p:nvSpPr>
        <p:spPr>
          <a:xfrm>
            <a:off x="8036718" y="900112"/>
            <a:ext cx="285750" cy="214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12" b="1">
                <a:solidFill>
                  <a:srgbClr val="12343B"/>
                </a:solidFill>
                <a:latin typeface="Consolas"/>
              </a:rPr>
              <a:t>r0</a:t>
            </a:r>
          </a:p>
        </p:txBody>
      </p:sp>
      <p:sp>
        <p:nvSpPr>
          <p:cNvPr id="33" name="Head Part of the test"/>
          <p:cNvSpPr/>
          <p:nvPr/>
        </p:nvSpPr>
        <p:spPr>
          <a:xfrm>
            <a:off x="285750" y="1328737"/>
            <a:ext cx="1685925" cy="242887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12" b="1">
                <a:solidFill>
                  <a:srgbClr val="FFFFFF"/>
                </a:solidFill>
                <a:latin typeface="Calibri"/>
              </a:rPr>
              <a:t>Part of the test</a:t>
            </a:r>
          </a:p>
        </p:txBody>
      </p:sp>
      <p:sp>
        <p:nvSpPr>
          <p:cNvPr id="34" name="Head Faults it targets"/>
          <p:cNvSpPr/>
          <p:nvPr/>
        </p:nvSpPr>
        <p:spPr>
          <a:xfrm>
            <a:off x="1971675" y="1328737"/>
            <a:ext cx="4829175" cy="242887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12" b="1">
                <a:solidFill>
                  <a:srgbClr val="FFFFFF"/>
                </a:solidFill>
                <a:latin typeface="Calibri"/>
              </a:rPr>
              <a:t>Faults it targets</a:t>
            </a:r>
          </a:p>
        </p:txBody>
      </p:sp>
      <p:sp>
        <p:nvSpPr>
          <p:cNvPr id="35" name="Head Injected in our simulation"/>
          <p:cNvSpPr/>
          <p:nvPr/>
        </p:nvSpPr>
        <p:spPr>
          <a:xfrm>
            <a:off x="6800850" y="1328737"/>
            <a:ext cx="2057400" cy="242887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12" b="1">
                <a:solidFill>
                  <a:srgbClr val="FFFFFF"/>
                </a:solidFill>
                <a:latin typeface="Calibri"/>
              </a:rPr>
              <a:t>Injected in our simulation</a:t>
            </a:r>
          </a:p>
        </p:txBody>
      </p:sp>
      <p:sp>
        <p:nvSpPr>
          <p:cNvPr id="36" name="Row 0 part"/>
          <p:cNvSpPr/>
          <p:nvPr/>
        </p:nvSpPr>
        <p:spPr>
          <a:xfrm>
            <a:off x="285750" y="1571625"/>
            <a:ext cx="168592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M0 ⇕(w0)</a:t>
            </a:r>
          </a:p>
        </p:txBody>
      </p:sp>
      <p:sp>
        <p:nvSpPr>
          <p:cNvPr id="37" name="Row 0 faults"/>
          <p:cNvSpPr/>
          <p:nvPr/>
        </p:nvSpPr>
        <p:spPr>
          <a:xfrm>
            <a:off x="1971675" y="1571625"/>
            <a:ext cx="48291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Puts every cell in a known state; detects nothing on its own.</a:t>
            </a:r>
          </a:p>
        </p:txBody>
      </p:sp>
      <p:sp>
        <p:nvSpPr>
          <p:cNvPr id="38" name="Row 0 sim"/>
          <p:cNvSpPr/>
          <p:nvPr/>
        </p:nvSpPr>
        <p:spPr>
          <a:xfrm>
            <a:off x="6800850" y="1571625"/>
            <a:ext cx="20574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—</a:t>
            </a:r>
          </a:p>
        </p:txBody>
      </p:sp>
      <p:sp>
        <p:nvSpPr>
          <p:cNvPr id="39" name="Row 0 hl 0"/>
          <p:cNvSpPr/>
          <p:nvPr/>
        </p:nvSpPr>
        <p:spPr>
          <a:xfrm>
            <a:off x="792956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0" name="Row 1 part"/>
          <p:cNvSpPr/>
          <p:nvPr/>
        </p:nvSpPr>
        <p:spPr>
          <a:xfrm>
            <a:off x="285750" y="1943100"/>
            <a:ext cx="168592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1st read (r0 / r1)</a:t>
            </a:r>
          </a:p>
        </p:txBody>
      </p:sp>
      <p:sp>
        <p:nvSpPr>
          <p:cNvPr id="41" name="Row 1 faults"/>
          <p:cNvSpPr/>
          <p:nvPr/>
        </p:nvSpPr>
        <p:spPr>
          <a:xfrm>
            <a:off x="1971675" y="1943100"/>
            <a:ext cx="482917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Stuck-at (SAF), transition faults (TF) left by the previous write, read-destructive (RDF) and incorrect-read (IRF) faults.</a:t>
            </a:r>
          </a:p>
        </p:txBody>
      </p:sp>
      <p:sp>
        <p:nvSpPr>
          <p:cNvPr id="42" name="Row 1 sim"/>
          <p:cNvSpPr/>
          <p:nvPr/>
        </p:nvSpPr>
        <p:spPr>
          <a:xfrm>
            <a:off x="6800850" y="1943100"/>
            <a:ext cx="2057400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1">
                <a:solidFill>
                  <a:srgbClr val="2E7D32"/>
                </a:solidFill>
                <a:latin typeface="Calibri"/>
              </a:rPr>
              <a:t>SAF0, SAF1 (Croc, --mbist-fault); RDF (tb_march_bist_top)</a:t>
            </a:r>
          </a:p>
        </p:txBody>
      </p:sp>
      <p:sp>
        <p:nvSpPr>
          <p:cNvPr id="43" name="Row 1 hl 0"/>
          <p:cNvSpPr/>
          <p:nvPr/>
        </p:nvSpPr>
        <p:spPr>
          <a:xfrm>
            <a:off x="1764506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4" name="Row 1 hl 1"/>
          <p:cNvSpPr/>
          <p:nvPr/>
        </p:nvSpPr>
        <p:spPr>
          <a:xfrm>
            <a:off x="320754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5" name="Row 1 hl 2"/>
          <p:cNvSpPr/>
          <p:nvPr/>
        </p:nvSpPr>
        <p:spPr>
          <a:xfrm>
            <a:off x="4650581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6" name="Row 1 hl 3"/>
          <p:cNvSpPr/>
          <p:nvPr/>
        </p:nvSpPr>
        <p:spPr>
          <a:xfrm>
            <a:off x="6093618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7" name="Row 1 hl 4"/>
          <p:cNvSpPr/>
          <p:nvPr/>
        </p:nvSpPr>
        <p:spPr>
          <a:xfrm>
            <a:off x="800814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8" name="Row 2 part"/>
          <p:cNvSpPr/>
          <p:nvPr/>
        </p:nvSpPr>
        <p:spPr>
          <a:xfrm>
            <a:off x="285750" y="2314575"/>
            <a:ext cx="168592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2nd read (r0 / r1)</a:t>
            </a:r>
          </a:p>
        </p:txBody>
      </p:sp>
      <p:sp>
        <p:nvSpPr>
          <p:cNvPr id="49" name="Row 2 faults"/>
          <p:cNvSpPr/>
          <p:nvPr/>
        </p:nvSpPr>
        <p:spPr>
          <a:xfrm>
            <a:off x="1971675" y="2314575"/>
            <a:ext cx="48291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Deceptive read-destructive (DRDF): the 1st read returns the right value but flips the cell, so only the 2nd read sees it.</a:t>
            </a:r>
          </a:p>
        </p:txBody>
      </p:sp>
      <p:sp>
        <p:nvSpPr>
          <p:cNvPr id="50" name="Row 2 sim"/>
          <p:cNvSpPr/>
          <p:nvPr/>
        </p:nvSpPr>
        <p:spPr>
          <a:xfrm>
            <a:off x="6800850" y="2314575"/>
            <a:ext cx="20574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Not injected (DRDF mask exists, unused)</a:t>
            </a:r>
          </a:p>
        </p:txBody>
      </p:sp>
      <p:sp>
        <p:nvSpPr>
          <p:cNvPr id="51" name="Row 2 hl 0"/>
          <p:cNvSpPr/>
          <p:nvPr/>
        </p:nvSpPr>
        <p:spPr>
          <a:xfrm>
            <a:off x="2078831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2" name="Row 2 hl 1"/>
          <p:cNvSpPr/>
          <p:nvPr/>
        </p:nvSpPr>
        <p:spPr>
          <a:xfrm>
            <a:off x="3521868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3" name="Row 2 hl 2"/>
          <p:cNvSpPr/>
          <p:nvPr/>
        </p:nvSpPr>
        <p:spPr>
          <a:xfrm>
            <a:off x="4964906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4" name="Row 2 hl 3"/>
          <p:cNvSpPr/>
          <p:nvPr/>
        </p:nvSpPr>
        <p:spPr>
          <a:xfrm>
            <a:off x="640794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5" name="Row 3 part"/>
          <p:cNvSpPr/>
          <p:nvPr/>
        </p:nvSpPr>
        <p:spPr>
          <a:xfrm>
            <a:off x="285750" y="2686050"/>
            <a:ext cx="168592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1st write (w1 / w0)</a:t>
            </a:r>
          </a:p>
        </p:txBody>
      </p:sp>
      <p:sp>
        <p:nvSpPr>
          <p:cNvPr id="56" name="Row 3 faults"/>
          <p:cNvSpPr/>
          <p:nvPr/>
        </p:nvSpPr>
        <p:spPr>
          <a:xfrm>
            <a:off x="1971675" y="2686050"/>
            <a:ext cx="482917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Transition write (0→1 or 1→0): sensitises up and down transition faults, caught by the next read.</a:t>
            </a:r>
          </a:p>
        </p:txBody>
      </p:sp>
      <p:sp>
        <p:nvSpPr>
          <p:cNvPr id="57" name="Row 3 sim"/>
          <p:cNvSpPr/>
          <p:nvPr/>
        </p:nvSpPr>
        <p:spPr>
          <a:xfrm>
            <a:off x="6800850" y="2686050"/>
            <a:ext cx="2057400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1">
                <a:solidFill>
                  <a:srgbClr val="2E7D32"/>
                </a:solidFill>
                <a:latin typeface="Calibri"/>
              </a:rPr>
              <a:t>TF 0→1 (tb_march_bist_top)</a:t>
            </a:r>
          </a:p>
        </p:txBody>
      </p:sp>
      <p:sp>
        <p:nvSpPr>
          <p:cNvPr id="58" name="Row 3 hl 0"/>
          <p:cNvSpPr/>
          <p:nvPr/>
        </p:nvSpPr>
        <p:spPr>
          <a:xfrm>
            <a:off x="2393156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9" name="Row 3 hl 1"/>
          <p:cNvSpPr/>
          <p:nvPr/>
        </p:nvSpPr>
        <p:spPr>
          <a:xfrm>
            <a:off x="383619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0" name="Row 3 hl 2"/>
          <p:cNvSpPr/>
          <p:nvPr/>
        </p:nvSpPr>
        <p:spPr>
          <a:xfrm>
            <a:off x="5279231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1" name="Row 3 hl 3"/>
          <p:cNvSpPr/>
          <p:nvPr/>
        </p:nvSpPr>
        <p:spPr>
          <a:xfrm>
            <a:off x="6722268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2" name="Row 4 part"/>
          <p:cNvSpPr/>
          <p:nvPr/>
        </p:nvSpPr>
        <p:spPr>
          <a:xfrm>
            <a:off x="285750" y="3057525"/>
            <a:ext cx="168592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2nd write (w1 / w0)</a:t>
            </a:r>
          </a:p>
        </p:txBody>
      </p:sp>
      <p:sp>
        <p:nvSpPr>
          <p:cNvPr id="63" name="Row 4 faults"/>
          <p:cNvSpPr/>
          <p:nvPr/>
        </p:nvSpPr>
        <p:spPr>
          <a:xfrm>
            <a:off x="1971675" y="3057525"/>
            <a:ext cx="48291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Non-transition write (same value again): sensitises write-destructive faults (WDF), caught by the next read.</a:t>
            </a:r>
          </a:p>
        </p:txBody>
      </p:sp>
      <p:sp>
        <p:nvSpPr>
          <p:cNvPr id="64" name="Row 4 sim"/>
          <p:cNvSpPr/>
          <p:nvPr/>
        </p:nvSpPr>
        <p:spPr>
          <a:xfrm>
            <a:off x="6800850" y="3057525"/>
            <a:ext cx="20574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Not injected (WDF mask exists, unused)</a:t>
            </a:r>
          </a:p>
        </p:txBody>
      </p:sp>
      <p:sp>
        <p:nvSpPr>
          <p:cNvPr id="65" name="Row 4 hl 0"/>
          <p:cNvSpPr/>
          <p:nvPr/>
        </p:nvSpPr>
        <p:spPr>
          <a:xfrm>
            <a:off x="2707481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6" name="Row 4 hl 1"/>
          <p:cNvSpPr/>
          <p:nvPr/>
        </p:nvSpPr>
        <p:spPr>
          <a:xfrm>
            <a:off x="4150518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7" name="Row 4 hl 2"/>
          <p:cNvSpPr/>
          <p:nvPr/>
        </p:nvSpPr>
        <p:spPr>
          <a:xfrm>
            <a:off x="5593556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8" name="Row 4 hl 3"/>
          <p:cNvSpPr/>
          <p:nvPr/>
        </p:nvSpPr>
        <p:spPr>
          <a:xfrm>
            <a:off x="703659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69" name="Row 5 part"/>
          <p:cNvSpPr/>
          <p:nvPr/>
        </p:nvSpPr>
        <p:spPr>
          <a:xfrm>
            <a:off x="285750" y="3429000"/>
            <a:ext cx="168592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⇑ then ⇓ order</a:t>
            </a:r>
          </a:p>
        </p:txBody>
      </p:sp>
      <p:sp>
        <p:nvSpPr>
          <p:cNvPr id="70" name="Row 5 faults"/>
          <p:cNvSpPr/>
          <p:nvPr/>
        </p:nvSpPr>
        <p:spPr>
          <a:xfrm>
            <a:off x="1971675" y="3429000"/>
            <a:ext cx="4829175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Two-cell coupling faults with the aggressor below (⇑) or above (⇓) the victim: CFst, CFds, CFtr, CFwd, CFrd, CFdrd, CFir.</a:t>
            </a:r>
          </a:p>
        </p:txBody>
      </p:sp>
      <p:sp>
        <p:nvSpPr>
          <p:cNvPr id="71" name="Row 5 sim"/>
          <p:cNvSpPr/>
          <p:nvPr/>
        </p:nvSpPr>
        <p:spPr>
          <a:xfrm>
            <a:off x="6800850" y="3429000"/>
            <a:ext cx="2057400" cy="37147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Not injected (CF masks exist, unused)</a:t>
            </a:r>
          </a:p>
        </p:txBody>
      </p:sp>
      <p:sp>
        <p:nvSpPr>
          <p:cNvPr id="72" name="Row 5 hl 0"/>
          <p:cNvSpPr/>
          <p:nvPr/>
        </p:nvSpPr>
        <p:spPr>
          <a:xfrm>
            <a:off x="1707356" y="535781"/>
            <a:ext cx="1400175" cy="700087"/>
          </a:xfrm>
          <a:prstGeom prst="roundRect">
            <a:avLst>
              <a:gd name="adj" fmla="val 10204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3" name="Row 5 hl 1"/>
          <p:cNvSpPr/>
          <p:nvPr/>
        </p:nvSpPr>
        <p:spPr>
          <a:xfrm>
            <a:off x="3150393" y="535781"/>
            <a:ext cx="1400175" cy="700087"/>
          </a:xfrm>
          <a:prstGeom prst="roundRect">
            <a:avLst>
              <a:gd name="adj" fmla="val 10204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4" name="Row 5 hl 2"/>
          <p:cNvSpPr/>
          <p:nvPr/>
        </p:nvSpPr>
        <p:spPr>
          <a:xfrm>
            <a:off x="4593431" y="535781"/>
            <a:ext cx="1400175" cy="700087"/>
          </a:xfrm>
          <a:prstGeom prst="roundRect">
            <a:avLst>
              <a:gd name="adj" fmla="val 10204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5" name="Row 5 hl 3"/>
          <p:cNvSpPr/>
          <p:nvPr/>
        </p:nvSpPr>
        <p:spPr>
          <a:xfrm>
            <a:off x="6036468" y="535781"/>
            <a:ext cx="1400175" cy="700087"/>
          </a:xfrm>
          <a:prstGeom prst="roundRect">
            <a:avLst>
              <a:gd name="adj" fmla="val 10204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76" name="Row 6 part"/>
          <p:cNvSpPr/>
          <p:nvPr/>
        </p:nvSpPr>
        <p:spPr>
          <a:xfrm>
            <a:off x="285750" y="3800475"/>
            <a:ext cx="168592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1068" b="1">
                <a:solidFill>
                  <a:srgbClr val="00897B"/>
                </a:solidFill>
                <a:latin typeface="Calibri"/>
              </a:rPr>
              <a:t>M5 ⇕(r0)</a:t>
            </a:r>
          </a:p>
        </p:txBody>
      </p:sp>
      <p:sp>
        <p:nvSpPr>
          <p:cNvPr id="77" name="Row 6 faults"/>
          <p:cNvSpPr/>
          <p:nvPr/>
        </p:nvSpPr>
        <p:spPr>
          <a:xfrm>
            <a:off x="1971675" y="3800475"/>
            <a:ext cx="48291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56" b="0">
                <a:solidFill>
                  <a:srgbClr val="12343B"/>
                </a:solidFill>
                <a:latin typeface="Calibri"/>
              </a:rPr>
              <a:t>Final read: catches faults sensitised by the last w0 of M4.</a:t>
            </a:r>
          </a:p>
        </p:txBody>
      </p:sp>
      <p:sp>
        <p:nvSpPr>
          <p:cNvPr id="78" name="Row 6 sim"/>
          <p:cNvSpPr/>
          <p:nvPr/>
        </p:nvSpPr>
        <p:spPr>
          <a:xfrm>
            <a:off x="6800850" y="3800475"/>
            <a:ext cx="20574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 wrap="square" lIns="71437" rIns="71437" tIns="71437" bIns="71437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—</a:t>
            </a:r>
          </a:p>
        </p:txBody>
      </p:sp>
      <p:sp>
        <p:nvSpPr>
          <p:cNvPr id="79" name="Row 6 hl 0"/>
          <p:cNvSpPr/>
          <p:nvPr/>
        </p:nvSpPr>
        <p:spPr>
          <a:xfrm>
            <a:off x="8008143" y="871537"/>
            <a:ext cx="342900" cy="27146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E39B2D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80" name="Caveats"/>
          <p:cNvSpPr/>
          <p:nvPr/>
        </p:nvSpPr>
        <p:spPr>
          <a:xfrm>
            <a:off x="285750" y="4214812"/>
            <a:ext cx="8572500" cy="35718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900" b="0">
                <a:solidFill>
                  <a:srgbClr val="C62828"/>
                </a:solidFill>
                <a:latin typeface="Calibri"/>
              </a:rPr>
              <a:t>Caveats: our controller writes solid all-0 / all-1 words, so coupling between bits of the same word is not fully covered. The coverage claim comes from the paper; only the green faults were injected in simulation.</a:t>
            </a:r>
          </a:p>
        </p:txBody>
      </p:sp>
      <p:sp>
        <p:nvSpPr>
          <p:cNvPr id="81" name="Credit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012" b="0">
                <a:solidFill>
                  <a:srgbClr val="FFFFFF"/>
                </a:solidFill>
                <a:latin typeface="Calibri"/>
              </a:rPr>
              <a:t>March MSS (18N) covers all unlinked static faults in RAMs. Algorithm by G. Harutyunyan, V. A. Vardanian and Y. Zorian,</a:t>
            </a:r>
          </a:p>
          <a:p>
            <a:pPr algn="l"/>
            <a:r>
              <a:rPr sz="1012" b="0">
                <a:solidFill>
                  <a:srgbClr val="FFFFFF"/>
                </a:solidFill>
                <a:latin typeface="Calibri"/>
              </a:rPr>
              <a:t>“Minimal March Tests for Unlinked Static Faults in Random Access Memories”, Proc. IEEE VLSI Test Symposium (VTS), 2005.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3" grpId="1" animBg="1"/>
      <p:bldP spid="44" grpId="1" animBg="1"/>
      <p:bldP spid="45" grpId="1" animBg="1"/>
      <p:bldP spid="46" grpId="1" animBg="1"/>
      <p:bldP spid="47" grpId="1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1" grpId="1" animBg="1"/>
      <p:bldP spid="52" grpId="1" animBg="1"/>
      <p:bldP spid="53" grpId="1" animBg="1"/>
      <p:bldP spid="54" grpId="1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58" grpId="1" animBg="1"/>
      <p:bldP spid="59" grpId="1" animBg="1"/>
      <p:bldP spid="60" grpId="1" animBg="1"/>
      <p:bldP spid="61" grpId="1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5" grpId="1" animBg="1"/>
      <p:bldP spid="66" grpId="1" animBg="1"/>
      <p:bldP spid="67" grpId="1" animBg="1"/>
      <p:bldP spid="68" grpId="1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2" grpId="1" animBg="1"/>
      <p:bldP spid="73" grpId="1" animBg="1"/>
      <p:bldP spid="74" grpId="1" animBg="1"/>
      <p:bldP spid="75" grpId="1" animBg="1"/>
      <p:bldP spid="76" grpId="0" animBg="1"/>
      <p:bldP spid="77" grpId="0" animBg="1"/>
      <p:bldP spid="78" grpId="0" animBg="1"/>
      <p:bldP spid="79" grpId="0" animBg="1"/>
      <p:bldP spid="79" grpId="1" animBg="1"/>
      <p:bldP spid="8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